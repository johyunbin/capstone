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ko-KR"/>
    </a:defPPr>
    <a:lvl1pPr marL="0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1pPr>
    <a:lvl2pPr marL="2799348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2pPr>
    <a:lvl3pPr marL="5598696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3pPr>
    <a:lvl4pPr marL="8398044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4pPr>
    <a:lvl5pPr marL="11197393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5pPr>
    <a:lvl6pPr marL="13996741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6pPr>
    <a:lvl7pPr marL="16796088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7pPr>
    <a:lvl8pPr marL="19595437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8pPr>
    <a:lvl9pPr marL="22394784" algn="l" defTabSz="5598696" rtl="0" eaLnBrk="1" latinLnBrk="1" hangingPunct="1">
      <a:defRPr sz="1102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FF3B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80" autoAdjust="0"/>
    <p:restoredTop sz="99388" autoAdjust="0"/>
  </p:normalViewPr>
  <p:slideViewPr>
    <p:cSldViewPr>
      <p:cViewPr varScale="1">
        <p:scale>
          <a:sx n="22" d="100"/>
          <a:sy n="22" d="100"/>
        </p:scale>
        <p:origin x="2958" y="132"/>
      </p:cViewPr>
      <p:guideLst>
        <p:guide orient="horz" pos="13482"/>
        <p:guide pos="9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641" y="13296920"/>
            <a:ext cx="25733931" cy="917506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541282" y="24255465"/>
            <a:ext cx="21192649" cy="109387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9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97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95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9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99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791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590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38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1533" y="27505392"/>
            <a:ext cx="25733931" cy="8501302"/>
          </a:xfrm>
        </p:spPr>
        <p:txBody>
          <a:bodyPr anchor="t"/>
          <a:lstStyle>
            <a:lvl1pPr algn="l">
              <a:defRPr sz="24454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1533" y="18142065"/>
            <a:ext cx="25733931" cy="9363320"/>
          </a:xfrm>
        </p:spPr>
        <p:txBody>
          <a:bodyPr anchor="b"/>
          <a:lstStyle>
            <a:lvl1pPr marL="0" indent="0">
              <a:buNone/>
              <a:defRPr sz="12298">
                <a:solidFill>
                  <a:schemeClr val="tx1">
                    <a:tint val="75000"/>
                  </a:schemeClr>
                </a:solidFill>
              </a:defRPr>
            </a:lvl1pPr>
            <a:lvl2pPr marL="2798610" indent="0">
              <a:buNone/>
              <a:defRPr sz="11026">
                <a:solidFill>
                  <a:schemeClr val="tx1">
                    <a:tint val="75000"/>
                  </a:schemeClr>
                </a:solidFill>
              </a:defRPr>
            </a:lvl2pPr>
            <a:lvl3pPr marL="5597218" indent="0">
              <a:buNone/>
              <a:defRPr sz="9754">
                <a:solidFill>
                  <a:schemeClr val="tx1">
                    <a:tint val="75000"/>
                  </a:schemeClr>
                </a:solidFill>
              </a:defRPr>
            </a:lvl3pPr>
            <a:lvl4pPr marL="8395828" indent="0">
              <a:buNone/>
              <a:defRPr sz="8623">
                <a:solidFill>
                  <a:schemeClr val="tx1">
                    <a:tint val="75000"/>
                  </a:schemeClr>
                </a:solidFill>
              </a:defRPr>
            </a:lvl4pPr>
            <a:lvl5pPr marL="11194440" indent="0">
              <a:buNone/>
              <a:defRPr sz="8623">
                <a:solidFill>
                  <a:schemeClr val="tx1">
                    <a:tint val="75000"/>
                  </a:schemeClr>
                </a:solidFill>
              </a:defRPr>
            </a:lvl5pPr>
            <a:lvl6pPr marL="13993050" indent="0">
              <a:buNone/>
              <a:defRPr sz="8623">
                <a:solidFill>
                  <a:schemeClr val="tx1">
                    <a:tint val="75000"/>
                  </a:schemeClr>
                </a:solidFill>
              </a:defRPr>
            </a:lvl6pPr>
            <a:lvl7pPr marL="16791658" indent="0">
              <a:buNone/>
              <a:defRPr sz="8623">
                <a:solidFill>
                  <a:schemeClr val="tx1">
                    <a:tint val="75000"/>
                  </a:schemeClr>
                </a:solidFill>
              </a:defRPr>
            </a:lvl7pPr>
            <a:lvl8pPr marL="19590268" indent="0">
              <a:buNone/>
              <a:defRPr sz="8623">
                <a:solidFill>
                  <a:schemeClr val="tx1">
                    <a:tint val="75000"/>
                  </a:schemeClr>
                </a:solidFill>
              </a:defRPr>
            </a:lvl8pPr>
            <a:lvl9pPr marL="22388878" indent="0">
              <a:buNone/>
              <a:defRPr sz="86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13766" y="9987554"/>
            <a:ext cx="13371553" cy="28248505"/>
          </a:xfrm>
        </p:spPr>
        <p:txBody>
          <a:bodyPr/>
          <a:lstStyle>
            <a:lvl1pPr>
              <a:defRPr sz="17105"/>
            </a:lvl1pPr>
            <a:lvl2pPr>
              <a:defRPr sz="14700"/>
            </a:lvl2pPr>
            <a:lvl3pPr>
              <a:defRPr sz="12298"/>
            </a:lvl3pPr>
            <a:lvl4pPr>
              <a:defRPr sz="11026"/>
            </a:lvl4pPr>
            <a:lvl5pPr>
              <a:defRPr sz="11026"/>
            </a:lvl5pPr>
            <a:lvl6pPr>
              <a:defRPr sz="11026"/>
            </a:lvl6pPr>
            <a:lvl7pPr>
              <a:defRPr sz="11026"/>
            </a:lvl7pPr>
            <a:lvl8pPr>
              <a:defRPr sz="11026"/>
            </a:lvl8pPr>
            <a:lvl9pPr>
              <a:defRPr sz="1102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389904" y="9987554"/>
            <a:ext cx="13371553" cy="28248505"/>
          </a:xfrm>
        </p:spPr>
        <p:txBody>
          <a:bodyPr/>
          <a:lstStyle>
            <a:lvl1pPr>
              <a:defRPr sz="17105"/>
            </a:lvl1pPr>
            <a:lvl2pPr>
              <a:defRPr sz="14700"/>
            </a:lvl2pPr>
            <a:lvl3pPr>
              <a:defRPr sz="12298"/>
            </a:lvl3pPr>
            <a:lvl4pPr>
              <a:defRPr sz="11026"/>
            </a:lvl4pPr>
            <a:lvl5pPr>
              <a:defRPr sz="11026"/>
            </a:lvl5pPr>
            <a:lvl6pPr>
              <a:defRPr sz="11026"/>
            </a:lvl6pPr>
            <a:lvl7pPr>
              <a:defRPr sz="11026"/>
            </a:lvl7pPr>
            <a:lvl8pPr>
              <a:defRPr sz="11026"/>
            </a:lvl8pPr>
            <a:lvl9pPr>
              <a:defRPr sz="1102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2" y="9581312"/>
            <a:ext cx="13376809" cy="3993033"/>
          </a:xfrm>
        </p:spPr>
        <p:txBody>
          <a:bodyPr anchor="b"/>
          <a:lstStyle>
            <a:lvl1pPr marL="0" indent="0">
              <a:buNone/>
              <a:defRPr sz="14700" b="1"/>
            </a:lvl1pPr>
            <a:lvl2pPr marL="2798610" indent="0">
              <a:buNone/>
              <a:defRPr sz="12298" b="1"/>
            </a:lvl2pPr>
            <a:lvl3pPr marL="5597218" indent="0">
              <a:buNone/>
              <a:defRPr sz="11026" b="1"/>
            </a:lvl3pPr>
            <a:lvl4pPr marL="8395828" indent="0">
              <a:buNone/>
              <a:defRPr sz="9754" b="1"/>
            </a:lvl4pPr>
            <a:lvl5pPr marL="11194440" indent="0">
              <a:buNone/>
              <a:defRPr sz="9754" b="1"/>
            </a:lvl5pPr>
            <a:lvl6pPr marL="13993050" indent="0">
              <a:buNone/>
              <a:defRPr sz="9754" b="1"/>
            </a:lvl6pPr>
            <a:lvl7pPr marL="16791658" indent="0">
              <a:buNone/>
              <a:defRPr sz="9754" b="1"/>
            </a:lvl7pPr>
            <a:lvl8pPr marL="19590268" indent="0">
              <a:buNone/>
              <a:defRPr sz="9754" b="1"/>
            </a:lvl8pPr>
            <a:lvl9pPr marL="22388878" indent="0">
              <a:buNone/>
              <a:defRPr sz="9754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13762" y="13574341"/>
            <a:ext cx="13376809" cy="24661708"/>
          </a:xfrm>
        </p:spPr>
        <p:txBody>
          <a:bodyPr/>
          <a:lstStyle>
            <a:lvl1pPr>
              <a:defRPr sz="14700"/>
            </a:lvl1pPr>
            <a:lvl2pPr>
              <a:defRPr sz="12298"/>
            </a:lvl2pPr>
            <a:lvl3pPr>
              <a:defRPr sz="11026"/>
            </a:lvl3pPr>
            <a:lvl4pPr>
              <a:defRPr sz="9754"/>
            </a:lvl4pPr>
            <a:lvl5pPr>
              <a:defRPr sz="9754"/>
            </a:lvl5pPr>
            <a:lvl6pPr>
              <a:defRPr sz="9754"/>
            </a:lvl6pPr>
            <a:lvl7pPr>
              <a:defRPr sz="9754"/>
            </a:lvl7pPr>
            <a:lvl8pPr>
              <a:defRPr sz="9754"/>
            </a:lvl8pPr>
            <a:lvl9pPr>
              <a:defRPr sz="975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79388" y="9581312"/>
            <a:ext cx="13382067" cy="3993033"/>
          </a:xfrm>
        </p:spPr>
        <p:txBody>
          <a:bodyPr anchor="b"/>
          <a:lstStyle>
            <a:lvl1pPr marL="0" indent="0">
              <a:buNone/>
              <a:defRPr sz="14700" b="1"/>
            </a:lvl1pPr>
            <a:lvl2pPr marL="2798610" indent="0">
              <a:buNone/>
              <a:defRPr sz="12298" b="1"/>
            </a:lvl2pPr>
            <a:lvl3pPr marL="5597218" indent="0">
              <a:buNone/>
              <a:defRPr sz="11026" b="1"/>
            </a:lvl3pPr>
            <a:lvl4pPr marL="8395828" indent="0">
              <a:buNone/>
              <a:defRPr sz="9754" b="1"/>
            </a:lvl4pPr>
            <a:lvl5pPr marL="11194440" indent="0">
              <a:buNone/>
              <a:defRPr sz="9754" b="1"/>
            </a:lvl5pPr>
            <a:lvl6pPr marL="13993050" indent="0">
              <a:buNone/>
              <a:defRPr sz="9754" b="1"/>
            </a:lvl6pPr>
            <a:lvl7pPr marL="16791658" indent="0">
              <a:buNone/>
              <a:defRPr sz="9754" b="1"/>
            </a:lvl7pPr>
            <a:lvl8pPr marL="19590268" indent="0">
              <a:buNone/>
              <a:defRPr sz="9754" b="1"/>
            </a:lvl8pPr>
            <a:lvl9pPr marL="22388878" indent="0">
              <a:buNone/>
              <a:defRPr sz="9754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79388" y="13574341"/>
            <a:ext cx="13382067" cy="24661708"/>
          </a:xfrm>
        </p:spPr>
        <p:txBody>
          <a:bodyPr/>
          <a:lstStyle>
            <a:lvl1pPr>
              <a:defRPr sz="14700"/>
            </a:lvl1pPr>
            <a:lvl2pPr>
              <a:defRPr sz="12298"/>
            </a:lvl2pPr>
            <a:lvl3pPr>
              <a:defRPr sz="11026"/>
            </a:lvl3pPr>
            <a:lvl4pPr>
              <a:defRPr sz="9754"/>
            </a:lvl4pPr>
            <a:lvl5pPr>
              <a:defRPr sz="9754"/>
            </a:lvl5pPr>
            <a:lvl6pPr>
              <a:defRPr sz="9754"/>
            </a:lvl6pPr>
            <a:lvl7pPr>
              <a:defRPr sz="9754"/>
            </a:lvl7pPr>
            <a:lvl8pPr>
              <a:defRPr sz="9754"/>
            </a:lvl8pPr>
            <a:lvl9pPr>
              <a:defRPr sz="9754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3762" y="1704223"/>
            <a:ext cx="9960337" cy="7252860"/>
          </a:xfrm>
        </p:spPr>
        <p:txBody>
          <a:bodyPr anchor="b"/>
          <a:lstStyle>
            <a:lvl1pPr algn="l">
              <a:defRPr sz="12298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36774" y="1704233"/>
            <a:ext cx="16924685" cy="36531826"/>
          </a:xfrm>
        </p:spPr>
        <p:txBody>
          <a:bodyPr/>
          <a:lstStyle>
            <a:lvl1pPr>
              <a:defRPr sz="19649"/>
            </a:lvl1pPr>
            <a:lvl2pPr>
              <a:defRPr sz="17105"/>
            </a:lvl2pPr>
            <a:lvl3pPr>
              <a:defRPr sz="14700"/>
            </a:lvl3pPr>
            <a:lvl4pPr>
              <a:defRPr sz="12298"/>
            </a:lvl4pPr>
            <a:lvl5pPr>
              <a:defRPr sz="12298"/>
            </a:lvl5pPr>
            <a:lvl6pPr>
              <a:defRPr sz="12298"/>
            </a:lvl6pPr>
            <a:lvl7pPr>
              <a:defRPr sz="12298"/>
            </a:lvl7pPr>
            <a:lvl8pPr>
              <a:defRPr sz="12298"/>
            </a:lvl8pPr>
            <a:lvl9pPr>
              <a:defRPr sz="1229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13762" y="8957093"/>
            <a:ext cx="9960337" cy="29278966"/>
          </a:xfrm>
        </p:spPr>
        <p:txBody>
          <a:bodyPr/>
          <a:lstStyle>
            <a:lvl1pPr marL="0" indent="0">
              <a:buNone/>
              <a:defRPr sz="8623"/>
            </a:lvl1pPr>
            <a:lvl2pPr marL="2798610" indent="0">
              <a:buNone/>
              <a:defRPr sz="7351"/>
            </a:lvl2pPr>
            <a:lvl3pPr marL="5597218" indent="0">
              <a:buNone/>
              <a:defRPr sz="6078"/>
            </a:lvl3pPr>
            <a:lvl4pPr marL="8395828" indent="0">
              <a:buNone/>
              <a:defRPr sz="5513"/>
            </a:lvl4pPr>
            <a:lvl5pPr marL="11194440" indent="0">
              <a:buNone/>
              <a:defRPr sz="5513"/>
            </a:lvl5pPr>
            <a:lvl6pPr marL="13993050" indent="0">
              <a:buNone/>
              <a:defRPr sz="5513"/>
            </a:lvl6pPr>
            <a:lvl7pPr marL="16791658" indent="0">
              <a:buNone/>
              <a:defRPr sz="5513"/>
            </a:lvl7pPr>
            <a:lvl8pPr marL="19590268" indent="0">
              <a:buNone/>
              <a:defRPr sz="5513"/>
            </a:lvl8pPr>
            <a:lvl9pPr marL="22388878" indent="0">
              <a:buNone/>
              <a:defRPr sz="551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4153" y="29962633"/>
            <a:ext cx="18165128" cy="3537259"/>
          </a:xfrm>
        </p:spPr>
        <p:txBody>
          <a:bodyPr anchor="b"/>
          <a:lstStyle>
            <a:lvl1pPr algn="l">
              <a:defRPr sz="12298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4153" y="3824596"/>
            <a:ext cx="18165128" cy="25682258"/>
          </a:xfrm>
        </p:spPr>
        <p:txBody>
          <a:bodyPr/>
          <a:lstStyle>
            <a:lvl1pPr marL="0" indent="0">
              <a:buNone/>
              <a:defRPr sz="19649"/>
            </a:lvl1pPr>
            <a:lvl2pPr marL="2798610" indent="0">
              <a:buNone/>
              <a:defRPr sz="17105"/>
            </a:lvl2pPr>
            <a:lvl3pPr marL="5597218" indent="0">
              <a:buNone/>
              <a:defRPr sz="14700"/>
            </a:lvl3pPr>
            <a:lvl4pPr marL="8395828" indent="0">
              <a:buNone/>
              <a:defRPr sz="12298"/>
            </a:lvl4pPr>
            <a:lvl5pPr marL="11194440" indent="0">
              <a:buNone/>
              <a:defRPr sz="12298"/>
            </a:lvl5pPr>
            <a:lvl6pPr marL="13993050" indent="0">
              <a:buNone/>
              <a:defRPr sz="12298"/>
            </a:lvl6pPr>
            <a:lvl7pPr marL="16791658" indent="0">
              <a:buNone/>
              <a:defRPr sz="12298"/>
            </a:lvl7pPr>
            <a:lvl8pPr marL="19590268" indent="0">
              <a:buNone/>
              <a:defRPr sz="12298"/>
            </a:lvl8pPr>
            <a:lvl9pPr marL="22388878" indent="0">
              <a:buNone/>
              <a:defRPr sz="12298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34153" y="33499894"/>
            <a:ext cx="18165128" cy="5023494"/>
          </a:xfrm>
        </p:spPr>
        <p:txBody>
          <a:bodyPr/>
          <a:lstStyle>
            <a:lvl1pPr marL="0" indent="0">
              <a:buNone/>
              <a:defRPr sz="8623"/>
            </a:lvl1pPr>
            <a:lvl2pPr marL="2798610" indent="0">
              <a:buNone/>
              <a:defRPr sz="7351"/>
            </a:lvl2pPr>
            <a:lvl3pPr marL="5597218" indent="0">
              <a:buNone/>
              <a:defRPr sz="6078"/>
            </a:lvl3pPr>
            <a:lvl4pPr marL="8395828" indent="0">
              <a:buNone/>
              <a:defRPr sz="5513"/>
            </a:lvl4pPr>
            <a:lvl5pPr marL="11194440" indent="0">
              <a:buNone/>
              <a:defRPr sz="5513"/>
            </a:lvl5pPr>
            <a:lvl6pPr marL="13993050" indent="0">
              <a:buNone/>
              <a:defRPr sz="5513"/>
            </a:lvl6pPr>
            <a:lvl7pPr marL="16791658" indent="0">
              <a:buNone/>
              <a:defRPr sz="5513"/>
            </a:lvl7pPr>
            <a:lvl8pPr marL="19590268" indent="0">
              <a:buNone/>
              <a:defRPr sz="5513"/>
            </a:lvl8pPr>
            <a:lvl9pPr marL="22388878" indent="0">
              <a:buNone/>
              <a:defRPr sz="5513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1949529" y="1714145"/>
            <a:ext cx="6811923" cy="36521914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13766" y="1714145"/>
            <a:ext cx="19931181" cy="36521914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1" y="1714139"/>
            <a:ext cx="27247692" cy="7133961"/>
          </a:xfrm>
          <a:prstGeom prst="rect">
            <a:avLst/>
          </a:prstGeom>
        </p:spPr>
        <p:txBody>
          <a:bodyPr vert="horz" lIns="395963" tIns="197981" rIns="395963" bIns="197981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1" y="9987554"/>
            <a:ext cx="27247692" cy="28248505"/>
          </a:xfrm>
          <a:prstGeom prst="rect">
            <a:avLst/>
          </a:prstGeom>
        </p:spPr>
        <p:txBody>
          <a:bodyPr vert="horz" lIns="395963" tIns="197981" rIns="395963" bIns="19798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7"/>
            <a:ext cx="7064216" cy="2278904"/>
          </a:xfrm>
          <a:prstGeom prst="rect">
            <a:avLst/>
          </a:prstGeom>
        </p:spPr>
        <p:txBody>
          <a:bodyPr vert="horz" lIns="395963" tIns="197981" rIns="395963" bIns="197981" rtlCol="0" anchor="ctr"/>
          <a:lstStyle>
            <a:lvl1pPr algn="l">
              <a:defRPr sz="73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E4D7C-7D12-447D-9D6D-9834B0EF4F94}" type="datetimeFigureOut">
              <a:rPr lang="ko-KR" altLang="en-US" smtClean="0"/>
              <a:pPr/>
              <a:t>2016-05-23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5" y="39672757"/>
            <a:ext cx="9587151" cy="2278904"/>
          </a:xfrm>
          <a:prstGeom prst="rect">
            <a:avLst/>
          </a:prstGeom>
        </p:spPr>
        <p:txBody>
          <a:bodyPr vert="horz" lIns="395963" tIns="197981" rIns="395963" bIns="197981" rtlCol="0" anchor="ctr"/>
          <a:lstStyle>
            <a:lvl1pPr algn="ctr">
              <a:defRPr sz="73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7"/>
            <a:ext cx="7064216" cy="2278904"/>
          </a:xfrm>
          <a:prstGeom prst="rect">
            <a:avLst/>
          </a:prstGeom>
        </p:spPr>
        <p:txBody>
          <a:bodyPr vert="horz" lIns="395963" tIns="197981" rIns="395963" bIns="197981" rtlCol="0" anchor="ctr"/>
          <a:lstStyle>
            <a:lvl1pPr algn="r">
              <a:defRPr sz="735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589C3-4C1D-4430-9179-B45ECE1430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97218" rtl="0" eaLnBrk="1" latinLnBrk="1" hangingPunct="1">
        <a:spcBef>
          <a:spcPct val="0"/>
        </a:spcBef>
        <a:buNone/>
        <a:defRPr sz="27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98957" indent="-2098957" algn="l" defTabSz="5597218" rtl="0" eaLnBrk="1" latinLnBrk="1" hangingPunct="1">
        <a:spcBef>
          <a:spcPct val="20000"/>
        </a:spcBef>
        <a:buFont typeface="Arial" pitchFamily="34" charset="0"/>
        <a:buChar char="•"/>
        <a:defRPr sz="19649" kern="1200">
          <a:solidFill>
            <a:schemeClr val="tx1"/>
          </a:solidFill>
          <a:latin typeface="+mn-lt"/>
          <a:ea typeface="+mn-ea"/>
          <a:cs typeface="+mn-cs"/>
        </a:defRPr>
      </a:lvl1pPr>
      <a:lvl2pPr marL="4547741" indent="-1749131" algn="l" defTabSz="5597218" rtl="0" eaLnBrk="1" latinLnBrk="1" hangingPunct="1">
        <a:spcBef>
          <a:spcPct val="20000"/>
        </a:spcBef>
        <a:buFont typeface="Arial" pitchFamily="34" charset="0"/>
        <a:buChar char="–"/>
        <a:defRPr sz="17105" kern="1200">
          <a:solidFill>
            <a:schemeClr val="tx1"/>
          </a:solidFill>
          <a:latin typeface="+mn-lt"/>
          <a:ea typeface="+mn-ea"/>
          <a:cs typeface="+mn-cs"/>
        </a:defRPr>
      </a:lvl2pPr>
      <a:lvl3pPr marL="6996524" indent="-1399306" algn="l" defTabSz="5597218" rtl="0" eaLnBrk="1" latinLnBrk="1" hangingPunct="1">
        <a:spcBef>
          <a:spcPct val="20000"/>
        </a:spcBef>
        <a:buFont typeface="Arial" pitchFamily="34" charset="0"/>
        <a:buChar char="•"/>
        <a:defRPr sz="14700" kern="1200">
          <a:solidFill>
            <a:schemeClr val="tx1"/>
          </a:solidFill>
          <a:latin typeface="+mn-lt"/>
          <a:ea typeface="+mn-ea"/>
          <a:cs typeface="+mn-cs"/>
        </a:defRPr>
      </a:lvl3pPr>
      <a:lvl4pPr marL="9795134" indent="-1399306" algn="l" defTabSz="5597218" rtl="0" eaLnBrk="1" latinLnBrk="1" hangingPunct="1">
        <a:spcBef>
          <a:spcPct val="20000"/>
        </a:spcBef>
        <a:buFont typeface="Arial" pitchFamily="34" charset="0"/>
        <a:buChar char="–"/>
        <a:defRPr sz="12298" kern="1200">
          <a:solidFill>
            <a:schemeClr val="tx1"/>
          </a:solidFill>
          <a:latin typeface="+mn-lt"/>
          <a:ea typeface="+mn-ea"/>
          <a:cs typeface="+mn-cs"/>
        </a:defRPr>
      </a:lvl4pPr>
      <a:lvl5pPr marL="12593743" indent="-1399306" algn="l" defTabSz="5597218" rtl="0" eaLnBrk="1" latinLnBrk="1" hangingPunct="1">
        <a:spcBef>
          <a:spcPct val="20000"/>
        </a:spcBef>
        <a:buFont typeface="Arial" pitchFamily="34" charset="0"/>
        <a:buChar char="»"/>
        <a:defRPr sz="12298" kern="1200">
          <a:solidFill>
            <a:schemeClr val="tx1"/>
          </a:solidFill>
          <a:latin typeface="+mn-lt"/>
          <a:ea typeface="+mn-ea"/>
          <a:cs typeface="+mn-cs"/>
        </a:defRPr>
      </a:lvl5pPr>
      <a:lvl6pPr marL="15392353" indent="-1399306" algn="l" defTabSz="5597218" rtl="0" eaLnBrk="1" latinLnBrk="1" hangingPunct="1">
        <a:spcBef>
          <a:spcPct val="20000"/>
        </a:spcBef>
        <a:buFont typeface="Arial" pitchFamily="34" charset="0"/>
        <a:buChar char="•"/>
        <a:defRPr sz="12298" kern="1200">
          <a:solidFill>
            <a:schemeClr val="tx1"/>
          </a:solidFill>
          <a:latin typeface="+mn-lt"/>
          <a:ea typeface="+mn-ea"/>
          <a:cs typeface="+mn-cs"/>
        </a:defRPr>
      </a:lvl6pPr>
      <a:lvl7pPr marL="18190964" indent="-1399306" algn="l" defTabSz="5597218" rtl="0" eaLnBrk="1" latinLnBrk="1" hangingPunct="1">
        <a:spcBef>
          <a:spcPct val="20000"/>
        </a:spcBef>
        <a:buFont typeface="Arial" pitchFamily="34" charset="0"/>
        <a:buChar char="•"/>
        <a:defRPr sz="12298" kern="1200">
          <a:solidFill>
            <a:schemeClr val="tx1"/>
          </a:solidFill>
          <a:latin typeface="+mn-lt"/>
          <a:ea typeface="+mn-ea"/>
          <a:cs typeface="+mn-cs"/>
        </a:defRPr>
      </a:lvl7pPr>
      <a:lvl8pPr marL="20989574" indent="-1399306" algn="l" defTabSz="5597218" rtl="0" eaLnBrk="1" latinLnBrk="1" hangingPunct="1">
        <a:spcBef>
          <a:spcPct val="20000"/>
        </a:spcBef>
        <a:buFont typeface="Arial" pitchFamily="34" charset="0"/>
        <a:buChar char="•"/>
        <a:defRPr sz="12298" kern="1200">
          <a:solidFill>
            <a:schemeClr val="tx1"/>
          </a:solidFill>
          <a:latin typeface="+mn-lt"/>
          <a:ea typeface="+mn-ea"/>
          <a:cs typeface="+mn-cs"/>
        </a:defRPr>
      </a:lvl8pPr>
      <a:lvl9pPr marL="23788182" indent="-1399306" algn="l" defTabSz="5597218" rtl="0" eaLnBrk="1" latinLnBrk="1" hangingPunct="1">
        <a:spcBef>
          <a:spcPct val="20000"/>
        </a:spcBef>
        <a:buFont typeface="Arial" pitchFamily="34" charset="0"/>
        <a:buChar char="•"/>
        <a:defRPr sz="122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1pPr>
      <a:lvl2pPr marL="2798610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2pPr>
      <a:lvl3pPr marL="5597218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3pPr>
      <a:lvl4pPr marL="8395828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4pPr>
      <a:lvl5pPr marL="11194440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5pPr>
      <a:lvl6pPr marL="13993050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6pPr>
      <a:lvl7pPr marL="16791658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7pPr>
      <a:lvl8pPr marL="19590268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8pPr>
      <a:lvl9pPr marL="22388878" algn="l" defTabSz="5597218" rtl="0" eaLnBrk="1" latinLnBrk="1" hangingPunct="1">
        <a:defRPr sz="110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3" Type="http://schemas.openxmlformats.org/officeDocument/2006/relationships/image" Target="../media/image2.jpeg"/><Relationship Id="rId21" Type="http://schemas.openxmlformats.org/officeDocument/2006/relationships/image" Target="../media/image14.jpeg"/><Relationship Id="rId7" Type="http://schemas.openxmlformats.org/officeDocument/2006/relationships/image" Target="../media/image1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4.jpeg"/><Relationship Id="rId15" Type="http://schemas.openxmlformats.org/officeDocument/2006/relationships/image" Target="../media/image8.png"/><Relationship Id="rId23" Type="http://schemas.openxmlformats.org/officeDocument/2006/relationships/image" Target="../media/image16.gif"/><Relationship Id="rId10" Type="http://schemas.openxmlformats.org/officeDocument/2006/relationships/oleObject" Target="../embeddings/oleObject3.bin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5.png"/><Relationship Id="rId14" Type="http://schemas.openxmlformats.org/officeDocument/2006/relationships/image" Target="../media/image7.png"/><Relationship Id="rId22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370"/>
          <p:cNvSpPr>
            <a:spLocks noChangeArrowheads="1"/>
          </p:cNvSpPr>
          <p:nvPr/>
        </p:nvSpPr>
        <p:spPr bwMode="auto">
          <a:xfrm>
            <a:off x="772490" y="21338736"/>
            <a:ext cx="28817052" cy="8104598"/>
          </a:xfrm>
          <a:prstGeom prst="rect">
            <a:avLst/>
          </a:prstGeom>
          <a:solidFill>
            <a:srgbClr val="99CCFF">
              <a:alpha val="50000"/>
            </a:srgbClr>
          </a:solidFill>
          <a:ln w="12700">
            <a:solidFill>
              <a:srgbClr val="3333FF"/>
            </a:solidFill>
            <a:miter lim="800000"/>
            <a:headEnd/>
            <a:tailEnd type="none" w="sm" len="med"/>
          </a:ln>
          <a:effectLst/>
        </p:spPr>
        <p:txBody>
          <a:bodyPr lIns="127224" tIns="127224" rIns="127224" bIns="127224" anchor="ctr"/>
          <a:lstStyle/>
          <a:p>
            <a:pPr marL="1130999" indent="-1130999" defTabSz="6660330">
              <a:tabLst>
                <a:tab pos="3312213" algn="l"/>
              </a:tabLst>
            </a:pPr>
            <a:endParaRPr lang="ko-KR" altLang="ko-KR" sz="9188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16450409" y="21602239"/>
            <a:ext cx="12825061" cy="7472870"/>
          </a:xfrm>
          <a:prstGeom prst="rect">
            <a:avLst/>
          </a:prstGeom>
          <a:gradFill>
            <a:gsLst>
              <a:gs pos="80000">
                <a:schemeClr val="bg1"/>
              </a:gs>
              <a:gs pos="0">
                <a:schemeClr val="accent1">
                  <a:alpha val="1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191" name="직사각형 190"/>
          <p:cNvSpPr/>
          <p:nvPr/>
        </p:nvSpPr>
        <p:spPr>
          <a:xfrm>
            <a:off x="1100728" y="21665088"/>
            <a:ext cx="12724076" cy="7472870"/>
          </a:xfrm>
          <a:prstGeom prst="rect">
            <a:avLst/>
          </a:prstGeom>
          <a:gradFill>
            <a:gsLst>
              <a:gs pos="80000">
                <a:schemeClr val="bg1"/>
              </a:gs>
              <a:gs pos="0">
                <a:schemeClr val="accent1">
                  <a:alpha val="1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grpSp>
        <p:nvGrpSpPr>
          <p:cNvPr id="10" name="그룹 9"/>
          <p:cNvGrpSpPr/>
          <p:nvPr/>
        </p:nvGrpSpPr>
        <p:grpSpPr>
          <a:xfrm>
            <a:off x="814522" y="229460"/>
            <a:ext cx="28756112" cy="5598476"/>
            <a:chOff x="-4961357" y="623640"/>
            <a:chExt cx="30256162" cy="6000750"/>
          </a:xfrm>
        </p:grpSpPr>
        <p:sp>
          <p:nvSpPr>
            <p:cNvPr id="4" name="AutoShape 10375"/>
            <p:cNvSpPr>
              <a:spLocks noChangeArrowheads="1"/>
            </p:cNvSpPr>
            <p:nvPr/>
          </p:nvSpPr>
          <p:spPr bwMode="auto">
            <a:xfrm>
              <a:off x="-4961357" y="623640"/>
              <a:ext cx="30256162" cy="6000750"/>
            </a:xfrm>
            <a:prstGeom prst="bevel">
              <a:avLst>
                <a:gd name="adj" fmla="val 2620"/>
              </a:avLst>
            </a:prstGeom>
            <a:gradFill rotWithShape="0">
              <a:gsLst>
                <a:gs pos="0">
                  <a:schemeClr val="bg1">
                    <a:gamma/>
                    <a:tint val="0"/>
                    <a:invGamma/>
                  </a:schemeClr>
                </a:gs>
                <a:gs pos="100000">
                  <a:schemeClr val="bg1"/>
                </a:gs>
              </a:gsLst>
              <a:path path="rect">
                <a:fillToRect l="50000" t="50000" r="50000" b="50000"/>
              </a:path>
            </a:gradFill>
            <a:ln w="508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53" tIns="63312" rIns="121753" bIns="63312" anchor="ctr" anchorCtr="1"/>
            <a:lstStyle/>
            <a:p>
              <a:pPr algn="ctr" defTabSz="1236470"/>
              <a:endParaRPr lang="ko-KR" altLang="ko-KR" sz="1979" b="1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pic>
          <p:nvPicPr>
            <p:cNvPr id="5" name="Picture 10376" descr="yerc"/>
            <p:cNvPicPr>
              <a:picLocks noChangeAspect="1" noChangeArrowheads="1"/>
            </p:cNvPicPr>
            <p:nvPr/>
          </p:nvPicPr>
          <p:blipFill>
            <a:blip r:embed="rId3" cstate="print">
              <a:lum bright="66000" contrast="-40000"/>
            </a:blip>
            <a:srcRect/>
            <a:stretch>
              <a:fillRect/>
            </a:stretch>
          </p:blipFill>
          <p:spPr bwMode="auto">
            <a:xfrm>
              <a:off x="-4788320" y="882403"/>
              <a:ext cx="29879925" cy="55260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0380" descr="symbol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727443" y="1007815"/>
              <a:ext cx="4572000" cy="4572000"/>
            </a:xfrm>
            <a:prstGeom prst="rect">
              <a:avLst/>
            </a:prstGeom>
            <a:noFill/>
          </p:spPr>
        </p:pic>
        <p:sp>
          <p:nvSpPr>
            <p:cNvPr id="7" name="Text Box 10378"/>
            <p:cNvSpPr txBox="1">
              <a:spLocks noChangeArrowheads="1"/>
            </p:cNvSpPr>
            <p:nvPr/>
          </p:nvSpPr>
          <p:spPr bwMode="auto">
            <a:xfrm>
              <a:off x="1433757" y="3678566"/>
              <a:ext cx="16862424" cy="21859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 lIns="123701" tIns="61851" rIns="123701" bIns="61851" anchorCtr="1">
              <a:spAutoFit/>
            </a:bodyPr>
            <a:lstStyle/>
            <a:p>
              <a:pPr algn="ctr" defTabSz="1030018" eaLnBrk="0" latinLnBrk="0" hangingPunct="0"/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, O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, O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endParaRPr lang="en-US" altLang="ko-KR" sz="3393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defTabSz="1030018" eaLnBrk="0" latinLnBrk="0" hangingPunct="0"/>
              <a:r>
                <a:rPr lang="ko-KR" altLang="en-US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지도 교수님 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 O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r>
                <a:rPr lang="en-US" altLang="ko-KR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</a:t>
              </a:r>
              <a:r>
                <a:rPr lang="en-US" altLang="ko-KR" sz="3393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O</a:t>
              </a:r>
              <a:endParaRPr lang="en-US" altLang="ko-KR" sz="3393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defTabSz="1030018" eaLnBrk="0" latinLnBrk="0" hangingPunct="0"/>
              <a:endParaRPr lang="de-DE" altLang="ko-KR" sz="3393" b="1" baseline="30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defTabSz="1030018" eaLnBrk="0" latinLnBrk="0" hangingPunct="0"/>
              <a:r>
                <a:rPr lang="ko-KR" altLang="en-US" sz="3393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연세대학교 공과대학 컴퓨터과학 전공</a:t>
              </a:r>
            </a:p>
          </p:txBody>
        </p:sp>
        <p:pic>
          <p:nvPicPr>
            <p:cNvPr id="8" name="Picture 10379" descr="연세심볼01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-4035845" y="1368178"/>
              <a:ext cx="4137025" cy="4046537"/>
            </a:xfrm>
            <a:prstGeom prst="rect">
              <a:avLst/>
            </a:prstGeom>
            <a:noFill/>
          </p:spPr>
        </p:pic>
        <p:sp>
          <p:nvSpPr>
            <p:cNvPr id="6" name="Text Box 10377"/>
            <p:cNvSpPr txBox="1">
              <a:spLocks noChangeArrowheads="1"/>
            </p:cNvSpPr>
            <p:nvPr/>
          </p:nvSpPr>
          <p:spPr bwMode="auto">
            <a:xfrm>
              <a:off x="190081" y="1120529"/>
              <a:ext cx="20545425" cy="26519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23701" tIns="61851" rIns="123701" bIns="61851" anchorCtr="1">
              <a:spAutoFit/>
            </a:bodyPr>
            <a:lstStyle/>
            <a:p>
              <a:pPr algn="ctr" defTabSz="1030018" eaLnBrk="0" latinLnBrk="0" hangingPunct="0"/>
              <a:r>
                <a:rPr lang="ko-KR" altLang="en-US" sz="7633" dirty="0">
                  <a:latin typeface="HY헤드라인M" pitchFamily="18" charset="-127"/>
                  <a:ea typeface="HY헤드라인M" pitchFamily="18" charset="-127"/>
                </a:rPr>
                <a:t>주변 물체 인식을 통한 사용자 위치 파악 및</a:t>
              </a:r>
              <a:endParaRPr lang="en-US" altLang="ko-KR" sz="7633" dirty="0">
                <a:latin typeface="HY헤드라인M" pitchFamily="18" charset="-127"/>
                <a:ea typeface="HY헤드라인M" pitchFamily="18" charset="-127"/>
              </a:endParaRPr>
            </a:p>
            <a:p>
              <a:pPr algn="ctr" defTabSz="1030018" eaLnBrk="0" latinLnBrk="0" hangingPunct="0"/>
              <a:r>
                <a:rPr lang="en-US" altLang="ko-KR" sz="7633" dirty="0"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7633" dirty="0" err="1">
                  <a:latin typeface="HY헤드라인M" pitchFamily="18" charset="-127"/>
                  <a:ea typeface="HY헤드라인M" pitchFamily="18" charset="-127"/>
                </a:rPr>
                <a:t>모바일</a:t>
              </a:r>
              <a:r>
                <a:rPr lang="ko-KR" altLang="en-US" sz="7633" dirty="0">
                  <a:latin typeface="HY헤드라인M" pitchFamily="18" charset="-127"/>
                  <a:ea typeface="HY헤드라인M" pitchFamily="18" charset="-127"/>
                </a:rPr>
                <a:t> 증강현실</a:t>
              </a:r>
              <a:r>
                <a:rPr lang="en-US" altLang="ko-KR" sz="7633" dirty="0"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7633" dirty="0">
                  <a:latin typeface="HY헤드라인M" pitchFamily="18" charset="-127"/>
                  <a:ea typeface="HY헤드라인M" pitchFamily="18" charset="-127"/>
                </a:rPr>
                <a:t>여행가이드 개발</a:t>
              </a: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899597" y="6169389"/>
            <a:ext cx="6285975" cy="938028"/>
            <a:chOff x="1062038" y="6867526"/>
            <a:chExt cx="4446786" cy="663574"/>
          </a:xfrm>
        </p:grpSpPr>
        <p:sp>
          <p:nvSpPr>
            <p:cNvPr id="11" name="Text Box 10276"/>
            <p:cNvSpPr txBox="1">
              <a:spLocks noChangeArrowheads="1"/>
            </p:cNvSpPr>
            <p:nvPr/>
          </p:nvSpPr>
          <p:spPr bwMode="auto">
            <a:xfrm>
              <a:off x="1423988" y="6867526"/>
              <a:ext cx="4084836" cy="650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defTabSz="1077142" eaLnBrk="0" latinLnBrk="0" hangingPunct="0"/>
              <a:r>
                <a:rPr lang="ko-KR" altLang="en-US" sz="5372" b="1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HY헤드라인M" pitchFamily="18" charset="-127"/>
                </a:rPr>
                <a:t>기존 문제점 제기</a:t>
              </a:r>
              <a:endParaRPr lang="en-US" sz="5372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HY헤드라인M" pitchFamily="18" charset="-127"/>
              </a:endParaRPr>
            </a:p>
          </p:txBody>
        </p:sp>
        <p:graphicFrame>
          <p:nvGraphicFramePr>
            <p:cNvPr id="12" name="Object 10346"/>
            <p:cNvGraphicFramePr>
              <a:graphicFrameLocks/>
            </p:cNvGraphicFramePr>
            <p:nvPr/>
          </p:nvGraphicFramePr>
          <p:xfrm>
            <a:off x="1062038" y="6892925"/>
            <a:ext cx="433387" cy="63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" name="Designer Drawing" r:id="rId6" imgW="237960" imgH="336240" progId="">
                    <p:embed/>
                  </p:oleObj>
                </mc:Choice>
                <mc:Fallback>
                  <p:oleObj name="Designer Drawing" r:id="rId6" imgW="237960" imgH="336240" progId="">
                    <p:embed/>
                    <p:pic>
                      <p:nvPicPr>
                        <p:cNvPr id="0" name="Picture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038" y="6892925"/>
                          <a:ext cx="433387" cy="638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Rectangle 10370"/>
          <p:cNvSpPr>
            <a:spLocks noChangeArrowheads="1"/>
          </p:cNvSpPr>
          <p:nvPr/>
        </p:nvSpPr>
        <p:spPr bwMode="auto">
          <a:xfrm>
            <a:off x="772490" y="7253003"/>
            <a:ext cx="28817052" cy="6412801"/>
          </a:xfrm>
          <a:prstGeom prst="rect">
            <a:avLst/>
          </a:prstGeom>
          <a:solidFill>
            <a:srgbClr val="99CCFF">
              <a:alpha val="50000"/>
            </a:srgbClr>
          </a:solidFill>
          <a:ln w="12700">
            <a:solidFill>
              <a:srgbClr val="3333FF"/>
            </a:solidFill>
            <a:miter lim="800000"/>
            <a:headEnd/>
            <a:tailEnd type="none" w="sm" len="med"/>
          </a:ln>
          <a:effectLst/>
        </p:spPr>
        <p:txBody>
          <a:bodyPr lIns="127224" tIns="127224" rIns="127224" bIns="127224" anchor="ctr"/>
          <a:lstStyle/>
          <a:p>
            <a:pPr marL="1130999" indent="-1130999" defTabSz="6660330">
              <a:tabLst>
                <a:tab pos="3312213" algn="l"/>
              </a:tabLst>
            </a:pPr>
            <a:endParaRPr lang="ko-KR" altLang="ko-KR" sz="9188" dirty="0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785149" y="14378340"/>
            <a:ext cx="6285975" cy="938028"/>
            <a:chOff x="1062038" y="6867526"/>
            <a:chExt cx="4446786" cy="663574"/>
          </a:xfrm>
        </p:grpSpPr>
        <p:sp>
          <p:nvSpPr>
            <p:cNvPr id="16" name="Text Box 10276"/>
            <p:cNvSpPr txBox="1">
              <a:spLocks noChangeArrowheads="1"/>
            </p:cNvSpPr>
            <p:nvPr/>
          </p:nvSpPr>
          <p:spPr bwMode="auto">
            <a:xfrm>
              <a:off x="1423988" y="6867526"/>
              <a:ext cx="4084836" cy="650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defTabSz="1077142" eaLnBrk="0" latinLnBrk="0" hangingPunct="0"/>
              <a:r>
                <a:rPr lang="ko-KR" altLang="en-US" sz="5372" b="1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HY헤드라인M" pitchFamily="18" charset="-127"/>
                </a:rPr>
                <a:t>아이디어</a:t>
              </a:r>
              <a:endParaRPr lang="en-US" sz="5372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HY헤드라인M" pitchFamily="18" charset="-127"/>
              </a:endParaRPr>
            </a:p>
          </p:txBody>
        </p:sp>
        <p:graphicFrame>
          <p:nvGraphicFramePr>
            <p:cNvPr id="17" name="Object 10346"/>
            <p:cNvGraphicFramePr>
              <a:graphicFrameLocks/>
            </p:cNvGraphicFramePr>
            <p:nvPr/>
          </p:nvGraphicFramePr>
          <p:xfrm>
            <a:off x="1062038" y="6892925"/>
            <a:ext cx="433387" cy="63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0" name="Designer Drawing" r:id="rId8" imgW="237960" imgH="336240" progId="">
                    <p:embed/>
                  </p:oleObj>
                </mc:Choice>
                <mc:Fallback>
                  <p:oleObj name="Designer Drawing" r:id="rId8" imgW="237960" imgH="336240" progId="">
                    <p:embed/>
                    <p:pic>
                      <p:nvPicPr>
                        <p:cNvPr id="0" name="Picture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038" y="6892925"/>
                          <a:ext cx="433387" cy="638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0370"/>
          <p:cNvSpPr>
            <a:spLocks noChangeArrowheads="1"/>
          </p:cNvSpPr>
          <p:nvPr/>
        </p:nvSpPr>
        <p:spPr bwMode="auto">
          <a:xfrm>
            <a:off x="772487" y="15396242"/>
            <a:ext cx="28818774" cy="4173410"/>
          </a:xfrm>
          <a:prstGeom prst="rect">
            <a:avLst/>
          </a:prstGeom>
          <a:solidFill>
            <a:srgbClr val="99CCFF">
              <a:alpha val="50000"/>
            </a:srgbClr>
          </a:solidFill>
          <a:ln w="12700">
            <a:solidFill>
              <a:srgbClr val="3333FF"/>
            </a:solidFill>
            <a:miter lim="800000"/>
            <a:headEnd/>
            <a:tailEnd type="none" w="sm" len="med"/>
          </a:ln>
          <a:effectLst/>
        </p:spPr>
        <p:txBody>
          <a:bodyPr lIns="127224" tIns="127224" rIns="127224" bIns="127224" anchor="ctr"/>
          <a:lstStyle/>
          <a:p>
            <a:pPr marL="1130999" indent="-1130999" defTabSz="6660330">
              <a:tabLst>
                <a:tab pos="3312213" algn="l"/>
              </a:tabLst>
            </a:pPr>
            <a:endParaRPr lang="ko-KR" altLang="ko-KR" sz="9188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23" name="Picture 10381" descr="sublogo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576009" y="41699814"/>
            <a:ext cx="17660074" cy="1281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 Box 10276"/>
          <p:cNvSpPr txBox="1">
            <a:spLocks noChangeArrowheads="1"/>
          </p:cNvSpPr>
          <p:nvPr/>
        </p:nvSpPr>
        <p:spPr bwMode="auto">
          <a:xfrm>
            <a:off x="1195009" y="20282184"/>
            <a:ext cx="9701238" cy="919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1077142" eaLnBrk="0" latinLnBrk="0" hangingPunct="0"/>
            <a:r>
              <a:rPr lang="ko-KR" altLang="en-US" sz="5372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HY헤드라인M" pitchFamily="18" charset="-127"/>
              </a:rPr>
              <a:t>사용자의 위치 파악 구현</a:t>
            </a:r>
            <a:endParaRPr lang="en-US" sz="5372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HY헤드라인M" pitchFamily="18" charset="-127"/>
            </a:endParaRPr>
          </a:p>
        </p:txBody>
      </p:sp>
      <p:graphicFrame>
        <p:nvGraphicFramePr>
          <p:cNvPr id="26" name="Object 10346"/>
          <p:cNvGraphicFramePr>
            <a:graphicFrameLocks/>
          </p:cNvGraphicFramePr>
          <p:nvPr/>
        </p:nvGraphicFramePr>
        <p:xfrm>
          <a:off x="683362" y="20291024"/>
          <a:ext cx="612636" cy="902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Designer Drawing" r:id="rId10" imgW="237960" imgH="336240" progId="">
                  <p:embed/>
                </p:oleObj>
              </mc:Choice>
              <mc:Fallback>
                <p:oleObj name="Designer Drawing" r:id="rId10" imgW="237960" imgH="336240" progId="">
                  <p:embed/>
                  <p:pic>
                    <p:nvPicPr>
                      <p:cNvPr id="0" name="Picture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362" y="20291024"/>
                        <a:ext cx="612636" cy="902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타원 58"/>
          <p:cNvSpPr/>
          <p:nvPr/>
        </p:nvSpPr>
        <p:spPr>
          <a:xfrm>
            <a:off x="5224987" y="21932814"/>
            <a:ext cx="7876809" cy="6899776"/>
          </a:xfrm>
          <a:prstGeom prst="ellipse">
            <a:avLst/>
          </a:prstGeom>
          <a:solidFill>
            <a:schemeClr val="bg1">
              <a:alpha val="24000"/>
            </a:schemeClr>
          </a:solidFill>
          <a:ln w="146050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 dirty="0">
              <a:solidFill>
                <a:schemeClr val="accent4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 rot="10800000" flipV="1">
            <a:off x="9216115" y="25269923"/>
            <a:ext cx="3783897" cy="62092"/>
          </a:xfrm>
          <a:prstGeom prst="line">
            <a:avLst/>
          </a:prstGeom>
          <a:ln w="22225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9743150" y="24878358"/>
            <a:ext cx="3220753" cy="3533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오차 반경 </a:t>
            </a:r>
            <a:r>
              <a:rPr lang="en-US" altLang="ko-KR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= </a:t>
            </a:r>
            <a:r>
              <a:rPr lang="ko-KR" altLang="en-US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사용자의 위치 범위</a:t>
            </a:r>
          </a:p>
        </p:txBody>
      </p:sp>
      <p:sp>
        <p:nvSpPr>
          <p:cNvPr id="68" name="정육면체 67"/>
          <p:cNvSpPr/>
          <p:nvPr/>
        </p:nvSpPr>
        <p:spPr>
          <a:xfrm>
            <a:off x="8765902" y="26655614"/>
            <a:ext cx="1148300" cy="927393"/>
          </a:xfrm>
          <a:prstGeom prst="cube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6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69" name="정육면체 68"/>
          <p:cNvSpPr/>
          <p:nvPr/>
        </p:nvSpPr>
        <p:spPr>
          <a:xfrm>
            <a:off x="11391505" y="25676923"/>
            <a:ext cx="1148300" cy="927393"/>
          </a:xfrm>
          <a:prstGeom prst="cube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6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70" name="정육면체 69"/>
          <p:cNvSpPr/>
          <p:nvPr/>
        </p:nvSpPr>
        <p:spPr>
          <a:xfrm>
            <a:off x="10455247" y="23030534"/>
            <a:ext cx="1148300" cy="927393"/>
          </a:xfrm>
          <a:prstGeom prst="cube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6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71" name="정육면체 70"/>
          <p:cNvSpPr/>
          <p:nvPr/>
        </p:nvSpPr>
        <p:spPr>
          <a:xfrm>
            <a:off x="10785597" y="23817409"/>
            <a:ext cx="1148300" cy="927393"/>
          </a:xfrm>
          <a:prstGeom prst="cube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6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72" name="정육면체 71"/>
          <p:cNvSpPr/>
          <p:nvPr/>
        </p:nvSpPr>
        <p:spPr>
          <a:xfrm>
            <a:off x="6948177" y="26851352"/>
            <a:ext cx="1148300" cy="927393"/>
          </a:xfrm>
          <a:prstGeom prst="cube">
            <a:avLst/>
          </a:prstGeom>
          <a:gradFill>
            <a:gsLst>
              <a:gs pos="0">
                <a:schemeClr val="bg1"/>
              </a:gs>
              <a:gs pos="50000">
                <a:schemeClr val="bg1">
                  <a:lumMod val="65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76" name="원통 75"/>
          <p:cNvSpPr/>
          <p:nvPr/>
        </p:nvSpPr>
        <p:spPr>
          <a:xfrm>
            <a:off x="1898942" y="24255456"/>
            <a:ext cx="2625585" cy="1335361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282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주변 물체들의</a:t>
            </a:r>
            <a:endParaRPr lang="en-US" altLang="ko-KR" sz="2827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itchFamily="18" charset="-127"/>
              <a:ea typeface="HY견고딕" pitchFamily="18" charset="-127"/>
            </a:endParaRPr>
          </a:p>
          <a:p>
            <a:pPr algn="ctr">
              <a:defRPr/>
            </a:pPr>
            <a:r>
              <a:rPr lang="ko-KR" altLang="en-US" sz="2827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특징점</a:t>
            </a:r>
            <a:r>
              <a:rPr lang="ko-KR" altLang="en-US" sz="282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282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rPr>
              <a:t>DB</a:t>
            </a:r>
            <a:endParaRPr lang="ko-KR" altLang="en-US" sz="2827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797952" y="25821356"/>
            <a:ext cx="2827573" cy="3316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1555" b="1" dirty="0" err="1">
                <a:solidFill>
                  <a:schemeClr val="bg1">
                    <a:lumMod val="9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여섯번의</a:t>
            </a:r>
            <a:r>
              <a:rPr lang="ko-KR" altLang="en-US" sz="1555" b="1" dirty="0">
                <a:solidFill>
                  <a:schemeClr val="bg1">
                    <a:lumMod val="9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  <a:r>
              <a:rPr lang="ko-KR" altLang="en-US" sz="1555" b="1" dirty="0" err="1">
                <a:solidFill>
                  <a:schemeClr val="bg1">
                    <a:lumMod val="9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매칭</a:t>
            </a:r>
            <a:r>
              <a:rPr lang="ko-KR" altLang="en-US" sz="1555" b="1" dirty="0">
                <a:solidFill>
                  <a:schemeClr val="bg1">
                    <a:lumMod val="9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 알고리즘 수행</a:t>
            </a:r>
            <a:endParaRPr lang="en-US" altLang="ko-KR" sz="1555" b="1" dirty="0">
              <a:solidFill>
                <a:schemeClr val="bg1">
                  <a:lumMod val="9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13796" y="22174343"/>
            <a:ext cx="3868038" cy="614464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393" b="1" dirty="0">
                <a:solidFill>
                  <a:srgbClr val="FFFF00"/>
                </a:solidFill>
                <a:latin typeface="HY헤드라인M" pitchFamily="18" charset="-127"/>
                <a:ea typeface="HY헤드라인M" pitchFamily="18" charset="-127"/>
              </a:rPr>
              <a:t>“</a:t>
            </a:r>
            <a:r>
              <a:rPr lang="ko-KR" altLang="en-US" sz="3393" b="1" dirty="0">
                <a:solidFill>
                  <a:srgbClr val="FFFF00"/>
                </a:solidFill>
                <a:latin typeface="HY헤드라인M" pitchFamily="18" charset="-127"/>
                <a:ea typeface="HY헤드라인M" pitchFamily="18" charset="-127"/>
              </a:rPr>
              <a:t>사용자 위치갱신</a:t>
            </a:r>
            <a:r>
              <a:rPr lang="en-US" altLang="ko-KR" sz="3393" b="1" dirty="0">
                <a:solidFill>
                  <a:srgbClr val="FFFF00"/>
                </a:solidFill>
                <a:latin typeface="HY헤드라인M" pitchFamily="18" charset="-127"/>
                <a:ea typeface="HY헤드라인M" pitchFamily="18" charset="-127"/>
              </a:rPr>
              <a:t>”</a:t>
            </a:r>
            <a:endParaRPr lang="ko-KR" altLang="en-US" sz="3393" b="1" dirty="0">
              <a:solidFill>
                <a:srgbClr val="FFFF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82" name="왼쪽으로 구부러진 화살표 81"/>
          <p:cNvSpPr/>
          <p:nvPr/>
        </p:nvSpPr>
        <p:spPr>
          <a:xfrm rot="16200000">
            <a:off x="3905558" y="21585560"/>
            <a:ext cx="1076559" cy="367600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>
              <a:solidFill>
                <a:schemeClr val="tx1"/>
              </a:solidFill>
            </a:endParaRPr>
          </a:p>
        </p:txBody>
      </p:sp>
      <p:grpSp>
        <p:nvGrpSpPr>
          <p:cNvPr id="81" name="그룹 55"/>
          <p:cNvGrpSpPr/>
          <p:nvPr/>
        </p:nvGrpSpPr>
        <p:grpSpPr>
          <a:xfrm>
            <a:off x="1497681" y="23743062"/>
            <a:ext cx="3455378" cy="629015"/>
            <a:chOff x="3275856" y="342951"/>
            <a:chExt cx="2444382" cy="459138"/>
          </a:xfrm>
          <a:gradFill>
            <a:gsLst>
              <a:gs pos="43000">
                <a:schemeClr val="tx2">
                  <a:lumMod val="75000"/>
                </a:schemeClr>
              </a:gs>
              <a:gs pos="96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grpSpPr>
        <p:sp>
          <p:nvSpPr>
            <p:cNvPr id="83" name="직사각형 82"/>
            <p:cNvSpPr/>
            <p:nvPr/>
          </p:nvSpPr>
          <p:spPr>
            <a:xfrm>
              <a:off x="3275856" y="342951"/>
              <a:ext cx="2444382" cy="45832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595" dirty="0">
                <a:solidFill>
                  <a:schemeClr val="bg1"/>
                </a:solidFill>
              </a:endParaRPr>
            </a:p>
          </p:txBody>
        </p:sp>
        <p:cxnSp>
          <p:nvCxnSpPr>
            <p:cNvPr id="84" name="직선 연결선 83"/>
            <p:cNvCxnSpPr>
              <a:stCxn id="83" idx="0"/>
              <a:endCxn id="83" idx="2"/>
            </p:cNvCxnSpPr>
            <p:nvPr/>
          </p:nvCxnSpPr>
          <p:spPr>
            <a:xfrm rot="16200000" flipH="1">
              <a:off x="4268887" y="572135"/>
              <a:ext cx="458320" cy="1588"/>
            </a:xfrm>
            <a:prstGeom prst="lin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3316069" y="415254"/>
              <a:ext cx="535468" cy="242066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555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물체</a:t>
              </a:r>
              <a:r>
                <a:rPr lang="en-US" altLang="ko-KR" sz="1555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ID</a:t>
              </a:r>
              <a:endParaRPr lang="ko-KR" altLang="en-US" sz="1555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3919823" y="344113"/>
              <a:ext cx="552478" cy="41673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555" dirty="0">
                  <a:solidFill>
                    <a:srgbClr val="FFFF00"/>
                  </a:solidFill>
                  <a:latin typeface="HY헤드라인M" pitchFamily="18" charset="-127"/>
                  <a:ea typeface="HY헤드라인M" pitchFamily="18" charset="-127"/>
                </a:rPr>
                <a:t>사용자</a:t>
              </a:r>
              <a:endParaRPr lang="en-US" altLang="ko-KR" sz="1555" dirty="0">
                <a:solidFill>
                  <a:srgbClr val="FFFF00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algn="ctr"/>
              <a:r>
                <a:rPr lang="ko-KR" altLang="en-US" sz="1555" dirty="0">
                  <a:solidFill>
                    <a:srgbClr val="FFFF00"/>
                  </a:solidFill>
                  <a:latin typeface="HY헤드라인M" pitchFamily="18" charset="-127"/>
                  <a:ea typeface="HY헤드라인M" pitchFamily="18" charset="-127"/>
                </a:rPr>
                <a:t>위치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527682" y="342952"/>
              <a:ext cx="552478" cy="41673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555" dirty="0" err="1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특징점</a:t>
              </a:r>
              <a:endParaRPr lang="en-US" altLang="ko-KR" sz="1555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algn="ctr"/>
              <a:r>
                <a:rPr lang="en-US" altLang="ko-KR" sz="1555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Data</a:t>
              </a:r>
              <a:endParaRPr lang="ko-KR" altLang="en-US" sz="1555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188529" y="342952"/>
              <a:ext cx="437946" cy="416737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555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건물</a:t>
              </a:r>
              <a:endParaRPr lang="en-US" altLang="ko-KR" sz="1555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  <a:p>
              <a:pPr algn="ctr"/>
              <a:r>
                <a:rPr lang="en-US" altLang="ko-KR" sz="1555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Data</a:t>
              </a:r>
              <a:endParaRPr lang="ko-KR" altLang="en-US" sz="1555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sp>
        <p:nvSpPr>
          <p:cNvPr id="147" name="웃는 얼굴 146"/>
          <p:cNvSpPr/>
          <p:nvPr/>
        </p:nvSpPr>
        <p:spPr>
          <a:xfrm>
            <a:off x="8741700" y="24862762"/>
            <a:ext cx="948824" cy="919551"/>
          </a:xfrm>
          <a:prstGeom prst="smileyFac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 dirty="0"/>
          </a:p>
        </p:txBody>
      </p:sp>
      <p:grpSp>
        <p:nvGrpSpPr>
          <p:cNvPr id="94" name="그룹 93"/>
          <p:cNvGrpSpPr/>
          <p:nvPr/>
        </p:nvGrpSpPr>
        <p:grpSpPr>
          <a:xfrm>
            <a:off x="708392" y="30013027"/>
            <a:ext cx="6285975" cy="938028"/>
            <a:chOff x="1062038" y="6867526"/>
            <a:chExt cx="4446786" cy="663574"/>
          </a:xfrm>
        </p:grpSpPr>
        <p:sp>
          <p:nvSpPr>
            <p:cNvPr id="95" name="Text Box 10276"/>
            <p:cNvSpPr txBox="1">
              <a:spLocks noChangeArrowheads="1"/>
            </p:cNvSpPr>
            <p:nvPr/>
          </p:nvSpPr>
          <p:spPr bwMode="auto">
            <a:xfrm>
              <a:off x="1423988" y="6867526"/>
              <a:ext cx="4084836" cy="650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defTabSz="1077142" eaLnBrk="0" latinLnBrk="0" hangingPunct="0"/>
              <a:r>
                <a:rPr lang="en-US" sz="5372" b="1" dirty="0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  <a:ea typeface="HY헤드라인M" pitchFamily="18" charset="-127"/>
                </a:rPr>
                <a:t>Logic Flow</a:t>
              </a:r>
            </a:p>
          </p:txBody>
        </p:sp>
        <p:graphicFrame>
          <p:nvGraphicFramePr>
            <p:cNvPr id="96" name="Object 10346"/>
            <p:cNvGraphicFramePr>
              <a:graphicFrameLocks/>
            </p:cNvGraphicFramePr>
            <p:nvPr/>
          </p:nvGraphicFramePr>
          <p:xfrm>
            <a:off x="1062038" y="6892925"/>
            <a:ext cx="433387" cy="63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2" name="Designer Drawing" r:id="rId11" imgW="237960" imgH="336240" progId="">
                    <p:embed/>
                  </p:oleObj>
                </mc:Choice>
                <mc:Fallback>
                  <p:oleObj name="Designer Drawing" r:id="rId11" imgW="237960" imgH="336240" progId="">
                    <p:embed/>
                    <p:pic>
                      <p:nvPicPr>
                        <p:cNvPr id="0" name="Picture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038" y="6892925"/>
                          <a:ext cx="433387" cy="638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7" name="Rectangle 10370"/>
          <p:cNvSpPr>
            <a:spLocks noChangeArrowheads="1"/>
          </p:cNvSpPr>
          <p:nvPr/>
        </p:nvSpPr>
        <p:spPr bwMode="auto">
          <a:xfrm>
            <a:off x="772490" y="31071977"/>
            <a:ext cx="12532887" cy="10484420"/>
          </a:xfrm>
          <a:prstGeom prst="rect">
            <a:avLst/>
          </a:prstGeom>
          <a:solidFill>
            <a:srgbClr val="99CCFF">
              <a:alpha val="50000"/>
            </a:srgbClr>
          </a:solidFill>
          <a:ln w="12700">
            <a:solidFill>
              <a:srgbClr val="3333FF"/>
            </a:solidFill>
            <a:miter lim="800000"/>
            <a:headEnd/>
            <a:tailEnd type="none" w="sm" len="med"/>
          </a:ln>
          <a:effectLst/>
        </p:spPr>
        <p:txBody>
          <a:bodyPr lIns="127224" tIns="127224" rIns="127224" bIns="127224" anchor="ctr"/>
          <a:lstStyle/>
          <a:p>
            <a:pPr marL="1130999" indent="-1130999" defTabSz="6660330">
              <a:tabLst>
                <a:tab pos="3312213" algn="l"/>
              </a:tabLst>
            </a:pPr>
            <a:endParaRPr lang="ko-KR" altLang="ko-KR" sz="9188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354" name="그룹 353"/>
          <p:cNvGrpSpPr/>
          <p:nvPr/>
        </p:nvGrpSpPr>
        <p:grpSpPr>
          <a:xfrm>
            <a:off x="1507979" y="31558664"/>
            <a:ext cx="11084870" cy="8878036"/>
            <a:chOff x="1051609" y="22124763"/>
            <a:chExt cx="7841591" cy="6280446"/>
          </a:xfrm>
        </p:grpSpPr>
        <p:sp>
          <p:nvSpPr>
            <p:cNvPr id="157" name="TextBox 156"/>
            <p:cNvSpPr txBox="1"/>
            <p:nvPr/>
          </p:nvSpPr>
          <p:spPr>
            <a:xfrm>
              <a:off x="3695924" y="22124763"/>
              <a:ext cx="2064002" cy="311575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Client 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수신 대기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5924183" y="24123006"/>
              <a:ext cx="2650899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주변사물 </a:t>
              </a:r>
              <a:r>
                <a:rPr lang="ko-KR" altLang="en-US" sz="2262" b="1" kern="0" dirty="0" err="1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특징점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DB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에서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후보 이미지를 추출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051609" y="25212396"/>
              <a:ext cx="2412029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사용자가 위치한 여행지의 여행 정보 검색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051609" y="26364524"/>
              <a:ext cx="2422958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Client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로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주변 여행 정보 전송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5839902" y="25149099"/>
              <a:ext cx="2819460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사용자 카메라 이미지와 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후보 이미지와의 </a:t>
              </a:r>
              <a:r>
                <a:rPr lang="ko-KR" altLang="en-US" sz="2262" b="1" kern="0" dirty="0" err="1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특징점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 비교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076248" y="26307820"/>
              <a:ext cx="1972095" cy="804088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Match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된 물체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정보로부터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 사용자 위치파악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6559982" y="26301227"/>
              <a:ext cx="2333218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일치되는 이미지 없음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(Error Message)</a:t>
              </a:r>
              <a:endParaRPr lang="ko-KR" altLang="en-US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</p:txBody>
        </p:sp>
        <p:cxnSp>
          <p:nvCxnSpPr>
            <p:cNvPr id="164" name="직선 화살표 연결선 163"/>
            <p:cNvCxnSpPr>
              <a:stCxn id="159" idx="2"/>
              <a:endCxn id="160" idx="0"/>
            </p:cNvCxnSpPr>
            <p:nvPr/>
          </p:nvCxnSpPr>
          <p:spPr>
            <a:xfrm>
              <a:off x="2257624" y="25770227"/>
              <a:ext cx="5465" cy="594297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cxnSp>
          <p:nvCxnSpPr>
            <p:cNvPr id="165" name="직선 화살표 연결선 164"/>
            <p:cNvCxnSpPr>
              <a:stCxn id="158" idx="2"/>
              <a:endCxn id="161" idx="0"/>
            </p:cNvCxnSpPr>
            <p:nvPr/>
          </p:nvCxnSpPr>
          <p:spPr>
            <a:xfrm flipH="1">
              <a:off x="7249632" y="24680838"/>
              <a:ext cx="1" cy="468261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cxnSp>
          <p:nvCxnSpPr>
            <p:cNvPr id="166" name="직선 화살표 연결선 165"/>
            <p:cNvCxnSpPr>
              <a:stCxn id="161" idx="2"/>
              <a:endCxn id="162" idx="0"/>
            </p:cNvCxnSpPr>
            <p:nvPr/>
          </p:nvCxnSpPr>
          <p:spPr>
            <a:xfrm flipH="1">
              <a:off x="5062296" y="25706930"/>
              <a:ext cx="2187336" cy="600890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cxnSp>
          <p:nvCxnSpPr>
            <p:cNvPr id="167" name="직선 화살표 연결선 166"/>
            <p:cNvCxnSpPr>
              <a:stCxn id="161" idx="2"/>
              <a:endCxn id="163" idx="0"/>
            </p:cNvCxnSpPr>
            <p:nvPr/>
          </p:nvCxnSpPr>
          <p:spPr>
            <a:xfrm>
              <a:off x="7249632" y="25706930"/>
              <a:ext cx="476959" cy="594297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sp>
          <p:nvSpPr>
            <p:cNvPr id="168" name="TextBox 167"/>
            <p:cNvSpPr txBox="1"/>
            <p:nvPr/>
          </p:nvSpPr>
          <p:spPr>
            <a:xfrm>
              <a:off x="1051609" y="24060262"/>
              <a:ext cx="2422959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WPS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를 기반으로 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사용자의 여행지 파악</a:t>
              </a:r>
            </a:p>
          </p:txBody>
        </p:sp>
        <p:cxnSp>
          <p:nvCxnSpPr>
            <p:cNvPr id="169" name="직선 화살표 연결선 168"/>
            <p:cNvCxnSpPr>
              <a:stCxn id="157" idx="2"/>
              <a:endCxn id="168" idx="0"/>
            </p:cNvCxnSpPr>
            <p:nvPr/>
          </p:nvCxnSpPr>
          <p:spPr>
            <a:xfrm flipH="1">
              <a:off x="2263089" y="22436338"/>
              <a:ext cx="2464836" cy="1623924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cxnSp>
          <p:nvCxnSpPr>
            <p:cNvPr id="170" name="직선 화살표 연결선 169"/>
            <p:cNvCxnSpPr>
              <a:stCxn id="168" idx="2"/>
              <a:endCxn id="159" idx="0"/>
            </p:cNvCxnSpPr>
            <p:nvPr/>
          </p:nvCxnSpPr>
          <p:spPr>
            <a:xfrm flipH="1">
              <a:off x="2257624" y="24618093"/>
              <a:ext cx="5465" cy="594303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cxnSp>
          <p:nvCxnSpPr>
            <p:cNvPr id="171" name="직선 화살표 연결선 170"/>
            <p:cNvCxnSpPr>
              <a:stCxn id="157" idx="2"/>
              <a:endCxn id="158" idx="0"/>
            </p:cNvCxnSpPr>
            <p:nvPr/>
          </p:nvCxnSpPr>
          <p:spPr>
            <a:xfrm>
              <a:off x="4727925" y="22436338"/>
              <a:ext cx="2521708" cy="1686669"/>
            </a:xfrm>
            <a:prstGeom prst="straightConnector1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cxnSp>
          <p:nvCxnSpPr>
            <p:cNvPr id="172" name="Shape 171"/>
            <p:cNvCxnSpPr>
              <a:stCxn id="157" idx="1"/>
              <a:endCxn id="160" idx="2"/>
            </p:cNvCxnSpPr>
            <p:nvPr/>
          </p:nvCxnSpPr>
          <p:spPr>
            <a:xfrm rot="10800000" flipV="1">
              <a:off x="2263089" y="22280550"/>
              <a:ext cx="1432835" cy="4641805"/>
            </a:xfrm>
            <a:prstGeom prst="bentConnector4">
              <a:avLst>
                <a:gd name="adj1" fmla="val 7724"/>
                <a:gd name="adj2" fmla="val 103484"/>
              </a:avLst>
            </a:prstGeom>
            <a:noFill/>
            <a:ln w="19050" cap="flat" cmpd="sng" algn="ctr">
              <a:solidFill>
                <a:srgbClr val="000000"/>
              </a:solidFill>
              <a:prstDash val="solid"/>
              <a:headEnd type="stealth" w="med" len="lg"/>
              <a:tailEnd type="none"/>
            </a:ln>
            <a:effectLst/>
          </p:spPr>
        </p:cxnSp>
        <p:sp>
          <p:nvSpPr>
            <p:cNvPr id="174" name="TextBox 173"/>
            <p:cNvSpPr txBox="1"/>
            <p:nvPr/>
          </p:nvSpPr>
          <p:spPr>
            <a:xfrm>
              <a:off x="1361116" y="22967017"/>
              <a:ext cx="2964468" cy="5578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Client</a:t>
              </a:r>
              <a:r>
                <a:rPr lang="ko-KR" altLang="en-US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로 </a:t>
              </a:r>
              <a:r>
                <a:rPr lang="ko-KR" altLang="en-US" sz="2262" b="1" kern="0" dirty="0" err="1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부터</a:t>
              </a:r>
              <a:r>
                <a:rPr lang="ko-KR" altLang="en-US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 주변 여행 정보를</a:t>
              </a:r>
              <a:endParaRPr lang="en-US" altLang="ko-KR" sz="2262" b="1" kern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요청 받았을 경우</a:t>
              </a: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5453740" y="22988859"/>
              <a:ext cx="2476854" cy="5578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Client</a:t>
              </a:r>
              <a:r>
                <a:rPr lang="ko-KR" altLang="en-US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로 </a:t>
              </a:r>
              <a:r>
                <a:rPr lang="ko-KR" altLang="en-US" sz="2262" b="1" kern="0" dirty="0" err="1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부터</a:t>
              </a:r>
              <a:r>
                <a:rPr lang="ko-KR" altLang="en-US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 물체 </a:t>
              </a:r>
              <a:r>
                <a:rPr lang="en-US" altLang="ko-KR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Match</a:t>
              </a: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작업 요청을 받았을 경우</a:t>
              </a:r>
            </a:p>
          </p:txBody>
        </p:sp>
        <p:sp>
          <p:nvSpPr>
            <p:cNvPr id="176" name="원통 175"/>
            <p:cNvSpPr/>
            <p:nvPr/>
          </p:nvSpPr>
          <p:spPr>
            <a:xfrm>
              <a:off x="3854429" y="23780947"/>
              <a:ext cx="1705058" cy="2016224"/>
            </a:xfrm>
            <a:prstGeom prst="can">
              <a:avLst/>
            </a:prstGeom>
            <a:solidFill>
              <a:srgbClr val="BBE0E3">
                <a:lumMod val="20000"/>
                <a:lumOff val="80000"/>
              </a:srgbClr>
            </a:solidFill>
            <a:ln w="25400" cap="flat" cmpd="sng" algn="ctr">
              <a:solidFill>
                <a:srgbClr val="BBE0E3">
                  <a:shade val="50000"/>
                </a:srgb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1292570" latinLnBrk="0">
                <a:defRPr/>
              </a:pPr>
              <a:r>
                <a:rPr lang="en-US" altLang="ko-KR" sz="4524" kern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DB</a:t>
              </a:r>
            </a:p>
            <a:p>
              <a:pPr algn="ctr" defTabSz="1292570" latinLnBrk="0">
                <a:defRPr/>
              </a:pPr>
              <a:r>
                <a:rPr lang="ko-KR" altLang="en-US" sz="2262" kern="0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특징점</a:t>
              </a:r>
              <a:endParaRPr lang="en-US" altLang="ko-KR" sz="2262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en-US" altLang="ko-KR" sz="2262" kern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262" kern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여행정보</a:t>
              </a:r>
              <a:endParaRPr lang="en-US" altLang="ko-KR" sz="2262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en-US" altLang="ko-KR" sz="2262" kern="0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……</a:t>
              </a:r>
            </a:p>
          </p:txBody>
        </p:sp>
        <p:cxnSp>
          <p:nvCxnSpPr>
            <p:cNvPr id="177" name="직선 화살표 연결선 176"/>
            <p:cNvCxnSpPr>
              <a:stCxn id="159" idx="3"/>
            </p:cNvCxnSpPr>
            <p:nvPr/>
          </p:nvCxnSpPr>
          <p:spPr>
            <a:xfrm>
              <a:off x="3463638" y="25491312"/>
              <a:ext cx="432048" cy="17828"/>
            </a:xfrm>
            <a:prstGeom prst="straightConnector1">
              <a:avLst/>
            </a:prstGeom>
            <a:noFill/>
            <a:ln w="22225" cap="flat" cmpd="sng" algn="ctr">
              <a:solidFill>
                <a:srgbClr val="000000"/>
              </a:solidFill>
              <a:prstDash val="solid"/>
              <a:headEnd type="stealth" w="med" len="lg"/>
              <a:tailEnd type="stealth" w="med" len="lg"/>
            </a:ln>
            <a:effectLst/>
          </p:spPr>
        </p:cxnSp>
        <p:cxnSp>
          <p:nvCxnSpPr>
            <p:cNvPr id="178" name="직선 화살표 연결선 177"/>
            <p:cNvCxnSpPr>
              <a:endCxn id="158" idx="1"/>
            </p:cNvCxnSpPr>
            <p:nvPr/>
          </p:nvCxnSpPr>
          <p:spPr>
            <a:xfrm flipV="1">
              <a:off x="5551870" y="24401922"/>
              <a:ext cx="372313" cy="27098"/>
            </a:xfrm>
            <a:prstGeom prst="straightConnector1">
              <a:avLst/>
            </a:prstGeom>
            <a:noFill/>
            <a:ln w="22225" cap="flat" cmpd="sng" algn="ctr">
              <a:solidFill>
                <a:srgbClr val="000000"/>
              </a:solidFill>
              <a:prstDash val="solid"/>
              <a:headEnd type="stealth" w="med" len="lg"/>
              <a:tailEnd type="stealth" w="med" len="lg"/>
            </a:ln>
            <a:effectLst/>
          </p:spPr>
        </p:cxnSp>
        <p:cxnSp>
          <p:nvCxnSpPr>
            <p:cNvPr id="179" name="직선 연결선 178"/>
            <p:cNvCxnSpPr>
              <a:stCxn id="163" idx="2"/>
            </p:cNvCxnSpPr>
            <p:nvPr/>
          </p:nvCxnSpPr>
          <p:spPr>
            <a:xfrm>
              <a:off x="7726591" y="26859058"/>
              <a:ext cx="14482" cy="1546151"/>
            </a:xfrm>
            <a:prstGeom prst="line">
              <a:avLst/>
            </a:prstGeom>
            <a:noFill/>
            <a:ln w="222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0" name="구부러진 연결선 179"/>
            <p:cNvCxnSpPr>
              <a:stCxn id="161" idx="3"/>
              <a:endCxn id="158" idx="3"/>
            </p:cNvCxnSpPr>
            <p:nvPr/>
          </p:nvCxnSpPr>
          <p:spPr>
            <a:xfrm flipH="1" flipV="1">
              <a:off x="8575082" y="24401922"/>
              <a:ext cx="84280" cy="1026093"/>
            </a:xfrm>
            <a:prstGeom prst="curvedConnector3">
              <a:avLst>
                <a:gd name="adj1" fmla="val -191878"/>
              </a:avLst>
            </a:prstGeom>
            <a:noFill/>
            <a:ln w="22225" cap="flat" cmpd="sng" algn="ctr">
              <a:solidFill>
                <a:srgbClr val="000000"/>
              </a:solidFill>
              <a:prstDash val="solid"/>
              <a:tailEnd type="stealth" w="med" len="lg"/>
            </a:ln>
            <a:effectLst/>
          </p:spPr>
        </p:cxnSp>
        <p:sp>
          <p:nvSpPr>
            <p:cNvPr id="182" name="TextBox 181"/>
            <p:cNvSpPr txBox="1"/>
            <p:nvPr/>
          </p:nvSpPr>
          <p:spPr>
            <a:xfrm>
              <a:off x="3895686" y="27597371"/>
              <a:ext cx="2333218" cy="55783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Client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로</a:t>
              </a:r>
              <a:endParaRPr lang="en-US" altLang="ko-KR" sz="2262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endParaRPr>
            </a:p>
            <a:p>
              <a:pPr algn="ctr" defTabSz="1292570" latinLnBrk="0">
                <a:defRPr/>
              </a:pP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사용자 위치정보</a:t>
              </a:r>
              <a:r>
                <a:rPr lang="en-US" altLang="ko-KR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 </a:t>
              </a:r>
              <a:r>
                <a:rPr lang="ko-KR" altLang="en-US" sz="2262" b="1" kern="0" dirty="0">
                  <a:solidFill>
                    <a:srgbClr val="000000"/>
                  </a:solidFill>
                  <a:latin typeface="HY견고딕" pitchFamily="18" charset="-127"/>
                  <a:ea typeface="HY견고딕" pitchFamily="18" charset="-127"/>
                </a:rPr>
                <a:t>전송</a:t>
              </a:r>
            </a:p>
          </p:txBody>
        </p:sp>
        <p:cxnSp>
          <p:nvCxnSpPr>
            <p:cNvPr id="183" name="직선 연결선 182"/>
            <p:cNvCxnSpPr>
              <a:stCxn id="162" idx="2"/>
              <a:endCxn id="182" idx="0"/>
            </p:cNvCxnSpPr>
            <p:nvPr/>
          </p:nvCxnSpPr>
          <p:spPr>
            <a:xfrm flipH="1">
              <a:off x="5062295" y="27111908"/>
              <a:ext cx="1" cy="485463"/>
            </a:xfrm>
            <a:prstGeom prst="line">
              <a:avLst/>
            </a:prstGeom>
            <a:noFill/>
            <a:ln w="22225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184" name="Shape 183"/>
            <p:cNvCxnSpPr>
              <a:stCxn id="157" idx="3"/>
              <a:endCxn id="182" idx="2"/>
            </p:cNvCxnSpPr>
            <p:nvPr/>
          </p:nvCxnSpPr>
          <p:spPr>
            <a:xfrm flipH="1">
              <a:off x="5062295" y="22280550"/>
              <a:ext cx="697631" cy="5874652"/>
            </a:xfrm>
            <a:prstGeom prst="bentConnector4">
              <a:avLst>
                <a:gd name="adj1" fmla="val -90405"/>
                <a:gd name="adj2" fmla="val 102753"/>
              </a:avLst>
            </a:prstGeom>
            <a:noFill/>
            <a:ln w="19050" cap="flat" cmpd="sng" algn="ctr">
              <a:solidFill>
                <a:srgbClr val="000000"/>
              </a:solidFill>
              <a:prstDash val="solid"/>
              <a:headEnd type="stealth" w="med" len="lg"/>
              <a:tailEnd type="none"/>
            </a:ln>
            <a:effectLst/>
          </p:spPr>
        </p:cxnSp>
      </p:grpSp>
      <p:sp>
        <p:nvSpPr>
          <p:cNvPr id="192" name="Text Box 10276"/>
          <p:cNvSpPr txBox="1">
            <a:spLocks noChangeArrowheads="1"/>
          </p:cNvSpPr>
          <p:nvPr/>
        </p:nvSpPr>
        <p:spPr bwMode="auto">
          <a:xfrm>
            <a:off x="14122401" y="30013027"/>
            <a:ext cx="7326215" cy="919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1077142" eaLnBrk="0" latinLnBrk="0" hangingPunct="0"/>
            <a:r>
              <a:rPr lang="ko-KR" altLang="en-US" sz="5372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ea typeface="HY헤드라인M" pitchFamily="18" charset="-127"/>
              </a:rPr>
              <a:t>구현 결과</a:t>
            </a:r>
            <a:endParaRPr lang="en-US" sz="5372" b="1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ea typeface="HY헤드라인M" pitchFamily="18" charset="-127"/>
            </a:endParaRPr>
          </a:p>
        </p:txBody>
      </p:sp>
      <p:graphicFrame>
        <p:nvGraphicFramePr>
          <p:cNvPr id="193" name="Object 10346"/>
          <p:cNvGraphicFramePr>
            <a:graphicFrameLocks/>
          </p:cNvGraphicFramePr>
          <p:nvPr/>
        </p:nvGraphicFramePr>
        <p:xfrm>
          <a:off x="13610752" y="30048936"/>
          <a:ext cx="612636" cy="902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Designer Drawing" r:id="rId12" imgW="237960" imgH="336240" progId="">
                  <p:embed/>
                </p:oleObj>
              </mc:Choice>
              <mc:Fallback>
                <p:oleObj name="Designer Drawing" r:id="rId12" imgW="237960" imgH="336240" progId="">
                  <p:embed/>
                  <p:pic>
                    <p:nvPicPr>
                      <p:cNvPr id="0" name="Picture 9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0752" y="30048936"/>
                        <a:ext cx="612636" cy="902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" name="Rectangle 10370"/>
          <p:cNvSpPr>
            <a:spLocks noChangeArrowheads="1"/>
          </p:cNvSpPr>
          <p:nvPr/>
        </p:nvSpPr>
        <p:spPr bwMode="auto">
          <a:xfrm>
            <a:off x="13610750" y="31071977"/>
            <a:ext cx="15938398" cy="10484420"/>
          </a:xfrm>
          <a:prstGeom prst="rect">
            <a:avLst/>
          </a:prstGeom>
          <a:solidFill>
            <a:srgbClr val="99CCFF">
              <a:alpha val="50000"/>
            </a:srgbClr>
          </a:solidFill>
          <a:ln w="12700">
            <a:solidFill>
              <a:srgbClr val="3333FF"/>
            </a:solidFill>
            <a:miter lim="800000"/>
            <a:headEnd/>
            <a:tailEnd type="none" w="sm" len="med"/>
          </a:ln>
          <a:effectLst/>
        </p:spPr>
        <p:txBody>
          <a:bodyPr lIns="127224" tIns="127224" rIns="127224" bIns="127224" anchor="ctr"/>
          <a:lstStyle/>
          <a:p>
            <a:pPr algn="ctr" defTabSz="1292570" latinLnBrk="0">
              <a:defRPr/>
            </a:pPr>
            <a:endParaRPr lang="en-US" altLang="ko-KR" sz="4524" b="1" kern="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3916120" y="33520050"/>
            <a:ext cx="4071619" cy="6786036"/>
          </a:xfrm>
          <a:prstGeom prst="rect">
            <a:avLst/>
          </a:prstGeom>
          <a:noFill/>
          <a:ln w="9525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0752342" y="33538812"/>
            <a:ext cx="4055360" cy="6758933"/>
          </a:xfrm>
          <a:prstGeom prst="rect">
            <a:avLst/>
          </a:prstGeom>
          <a:noFill/>
          <a:ln w="9525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5122477" y="33538814"/>
            <a:ext cx="4062216" cy="6770363"/>
          </a:xfrm>
          <a:prstGeom prst="rect">
            <a:avLst/>
          </a:prstGeom>
          <a:noFill/>
          <a:ln w="9525">
            <a:solidFill>
              <a:schemeClr val="tx2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99" name="TextBox 98"/>
          <p:cNvSpPr txBox="1"/>
          <p:nvPr/>
        </p:nvSpPr>
        <p:spPr>
          <a:xfrm>
            <a:off x="13916120" y="32207252"/>
            <a:ext cx="4071619" cy="875368"/>
          </a:xfrm>
          <a:prstGeom prst="rect">
            <a:avLst/>
          </a:prstGeom>
          <a:gradFill>
            <a:gsLst>
              <a:gs pos="35000">
                <a:schemeClr val="bg1"/>
              </a:gs>
              <a:gs pos="0">
                <a:schemeClr val="accent1">
                  <a:tint val="44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rgbClr val="333399">
                <a:shade val="95000"/>
                <a:satMod val="105000"/>
                <a:alpha val="2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1292570" latinLnBrk="0">
              <a:defRPr/>
            </a:pPr>
            <a:r>
              <a:rPr lang="ko-KR" altLang="en-US" sz="2544" b="1" kern="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부정확한 위치 파악에 따른</a:t>
            </a:r>
            <a:endParaRPr lang="en-US" altLang="ko-KR" sz="2544" b="1" kern="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 defTabSz="1292570" latinLnBrk="0">
              <a:defRPr/>
            </a:pPr>
            <a:r>
              <a:rPr lang="ko-KR" altLang="en-US" sz="2544" b="1" kern="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잘못된 주변정보의 표기</a:t>
            </a:r>
            <a:endParaRPr lang="en-US" altLang="ko-KR" sz="2544" b="1" kern="0" dirty="0">
              <a:solidFill>
                <a:srgbClr val="FF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0736083" y="32207252"/>
            <a:ext cx="8448610" cy="875368"/>
          </a:xfrm>
          <a:prstGeom prst="rect">
            <a:avLst/>
          </a:prstGeom>
          <a:gradFill>
            <a:gsLst>
              <a:gs pos="35000">
                <a:schemeClr val="bg1"/>
              </a:gs>
              <a:gs pos="0">
                <a:schemeClr val="accent1">
                  <a:tint val="44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rgbClr val="333399">
                <a:shade val="95000"/>
                <a:satMod val="105000"/>
                <a:alpha val="2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1292570" latinLnBrk="0">
              <a:defRPr/>
            </a:pPr>
            <a:r>
              <a:rPr lang="ko-KR" altLang="en-US" sz="2544" b="1" kern="0" dirty="0">
                <a:solidFill>
                  <a:srgbClr val="0070C0"/>
                </a:solidFill>
                <a:latin typeface="HY견고딕" pitchFamily="18" charset="-127"/>
                <a:ea typeface="HY견고딕" pitchFamily="18" charset="-127"/>
              </a:rPr>
              <a:t>주변 물체 촬영을 통해 사용자의 위치</a:t>
            </a:r>
            <a:r>
              <a:rPr lang="ko-KR" altLang="en-US" sz="2544" b="1" kern="0" dirty="0" err="1">
                <a:solidFill>
                  <a:srgbClr val="0070C0"/>
                </a:solidFill>
                <a:latin typeface="HY견고딕" pitchFamily="18" charset="-127"/>
                <a:ea typeface="HY견고딕" pitchFamily="18" charset="-127"/>
              </a:rPr>
              <a:t>를</a:t>
            </a:r>
            <a:r>
              <a:rPr lang="ko-KR" altLang="en-US" sz="2544" b="1" kern="0" dirty="0">
                <a:solidFill>
                  <a:srgbClr val="0070C0"/>
                </a:solidFill>
                <a:latin typeface="HY견고딕" pitchFamily="18" charset="-127"/>
                <a:ea typeface="HY견고딕" pitchFamily="18" charset="-127"/>
              </a:rPr>
              <a:t> 파악한 후</a:t>
            </a:r>
            <a:endParaRPr lang="en-US" altLang="ko-KR" sz="2544" b="1" kern="0" dirty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 defTabSz="1292570" latinLnBrk="0">
              <a:defRPr/>
            </a:pPr>
            <a:r>
              <a:rPr lang="ko-KR" altLang="en-US" sz="2544" b="1" kern="0" dirty="0">
                <a:solidFill>
                  <a:srgbClr val="0070C0"/>
                </a:solidFill>
                <a:latin typeface="HY견고딕" pitchFamily="18" charset="-127"/>
                <a:ea typeface="HY견고딕" pitchFamily="18" charset="-127"/>
              </a:rPr>
              <a:t>정확한 주변정보의 표기</a:t>
            </a:r>
            <a:endParaRPr lang="en-US" altLang="ko-KR" sz="2544" b="1" kern="0" dirty="0">
              <a:solidFill>
                <a:srgbClr val="0070C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7965178" y="26230373"/>
            <a:ext cx="9997489" cy="483850"/>
          </a:xfrm>
          <a:prstGeom prst="rect">
            <a:avLst/>
          </a:prstGeom>
          <a:gradFill>
            <a:gsLst>
              <a:gs pos="35000">
                <a:schemeClr val="bg1"/>
              </a:gs>
              <a:gs pos="0">
                <a:schemeClr val="accent1">
                  <a:tint val="44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rgbClr val="333399">
                <a:shade val="95000"/>
                <a:satMod val="105000"/>
                <a:alpha val="2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1292570" latinLnBrk="0">
              <a:defRPr/>
            </a:pPr>
            <a:r>
              <a:rPr lang="ko-KR" altLang="en-US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영상 안에서 물체의 중심으로부터의 이동</a:t>
            </a:r>
            <a:r>
              <a:rPr lang="en-US" altLang="ko-KR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확대</a:t>
            </a:r>
            <a:r>
              <a:rPr lang="en-US" altLang="ko-KR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/</a:t>
            </a:r>
            <a:r>
              <a:rPr lang="ko-KR" altLang="en-US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축소</a:t>
            </a:r>
            <a:r>
              <a:rPr lang="en-US" altLang="ko-KR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544" b="1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회전 분석</a:t>
            </a:r>
            <a:endParaRPr lang="en-US" altLang="ko-KR" sz="2544" b="1" kern="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9883888" y="28065264"/>
            <a:ext cx="6160069" cy="701410"/>
          </a:xfrm>
          <a:prstGeom prst="rect">
            <a:avLst/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39999">
                <a:schemeClr val="bg1"/>
              </a:gs>
            </a:gsLst>
            <a:lin ang="5400000" scaled="0"/>
          </a:gradFill>
          <a:ln w="9525" cap="flat" cmpd="sng" algn="ctr">
            <a:solidFill>
              <a:srgbClr val="333399">
                <a:shade val="95000"/>
                <a:satMod val="105000"/>
                <a:alpha val="2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1292570" latinLnBrk="0">
              <a:defRPr/>
            </a:pPr>
            <a:r>
              <a:rPr lang="ko-KR" altLang="en-US" sz="3958" b="1" kern="0" dirty="0">
                <a:solidFill>
                  <a:schemeClr val="accent1">
                    <a:lumMod val="75000"/>
                  </a:schemeClr>
                </a:solidFill>
                <a:latin typeface="HY견고딕" pitchFamily="18" charset="-127"/>
                <a:ea typeface="HY견고딕" pitchFamily="18" charset="-127"/>
              </a:rPr>
              <a:t>사용자의 위치 </a:t>
            </a:r>
            <a:r>
              <a:rPr lang="ko-KR" altLang="en-US" sz="3958" b="1" kern="0" dirty="0" err="1">
                <a:solidFill>
                  <a:schemeClr val="accent1">
                    <a:lumMod val="75000"/>
                  </a:schemeClr>
                </a:solidFill>
                <a:latin typeface="HY견고딕" pitchFamily="18" charset="-127"/>
                <a:ea typeface="HY견고딕" pitchFamily="18" charset="-127"/>
              </a:rPr>
              <a:t>역추적</a:t>
            </a:r>
            <a:endParaRPr lang="en-US" altLang="ko-KR" sz="3958" b="1" kern="0" dirty="0">
              <a:solidFill>
                <a:schemeClr val="accent1">
                  <a:lumMod val="75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85" name="아래쪽 화살표 184"/>
          <p:cNvSpPr/>
          <p:nvPr/>
        </p:nvSpPr>
        <p:spPr>
          <a:xfrm>
            <a:off x="20843243" y="26954431"/>
            <a:ext cx="4241359" cy="908863"/>
          </a:xfrm>
          <a:prstGeom prst="downArrow">
            <a:avLst/>
          </a:prstGeom>
          <a:solidFill>
            <a:schemeClr val="bg1"/>
          </a:solidFill>
          <a:ln>
            <a:solidFill>
              <a:schemeClr val="tx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sp>
        <p:nvSpPr>
          <p:cNvPr id="189" name="오른쪽 화살표 188"/>
          <p:cNvSpPr/>
          <p:nvPr/>
        </p:nvSpPr>
        <p:spPr>
          <a:xfrm>
            <a:off x="14026774" y="25237691"/>
            <a:ext cx="2221664" cy="1009847"/>
          </a:xfrm>
          <a:prstGeom prst="rightArrow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91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79" dirty="0">
                <a:latin typeface="HY견고딕" pitchFamily="18" charset="-127"/>
                <a:ea typeface="HY견고딕" pitchFamily="18" charset="-127"/>
              </a:rPr>
              <a:t>NEXT STEP</a:t>
            </a:r>
            <a:endParaRPr lang="ko-KR" altLang="en-US" sz="1979" dirty="0"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198" name="그룹 197"/>
          <p:cNvGrpSpPr/>
          <p:nvPr/>
        </p:nvGrpSpPr>
        <p:grpSpPr>
          <a:xfrm>
            <a:off x="16854346" y="21939320"/>
            <a:ext cx="12219153" cy="3664125"/>
            <a:chOff x="11907846" y="17854631"/>
            <a:chExt cx="8643998" cy="2592053"/>
          </a:xfrm>
        </p:grpSpPr>
        <p:grpSp>
          <p:nvGrpSpPr>
            <p:cNvPr id="197" name="그룹 196"/>
            <p:cNvGrpSpPr/>
            <p:nvPr/>
          </p:nvGrpSpPr>
          <p:grpSpPr>
            <a:xfrm>
              <a:off x="11907846" y="17854631"/>
              <a:ext cx="8643998" cy="2592053"/>
              <a:chOff x="11907846" y="17854631"/>
              <a:chExt cx="8643998" cy="2592053"/>
            </a:xfrm>
          </p:grpSpPr>
          <p:pic>
            <p:nvPicPr>
              <p:cNvPr id="1048" name="Picture 24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17873578" y="17863465"/>
                <a:ext cx="2678266" cy="2223412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</p:pic>
          <p:pic>
            <p:nvPicPr>
              <p:cNvPr id="1049" name="Picture 25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14908242" y="17854631"/>
                <a:ext cx="2678266" cy="2223412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</p:pic>
          <p:pic>
            <p:nvPicPr>
              <p:cNvPr id="1050" name="Picture 26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11907846" y="17863465"/>
                <a:ext cx="2678266" cy="2223412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</p:pic>
          <p:sp>
            <p:nvSpPr>
              <p:cNvPr id="118" name="직사각형 117"/>
              <p:cNvSpPr/>
              <p:nvPr/>
            </p:nvSpPr>
            <p:spPr>
              <a:xfrm>
                <a:off x="12070790" y="18026023"/>
                <a:ext cx="1337254" cy="1900310"/>
              </a:xfrm>
              <a:prstGeom prst="rect">
                <a:avLst/>
              </a:pr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595"/>
              </a:p>
            </p:txBody>
          </p:sp>
          <p:sp>
            <p:nvSpPr>
              <p:cNvPr id="143" name="아래쪽 화살표 142"/>
              <p:cNvSpPr/>
              <p:nvPr/>
            </p:nvSpPr>
            <p:spPr>
              <a:xfrm rot="5400000">
                <a:off x="12948415" y="18528572"/>
                <a:ext cx="500068" cy="1009570"/>
              </a:xfrm>
              <a:prstGeom prst="downArrow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595" dirty="0"/>
              </a:p>
            </p:txBody>
          </p:sp>
          <p:grpSp>
            <p:nvGrpSpPr>
              <p:cNvPr id="155" name="그룹 154"/>
              <p:cNvGrpSpPr/>
              <p:nvPr/>
            </p:nvGrpSpPr>
            <p:grpSpPr>
              <a:xfrm>
                <a:off x="15236848" y="17926069"/>
                <a:ext cx="1971700" cy="2071701"/>
                <a:chOff x="15236848" y="17926069"/>
                <a:chExt cx="1971700" cy="2071701"/>
              </a:xfrm>
            </p:grpSpPr>
            <p:sp>
              <p:nvSpPr>
                <p:cNvPr id="145" name="아래쪽 화살표 144"/>
                <p:cNvSpPr/>
                <p:nvPr/>
              </p:nvSpPr>
              <p:spPr>
                <a:xfrm rot="5400000">
                  <a:off x="16908502" y="18769032"/>
                  <a:ext cx="214318" cy="385774"/>
                </a:xfrm>
                <a:prstGeom prst="downArrow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595" dirty="0"/>
                </a:p>
              </p:txBody>
            </p:sp>
            <p:sp>
              <p:nvSpPr>
                <p:cNvPr id="150" name="아래쪽 화살표 149"/>
                <p:cNvSpPr/>
                <p:nvPr/>
              </p:nvSpPr>
              <p:spPr>
                <a:xfrm rot="16200000">
                  <a:off x="15322577" y="18769031"/>
                  <a:ext cx="214316" cy="385774"/>
                </a:xfrm>
                <a:prstGeom prst="downArrow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595" dirty="0"/>
                </a:p>
              </p:txBody>
            </p:sp>
            <p:sp>
              <p:nvSpPr>
                <p:cNvPr id="153" name="아래쪽 화살표 152"/>
                <p:cNvSpPr/>
                <p:nvPr/>
              </p:nvSpPr>
              <p:spPr>
                <a:xfrm rot="10800000">
                  <a:off x="16122685" y="19611996"/>
                  <a:ext cx="214316" cy="385774"/>
                </a:xfrm>
                <a:prstGeom prst="downArrow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595" dirty="0"/>
                </a:p>
              </p:txBody>
            </p:sp>
            <p:sp>
              <p:nvSpPr>
                <p:cNvPr id="154" name="아래쪽 화살표 153"/>
                <p:cNvSpPr/>
                <p:nvPr/>
              </p:nvSpPr>
              <p:spPr>
                <a:xfrm>
                  <a:off x="16130625" y="17926069"/>
                  <a:ext cx="198438" cy="357190"/>
                </a:xfrm>
                <a:prstGeom prst="downArrow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5595" dirty="0"/>
                </a:p>
              </p:txBody>
            </p:sp>
          </p:grpSp>
          <p:sp>
            <p:nvSpPr>
              <p:cNvPr id="156" name="위쪽/아래쪽 화살표 155"/>
              <p:cNvSpPr/>
              <p:nvPr/>
            </p:nvSpPr>
            <p:spPr>
              <a:xfrm>
                <a:off x="18051514" y="17997507"/>
                <a:ext cx="357190" cy="2000264"/>
              </a:xfrm>
              <a:prstGeom prst="upDownArrow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595"/>
              </a:p>
            </p:txBody>
          </p:sp>
          <p:sp>
            <p:nvSpPr>
              <p:cNvPr id="173" name="위쪽/아래쪽 화살표 172"/>
              <p:cNvSpPr/>
              <p:nvPr/>
            </p:nvSpPr>
            <p:spPr>
              <a:xfrm>
                <a:off x="19980340" y="18497573"/>
                <a:ext cx="357190" cy="1000132"/>
              </a:xfrm>
              <a:prstGeom prst="upDownArrow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5595"/>
              </a:p>
            </p:txBody>
          </p:sp>
          <p:sp>
            <p:nvSpPr>
              <p:cNvPr id="186" name="TextBox 185"/>
              <p:cNvSpPr txBox="1"/>
              <p:nvPr/>
            </p:nvSpPr>
            <p:spPr>
              <a:xfrm>
                <a:off x="11996814" y="20212085"/>
                <a:ext cx="2500330" cy="234599"/>
              </a:xfrm>
              <a:prstGeom prst="rect">
                <a:avLst/>
              </a:prstGeom>
              <a:gradFill>
                <a:gsLst>
                  <a:gs pos="35000">
                    <a:schemeClr val="bg1"/>
                  </a:gs>
                  <a:gs pos="0">
                    <a:schemeClr val="accent1">
                      <a:tint val="44500"/>
                      <a:satMod val="16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rgbClr val="333399">
                    <a:shade val="95000"/>
                    <a:satMod val="105000"/>
                    <a:alpha val="20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 defTabSz="1292570" latinLnBrk="0">
                  <a:defRPr/>
                </a:pPr>
                <a:r>
                  <a:rPr lang="ko-KR" altLang="en-US" sz="1555" b="1" kern="0" dirty="0">
                    <a:solidFill>
                      <a:srgbClr val="000000"/>
                    </a:solidFill>
                    <a:latin typeface="HY그래픽" pitchFamily="18" charset="-127"/>
                    <a:ea typeface="HY그래픽" pitchFamily="18" charset="-127"/>
                  </a:rPr>
                  <a:t>사용자는 기준보다 왼쪽 정면에 위치</a:t>
                </a:r>
                <a:endParaRPr lang="en-US" altLang="ko-KR" sz="1555" b="1" kern="0" dirty="0">
                  <a:solidFill>
                    <a:srgbClr val="000000"/>
                  </a:solidFill>
                  <a:latin typeface="HY그래픽" pitchFamily="18" charset="-127"/>
                  <a:ea typeface="HY그래픽" pitchFamily="18" charset="-127"/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14961491" y="20212085"/>
                <a:ext cx="2571768" cy="234599"/>
              </a:xfrm>
              <a:prstGeom prst="rect">
                <a:avLst/>
              </a:prstGeom>
              <a:gradFill>
                <a:gsLst>
                  <a:gs pos="35000">
                    <a:schemeClr val="bg1"/>
                  </a:gs>
                  <a:gs pos="0">
                    <a:schemeClr val="accent1">
                      <a:tint val="44500"/>
                      <a:satMod val="16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rgbClr val="333399">
                    <a:shade val="95000"/>
                    <a:satMod val="105000"/>
                    <a:alpha val="20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 defTabSz="1292570" latinLnBrk="0">
                  <a:defRPr/>
                </a:pPr>
                <a:r>
                  <a:rPr lang="ko-KR" altLang="en-US" sz="1555" b="1" kern="0" dirty="0">
                    <a:solidFill>
                      <a:srgbClr val="000000"/>
                    </a:solidFill>
                    <a:latin typeface="HY그래픽" pitchFamily="18" charset="-127"/>
                    <a:ea typeface="HY그래픽" pitchFamily="18" charset="-127"/>
                  </a:rPr>
                  <a:t>사용자는 기준보다 뒤쪽에 위치</a:t>
                </a:r>
                <a:endParaRPr lang="en-US" altLang="ko-KR" sz="1555" b="1" kern="0" dirty="0">
                  <a:solidFill>
                    <a:srgbClr val="000000"/>
                  </a:solidFill>
                  <a:latin typeface="HY그래픽" pitchFamily="18" charset="-127"/>
                  <a:ea typeface="HY그래픽" pitchFamily="18" charset="-127"/>
                </a:endParaRPr>
              </a:p>
            </p:txBody>
          </p:sp>
          <p:sp>
            <p:nvSpPr>
              <p:cNvPr id="188" name="TextBox 187"/>
              <p:cNvSpPr txBox="1"/>
              <p:nvPr/>
            </p:nvSpPr>
            <p:spPr>
              <a:xfrm>
                <a:off x="17926827" y="20212085"/>
                <a:ext cx="2571768" cy="234599"/>
              </a:xfrm>
              <a:prstGeom prst="rect">
                <a:avLst/>
              </a:prstGeom>
              <a:gradFill>
                <a:gsLst>
                  <a:gs pos="35000">
                    <a:schemeClr val="bg1"/>
                  </a:gs>
                  <a:gs pos="0">
                    <a:schemeClr val="accent1">
                      <a:tint val="44500"/>
                      <a:satMod val="160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rgbClr val="333399">
                    <a:shade val="95000"/>
                    <a:satMod val="105000"/>
                    <a:alpha val="20000"/>
                  </a:srgbClr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 defTabSz="1292570" latinLnBrk="0">
                  <a:defRPr/>
                </a:pPr>
                <a:r>
                  <a:rPr lang="ko-KR" altLang="en-US" sz="1555" b="1" kern="0" dirty="0">
                    <a:solidFill>
                      <a:srgbClr val="000000"/>
                    </a:solidFill>
                    <a:latin typeface="HY그래픽" pitchFamily="18" charset="-127"/>
                    <a:ea typeface="HY그래픽" pitchFamily="18" charset="-127"/>
                  </a:rPr>
                  <a:t>사용자는 기준보다 왼쪽 측면에 위치</a:t>
                </a:r>
                <a:endParaRPr lang="en-US" altLang="ko-KR" sz="1555" b="1" kern="0" dirty="0">
                  <a:solidFill>
                    <a:srgbClr val="000000"/>
                  </a:solidFill>
                  <a:latin typeface="HY그래픽" pitchFamily="18" charset="-127"/>
                  <a:ea typeface="HY그래픽" pitchFamily="18" charset="-127"/>
                </a:endParaRPr>
              </a:p>
            </p:txBody>
          </p:sp>
        </p:grpSp>
        <p:sp>
          <p:nvSpPr>
            <p:cNvPr id="114" name="직사각형 113"/>
            <p:cNvSpPr/>
            <p:nvPr/>
          </p:nvSpPr>
          <p:spPr>
            <a:xfrm>
              <a:off x="15867140" y="18446497"/>
              <a:ext cx="725410" cy="1030846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5595"/>
            </a:p>
          </p:txBody>
        </p:sp>
        <p:grpSp>
          <p:nvGrpSpPr>
            <p:cNvPr id="136" name="그룹 135"/>
            <p:cNvGrpSpPr/>
            <p:nvPr/>
          </p:nvGrpSpPr>
          <p:grpSpPr>
            <a:xfrm>
              <a:off x="18480142" y="17997507"/>
              <a:ext cx="1428760" cy="2000264"/>
              <a:chOff x="18480142" y="17997507"/>
              <a:chExt cx="1428760" cy="2000264"/>
            </a:xfrm>
          </p:grpSpPr>
          <p:cxnSp>
            <p:nvCxnSpPr>
              <p:cNvPr id="126" name="직선 연결선 125"/>
              <p:cNvCxnSpPr/>
              <p:nvPr/>
            </p:nvCxnSpPr>
            <p:spPr>
              <a:xfrm>
                <a:off x="18480142" y="17997507"/>
                <a:ext cx="1428760" cy="785818"/>
              </a:xfrm>
              <a:prstGeom prst="line">
                <a:avLst/>
              </a:prstGeom>
              <a:ln w="76200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직선 연결선 127"/>
              <p:cNvCxnSpPr/>
              <p:nvPr/>
            </p:nvCxnSpPr>
            <p:spPr>
              <a:xfrm flipV="1">
                <a:off x="18480142" y="19211953"/>
                <a:ext cx="1428760" cy="785818"/>
              </a:xfrm>
              <a:prstGeom prst="line">
                <a:avLst/>
              </a:prstGeom>
              <a:ln w="76200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직선 연결선 129"/>
              <p:cNvCxnSpPr/>
              <p:nvPr/>
            </p:nvCxnSpPr>
            <p:spPr>
              <a:xfrm rot="5400000">
                <a:off x="19694588" y="18997639"/>
                <a:ext cx="428628" cy="0"/>
              </a:xfrm>
              <a:prstGeom prst="line">
                <a:avLst/>
              </a:prstGeom>
              <a:ln w="76200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/>
              <p:nvPr/>
            </p:nvCxnSpPr>
            <p:spPr>
              <a:xfrm rot="5400000">
                <a:off x="17480010" y="18997639"/>
                <a:ext cx="2000264" cy="0"/>
              </a:xfrm>
              <a:prstGeom prst="line">
                <a:avLst/>
              </a:prstGeom>
              <a:ln w="76200" cap="rnd">
                <a:solidFill>
                  <a:srgbClr val="FF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Text Box 10382"/>
          <p:cNvSpPr txBox="1">
            <a:spLocks noChangeArrowheads="1"/>
          </p:cNvSpPr>
          <p:nvPr/>
        </p:nvSpPr>
        <p:spPr bwMode="auto">
          <a:xfrm>
            <a:off x="898791" y="7456587"/>
            <a:ext cx="20651617" cy="5542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25107" indent="-13465" algn="just" defTabSz="6660330">
              <a:lnSpc>
                <a:spcPts val="8482"/>
              </a:lnSpc>
            </a:pP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정확한 증강현실 서비스를 위해서는 정확한 사용자의 위치 파악이 필수적이다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4524" dirty="0" err="1">
                <a:latin typeface="HY헤드라인M" pitchFamily="18" charset="-127"/>
                <a:ea typeface="HY헤드라인M" pitchFamily="18" charset="-127"/>
              </a:rPr>
              <a:t>와이파이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 신호분석을 통한 기존의 </a:t>
            </a:r>
            <a:r>
              <a:rPr lang="ko-KR" altLang="en-US" sz="4524" dirty="0" err="1">
                <a:latin typeface="HY헤드라인M" pitchFamily="18" charset="-127"/>
                <a:ea typeface="HY헤드라인M" pitchFamily="18" charset="-127"/>
              </a:rPr>
              <a:t>실내측위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 시스템의 경우 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5m~100m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의 오차거리를 가지고 있다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백화점이나 쇼핑몰 같은 빽빽이 밀집된 실내 환경에서 정확한 증강현실 서비스를 제공하기에는 여전히 한계가 있다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우리 연구에서는 사용자의 위치를 보다 정확히 파악할 수 있는 방법을 제안한다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.</a:t>
            </a:r>
            <a:endParaRPr lang="ko-KR" altLang="en-US" sz="4524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27" name="Text Box 10382"/>
          <p:cNvSpPr txBox="1">
            <a:spLocks noChangeArrowheads="1"/>
          </p:cNvSpPr>
          <p:nvPr/>
        </p:nvSpPr>
        <p:spPr bwMode="auto">
          <a:xfrm>
            <a:off x="898790" y="15599828"/>
            <a:ext cx="20753407" cy="3362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25107" indent="-13465" algn="just" defTabSz="6660330">
              <a:lnSpc>
                <a:spcPts val="8482"/>
              </a:lnSpc>
            </a:pPr>
            <a:r>
              <a:rPr lang="ko-KR" altLang="en-US" sz="4524" dirty="0" err="1">
                <a:latin typeface="HY헤드라인M" pitchFamily="18" charset="-127"/>
                <a:ea typeface="HY헤드라인M" pitchFamily="18" charset="-127"/>
              </a:rPr>
              <a:t>와이파이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 신호분석과 같은 기존의 </a:t>
            </a:r>
            <a:r>
              <a:rPr lang="ko-KR" altLang="en-US" sz="4524" dirty="0" err="1">
                <a:latin typeface="HY헤드라인M" pitchFamily="18" charset="-127"/>
                <a:ea typeface="HY헤드라인M" pitchFamily="18" charset="-127"/>
              </a:rPr>
              <a:t>측위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 시스템에 의존하지 않고 카메라에 비친 주변 물체의 이미지를 적극적으로 이용하여 사용자의 위치를 파악한다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. 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카메라에 비춰진 물체의 확대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/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축소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이동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4524" dirty="0">
                <a:latin typeface="HY헤드라인M" pitchFamily="18" charset="-127"/>
                <a:ea typeface="HY헤드라인M" pitchFamily="18" charset="-127"/>
              </a:rPr>
              <a:t>회전을 분석하여 정확도를 높인다</a:t>
            </a:r>
            <a:r>
              <a:rPr lang="en-US" altLang="ko-KR" sz="4524" dirty="0">
                <a:latin typeface="HY헤드라인M" pitchFamily="18" charset="-127"/>
                <a:ea typeface="HY헤드라인M" pitchFamily="18" charset="-127"/>
              </a:rPr>
              <a:t>.</a:t>
            </a:r>
            <a:endParaRPr lang="ko-KR" altLang="en-US" sz="4524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6688997" y="23234110"/>
            <a:ext cx="2239391" cy="320729"/>
          </a:xfrm>
          <a:prstGeom prst="rect">
            <a:avLst/>
          </a:prstGeom>
          <a:gradFill>
            <a:gsLst>
              <a:gs pos="35000">
                <a:schemeClr val="bg1"/>
              </a:gs>
              <a:gs pos="0">
                <a:schemeClr val="accent1">
                  <a:tint val="44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rgbClr val="333399">
                <a:shade val="95000"/>
                <a:satMod val="105000"/>
                <a:alpha val="20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algn="ctr" defTabSz="1292570" latinLnBrk="0">
              <a:defRPr/>
            </a:pPr>
            <a:r>
              <a:rPr lang="ko-KR" altLang="en-US" sz="1484" kern="0" dirty="0">
                <a:latin typeface="HY견고딕" pitchFamily="18" charset="-127"/>
                <a:ea typeface="HY견고딕" pitchFamily="18" charset="-127"/>
              </a:rPr>
              <a:t>사용자 주변 물체 촬영</a:t>
            </a:r>
            <a:endParaRPr lang="en-US" altLang="ko-KR" sz="1484" kern="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58" name="U자형 화살표 257"/>
          <p:cNvSpPr/>
          <p:nvPr/>
        </p:nvSpPr>
        <p:spPr>
          <a:xfrm rot="16200000">
            <a:off x="-130967" y="25269919"/>
            <a:ext cx="3053715" cy="407162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>
              <a:solidFill>
                <a:schemeClr val="tx1"/>
              </a:solidFill>
            </a:endParaRPr>
          </a:p>
        </p:txBody>
      </p:sp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2922748" y="26898567"/>
            <a:ext cx="2035810" cy="1222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1599471" y="26287824"/>
            <a:ext cx="4376991" cy="2628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64" name="그룹 263"/>
          <p:cNvGrpSpPr/>
          <p:nvPr/>
        </p:nvGrpSpPr>
        <p:grpSpPr>
          <a:xfrm>
            <a:off x="22383941" y="7660169"/>
            <a:ext cx="6291799" cy="5635989"/>
            <a:chOff x="15589944" y="5418907"/>
            <a:chExt cx="4450906" cy="3986977"/>
          </a:xfrm>
        </p:grpSpPr>
        <p:pic>
          <p:nvPicPr>
            <p:cNvPr id="1045" name="Picture 21" descr="http://cfile7.uf.tistory.com/image/1278EE314CD3F3AD13341E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15589944" y="5418907"/>
              <a:ext cx="4450906" cy="3329620"/>
            </a:xfrm>
            <a:prstGeom prst="rect">
              <a:avLst/>
            </a:prstGeom>
            <a:noFill/>
          </p:spPr>
        </p:pic>
        <p:sp>
          <p:nvSpPr>
            <p:cNvPr id="260" name="TextBox 259"/>
            <p:cNvSpPr txBox="1"/>
            <p:nvPr/>
          </p:nvSpPr>
          <p:spPr>
            <a:xfrm>
              <a:off x="15589944" y="8786637"/>
              <a:ext cx="4424273" cy="619247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ko-KR" altLang="en-US" sz="2544" b="1" kern="0" dirty="0">
                  <a:solidFill>
                    <a:srgbClr val="000000"/>
                  </a:solidFill>
                  <a:latin typeface="+mn-ea"/>
                </a:rPr>
                <a:t>기존의 </a:t>
              </a:r>
              <a:r>
                <a:rPr lang="ko-KR" altLang="en-US" sz="2544" b="1" kern="0" dirty="0" err="1">
                  <a:solidFill>
                    <a:srgbClr val="000000"/>
                  </a:solidFill>
                  <a:latin typeface="+mn-ea"/>
                </a:rPr>
                <a:t>모바일</a:t>
              </a:r>
              <a:r>
                <a:rPr lang="ko-KR" altLang="en-US" sz="2544" b="1" kern="0" dirty="0">
                  <a:solidFill>
                    <a:srgbClr val="000000"/>
                  </a:solidFill>
                  <a:latin typeface="+mn-ea"/>
                </a:rPr>
                <a:t> 증강현실은</a:t>
              </a:r>
              <a:endParaRPr lang="en-US" altLang="ko-KR" sz="2544" b="1" kern="0" dirty="0">
                <a:solidFill>
                  <a:srgbClr val="000000"/>
                </a:solidFill>
                <a:latin typeface="+mn-ea"/>
              </a:endParaRPr>
            </a:p>
            <a:p>
              <a:pPr algn="ctr" defTabSz="1292570" latinLnBrk="0">
                <a:defRPr/>
              </a:pPr>
              <a:r>
                <a:rPr lang="ko-KR" altLang="en-US" sz="2544" b="1" kern="0" dirty="0">
                  <a:solidFill>
                    <a:srgbClr val="000000"/>
                  </a:solidFill>
                  <a:latin typeface="+mn-ea"/>
                </a:rPr>
                <a:t> </a:t>
              </a:r>
              <a:r>
                <a:rPr lang="ko-KR" altLang="en-US" sz="2544" b="1" u="sng" kern="0" dirty="0">
                  <a:latin typeface="+mn-ea"/>
                </a:rPr>
                <a:t>대략적인</a:t>
              </a:r>
              <a:r>
                <a:rPr lang="ko-KR" altLang="en-US" sz="2544" b="1" kern="0" dirty="0">
                  <a:solidFill>
                    <a:srgbClr val="000000"/>
                  </a:solidFill>
                  <a:latin typeface="+mn-ea"/>
                </a:rPr>
                <a:t> 주변 정보만을 제공한다</a:t>
              </a:r>
              <a:endParaRPr lang="en-US" altLang="ko-KR" sz="2544" b="1" kern="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263" name="그룹 262"/>
          <p:cNvGrpSpPr/>
          <p:nvPr/>
        </p:nvGrpSpPr>
        <p:grpSpPr>
          <a:xfrm>
            <a:off x="22364730" y="15864296"/>
            <a:ext cx="6311010" cy="3259950"/>
            <a:chOff x="15733960" y="10839144"/>
            <a:chExt cx="3672408" cy="2268331"/>
          </a:xfrm>
        </p:grpSpPr>
        <p:pic>
          <p:nvPicPr>
            <p:cNvPr id="1047" name="Picture 23" descr="http://storage.wikitree.co.kr:8080/wikitreeFiles/webdata/editor/201012/30/img_20101230094004_c94e5bac.jpg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15769964" y="10839144"/>
              <a:ext cx="3600400" cy="1924578"/>
            </a:xfrm>
            <a:prstGeom prst="rect">
              <a:avLst/>
            </a:prstGeom>
            <a:noFill/>
          </p:spPr>
        </p:pic>
        <p:sp>
          <p:nvSpPr>
            <p:cNvPr id="262" name="TextBox 261"/>
            <p:cNvSpPr txBox="1"/>
            <p:nvPr/>
          </p:nvSpPr>
          <p:spPr>
            <a:xfrm>
              <a:off x="15733960" y="12770804"/>
              <a:ext cx="3672408" cy="336671"/>
            </a:xfrm>
            <a:prstGeom prst="rect">
              <a:avLst/>
            </a:prstGeom>
            <a:gradFill>
              <a:gsLst>
                <a:gs pos="35000">
                  <a:schemeClr val="bg1"/>
                </a:gs>
                <a:gs pos="0">
                  <a:schemeClr val="accent1">
                    <a:tint val="44500"/>
                    <a:satMod val="160000"/>
                  </a:schemeClr>
                </a:gs>
              </a:gsLst>
              <a:lin ang="5400000" scaled="0"/>
            </a:gradFill>
            <a:ln w="9525" cap="flat" cmpd="sng" algn="ctr">
              <a:solidFill>
                <a:srgbClr val="333399">
                  <a:shade val="95000"/>
                  <a:satMod val="105000"/>
                  <a:alpha val="20000"/>
                </a:srgb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 defTabSz="1292570" latinLnBrk="0">
                <a:defRPr/>
              </a:pPr>
              <a:r>
                <a:rPr lang="ko-KR" altLang="en-US" sz="2544" b="1" kern="0" dirty="0">
                  <a:solidFill>
                    <a:srgbClr val="000000"/>
                  </a:solidFill>
                  <a:latin typeface="+mn-ea"/>
                </a:rPr>
                <a:t>정확한 증강현실 서비스의 예시 화면</a:t>
              </a:r>
              <a:endParaRPr lang="en-US" altLang="ko-KR" sz="2544" b="1" kern="0" dirty="0">
                <a:solidFill>
                  <a:srgbClr val="000000"/>
                </a:solidFill>
                <a:latin typeface="+mn-ea"/>
              </a:endParaRPr>
            </a:p>
          </p:txBody>
        </p:sp>
      </p:grpSp>
      <p:sp>
        <p:nvSpPr>
          <p:cNvPr id="265" name="직사각형 264"/>
          <p:cNvSpPr/>
          <p:nvPr/>
        </p:nvSpPr>
        <p:spPr>
          <a:xfrm>
            <a:off x="1497681" y="23521528"/>
            <a:ext cx="3460876" cy="20358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72" b="1" dirty="0"/>
              <a:t> DB SCHEMA</a:t>
            </a:r>
            <a:endParaRPr lang="ko-KR" altLang="en-US" sz="1272" b="1" dirty="0"/>
          </a:p>
        </p:txBody>
      </p:sp>
      <p:sp>
        <p:nvSpPr>
          <p:cNvPr id="62" name="웃는 얼굴 61"/>
          <p:cNvSpPr/>
          <p:nvPr/>
        </p:nvSpPr>
        <p:spPr>
          <a:xfrm>
            <a:off x="5976467" y="23943212"/>
            <a:ext cx="948824" cy="919551"/>
          </a:xfrm>
          <a:prstGeom prst="smileyFace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 dirty="0"/>
          </a:p>
        </p:txBody>
      </p:sp>
      <p:sp>
        <p:nvSpPr>
          <p:cNvPr id="67" name="TextBox 66"/>
          <p:cNvSpPr txBox="1"/>
          <p:nvPr/>
        </p:nvSpPr>
        <p:spPr>
          <a:xfrm>
            <a:off x="5365720" y="24922686"/>
            <a:ext cx="2137600" cy="3533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696" b="1" dirty="0">
                <a:solidFill>
                  <a:srgbClr val="0070C0"/>
                </a:solidFill>
                <a:latin typeface="HY헤드라인M" pitchFamily="18" charset="-127"/>
                <a:ea typeface="HY헤드라인M" pitchFamily="18" charset="-127"/>
              </a:rPr>
              <a:t>실제 사용자의 위치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7845384" y="25778877"/>
            <a:ext cx="2741455" cy="614271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현재 사용자의 잘못된 위치</a:t>
            </a:r>
            <a:endParaRPr lang="en-US" altLang="ko-KR" sz="1696" b="1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en-US" altLang="ko-KR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(</a:t>
            </a:r>
            <a:r>
              <a:rPr lang="ko-KR" altLang="en-US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기존의 </a:t>
            </a:r>
            <a:r>
              <a:rPr lang="ko-KR" altLang="en-US" sz="1696" b="1" dirty="0" err="1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실내측위</a:t>
            </a:r>
            <a:r>
              <a:rPr lang="ko-KR" altLang="en-US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 시스템</a:t>
            </a:r>
            <a:r>
              <a:rPr lang="en-US" altLang="ko-KR" sz="1696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)</a:t>
            </a:r>
          </a:p>
        </p:txBody>
      </p:sp>
      <p:sp>
        <p:nvSpPr>
          <p:cNvPr id="66" name="정육면체 65"/>
          <p:cNvSpPr/>
          <p:nvPr/>
        </p:nvSpPr>
        <p:spPr>
          <a:xfrm>
            <a:off x="7706904" y="23712182"/>
            <a:ext cx="1148300" cy="927393"/>
          </a:xfrm>
          <a:prstGeom prst="cube">
            <a:avLst/>
          </a:prstGeom>
          <a:gradFill>
            <a:gsLst>
              <a:gs pos="0">
                <a:schemeClr val="bg1"/>
              </a:gs>
              <a:gs pos="54000">
                <a:schemeClr val="accent1">
                  <a:tint val="44500"/>
                  <a:satMod val="160000"/>
                </a:schemeClr>
              </a:gs>
              <a:gs pos="100000">
                <a:schemeClr val="bg1"/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595"/>
          </a:p>
        </p:txBody>
      </p:sp>
      <p:grpSp>
        <p:nvGrpSpPr>
          <p:cNvPr id="181" name="그룹 180"/>
          <p:cNvGrpSpPr/>
          <p:nvPr/>
        </p:nvGrpSpPr>
        <p:grpSpPr>
          <a:xfrm>
            <a:off x="6674457" y="23844853"/>
            <a:ext cx="1439607" cy="1119695"/>
            <a:chOff x="4788744" y="17084203"/>
            <a:chExt cx="648072" cy="504056"/>
          </a:xfrm>
        </p:grpSpPr>
        <p:pic>
          <p:nvPicPr>
            <p:cNvPr id="1041" name="Picture 17" descr="http://ajaynarendar.synthasite.com/resources/icons/camera-icon.gif"/>
            <p:cNvPicPr>
              <a:picLocks noChangeAspect="1"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4788744" y="17084203"/>
              <a:ext cx="504056" cy="504056"/>
            </a:xfrm>
            <a:prstGeom prst="rect">
              <a:avLst/>
            </a:prstGeom>
            <a:noFill/>
          </p:spPr>
        </p:pic>
        <p:cxnSp>
          <p:nvCxnSpPr>
            <p:cNvPr id="152" name="직선 화살표 연결선 151"/>
            <p:cNvCxnSpPr/>
            <p:nvPr/>
          </p:nvCxnSpPr>
          <p:spPr>
            <a:xfrm>
              <a:off x="5220792" y="17298639"/>
              <a:ext cx="216024" cy="1588"/>
            </a:xfrm>
            <a:prstGeom prst="straightConnector1">
              <a:avLst/>
            </a:prstGeom>
            <a:ln w="31750">
              <a:solidFill>
                <a:srgbClr val="00206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0" name="꺾인 연결선 269"/>
          <p:cNvCxnSpPr>
            <a:stCxn id="146" idx="2"/>
            <a:endCxn id="79" idx="3"/>
          </p:cNvCxnSpPr>
          <p:nvPr/>
        </p:nvCxnSpPr>
        <p:spPr>
          <a:xfrm rot="5400000">
            <a:off x="5000943" y="23179421"/>
            <a:ext cx="2432332" cy="3183168"/>
          </a:xfrm>
          <a:prstGeom prst="bentConnector2">
            <a:avLst/>
          </a:prstGeom>
          <a:ln w="25400">
            <a:solidFill>
              <a:schemeClr val="tx2">
                <a:lumMod val="75000"/>
              </a:schemeClr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2" name="Picture 17" descr="http://ajaynarendar.synthasite.com/resources/icons/camera-icon.gif"/>
          <p:cNvPicPr>
            <a:picLocks noChangeAspect="1" noChangeArrowheads="1"/>
          </p:cNvPicPr>
          <p:nvPr/>
        </p:nvPicPr>
        <p:blipFill>
          <a:blip r:embed="rId23"/>
          <a:srcRect/>
          <a:stretch>
            <a:fillRect/>
          </a:stretch>
        </p:blipFill>
        <p:spPr bwMode="auto">
          <a:xfrm>
            <a:off x="18700278" y="35347179"/>
            <a:ext cx="1119694" cy="1119695"/>
          </a:xfrm>
          <a:prstGeom prst="rect">
            <a:avLst/>
          </a:prstGeom>
          <a:noFill/>
        </p:spPr>
      </p:pic>
      <p:sp>
        <p:nvSpPr>
          <p:cNvPr id="347" name="오른쪽 화살표 346"/>
          <p:cNvSpPr/>
          <p:nvPr/>
        </p:nvSpPr>
        <p:spPr>
          <a:xfrm>
            <a:off x="18293111" y="36263292"/>
            <a:ext cx="2221664" cy="1119695"/>
          </a:xfrm>
          <a:prstGeom prst="rightArrow">
            <a:avLst/>
          </a:prstGeom>
          <a:gradFill>
            <a:gsLst>
              <a:gs pos="0">
                <a:schemeClr val="tx2">
                  <a:lumMod val="60000"/>
                  <a:lumOff val="40000"/>
                </a:schemeClr>
              </a:gs>
              <a:gs pos="91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979" dirty="0">
                <a:latin typeface="HY견고딕" pitchFamily="18" charset="-127"/>
                <a:ea typeface="HY견고딕" pitchFamily="18" charset="-127"/>
              </a:rPr>
              <a:t>주변 물체 촬영</a:t>
            </a:r>
          </a:p>
        </p:txBody>
      </p:sp>
      <p:sp>
        <p:nvSpPr>
          <p:cNvPr id="355" name="직사각형 354"/>
          <p:cNvSpPr/>
          <p:nvPr/>
        </p:nvSpPr>
        <p:spPr>
          <a:xfrm>
            <a:off x="10799926" y="25350777"/>
            <a:ext cx="814647" cy="2880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72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5~100m</a:t>
            </a:r>
            <a:endParaRPr lang="ko-KR" altLang="en-US" sz="1272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359" name="직선 연결선 358"/>
          <p:cNvCxnSpPr/>
          <p:nvPr/>
        </p:nvCxnSpPr>
        <p:spPr>
          <a:xfrm>
            <a:off x="1996223" y="26996402"/>
            <a:ext cx="2185743" cy="704644"/>
          </a:xfrm>
          <a:prstGeom prst="line">
            <a:avLst/>
          </a:prstGeom>
          <a:ln w="12700">
            <a:solidFill>
              <a:srgbClr val="21F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직선 연결선 361"/>
          <p:cNvCxnSpPr/>
          <p:nvPr/>
        </p:nvCxnSpPr>
        <p:spPr>
          <a:xfrm>
            <a:off x="2059056" y="26978449"/>
            <a:ext cx="2203696" cy="722597"/>
          </a:xfrm>
          <a:prstGeom prst="line">
            <a:avLst/>
          </a:prstGeom>
          <a:ln w="12700">
            <a:solidFill>
              <a:srgbClr val="21F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연결선 362"/>
          <p:cNvCxnSpPr/>
          <p:nvPr/>
        </p:nvCxnSpPr>
        <p:spPr>
          <a:xfrm>
            <a:off x="1960318" y="26682224"/>
            <a:ext cx="2194719" cy="727085"/>
          </a:xfrm>
          <a:prstGeom prst="line">
            <a:avLst/>
          </a:prstGeom>
          <a:ln w="12700">
            <a:solidFill>
              <a:srgbClr val="21F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연결선 363"/>
          <p:cNvCxnSpPr/>
          <p:nvPr/>
        </p:nvCxnSpPr>
        <p:spPr>
          <a:xfrm>
            <a:off x="2077005" y="26668763"/>
            <a:ext cx="2199208" cy="740550"/>
          </a:xfrm>
          <a:prstGeom prst="line">
            <a:avLst/>
          </a:prstGeom>
          <a:ln w="12700">
            <a:solidFill>
              <a:srgbClr val="21F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직선 연결선 364"/>
          <p:cNvCxnSpPr/>
          <p:nvPr/>
        </p:nvCxnSpPr>
        <p:spPr>
          <a:xfrm>
            <a:off x="2312010" y="26561778"/>
            <a:ext cx="2175152" cy="726350"/>
          </a:xfrm>
          <a:prstGeom prst="line">
            <a:avLst/>
          </a:prstGeom>
          <a:ln w="12700">
            <a:solidFill>
              <a:srgbClr val="21F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직선 연결선 367"/>
          <p:cNvCxnSpPr/>
          <p:nvPr/>
        </p:nvCxnSpPr>
        <p:spPr>
          <a:xfrm>
            <a:off x="2314884" y="26453327"/>
            <a:ext cx="2167790" cy="754014"/>
          </a:xfrm>
          <a:prstGeom prst="line">
            <a:avLst/>
          </a:prstGeom>
          <a:ln w="12700">
            <a:solidFill>
              <a:srgbClr val="21FF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트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543</TotalTime>
  <Words>317</Words>
  <Application>Microsoft Office PowerPoint</Application>
  <PresentationFormat>사용자 지정</PresentationFormat>
  <Paragraphs>70</Paragraphs>
  <Slides>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HY견고딕</vt:lpstr>
      <vt:lpstr>HY그래픽</vt:lpstr>
      <vt:lpstr>HY헤드라인M</vt:lpstr>
      <vt:lpstr>宋体</vt:lpstr>
      <vt:lpstr>맑은 고딕</vt:lpstr>
      <vt:lpstr>Arial</vt:lpstr>
      <vt:lpstr>Times New Roman</vt:lpstr>
      <vt:lpstr>Verdana</vt:lpstr>
      <vt:lpstr>Office 테마</vt:lpstr>
      <vt:lpstr>Designer Drawing</vt:lpstr>
      <vt:lpstr>PowerPoint 프레젠테이션</vt:lpstr>
    </vt:vector>
  </TitlesOfParts>
  <Company>연세대학교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컴퓨터과학과_4</dc:creator>
  <cp:lastModifiedBy>Haswell</cp:lastModifiedBy>
  <cp:revision>166</cp:revision>
  <dcterms:created xsi:type="dcterms:W3CDTF">2011-05-23T11:19:34Z</dcterms:created>
  <dcterms:modified xsi:type="dcterms:W3CDTF">2016-05-23T08:17:29Z</dcterms:modified>
</cp:coreProperties>
</file>
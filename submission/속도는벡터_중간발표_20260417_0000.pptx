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안녕하세요. 속도는벡터 팀입니다. Exqutor 논문의 Adaptive Sampling 이 단일 테이블 벡터 범위 쿼리에서 사각지대를 가진다는 발견과, 이를 두 단계로 해소한 결과, 그리고 3 데이터셋 교차 검증까지 발표하겠습니다.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4월 3일 교수님 합의에서 출발해 4월 17일까지의 실험 흐름입니다. 원래 가설은 기각되었지만 Exqutor의 구조적 사각지대를 발견했고, 두 가지 개선을 네이티브로 구현했습니다. 4월 16~17일의 보강 측정에서 5-seed 신뢰구간과 3 데이터셋 교차 검증으로 외적 타당성을 확보했으며, Two-Level 분해로 공간 인식 기여를 정량화했습니다.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Exqutor 는 벡터 데이터베이스 카디널리티 추정 정확도 문제의 최신 해법입니다. 기존 시스템은 고정 비율 추정이라 옵티마이저의 실행 계획이 잘못되는 경우가 많았고, Exqutor 는 ECQO 와 Adaptive Sampling 두 가지 해법으로 이를 해소했습니다. 본 연구는 Adaptive Sampling 의 정확도 개선 여지를 공략합니다.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연구 질문은 3 단계입니다. RQ1 에서 정확도 한계를 정량 측정하고, RQ2 에서 분포를 알 때의 개선을 측정하며, RQ3 에서 분포를 모를 때 공간 인식 효과를 얼마나 회수할 수 있는지를 Recovery Rate 프레임워크로 비교합니다. 오늘은 RQ1 과 RQ2 의 결과와 RQ3 의 설계안까지 다루고, RQ3 실험은 최종발표에서 보고합니다.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4월 14일 1 차 실험에서 원래 가설을 기각했습니다. Fisher γ 등 글로벌 4 지표 모두 Q-error 와의 Spearman 상관이 0.2 미만이었고, 로컬 4 지표까지 확인했지만 24 조합 모두 |ρ| &lt; 0.2 로 무효화되었습니다. 학술적 의미는 고차원 벡터에서 query-side feature 로 layer 를 사전 정의하는 것이 불가능하다는 정량 negative result 이며, 이는 본 연구 motivation 의 한 축이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저희는 Python 재구현과 Exqutor 네이티브의 동치성을 검증하려는 과정에서 두 가지 design constraint 를 발견했습니다. 첫째, Exqutor 의 Adaptive Sampling hook 이 table_count &gt; 2 조건으로 단일 테이블 vector range query 를 경로에서 배제합니다. 둘째, hook 을 한 줄 우회해도 outer query 의 plan-tree 가 Sample Scan 으로 교체되어 outer query 결과 자체가 부분 카운트로 격하됩니다. 두 finding 은 Exqutor 가 multi-table join 시나리오를 가정한 해법임을 보여주며, 단일 테이블 vector range query — 이미지 검색, 추천, RAG retrieval 같은 실무 시나리오 — 는 명시적으로 배제된 사각지대입니다. 본 두 발견이 저희 연구의 새 motivation 첫 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본 두 finding 위에서 두 가지 sanitize 를 병합한 수정 노선을 확정했습니다. Pivot A 는 Exqutor 의 TABLESAMPLE SYSTEM 을 BERNOULLI 로 한 줄 교체해 block sampling bias 를 제거하는 fair baseline 도구입니다. Pivot C 는 data-side k-means K=20 으로 데이터를 partition 한 후 stratified sampling 을 native 로 구현합니다. 두 Pivot 은 직교적이므로 ablation matrix 로 각 기여를 분리 측정합니다.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Pivot A 의 정량 검증입니다. 네이티브에서 4 selectivity 구간 — s=0.05, 0.1, 0.3, 0.5 — 모두 paired Wilcoxon p &lt; 0.001 로 SYSTEM 의 q-error 가 BERNOULLI 보다 통계적으로 유의하게 큽니다. s=0.5 에서 median 기준 약 9.6% 개선으로 가장 큰 효과를 보였습니다. TABLESAMPLE SYSTEM 에 block 단위 샘플링의 구조적 bias 가 존재하며, 한 줄을 BERNOULLI 로 교체하는 것만으로 제거할 수 있다는 것이 native 로 직접 확인되었습니다.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Pivot C 의 핵심 결과입니다. vector.c 에 +228 줄의 stratified sampling 을 직접 구현하고 5 seed 반복으로 측정했습니다. s=0.500 에서 mean +1.64%, 95% 신뢰구간 [+1.11, +2.18] 로 하한이 양수로 확정되었습니다. 30% 와 10% 구간도 각각 [+1.45, +3.80], [+0.72, +7.66] 로 CI 하한 양수입니다. 3 구간 모두 5/5 seed 가 유의하며, p=4.01e-05 의 단일 seed 수치가 확률적 우연이 아닌 real effect 임이 통계적으로 확정되었습니다. +1.64% 가 작아 보이지만 이미 좋은 시스템 (Exqutor BERNOULLI) 위에서의 추가 개선입니다.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두 번째 신규 기여는 외적 타당성입니다. D_target 을 각 데이터셋별로 재계산한 뒤 SIFT 1.5M 과 DEEP 8M 을 5 seed 로 재측정했습니다. SIFT 에서 s=0.500 의 KM20 개선이 mean +3.07%, CI [+2.66, +3.48] 로 DEEP 의 [+1.11, +2.18] 과 겹치지 않아 효과가 약 2 배로 확대됨이 통계적으로 구별됩니다. 쏠림도 CV 가 DEEP 0.234 대비 SIFT 0.394 로 68% 높으며, SIFT 최대 클러스터가 기대값의 2 배에 달합니다. 데이터가 더 쏠려 있을수록 공간 인식 샘플링의 가치가 크다는 본 연구 가설이 HHI/CV 정량 지표와 Q-error 개선폭 사이의 일관된 단조 관계로 뒷받침됩니다.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세 번째 신규 기여는 Two-Level Decomposition 입니다. 같은 층화 샘플링 코드를 KM20 (공간 인식) 과 RANDOM20 (무작위 분할) 두 파티션으로 비교하여, 개선 원인이 20 등분이 아니라 공간 구조를 아는 분할 임을 증명했습니다. s=0.010 에서 KM20 은 +8.93% 개선, RANDOM20 은 −10.67% 악화로 격차가 19.6%p 에 달합니다. 이를 수학적으로 분해하면 Level 1 (비례 배분 효과, RANDOM20 개선분) 과 Level 2 (공간 인식 효과, KM20-RANDOM20 격차) 로 나뉩니다. s=0.010 에서 Level 2 단독으로 +19.60%p 를 기여하여 KM20 의 공간 인식이 개선의 원동력임이 수학적으로 입증되었습니다.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Phase 7 의 초기 외적 확장 시도에서는 D_target 을 재계산하지 않아 actual selectivity 가 극극소 영역으로 이동했고, 초기 plan_rows 기반 분석에 artifact 가 있음을 발견하여 철회했습니다. 이후 D_target 을 각 데이터셋별로 재계산한 §4.8 의 후속 측정에서 DEEP 8M 은 1M 과 CONSISTENT, SIFT 는 2 배 효과로 정상 selectivity 영역의 외적 타당성이 회복되었습니다. 남는 경계 조건은 s ≥ 0.050 에서만 층화 샘플링 효과가 안정적으로 발현된다는 것이며, 이는 Exqutor 기본 sample_size=385 의 구조적 하한의 결과로 정량적으로 확정되었습니다.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현재 네 가지 한계를 인지하고 있습니다: 단일 dataset family, SIFT mid-selectivity CI 결손, s ≥ 0.050 boundary, vector.c 우회 수정의 reviewer 위험. 이를 4 주 로드맵으로 해소합니다. W5 에 최적화와 wiki 검증, W6 에 3 데이터셋 × 500 query × 10 seed 전면 ablation, W7 에 RQ3 Recovery Rate 7-way 비교, W8 에 최종보고서와 포스터를 완성합니다. 특히 RQ3 는 세 패러다임의 7 가지 방법을 체계적으로 비교하며, 공간 DB 의 Hilbert Curve 기법을 벡터 카디널리티 추정에 최초로 적용합니다.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결론입니다. 본 연구의 기여는 네 가지입니다. Exqutor 의 사각지대 발견, data-side KM20 stratified 의 native 구현, 5-seed CI + 3 데이터셋 + Two-Level 분해의 복수 유효 anchor, 그리고 s ≥ 0.050 boundary 조건의 정량 확정입니다. 더 쏠린 SIFT 에서 KM20 효과가 DEEP 의 2 배로 확대됨을 HHI/CV 정량 지표로 인과적으로 설명했습니다. 최종발표에서 wiki 768d 검증과 RQ3 Recovery Rate 7-way 비교로 완성하겠습니다.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부록 슬라이드입니다. Design constraint 5 가지 중 본문에 담지 못한 3 가지는 모두 Adaptive Sampling loop 의 수치 안정성 관련 기술 발견이며, 본 연구는 update_sample_size = off 로 sample_size=385 fixed 한 채 sampling method 효과만 분리 측정했습니다. RQ3 의 7 가지 방법은 세 패러다임으로 분류되며, Recovery Rate 지표로 사전 학습 없이 KM20 의 공간 인식 효과를 얼마나 회수하는지 정량 비교합니다.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Exqutor 벡터 카디널리티 추정의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단일 테이블 사각지대와 Skew-Aware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5F5F5"/>
                </a:solidFill>
                <a:latin typeface="Apple SD Gothic Neo"/>
                <a:ea typeface="Apple SD Gothic Neo"/>
              </a:rPr>
              <a:t>Pivot A BERNOULLI 교체 + Pivot C KM20 Stratified + 3 데이터셋 5-seed CI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5F5"/>
                </a:solidFill>
                <a:latin typeface="Apple SD Gothic Neo"/>
                <a:ea typeface="Apple SD Gothic Neo"/>
              </a:rPr>
              <a:t>속도는벡터 · 연세대학교 컴퓨터과학과 2026-1 캡스톤 디자인</a:t>
            </a:r>
          </a:p>
          <a:p>
            <a:r>
              <a:rPr sz="1300" b="0">
                <a:solidFill>
                  <a:srgbClr val="9AA0A6"/>
                </a:solidFill>
                <a:latin typeface="Apple SD Gothic Neo"/>
                <a:ea typeface="Apple SD Gothic Neo"/>
              </a:rPr>
              <a:t>박세은(팀장) · 강재현 · 조현빈 · 이동욱   |   2026-04-28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2 · 실험 타임라인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4/3 합의 → 4/14 착수 → 4/14~15 본선 → 4/16~17 보강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4/3 교수님 합의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920240"/>
            <a:ext cx="27432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9A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가설 H1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skewness ↑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= Q-error ↑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27248" y="2926080"/>
            <a:ext cx="274320" cy="4572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00" y="1371600"/>
            <a:ext cx="2743200" cy="548640"/>
          </a:xfrm>
          <a:prstGeom prst="rect">
            <a:avLst/>
          </a:prstGeom>
          <a:solidFill>
            <a:srgbClr val="E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4/14 착수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920240"/>
            <a:ext cx="27432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[Phase 1~5]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H1 기각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8 지표 negative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→ data-side pivot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90488" y="2926080"/>
            <a:ext cx="274320" cy="4572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2743200" cy="5486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4/14~15 본선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920240"/>
            <a:ext cx="27432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[Phase 4 / 6 / 7]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Pivot A 4 구간 p&lt;0.001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Pivot C s=0.500 ★★★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Phase 7 artifact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53728" y="2926080"/>
            <a:ext cx="274320" cy="4572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55480" y="1371600"/>
            <a:ext cx="27432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4/16~17 보강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1920240"/>
            <a:ext cx="274320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[5-seed CI / Two-Level]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3 데이터셋 외적 재현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SIFT 2배 + HHI/CV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→ 외적 타당성 CONSISTENT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60720"/>
            <a:ext cx="11430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v2 의 4/16~17 보강 branch 가 외적 타당성 결손(Phase 7 artifact)을 해소하였고, Two-Level 분해로 </a:t>
            </a:r>
            <a:r>
              <a:rPr sz="1300" b="1">
                <a:solidFill>
                  <a:srgbClr val="2E7D32"/>
                </a:solidFill>
                <a:latin typeface="Apple SD Gothic Neo"/>
                <a:ea typeface="Apple SD Gothic Neo"/>
              </a:rPr>
              <a:t>공간 인식 기여를 수리적으로 분리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3 · 연구 배경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Exqutor 의 벡터 카디널리티 추정 문제 해결과 잠재적 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51515"/>
                </a:solidFill>
                <a:latin typeface="Apple SD Gothic Neo"/>
                <a:ea typeface="Apple SD Gothic Neo"/>
              </a:rPr>
              <a:t>•  pgvector / VBASE / DuckDB 의 벡터 조건 선택도 </a:t>
            </a:r>
            <a:r>
              <a:rPr sz="1500" b="1">
                <a:solidFill>
                  <a:srgbClr val="E07A00"/>
                </a:solidFill>
                <a:latin typeface="Apple SD Gothic Neo"/>
                <a:ea typeface="Apple SD Gothic Neo"/>
              </a:rPr>
              <a:t>고정 비율 추정</a:t>
            </a:r>
            <a:r>
              <a:rPr sz="1500" b="0">
                <a:solidFill>
                  <a:srgbClr val="151515"/>
                </a:solidFill>
                <a:latin typeface="Apple SD Gothic Neo"/>
                <a:ea typeface="Apple SD Gothic Neo"/>
              </a:rPr>
              <a:t> (33.3% / 50% / 100%)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51515"/>
                </a:solidFill>
                <a:latin typeface="Apple SD Gothic Neo"/>
                <a:ea typeface="Apple SD Gothic Neo"/>
              </a:rPr>
              <a:t>•  실제 선택도: </a:t>
            </a:r>
            <a:r>
              <a:rPr sz="1500" b="1">
                <a:solidFill>
                  <a:srgbClr val="151515"/>
                </a:solidFill>
                <a:latin typeface="Apple SD Gothic Neo"/>
                <a:ea typeface="Apple SD Gothic Neo"/>
              </a:rPr>
              <a:t>0.001% ~ 90% 넓은 범위</a:t>
            </a:r>
            <a:r>
              <a:rPr sz="1500" b="0">
                <a:solidFill>
                  <a:srgbClr val="151515"/>
                </a:solidFill>
                <a:latin typeface="Apple SD Gothic Neo"/>
                <a:ea typeface="Apple SD Gothic Neo"/>
              </a:rPr>
              <a:t> → 옵티마이저 잘못된 실행 계획 선택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77B4"/>
                </a:solidFill>
                <a:latin typeface="Apple SD Gothic Neo"/>
                <a:ea typeface="Apple SD Gothic Neo"/>
              </a:rPr>
              <a:t>•  Exqutor (arXiv:2512.09695v2, 2024) 의 두 해법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  — ECQO: HNSW 인덱스 있을 때 range query 직접 실행 (1~2 ms)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  — Adaptive Sampling: 인덱스 없을 때 모멘텀 기반 동적 샘플링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51515"/>
                </a:solidFill>
                <a:latin typeface="Apple SD Gothic Neo"/>
                <a:ea typeface="Apple SD Gothic Neo"/>
              </a:rPr>
              <a:t>•  pgvector 최대 1000배, VBASE 10000배, DuckDB 1.5~37배 성능 향상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51515"/>
                </a:solidFill>
                <a:latin typeface="Apple SD Gothic Neo"/>
                <a:ea typeface="Apple SD Gothic Neo"/>
              </a:rPr>
              <a:t>•  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77B4"/>
                </a:solidFill>
                <a:latin typeface="Apple SD Gothic Neo"/>
                <a:ea typeface="Apple SD Gothic Neo"/>
              </a:rPr>
              <a:t>•  본 연구의 공략점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>•    Adaptive Sampling 의 정확도 개선 여지 — 특히 skewed 분포에서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4 · 연구 질문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RQ1 Motivation / RQ2 Distribution-Aware / RQ3 Distribution-Agnostic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" cy="822960"/>
          </a:xfrm>
          <a:prstGeom prst="rect">
            <a:avLst/>
          </a:prstGeom>
          <a:solidFill>
            <a:srgbClr val="E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RQ1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28016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07A00"/>
                </a:solidFill>
                <a:latin typeface="Apple SD Gothic Neo"/>
                <a:ea typeface="Apple SD Gothic Neo"/>
              </a:rPr>
              <a:t>Motivation 검증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Exqutor Adaptive Sampling 은 실제로 정확도 한계를 가지는가? 한계의 구조는?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51760"/>
            <a:ext cx="1097280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RQ2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5176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77B4"/>
                </a:solidFill>
                <a:latin typeface="Apple SD Gothic Neo"/>
                <a:ea typeface="Apple SD Gothic Neo"/>
              </a:rPr>
              <a:t>Distribution-Aware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분포를 알 때, stratified sampling 이 카디널리티 추정 정확도를 얼마나 개선하는가?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109728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RQ3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02336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7D32"/>
                </a:solidFill>
                <a:latin typeface="Apple SD Gothic Neo"/>
                <a:ea typeface="Apple SD Gothic Neo"/>
              </a:rPr>
              <a:t>Distribution-Agnostic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분포를 모를 때, 사전 학습 없이 KM20 의 공간 인식 효과를 얼마나 회수할 수 있는가?
Recovery Rate = (방법X − RANDOM20) / (KM20 − RANDOM20)
3 패러다임 (Offline Partition / Online Query-Adaptive / Weight-based) × 7 가지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77B4"/>
                </a:solidFill>
                <a:latin typeface="Apple SD Gothic Neo"/>
                <a:ea typeface="Apple SD Gothic Neo"/>
              </a:rPr>
              <a:t>본 발표 범위: RQ1 Motivation + RQ2 본선 + 5-seed CI + RQ3 설계안 (실험은 W7)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5 · H1 기각과 8 지표 negative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query-conditional layer 의 사전 식별 불가능성 정량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9436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•  실험</a:t>
            </a: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: 1M subset × 96d DEEP, 100 query × 6 sel × 5 seed = 3000 측정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•  가설 H1 (4/3)</a:t>
            </a: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: Fisher γ 큰 그룹의 Q-error 가 작은 그룹 대비 2 배 악화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07A00"/>
                </a:solidFill>
                <a:latin typeface="Apple SD Gothic Neo"/>
                <a:ea typeface="Apple SD Gothic Neo"/>
              </a:rPr>
              <a:t>•  결과</a:t>
            </a: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: 12 조합 모두 ratio ≈ 1.0, 24 조합 |Spearman ρ| &lt; 0.2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100 query 전부 Fisher γ &lt; 0 (left-skewed)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tail ratio P99/P50 ∈ [1.07, 1.17] 좁은 범위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→ </a:t>
            </a:r>
            <a:r>
              <a:rPr sz="1300" b="1">
                <a:solidFill>
                  <a:srgbClr val="1F77B4"/>
                </a:solidFill>
                <a:latin typeface="Apple SD Gothic Neo"/>
                <a:ea typeface="Apple SD Gothic Neo"/>
              </a:rPr>
              <a:t>고차원 거리 집중 (distance concentration)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•  로컬 4 지표 추가 검증 (Phase 5)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•    k-NN entropy, PCA EVR1, KDE modality, NN clustering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  24 조합 전수 |ρ| &lt; 0.2 — 글로벌 4 + 로컬 4 </a:t>
            </a:r>
            <a:r>
              <a:rPr sz="1300" b="1">
                <a:solidFill>
                  <a:srgbClr val="E07A00"/>
                </a:solidFill>
                <a:latin typeface="Apple SD Gothic Neo"/>
                <a:ea typeface="Apple SD Gothic Neo"/>
              </a:rPr>
              <a:t>= 8 지표 전수 negative</a:t>
            </a:r>
          </a:p>
        </p:txBody>
      </p:sp>
      <p:pic>
        <p:nvPicPr>
          <p:cNvPr id="4" name="Picture 3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5303520" cy="21470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6 · Exqutor Design Constraint 발견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단일 테이블 vector range query 는 Exqutor 의 명시되지 않은 사각지대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07A00"/>
                </a:solidFill>
                <a:latin typeface="Apple SD Gothic Neo"/>
                <a:ea typeface="Apple SD Gothic Neo"/>
              </a:rPr>
              <a:t>•  (i) Hook Trigger 사각지대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  vector.c line 243 if (table_count &gt; 2) — 단일 테이블은 hook 경로 배제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  모든 query 가 PG default selectivity 1/3 (= 333,333 행) 로 fall-through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77B4"/>
                </a:solidFill>
                <a:latin typeface="Apple SD Gothic Neo"/>
                <a:ea typeface="Apple SD Gothic Neo"/>
              </a:rPr>
              <a:t>•    → Exqutor Adaptive Sampling 함수 자체에 도달 불가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>•  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E07A00"/>
                </a:solidFill>
                <a:latin typeface="Apple SD Gothic Neo"/>
                <a:ea typeface="Apple SD Gothic Neo"/>
              </a:rPr>
              <a:t>•  (ii) Plan Replacement 부작용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  hook 을 &gt;= 1 로 우회하면 outer query plan-tree 가 Sample Scan 으로 교체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  true = 100,000 의 SELECT count(*) 가 sample 안 부분 카운트 32 로 격하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77B4"/>
                </a:solidFill>
                <a:latin typeface="Apple SD Gothic Neo"/>
                <a:ea typeface="Apple SD Gothic Neo"/>
              </a:rPr>
              <a:t>•    → 단일 테이블에서는 outer query 의 의미 자체가 깨짐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>•  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•  두 finding 은 Exqutor 원논문 본문에 명시되지 않음 — 소스 검증으로 첫 정량 확인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•  실무 함의: 이미지 검색, 추천, RAG retrieval = 단일 테이블 vector range query 의 전형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51515"/>
                </a:solidFill>
                <a:latin typeface="Apple SD Gothic Neo"/>
                <a:ea typeface="Apple SD Gothic Neo"/>
              </a:rPr>
              <a:t>•  → </a:t>
            </a:r>
            <a:r>
              <a:rPr sz="1500" b="1">
                <a:solidFill>
                  <a:srgbClr val="2E7D32"/>
                </a:solidFill>
                <a:latin typeface="Apple SD Gothic Neo"/>
                <a:ea typeface="Apple SD Gothic Neo"/>
              </a:rPr>
              <a:t>본 연구 motivation 의 새 첫 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7 · 수정 노선: Pivot A + Pivot C 병합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4/14 17:35 확정 — 두 sanitize 의 직교 ablation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486400" cy="4846320"/>
          </a:xfrm>
          <a:prstGeom prst="rect">
            <a:avLst/>
          </a:prstGeom>
          <a:solidFill>
            <a:srgbClr val="F5F5F5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F77B4"/>
                </a:solidFill>
                <a:latin typeface="Apple SD Gothic Neo"/>
                <a:ea typeface="Apple SD Gothic Neo"/>
              </a:rPr>
              <a:t>Pivot A — Block sampling bias 제거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vector.c L889 한 줄 교체:</a:t>
            </a:r>
          </a:p>
          <a:p>
            <a:pPr algn="l"/>
            <a:r>
              <a:rPr sz="1200" b="0">
                <a:solidFill>
                  <a:srgbClr val="E07A00"/>
                </a:solidFill>
                <a:latin typeface="D2Coding"/>
                <a:ea typeface="D2Coding"/>
              </a:rPr>
              <a:t>  TABLESAMPLE SYSTEM(%f)</a:t>
            </a:r>
          </a:p>
          <a:p>
            <a:pPr algn="l"/>
            <a:r>
              <a:rPr sz="1200" b="0">
                <a:solidFill>
                  <a:srgbClr val="1F77B4"/>
                </a:solidFill>
                <a:latin typeface="D2Coding"/>
                <a:ea typeface="D2Coding"/>
              </a:rPr>
              <a:t>  → TABLESAMPLE BERNOULLI(%f)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역할: Fair baseline 도구</a:t>
            </a:r>
          </a:p>
          <a:p>
            <a:pPr algn="l"/>
            <a:r>
              <a:rPr sz="1200" b="0">
                <a:solidFill>
                  <a:srgbClr val="9AA0A6"/>
                </a:solidFill>
                <a:latin typeface="Apple SD Gothic Neo"/>
                <a:ea typeface="Apple SD Gothic Neo"/>
              </a:rPr>
              <a:t>  단독 기여가 아닌 Pivot C 의 측정 단위</a:t>
            </a:r>
          </a:p>
          <a:p>
            <a:pPr algn="l"/>
            <a:r>
              <a:rPr sz="1200" b="0">
                <a:solidFill>
                  <a:srgbClr val="9AA0A6"/>
                </a:solidFill>
                <a:latin typeface="Apple SD Gothic Neo"/>
                <a:ea typeface="Apple SD Gothic Neo"/>
              </a:rPr>
              <a:t>  block 단위 샘플링의 row-correlation bias 제거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효과 (Phase 4): 4 selectivity 구간</a:t>
            </a:r>
          </a:p>
          <a:p>
            <a:pPr algn="l"/>
            <a:r>
              <a:rPr sz="1300" b="1">
                <a:solidFill>
                  <a:srgbClr val="2E7D32"/>
                </a:solidFill>
                <a:latin typeface="Apple SD Gothic Neo"/>
                <a:ea typeface="Apple SD Gothic Neo"/>
              </a:rPr>
              <a:t>  paired Wilcoxon p &lt; 0.001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80160"/>
            <a:ext cx="5486400" cy="4846320"/>
          </a:xfrm>
          <a:prstGeom prst="rect">
            <a:avLst/>
          </a:prstGeom>
          <a:solidFill>
            <a:srgbClr val="F5F5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12064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2E7D32"/>
                </a:solidFill>
                <a:latin typeface="Apple SD Gothic Neo"/>
                <a:ea typeface="Apple SD Gothic Neo"/>
              </a:rPr>
              <a:t>Pivot C — data-side KM20 Stratified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vector.c +228 줄 구현: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D2Coding"/>
                <a:ea typeface="D2Coding"/>
              </a:rPr>
              <a:t>  GUC 3 개 + stratum_sizes 캐시</a:t>
            </a:r>
          </a:p>
          <a:p>
            <a:pPr algn="l"/>
            <a:r>
              <a:rPr sz="1100" b="0">
                <a:solidFill>
                  <a:srgbClr val="151515"/>
                </a:solidFill>
                <a:latin typeface="D2Coding"/>
                <a:ea typeface="D2Coding"/>
              </a:rPr>
              <a:t>  estimate_cardinality_with_stratified_sampling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데이터 측면: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  numpy mini-batch k-means K=20 (seed=42)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  stratum_id smallint + index 사전 부여</a:t>
            </a:r>
          </a:p>
          <a:p>
            <a:pPr algn="l"/>
            <a:r>
              <a:rPr sz="1200" b="0">
                <a:solidFill>
                  <a:srgbClr val="1F77B4"/>
                </a:solidFill>
                <a:latin typeface="Apple SD Gothic Neo"/>
                <a:ea typeface="Apple SD Gothic Neo"/>
              </a:rPr>
              <a:t>  → query 시점 overhead 0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Horvitz-Thompson 가중 추정:</a:t>
            </a:r>
          </a:p>
          <a:p>
            <a:pPr algn="l"/>
            <a:r>
              <a:rPr sz="1200" b="0">
                <a:solidFill>
                  <a:srgbClr val="2E7D32"/>
                </a:solidFill>
                <a:latin typeface="D2Coding"/>
                <a:ea typeface="D2Coding"/>
              </a:rPr>
              <a:t>  est = Σ (n_i × cnt_i / s_i)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두 Pivot 은 직교적 → SYSTEM / BERNOULLI / STRATIFIED × dataset × selectivity 의 ablation matrix 로 각 기여 분리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8 · Phase 4 결과 — Pivot A (BERNOULLI) Native 검증 ★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4 selectivity 구간 모두 paired Wilcoxon p &lt; 0.001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6217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0"/>
                <a:gridCol w="1036320"/>
                <a:gridCol w="1036320"/>
                <a:gridCol w="1036320"/>
                <a:gridCol w="1036320"/>
                <a:gridCol w="10363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selectivity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SYS med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BERN med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diff%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p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유의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0.001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2.597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2.597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+0.0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0.596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—</a:t>
                      </a:r>
                    </a:p>
                  </a:txBody>
                  <a:tcPr marL="45720" marR="4572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0.010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1.558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1.299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+20.0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0.240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0.050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1.203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1.195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+0.7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0.0009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★★</a:t>
                      </a:r>
                    </a:p>
                  </a:txBody>
                  <a:tcPr marL="45720" marR="4572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0.100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1.212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1.132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+7.0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&lt; 0.001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★★★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0.300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1.210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1.079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+12.0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&lt; 0.001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★★★</a:t>
                      </a:r>
                    </a:p>
                  </a:txBody>
                  <a:tcPr marL="45720" marR="4572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0.500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1.153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1.052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+9.6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&lt; 0.001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★★★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5029200" cy="3411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46320"/>
            <a:ext cx="114300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s=0.500 에서 median 기준 9.6% 개선, 78/100 query 가 SYSTEM 쪽 불리</a:t>
            </a:r>
          </a:p>
          <a:p>
            <a:pPr algn="l"/>
            <a:r>
              <a:rPr sz="1400" b="1">
                <a:solidFill>
                  <a:srgbClr val="2E7D32"/>
                </a:solidFill>
                <a:latin typeface="Apple SD Gothic Neo"/>
                <a:ea typeface="Apple SD Gothic Neo"/>
              </a:rPr>
              <a:t>vector.c 한 줄 sed 교체로 Exqutor 카디널리티 추정 정확도 개선 경로가 native 로 직접 확인됨</a:t>
            </a:r>
          </a:p>
          <a:p>
            <a:pPr algn="l"/>
            <a:r>
              <a:rPr sz="1300" b="0">
                <a:solidFill>
                  <a:srgbClr val="1F77B4"/>
                </a:solidFill>
                <a:latin typeface="Apple SD Gothic Neo"/>
                <a:ea typeface="Apple SD Gothic Neo"/>
              </a:rPr>
              <a:t>Block sampling bias 는 통계적으로 유의한 구조적 약점 — 이후 Pivot C 의 fair baseline 확보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9 · Phase 6 Step 4 + 5-seed 신뢰구간 ★★★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s=0.500 p=4.01e-05 Bonferroni 유일 생존 + 5-seed CI 하한 양수 확정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6675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/>
                <a:gridCol w="1668780"/>
                <a:gridCol w="1668780"/>
                <a:gridCol w="16687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selectivity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5-seed 평균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95% CI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유의한 seed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50%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+1.64%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[+1.11, +2.18]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5/5</a:t>
                      </a:r>
                    </a:p>
                  </a:txBody>
                  <a:tcPr marL="45720" marR="45720"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30%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+2.62%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[+1.45, +3.80]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5/5 (p&lt;0.001)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10%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+4.19%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[+0.72, +7.66]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5/5 (p&lt;0.004)</a:t>
                      </a:r>
                    </a:p>
                  </a:txBody>
                  <a:tcPr marL="45720" marR="45720"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+1.85%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(단일)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3/5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+8.93%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(단일)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4/5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  <p:pic>
        <p:nvPicPr>
          <p:cNvPr id="4" name="Picture 3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572000" cy="2775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63440"/>
            <a:ext cx="1143000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s=0.500 단일 seed: p = 4.01e-05 (전체 110 검정 중 Bonferroni 보정 후 유일 생존)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>5-seed 재현: </a:t>
            </a:r>
            <a:r>
              <a:rPr sz="1400" b="1">
                <a:solidFill>
                  <a:srgbClr val="2E7D32"/>
                </a:solidFill>
                <a:latin typeface="Apple SD Gothic Neo"/>
                <a:ea typeface="Apple SD Gothic Neo"/>
              </a:rPr>
              <a:t>mean +1.64%, CI [+1.11, +2.18]</a:t>
            </a:r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> — 하한 양수로 real effect 확정</a:t>
            </a:r>
          </a:p>
          <a:p>
            <a:pPr algn="l"/>
            <a:r>
              <a:rPr sz="1300" b="0">
                <a:solidFill>
                  <a:srgbClr val="1F77B4"/>
                </a:solidFill>
                <a:latin typeface="Apple SD Gothic Neo"/>
                <a:ea typeface="Apple SD Gothic Neo"/>
              </a:rPr>
              <a:t>50% / 30% / 10% 세 구간 모두 95% CI 가 0 을 포함하지 않음 → 확률적 우연이 아닌 통계적 확정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10 · External Validity I — SIFT 1.5M 에서 효과 2배  ★ 신규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D_target 재계산 후 5-seed 재측정 — 쏠림 정량(CV 68%)과 인과 연결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5943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selectivity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KM20 5-seed 평균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95% CI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유의 seed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50%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+3.07%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[+2.66, +3.48]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5/5 (p&lt;1e-8)</a:t>
                      </a:r>
                    </a:p>
                  </a:txBody>
                  <a:tcPr marL="45720" marR="45720"/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+4.39%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[+2.63, +6.15]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5/5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−0.53%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[−3.18, +2.11]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1/5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383280"/>
            <a:ext cx="594360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E07A00"/>
                </a:solidFill>
                <a:latin typeface="Apple SD Gothic Neo"/>
                <a:ea typeface="Apple SD Gothic Neo"/>
              </a:rPr>
              <a:t>SIFT 1.5M (128d) — 더 쏠린 분포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• DEEP 1M CI [+1.11, +2.18] 과 SIFT CI [+2.66, +3.48]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>  </a:t>
            </a:r>
            <a:r>
              <a:rPr sz="1200" b="1">
                <a:solidFill>
                  <a:srgbClr val="2E7D32"/>
                </a:solidFill>
                <a:latin typeface="Apple SD Gothic Neo"/>
                <a:ea typeface="Apple SD Gothic Neo"/>
              </a:rPr>
              <a:t>겹치지 않음 → 통계적으로 구별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• 쏠림 정량 (HHI / CV)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  DEEP CV 0.234 vs SIFT CV </a:t>
            </a:r>
            <a:r>
              <a:rPr sz="1200" b="1">
                <a:solidFill>
                  <a:srgbClr val="E07A00"/>
                </a:solidFill>
                <a:latin typeface="Apple SD Gothic Neo"/>
                <a:ea typeface="Apple SD Gothic Neo"/>
              </a:rPr>
              <a:t>0.394 (68% 높음)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• SIFT 최대 클러스터 14.8만 (기대값의 2배)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• 상위 2 클러스터 전체의 19% (기대 10%)</a:t>
            </a:r>
          </a:p>
        </p:txBody>
      </p:sp>
      <p:pic>
        <p:nvPicPr>
          <p:cNvPr id="5" name="Picture 4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5394960" cy="4284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11 · External Validity II — KM20 vs RANDOM20 + Two-Level  ★ 신규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개선 원인이 '20 등분' 이 아니라 '공간 구조를 아는 분할' 임을 증명</a:t>
            </a:r>
          </a:p>
        </p:txBody>
      </p:sp>
      <p:pic>
        <p:nvPicPr>
          <p:cNvPr id="3" name="Picture 2" descr="figure_7_selectivity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217920" cy="465279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0" y="128016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selectivity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KM20 (CI)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RANDOM20 (CI)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격차 (Level 2)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50%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+1.64%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+2.20%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~0</a:t>
                      </a:r>
                    </a:p>
                  </a:txBody>
                  <a:tcPr marL="45720" marR="45720"/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30%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+2.62%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+0.26%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+2.4%p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10%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+4.19%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+1.74%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+2.5%p</a:t>
                      </a:r>
                    </a:p>
                  </a:txBody>
                  <a:tcPr marL="45720" marR="45720"/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+1.85%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+0.79%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+1.1%p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+8.93%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07A00"/>
                          </a:solidFill>
                          <a:latin typeface="Apple SD Gothic Neo"/>
                          <a:ea typeface="Apple SD Gothic Neo"/>
                        </a:rPr>
                        <a:t>−10.67%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Apple SD Gothic Neo"/>
                          <a:ea typeface="Apple SD Gothic Neo"/>
                        </a:rPr>
                        <a:t>+19.6%p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4389120"/>
            <a:ext cx="530352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  <a:latin typeface="Apple SD Gothic Neo"/>
                <a:ea typeface="Apple SD Gothic Neo"/>
              </a:rPr>
              <a:t>Two-Level Decomposition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KM20 개선 = Level 1 (비례 배분) + Level 2 (공간 인식)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s=0.010 에서 </a:t>
            </a:r>
            <a:r>
              <a:rPr sz="1300" b="1">
                <a:solidFill>
                  <a:srgbClr val="2E7D32"/>
                </a:solidFill>
                <a:latin typeface="Apple SD Gothic Neo"/>
                <a:ea typeface="Apple SD Gothic Neo"/>
              </a:rPr>
              <a:t>Level 2 단독 +19.60%p</a:t>
            </a:r>
          </a:p>
          <a:p>
            <a:pPr algn="l"/>
            <a:r>
              <a:rPr sz="1200" b="0">
                <a:solidFill>
                  <a:srgbClr val="9AA0A6"/>
                </a:solidFill>
                <a:latin typeface="Apple SD Gothic Neo"/>
                <a:ea typeface="Apple SD Gothic Neo"/>
              </a:rPr>
              <a:t>  (Level 1 −10.67%, Total +8.93%)</a:t>
            </a:r>
          </a:p>
          <a:p>
            <a:pPr algn="l"/>
            <a:r>
              <a:rPr sz="14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/>
            <a:r>
              <a:rPr sz="1200" b="1">
                <a:solidFill>
                  <a:srgbClr val="151515"/>
                </a:solidFill>
                <a:latin typeface="Apple SD Gothic Neo"/>
                <a:ea typeface="Apple SD Gothic Neo"/>
              </a:rPr>
              <a:t>→ selectivity 가 좁아질수록 공간 인식이 지배적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12 · Phase 7 — 외적 확장 시도와 후속 해소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artifact 발견·철회 + D_target 재계산 후 boundary 조건 확정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3657600" cy="640080"/>
          </a:xfrm>
          <a:prstGeom prst="rect">
            <a:avLst/>
          </a:prstGeom>
          <a:solidFill>
            <a:srgbClr val="E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1차 시도 (4/15)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365760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8M / sift 128d 에 1M derive D_target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그대로 적용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→ actual selectivity 0.0001 로 이동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plan_rows 기반 초기 분석: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STRAT 9.60 vs BERN 20810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(8M, 2168× 극단)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60520" y="3566160"/>
            <a:ext cx="274320" cy="4572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39" y="1280160"/>
            <a:ext cx="3657600" cy="6400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artifact 발견·철회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39" y="2011680"/>
            <a:ext cx="365760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검증: STRAT plan_rows 100/100 query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에서 정확히 20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= stratum LIMIT 상수 artifact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hook_est 재분석: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STRAT −26.5% (8M), −325% (sift)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→ 극극소 selectivity boundary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138159" y="3566160"/>
            <a:ext cx="274320" cy="45720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78" y="1280160"/>
            <a:ext cx="365760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후속 해소 (4/16)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78" y="2011680"/>
            <a:ext cx="365760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D_target 재계산 → §4.8 재측정: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DEEP 8M +1.76% [+0.65, +2.86]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= 1M 과 CONSISTENT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SIFT +3.07% [+2.66, +3.48]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= DEEP 대비 2배 효과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→ 안정 하한 s ≥ 0.050 확정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430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151515"/>
                </a:solidFill>
                <a:latin typeface="Apple SD Gothic Neo"/>
                <a:ea typeface="Apple SD Gothic Neo"/>
              </a:rPr>
              <a:t>Phase 7 의 boundary negative finding 은 Pivot C 효과 범위 (s ≥ 0.050) 의 정량 확정 — 학술적 가치 보존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13 · 한계와 남은 작업 / 최종발표 로드맵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honest report 4건 + W5~W8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4300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E07A00"/>
                </a:solidFill>
                <a:latin typeface="Apple SD Gothic Neo"/>
                <a:ea typeface="Apple SD Gothic Neo"/>
              </a:rPr>
              <a:t>중간발표까지의 한계 (honest report)</a:t>
            </a:r>
          </a:p>
          <a:p>
            <a:pPr algn="l"/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(a) 단일 dataset family — 96~128d 좁은 영역 (wiki 768d 는 W5 검증)</a:t>
            </a:r>
          </a:p>
          <a:p>
            <a:pPr algn="l"/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(b) SIFT mid-selectivity (s=0.10/0.30) CI 결손 — 서버 </a:t>
            </a:r>
            <a:r>
              <a:rPr sz="1200" b="0">
                <a:solidFill>
                  <a:srgbClr val="E07A00"/>
                </a:solidFill>
                <a:latin typeface="D2Coding"/>
                <a:ea typeface="D2Coding"/>
              </a:rPr>
              <a:t>unrecognized node type</a:t>
            </a: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 오류 디버깅 필요 (W5)</a:t>
            </a:r>
          </a:p>
          <a:p>
            <a:pPr algn="l"/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(c) boundary condition: s ≥ 0.050 에서만 KM20 효과 안정 (W5 의 sample_size sensitivity 로 완화 탐색)</a:t>
            </a:r>
          </a:p>
          <a:p>
            <a:pPr algn="l"/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(d) </a:t>
            </a:r>
            <a:r>
              <a:rPr sz="1200" b="0">
                <a:solidFill>
                  <a:srgbClr val="151515"/>
                </a:solidFill>
                <a:latin typeface="D2Coding"/>
                <a:ea typeface="D2Coding"/>
              </a:rPr>
              <a:t>vector.c</a:t>
            </a:r>
            <a:r>
              <a:rPr sz="1300" b="0">
                <a:solidFill>
                  <a:srgbClr val="151515"/>
                </a:solidFill>
                <a:latin typeface="Apple SD Gothic Neo"/>
                <a:ea typeface="Apple SD Gothic Neo"/>
              </a:rPr>
              <a:t> hook 우회 수정의 reviewer 관점 위험 — 자문 회신 후 narrative 조정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023360"/>
            <a:ext cx="2743200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</a:rPr>
              <a:t>W5
4/28~5/4 · 최적화 + wiki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937760"/>
            <a:ext cx="2743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per-stratum BERNOULLI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Layer sweep (K=30/40/50)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wiki 768d 검증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SIFT mid-sel 보충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4023360"/>
            <a:ext cx="274320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</a:rPr>
              <a:t>W6
5/5~5/11 · 전면 ablation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4937760"/>
            <a:ext cx="2743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3 dataset × 3 mode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× 6 sel × 10 seed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× 500 query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= 270k 측정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023360"/>
            <a:ext cx="2743200" cy="822960"/>
          </a:xfrm>
          <a:prstGeom prst="rect">
            <a:avLst/>
          </a:prstGeom>
          <a:solidFill>
            <a:srgbClr val="E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</a:rPr>
              <a:t>W7
5/12~5/18 · RQ3 Recovery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937760"/>
            <a:ext cx="2743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7-way 비교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3 패러다임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Hilbert Curve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최초 적용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4023360"/>
            <a:ext cx="2743200" cy="82296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</a:rPr>
              <a:t>W8
5/19~5/25 · 최종 산출물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4937760"/>
            <a:ext cx="2743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9A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최종보고서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포스터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전시회 데모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리허설 2회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14 · 결론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4 가지 기여 — 구조적 발견 / 방법론 구현 / 정량 효과 / 경계 조건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" cy="1188720"/>
          </a:xfrm>
          <a:prstGeom prst="rect">
            <a:avLst/>
          </a:prstGeom>
          <a:solidFill>
            <a:srgbClr val="E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07A00"/>
                </a:solidFill>
                <a:latin typeface="Apple SD Gothic Neo"/>
                <a:ea typeface="Apple SD Gothic Neo"/>
              </a:rPr>
              <a:t>기여 1 — 구조적 발견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Exqutor 의 단일 테이블 사각지대 (Hook trigger + plan replacement + 5 design constraint) +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query-side feature 사전 식별 불가능성 (8 지표 × 24 조합 전수 |ρ| &lt; 0.2)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14600"/>
            <a:ext cx="137160" cy="11887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77B4"/>
                </a:solidFill>
                <a:latin typeface="Apple SD Gothic Neo"/>
                <a:ea typeface="Apple SD Gothic Neo"/>
              </a:rPr>
              <a:t>기여 2 — 방법론 구현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Block bias 1 줄 교체 (Pivot A) + data-side KM20 stratified sampling native 구현 (+228 줄, Pivot C)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Python counterfactual 검증 → native 재현의 2 단계 validation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13716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7D32"/>
                </a:solidFill>
                <a:latin typeface="Apple SD Gothic Neo"/>
                <a:ea typeface="Apple SD Gothic Neo"/>
              </a:rPr>
              <a:t>기여 3 — 정량 효과 (복수 유효 anchor)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Phase 4 SYSTEM→BERNOULLI: 4 selectivity 구간 p&lt;0.001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Phase 6 Step 4 KM20 native: s=0.500 p=4.01e-05 + 5-seed CI [+1.11, +2.18]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3 데이터셋 외적 재현 (DEEP 1M/8M CONSISTENT, SIFT 2배 CI 분리)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Two-Level 분해: Level 2 단독 +19.60%p (s=0.010)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HHI/CV 정량: CV 68% 격차 = KM20 2배 격차의 직접 원인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66360"/>
            <a:ext cx="137160" cy="118872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1663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AA0A6"/>
                </a:solidFill>
                <a:latin typeface="Apple SD Gothic Neo"/>
                <a:ea typeface="Apple SD Gothic Neo"/>
              </a:rPr>
              <a:t>기여 4 — 경계 조건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s ≥ 0.050 안정 하한 확정 — Phase 7 boundary negative finding 의 학술적 가치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137160" bIns="91440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Slide 15 (부록) · Appendix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Apple SD Gothic Neo"/>
                <a:ea typeface="Apple SD Gothic Neo"/>
              </a:rPr>
              <a:t>추가 Design Constraint iii~v + RQ3 7-way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430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E07A00"/>
                </a:solidFill>
                <a:latin typeface="Apple SD Gothic Neo"/>
                <a:ea typeface="Apple SD Gothic Neo"/>
              </a:rPr>
              <a:t>추가 Design Constraint (iii~v)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(iii) q-error inf 발산 — single-table hook 우회 시 이중 sampling 으로 첫 sample 매칭 0 건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(iv) sample_size NaN 발산 — 50 query 시퀀스 중 Adaptive update 가 NaN 으로 발산</a:t>
            </a:r>
          </a:p>
          <a:p>
            <a:pPr algn="l"/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(v) Adaptive update path SIGSEGV — </a:t>
            </a:r>
            <a:r>
              <a:rPr sz="1100" b="0">
                <a:solidFill>
                  <a:srgbClr val="E07A00"/>
                </a:solidFill>
                <a:latin typeface="D2Coding"/>
                <a:ea typeface="D2Coding"/>
              </a:rPr>
              <a:t>update_sample_size = off</a:t>
            </a:r>
            <a:r>
              <a:rPr sz="1200" b="0">
                <a:solidFill>
                  <a:srgbClr val="151515"/>
                </a:solidFill>
                <a:latin typeface="Apple SD Gothic Neo"/>
                <a:ea typeface="Apple SD Gothic Neo"/>
              </a:rPr>
              <a:t> GUC 로 회피</a:t>
            </a:r>
          </a:p>
          <a:p>
            <a:pPr algn="l"/>
            <a:r>
              <a:rPr sz="1200" b="0">
                <a:solidFill>
                  <a:srgbClr val="1F77B4"/>
                </a:solidFill>
                <a:latin typeface="Apple SD Gothic Neo"/>
                <a:ea typeface="Apple SD Gothic Neo"/>
              </a:rPr>
              <a:t>→ 셋 모두 Adaptive Sampling loop 가 multi-table only design intent 를 가정한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Apple SD Gothic Neo"/>
                <a:ea typeface="Apple SD Gothic Neo"/>
              </a:rPr>
              <a:t>RQ3 Recovery Rate 프레임워크 — 7 가지 방법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2918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방법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패러다임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기대 Recovery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사전 학습</a:t>
                      </a:r>
                    </a:p>
                  </a:txBody>
                  <a:tcPr marL="45720" marR="45720">
                    <a:solidFill>
                      <a:srgbClr val="15151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C. Random Projection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Offline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10~40%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사영 1회</a:t>
                      </a:r>
                    </a:p>
                  </a:txBody>
                  <a:tcPr marL="45720" marR="45720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A. LSH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Offline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30~60%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해시 1회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E. Hilbert Curve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Offline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20~60%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index 1회</a:t>
                      </a:r>
                    </a:p>
                  </a:txBody>
                  <a:tcPr marL="45720" marR="45720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F. Mini-batch K-means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Offline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75~95%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1~5% 데이터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G. Distance-Shell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Online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25~50%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불필요</a:t>
                      </a:r>
                    </a:p>
                  </a:txBody>
                  <a:tcPr marL="45720" marR="45720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B. KDE-pilot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Online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50~80%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불필요</a:t>
                      </a:r>
                    </a:p>
                  </a:txBody>
                  <a:tcPr marL="45720" marR="45720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H. Importance Sampling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Weight-based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30~70%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515"/>
                          </a:solidFill>
                          <a:latin typeface="Apple SD Gothic Neo"/>
                          <a:ea typeface="Apple SD Gothic Neo"/>
                        </a:rPr>
                        <a:t>불필요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51515"/>
                </a:solidFill>
                <a:latin typeface="Apple SD Gothic Neo"/>
                <a:ea typeface="Apple SD Gothic Neo"/>
              </a:rPr>
              <a:t>Recovery Rate = (방법X − RANDOM20) / (KM20 − RANDOM20).  1.0 = KM20 동등, 0.0 = RANDOM20 동등.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
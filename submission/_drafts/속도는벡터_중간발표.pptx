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194"/>
    <p:restoredTop sz="94643"/>
  </p:normalViewPr>
  <p:slideViewPr>
    <p:cSldViewPr snapToGrid="0" snapToObjects="1">
      <p:cViewPr varScale="1">
        <p:scale>
          <a:sx n="151" d="100"/>
          <a:sy n="151" d="100"/>
        </p:scale>
        <p:origin x="208" y="36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731520" y="777240"/>
            <a:ext cx="164592" cy="164592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005840" y="696548"/>
            <a:ext cx="7315200" cy="32004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dirty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CAPSTONE 2026-1  ·  MIDTERM PRESENTATION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713232"/>
            <a:ext cx="1828800" cy="32004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2026-04-28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515600" cy="228600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36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Exqutor 벡터 카디널리티 추정의 단일 테이블 사각지대와 Skew-Aware Sampling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4206240"/>
            <a:ext cx="54864" cy="5029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4206240"/>
            <a:ext cx="10515600" cy="50292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dirty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Pivot A BERNOULLI </a:t>
            </a:r>
            <a:r>
              <a:rPr sz="1400" b="0" dirty="0" err="1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교체</a:t>
            </a:r>
            <a:r>
              <a:rPr sz="1400" b="0" dirty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 + Pivot C KM20 Stratified — 3 </a:t>
            </a:r>
            <a:r>
              <a:rPr sz="1400" b="0" dirty="0" err="1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데이터셋</a:t>
            </a:r>
            <a:r>
              <a:rPr sz="1400" b="0" dirty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 5-seed CI </a:t>
            </a:r>
            <a:r>
              <a:rPr sz="1400" b="0" dirty="0" err="1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검증</a:t>
            </a:r>
            <a:endParaRPr sz="1400" b="0" dirty="0">
              <a:solidFill>
                <a:srgbClr val="64748B"/>
              </a:solidFill>
              <a:latin typeface="Apple SD Gothic Neo"/>
              <a:ea typeface="Apple SD Gothic Neo"/>
              <a:cs typeface="Apple SD Gothic Neo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731520" y="5394960"/>
            <a:ext cx="10515600" cy="127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31520" y="5577840"/>
            <a:ext cx="7315200" cy="3657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속도는벡터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9144000" cy="27432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박세은 (팀장)  ·  강재현  ·  조현빈  ·  이동욱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355080"/>
            <a:ext cx="9144000" cy="27432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연세대학교 컴퓨터과학과 · 2026-1 캡스톤 디자인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6355080"/>
            <a:ext cx="3931920" cy="27432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지도교수 박광현 · 지도연구원 임채림 석사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31520" y="502920"/>
            <a:ext cx="54864" cy="7772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411480"/>
            <a:ext cx="10515600" cy="54864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Table of Contents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11064240" cy="127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247120" y="6446520"/>
            <a:ext cx="914400" cy="32004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2 / 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08760"/>
            <a:ext cx="777240" cy="64008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1602231"/>
            <a:ext cx="777240" cy="45720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dirty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1609344"/>
            <a:ext cx="3200400" cy="45720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dirty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Problem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0" y="1602231"/>
            <a:ext cx="6858000" cy="45720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벡터 카디널리티 추정의 사각지대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468880"/>
            <a:ext cx="777240" cy="64008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31520" y="2562351"/>
            <a:ext cx="777240" cy="45720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2569464"/>
            <a:ext cx="3200400" cy="45720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Background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60" y="2562351"/>
            <a:ext cx="6858000" cy="45720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Exqutor 의 두 해법과 한계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429000"/>
            <a:ext cx="777240" cy="64008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31520" y="3522471"/>
            <a:ext cx="777240" cy="45720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37360" y="3529584"/>
            <a:ext cx="3200400" cy="45720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Our Approach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37760" y="3522471"/>
            <a:ext cx="6858000" cy="45720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Skew-Aware Sampling 의 차별성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4389120"/>
            <a:ext cx="777240" cy="64008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31520" y="4482591"/>
            <a:ext cx="777240" cy="45720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37360" y="4489704"/>
            <a:ext cx="3200400" cy="45720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Experiments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37760" y="4482591"/>
            <a:ext cx="6858000" cy="45720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RQ1 · RQ2 · RQ3 설계와 결과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5349240"/>
            <a:ext cx="777240" cy="64008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31520" y="5442711"/>
            <a:ext cx="777240" cy="45720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37360" y="5449824"/>
            <a:ext cx="3200400" cy="45720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Plan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37760" y="5442711"/>
            <a:ext cx="6858000" cy="45720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dirty="0" err="1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현재</a:t>
            </a:r>
            <a:r>
              <a:rPr sz="1200" b="0" dirty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 </a:t>
            </a:r>
            <a:r>
              <a:rPr sz="1200" b="0" dirty="0" err="1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진행</a:t>
            </a:r>
            <a:r>
              <a:rPr sz="1200" b="0" dirty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 </a:t>
            </a:r>
            <a:r>
              <a:rPr sz="1200" b="0" dirty="0" err="1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상황</a:t>
            </a:r>
            <a:r>
              <a:rPr sz="1200" b="0" dirty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 </a:t>
            </a:r>
            <a:r>
              <a:rPr sz="1200" b="0" dirty="0" err="1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및</a:t>
            </a:r>
            <a:r>
              <a:rPr sz="1200" b="0" dirty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 </a:t>
            </a:r>
            <a:r>
              <a:rPr sz="1200" b="0" dirty="0" err="1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향후</a:t>
            </a:r>
            <a:r>
              <a:rPr sz="1200" b="0" dirty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 </a:t>
            </a:r>
            <a:r>
              <a:rPr sz="1200" b="0" dirty="0" err="1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계획</a:t>
            </a:r>
            <a:endParaRPr sz="1200" b="0" dirty="0">
              <a:solidFill>
                <a:srgbClr val="64748B"/>
              </a:solidFill>
              <a:latin typeface="Apple SD Gothic Neo"/>
              <a:ea typeface="Apple SD Gothic Neo"/>
              <a:cs typeface="Apple SD Gothic Neo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31520" y="502920"/>
            <a:ext cx="54864" cy="7772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411480"/>
            <a:ext cx="10515600" cy="54864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1. 해결하고자 하는 문제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11064240" cy="127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247120" y="6446520"/>
            <a:ext cx="914400" cy="32004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3 / 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11064240" cy="45720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벡터 조건의 선택도를 시스템마다 "고정 비율"로 추정한다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65960"/>
            <a:ext cx="5029200" cy="32004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기존 시스템 — 고정 비율 추정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331720"/>
            <a:ext cx="5029200" cy="77724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2423160"/>
            <a:ext cx="1828800" cy="3657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pgvector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377440"/>
            <a:ext cx="1280160" cy="50292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33.3%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788920"/>
            <a:ext cx="4572000" cy="27432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PostgreSQL operator default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200400"/>
            <a:ext cx="5029200" cy="77724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77240" y="3291840"/>
            <a:ext cx="1828800" cy="3657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VBASE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68880" y="3246120"/>
            <a:ext cx="1280160" cy="50292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50.0%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657600"/>
            <a:ext cx="4572000" cy="27432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fixed estimator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069079"/>
            <a:ext cx="5029200" cy="77724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77240" y="4160519"/>
            <a:ext cx="1828800" cy="3657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DuckDB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68880" y="4114799"/>
            <a:ext cx="1280160" cy="50292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100%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526279"/>
            <a:ext cx="4572000" cy="27432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scan all rows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0" y="1965960"/>
            <a:ext cx="5760720" cy="32004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D97706"/>
                </a:solidFill>
                <a:latin typeface="Apple SD Gothic Neo"/>
                <a:ea typeface="Apple SD Gothic Neo"/>
                <a:cs typeface="Apple SD Gothic Neo"/>
              </a:rPr>
              <a:t>실제 — 0.001% ~ 90% 의 광범위한 분포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943600" y="2331720"/>
            <a:ext cx="5760720" cy="246888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126480" y="2468880"/>
            <a:ext cx="5486400" cy="3657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dirty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■ </a:t>
            </a:r>
            <a:r>
              <a:rPr sz="1200" b="0" dirty="0" err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실제</a:t>
            </a:r>
            <a:r>
              <a:rPr sz="1200" b="0" dirty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 </a:t>
            </a:r>
            <a:r>
              <a:rPr sz="1200" b="0" dirty="0" err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선택도는</a:t>
            </a:r>
            <a:r>
              <a:rPr sz="1200" b="0" dirty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 query </a:t>
            </a:r>
            <a:r>
              <a:rPr sz="1200" b="0" dirty="0" err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에</a:t>
            </a:r>
            <a:r>
              <a:rPr sz="1200" b="0" dirty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 </a:t>
            </a:r>
            <a:r>
              <a:rPr sz="1200" b="0" dirty="0" err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따라</a:t>
            </a:r>
            <a:r>
              <a:rPr sz="1200" b="0" dirty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 0.001% ~ 90% </a:t>
            </a:r>
            <a:r>
              <a:rPr sz="1200" b="0" dirty="0" err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의</a:t>
            </a:r>
            <a:r>
              <a:rPr sz="1200" b="0" dirty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 </a:t>
            </a:r>
            <a:r>
              <a:rPr sz="1200" b="0" dirty="0" err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광범위한</a:t>
            </a:r>
            <a:r>
              <a:rPr sz="1200" b="0" dirty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 </a:t>
            </a:r>
            <a:r>
              <a:rPr sz="1200" b="0" dirty="0" err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분포</a:t>
            </a:r>
            <a:endParaRPr sz="1200" b="0" dirty="0">
              <a:solidFill>
                <a:srgbClr val="0F172A"/>
              </a:solidFill>
              <a:latin typeface="Apple SD Gothic Neo"/>
              <a:ea typeface="Apple SD Gothic Neo"/>
              <a:cs typeface="Apple SD Gothic Neo"/>
            </a:endParaRPr>
          </a:p>
          <a:p>
            <a:pPr algn="l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dirty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■ </a:t>
            </a:r>
            <a:r>
              <a:rPr sz="1200" b="0" dirty="0" err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옵티마이저가</a:t>
            </a:r>
            <a:r>
              <a:rPr sz="1200" b="0" dirty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 </a:t>
            </a:r>
            <a:r>
              <a:rPr sz="1200" b="0" dirty="0" err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잘못된</a:t>
            </a:r>
            <a:r>
              <a:rPr sz="1200" b="0" dirty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 </a:t>
            </a:r>
            <a:r>
              <a:rPr sz="1200" b="0" dirty="0" err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실행</a:t>
            </a:r>
            <a:r>
              <a:rPr sz="1200" b="0" dirty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 </a:t>
            </a:r>
            <a:r>
              <a:rPr sz="1200" b="0" dirty="0" err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계획</a:t>
            </a:r>
            <a:r>
              <a:rPr sz="1200" b="0" dirty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 </a:t>
            </a:r>
            <a:r>
              <a:rPr sz="1200" b="0" dirty="0" err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선택</a:t>
            </a:r>
            <a:r>
              <a:rPr sz="1200" b="0" dirty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 → nested loop vs hash join, index </a:t>
            </a:r>
            <a:r>
              <a:rPr sz="1200" b="0" dirty="0" err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사용</a:t>
            </a:r>
            <a:r>
              <a:rPr sz="1200" b="0" dirty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 </a:t>
            </a:r>
            <a:r>
              <a:rPr sz="1200" b="0" dirty="0" err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여부</a:t>
            </a:r>
            <a:endParaRPr sz="1200" b="0" dirty="0">
              <a:solidFill>
                <a:srgbClr val="0F172A"/>
              </a:solidFill>
              <a:latin typeface="Apple SD Gothic Neo"/>
              <a:ea typeface="Apple SD Gothic Neo"/>
              <a:cs typeface="Apple SD Gothic Neo"/>
            </a:endParaRPr>
          </a:p>
          <a:p>
            <a:pPr algn="l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0" dirty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■ </a:t>
            </a:r>
            <a:r>
              <a:rPr sz="1200" b="0" dirty="0" err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이미지</a:t>
            </a:r>
            <a:r>
              <a:rPr sz="1200" b="0" dirty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 </a:t>
            </a:r>
            <a:r>
              <a:rPr sz="1200" b="0" dirty="0" err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검색</a:t>
            </a:r>
            <a:r>
              <a:rPr sz="1200" b="0" dirty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 / </a:t>
            </a:r>
            <a:r>
              <a:rPr sz="1200" b="0" dirty="0" err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추천</a:t>
            </a:r>
            <a:r>
              <a:rPr sz="1200" b="0" dirty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 / RAG retrieval </a:t>
            </a:r>
            <a:r>
              <a:rPr sz="1200" b="0" dirty="0" err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등</a:t>
            </a:r>
            <a:r>
              <a:rPr sz="1200" b="0" dirty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 </a:t>
            </a:r>
            <a:r>
              <a:rPr sz="1200" b="0" dirty="0" err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단일</a:t>
            </a:r>
            <a:r>
              <a:rPr sz="1200" b="0" dirty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 </a:t>
            </a:r>
            <a:r>
              <a:rPr sz="1200" b="0" dirty="0" err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테이블</a:t>
            </a:r>
            <a:r>
              <a:rPr sz="1200" b="0" dirty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 vector range query </a:t>
            </a:r>
            <a:r>
              <a:rPr sz="1200" b="0" dirty="0" err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에서</a:t>
            </a:r>
            <a:r>
              <a:rPr sz="1200" b="0" dirty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 </a:t>
            </a:r>
            <a:r>
              <a:rPr sz="1200" b="0" dirty="0" err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빈번</a:t>
            </a:r>
            <a:endParaRPr sz="1200" b="0" dirty="0">
              <a:solidFill>
                <a:srgbClr val="0F172A"/>
              </a:solidFill>
              <a:latin typeface="Apple SD Gothic Neo"/>
              <a:ea typeface="Apple SD Gothic Neo"/>
              <a:cs typeface="Apple SD Gothic Neo"/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548640" y="5074920"/>
            <a:ext cx="11064240" cy="96012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77240" y="5143500"/>
            <a:ext cx="10515600" cy="77724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lnSpc>
                <a:spcPct val="140000"/>
              </a:lnSpc>
            </a:pPr>
            <a:r>
              <a:rPr sz="1400" b="1" dirty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"</a:t>
            </a:r>
            <a:r>
              <a:rPr sz="1400" b="1" dirty="0" err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기술적으로</a:t>
            </a:r>
            <a:r>
              <a:rPr sz="1400" b="1" dirty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 </a:t>
            </a:r>
            <a:r>
              <a:rPr sz="1400" b="1" dirty="0" err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좋은</a:t>
            </a:r>
            <a:r>
              <a:rPr sz="1400" b="1" dirty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 </a:t>
            </a:r>
            <a:r>
              <a:rPr sz="1400" b="1" dirty="0" err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추정</a:t>
            </a:r>
            <a:r>
              <a:rPr sz="1400" b="1" dirty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" vs "</a:t>
            </a:r>
            <a:r>
              <a:rPr sz="1400" b="1" dirty="0" err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실행</a:t>
            </a:r>
            <a:r>
              <a:rPr sz="1400" b="1" dirty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 </a:t>
            </a:r>
            <a:r>
              <a:rPr sz="1400" b="1" dirty="0" err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계획에</a:t>
            </a:r>
            <a:r>
              <a:rPr sz="1400" b="1" dirty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 </a:t>
            </a:r>
            <a:r>
              <a:rPr sz="1400" b="1" dirty="0" err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진짜</a:t>
            </a:r>
            <a:r>
              <a:rPr sz="1400" b="1" dirty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 </a:t>
            </a:r>
            <a:r>
              <a:rPr sz="1400" b="1" dirty="0" err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도움</a:t>
            </a:r>
            <a:r>
              <a:rPr sz="1400" b="1" dirty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 </a:t>
            </a:r>
            <a:r>
              <a:rPr sz="1400" b="1" dirty="0" err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되는</a:t>
            </a:r>
            <a:r>
              <a:rPr sz="1400" b="1" dirty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 </a:t>
            </a:r>
            <a:r>
              <a:rPr sz="1400" b="1" dirty="0" err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추정</a:t>
            </a:r>
            <a:r>
              <a:rPr sz="1400" b="1" dirty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" — </a:t>
            </a:r>
            <a:r>
              <a:rPr sz="1400" b="1" dirty="0" err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이</a:t>
            </a:r>
            <a:r>
              <a:rPr sz="1400" b="1" dirty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 </a:t>
            </a:r>
            <a:r>
              <a:rPr sz="1400" b="1" dirty="0" err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간극을</a:t>
            </a:r>
            <a:r>
              <a:rPr sz="1400" b="1" dirty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 </a:t>
            </a:r>
            <a:r>
              <a:rPr sz="1400" b="1" dirty="0" err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어떻게</a:t>
            </a:r>
            <a:r>
              <a:rPr sz="1400" b="1" dirty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 </a:t>
            </a:r>
            <a:r>
              <a:rPr sz="1400" b="1" dirty="0" err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메울</a:t>
            </a:r>
            <a:r>
              <a:rPr sz="1400" b="1" dirty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 </a:t>
            </a:r>
            <a:r>
              <a:rPr sz="1400" b="1" dirty="0" err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것인가</a:t>
            </a:r>
            <a:r>
              <a:rPr sz="1400" b="1" dirty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31520" y="502920"/>
            <a:ext cx="54864" cy="7772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411480"/>
            <a:ext cx="10515600" cy="54864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2-Ⅰ. 기존 연구의 현황 — Exqutor 의 두 보완책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960120"/>
            <a:ext cx="10972800" cy="32004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arXiv:2512.09695v2 (2024) · 4/3 교수님 미팅에서 본 논문 채택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64240" cy="127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914400" cy="32004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4 / 17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17320"/>
            <a:ext cx="5440680" cy="393192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48640" y="1417320"/>
            <a:ext cx="5440680" cy="4114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1446107"/>
            <a:ext cx="5029200" cy="3657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dirty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ECQO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011680"/>
            <a:ext cx="5029200" cy="3657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HNSW 인덱스가 있을 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468880"/>
            <a:ext cx="5029200" cy="137160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HNSW range query 를 직접 실행해 1~2ms 로 정확 카디널리티 산출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4023360"/>
            <a:ext cx="4983480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77240" y="4114800"/>
            <a:ext cx="4983480" cy="5943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1~2 ms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663440"/>
            <a:ext cx="4983480" cy="3657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정확 카디널리티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417320"/>
            <a:ext cx="5440680" cy="393192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172200" y="1417320"/>
            <a:ext cx="5440680" cy="4114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00800" y="1446107"/>
            <a:ext cx="5029200" cy="3657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Adaptive Sampling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011680"/>
            <a:ext cx="5029200" cy="3657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인덱스가 없을 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2468880"/>
            <a:ext cx="5029200" cy="137160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모멘텀 기반 동적 샘플링 — sample size 를 점진 확장하며 분산 수렴 판정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0" y="4023360"/>
            <a:ext cx="4983480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00800" y="4114800"/>
            <a:ext cx="4983480" cy="5943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1000×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4663440"/>
            <a:ext cx="4983480" cy="3657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pgvector 대비 최대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5577840"/>
            <a:ext cx="11064240" cy="59436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77240" y="5634059"/>
            <a:ext cx="10515600" cy="45720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dirty="0">
                <a:solidFill>
                  <a:srgbClr val="3B82F6"/>
                </a:solidFill>
                <a:latin typeface="Apple SD Gothic Neo"/>
                <a:ea typeface="Apple SD Gothic Neo"/>
                <a:cs typeface="Apple SD Gothic Neo"/>
              </a:rPr>
              <a:t>→  </a:t>
            </a:r>
            <a:r>
              <a:rPr sz="1200" b="1" dirty="0" err="1">
                <a:solidFill>
                  <a:srgbClr val="3B82F6"/>
                </a:solidFill>
                <a:latin typeface="Apple SD Gothic Neo"/>
                <a:ea typeface="Apple SD Gothic Neo"/>
                <a:cs typeface="Apple SD Gothic Neo"/>
              </a:rPr>
              <a:t>pgvector</a:t>
            </a:r>
            <a:r>
              <a:rPr sz="1200" b="1" dirty="0">
                <a:solidFill>
                  <a:srgbClr val="3B82F6"/>
                </a:solidFill>
                <a:latin typeface="Apple SD Gothic Neo"/>
                <a:ea typeface="Apple SD Gothic Neo"/>
                <a:cs typeface="Apple SD Gothic Neo"/>
              </a:rPr>
              <a:t> 1000×, VBASE 10000×, </a:t>
            </a:r>
            <a:r>
              <a:rPr sz="1200" b="1" dirty="0" err="1">
                <a:solidFill>
                  <a:srgbClr val="3B82F6"/>
                </a:solidFill>
                <a:latin typeface="Apple SD Gothic Neo"/>
                <a:ea typeface="Apple SD Gothic Neo"/>
                <a:cs typeface="Apple SD Gothic Neo"/>
              </a:rPr>
              <a:t>DuckDB</a:t>
            </a:r>
            <a:r>
              <a:rPr sz="1200" b="1" dirty="0">
                <a:solidFill>
                  <a:srgbClr val="3B82F6"/>
                </a:solidFill>
                <a:latin typeface="Apple SD Gothic Neo"/>
                <a:ea typeface="Apple SD Gothic Neo"/>
                <a:cs typeface="Apple SD Gothic Neo"/>
              </a:rPr>
              <a:t> 1.5~37× </a:t>
            </a:r>
            <a:r>
              <a:rPr sz="1200" b="1" dirty="0" err="1">
                <a:solidFill>
                  <a:srgbClr val="3B82F6"/>
                </a:solidFill>
                <a:latin typeface="Apple SD Gothic Neo"/>
                <a:ea typeface="Apple SD Gothic Neo"/>
                <a:cs typeface="Apple SD Gothic Neo"/>
              </a:rPr>
              <a:t>성능</a:t>
            </a:r>
            <a:r>
              <a:rPr sz="1200" b="1" dirty="0">
                <a:solidFill>
                  <a:srgbClr val="3B82F6"/>
                </a:solidFill>
                <a:latin typeface="Apple SD Gothic Neo"/>
                <a:ea typeface="Apple SD Gothic Neo"/>
                <a:cs typeface="Apple SD Gothic Neo"/>
              </a:rPr>
              <a:t> </a:t>
            </a:r>
            <a:r>
              <a:rPr sz="1200" b="1" dirty="0" err="1">
                <a:solidFill>
                  <a:srgbClr val="3B82F6"/>
                </a:solidFill>
                <a:latin typeface="Apple SD Gothic Neo"/>
                <a:ea typeface="Apple SD Gothic Neo"/>
                <a:cs typeface="Apple SD Gothic Neo"/>
              </a:rPr>
              <a:t>향상</a:t>
            </a:r>
            <a:r>
              <a:rPr sz="1200" b="1" dirty="0">
                <a:solidFill>
                  <a:srgbClr val="3B82F6"/>
                </a:solidFill>
                <a:latin typeface="Apple SD Gothic Neo"/>
                <a:ea typeface="Apple SD Gothic Neo"/>
                <a:cs typeface="Apple SD Gothic Neo"/>
              </a:rPr>
              <a:t> (</a:t>
            </a:r>
            <a:r>
              <a:rPr sz="1200" b="1" dirty="0" err="1">
                <a:solidFill>
                  <a:srgbClr val="3B82F6"/>
                </a:solidFill>
                <a:latin typeface="Apple SD Gothic Neo"/>
                <a:ea typeface="Apple SD Gothic Neo"/>
                <a:cs typeface="Apple SD Gothic Neo"/>
              </a:rPr>
              <a:t>논문</a:t>
            </a:r>
            <a:r>
              <a:rPr sz="1200" b="1" dirty="0">
                <a:solidFill>
                  <a:srgbClr val="3B82F6"/>
                </a:solidFill>
                <a:latin typeface="Apple SD Gothic Neo"/>
                <a:ea typeface="Apple SD Gothic Neo"/>
                <a:cs typeface="Apple SD Gothic Neo"/>
              </a:rPr>
              <a:t> </a:t>
            </a:r>
            <a:r>
              <a:rPr sz="1200" b="1" dirty="0" err="1">
                <a:solidFill>
                  <a:srgbClr val="3B82F6"/>
                </a:solidFill>
                <a:latin typeface="Apple SD Gothic Neo"/>
                <a:ea typeface="Apple SD Gothic Neo"/>
                <a:cs typeface="Apple SD Gothic Neo"/>
              </a:rPr>
              <a:t>보고</a:t>
            </a:r>
            <a:r>
              <a:rPr sz="1200" b="1" dirty="0">
                <a:solidFill>
                  <a:srgbClr val="3B82F6"/>
                </a:solidFill>
                <a:latin typeface="Apple SD Gothic Neo"/>
                <a:ea typeface="Apple SD Gothic Neo"/>
                <a:cs typeface="Apple SD Gothic Neo"/>
              </a:rPr>
              <a:t>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31520" y="502920"/>
            <a:ext cx="54864" cy="7772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411480"/>
            <a:ext cx="10515600" cy="54864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2-Ⅱ. Adaptive Sampling 의 한계 — 사각지대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960120"/>
            <a:ext cx="10972800" cy="32004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본 팀 4/14 소스 검증으로 첫 정량 확인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64240" cy="127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914400" cy="32004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5 / 17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17320"/>
            <a:ext cx="5120640" cy="114300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48640" y="1417320"/>
            <a:ext cx="411480" cy="1143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40" y="1783080"/>
            <a:ext cx="411480" cy="45720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#1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1508760"/>
            <a:ext cx="4572000" cy="32004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Hook Trigger 사각지대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1801368"/>
            <a:ext cx="4572000" cy="292608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D97706"/>
                </a:solidFill>
                <a:latin typeface="Menlo"/>
                <a:ea typeface="Menlo"/>
                <a:cs typeface="Menlo"/>
              </a:rPr>
              <a:t>vector.c L243 · if (table_count &gt; 2)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075688"/>
            <a:ext cx="4572000" cy="50292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단일 테이블 vector range query 가 hook 경로에서 배제 → 모든 query 가 PG default selectivity 1/3 로 fall-through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697480"/>
            <a:ext cx="5120640" cy="114300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48640" y="2697480"/>
            <a:ext cx="411480" cy="1143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48640" y="3063240"/>
            <a:ext cx="411480" cy="45720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#2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2788920"/>
            <a:ext cx="4572000" cy="32004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Plan Replacement 부작용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3081528"/>
            <a:ext cx="4572000" cy="292608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D97706"/>
                </a:solidFill>
                <a:latin typeface="Menlo"/>
                <a:ea typeface="Menlo"/>
                <a:cs typeface="Menlo"/>
              </a:rPr>
              <a:t>hook 우회 시 outer query plan-tree → Sample Scan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3355848"/>
            <a:ext cx="4572000" cy="50292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true=100,000 query 의 SELECT count(*) 가 sample 안 부분 카운트 32 로 격하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977639"/>
            <a:ext cx="5120640" cy="114300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548640" y="3977639"/>
            <a:ext cx="411480" cy="1143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48640" y="4343399"/>
            <a:ext cx="411480" cy="45720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#3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" y="4069079"/>
            <a:ext cx="4572000" cy="32004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Skew 지표 8 종 전수 negative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" y="4361687"/>
            <a:ext cx="4572000" cy="292608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D97706"/>
                </a:solidFill>
                <a:latin typeface="Menlo"/>
                <a:ea typeface="Menlo"/>
                <a:cs typeface="Menlo"/>
              </a:rPr>
              <a:t>Phase 1·5 — 글로벌 4 + 로컬 4 = 8 지표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" y="4636007"/>
            <a:ext cx="4572000" cy="50292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Fisher γ, k-NN entropy, PCA EVR1 등 모든 지표 vs Q-error · Spearman |ρ| &lt; 0.2 (4 지표 × 6 selectivity = 24 조합)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52160" y="1371600"/>
            <a:ext cx="5852160" cy="32004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vector.c — Hook Trigger 사각지대 (line 243)</a:t>
            </a:r>
          </a:p>
        </p:txBody>
      </p:sp>
      <p:pic>
        <p:nvPicPr>
          <p:cNvPr id="26" name="Picture 25" descr="slide6_vector_c_snipp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86128" y="1737360"/>
            <a:ext cx="4138502" cy="246888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852160" y="4251960"/>
            <a:ext cx="5806440" cy="22860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vector.c L243 — table_count &gt; 2 hook trigger 사각지대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5577840"/>
            <a:ext cx="11064240" cy="594360"/>
          </a:xfrm>
          <a:prstGeom prst="roundRect">
            <a:avLst>
              <a:gd name="adj" fmla="val 8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77240" y="5634059"/>
            <a:ext cx="10515600" cy="45720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dirty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★  </a:t>
            </a:r>
            <a:r>
              <a:rPr sz="1200" b="1" dirty="0" err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단일</a:t>
            </a:r>
            <a:r>
              <a:rPr sz="1200" b="1" dirty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 </a:t>
            </a:r>
            <a:r>
              <a:rPr sz="1200" b="1" dirty="0" err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테이블</a:t>
            </a:r>
            <a:r>
              <a:rPr sz="1200" b="1" dirty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 vector range query (</a:t>
            </a:r>
            <a:r>
              <a:rPr sz="1200" b="1" dirty="0" err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이미지</a:t>
            </a:r>
            <a:r>
              <a:rPr sz="1200" b="1" dirty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 </a:t>
            </a:r>
            <a:r>
              <a:rPr sz="1200" b="1" dirty="0" err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검색·추천·RAG</a:t>
            </a:r>
            <a:r>
              <a:rPr sz="1200" b="1" dirty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) </a:t>
            </a:r>
            <a:r>
              <a:rPr sz="1200" b="1" dirty="0" err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는</a:t>
            </a:r>
            <a:r>
              <a:rPr sz="1200" b="1" dirty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 </a:t>
            </a:r>
            <a:r>
              <a:rPr sz="1200" b="1" dirty="0" err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Exqutor</a:t>
            </a:r>
            <a:r>
              <a:rPr sz="1200" b="1" dirty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 </a:t>
            </a:r>
            <a:r>
              <a:rPr sz="1200" b="1" dirty="0" err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가</a:t>
            </a:r>
            <a:r>
              <a:rPr sz="1200" b="1" dirty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 **</a:t>
            </a:r>
            <a:r>
              <a:rPr sz="1200" b="1" dirty="0" err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명시적으로</a:t>
            </a:r>
            <a:r>
              <a:rPr sz="1200" b="1" dirty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 </a:t>
            </a:r>
            <a:r>
              <a:rPr sz="1200" b="1" dirty="0" err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배제한</a:t>
            </a:r>
            <a:r>
              <a:rPr sz="1200" b="1" dirty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** </a:t>
            </a:r>
            <a:r>
              <a:rPr sz="1200" b="1" dirty="0" err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사각지대</a:t>
            </a:r>
            <a:endParaRPr sz="1200" b="1" dirty="0">
              <a:solidFill>
                <a:srgbClr val="FFFFFF"/>
              </a:solidFill>
              <a:latin typeface="Apple SD Gothic Neo"/>
              <a:ea typeface="Apple SD Gothic Neo"/>
              <a:cs typeface="Apple SD Gothic Neo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31520" y="502920"/>
            <a:ext cx="54864" cy="7772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411480"/>
            <a:ext cx="10515600" cy="54864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3. 차별성 및 제안 연구의 중요성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960120"/>
            <a:ext cx="10972800" cy="32004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Skew-Aware Sampling — 분포 정보를 사용한 두 단계 보강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64240" cy="127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914400" cy="32004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6 / 17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17320"/>
            <a:ext cx="5440680" cy="219456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48640" y="1417320"/>
            <a:ext cx="164592" cy="219456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14400" y="1490472"/>
            <a:ext cx="2286000" cy="3657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3B82F6"/>
                </a:solidFill>
                <a:latin typeface="Apple SD Gothic Neo"/>
                <a:ea typeface="Apple SD Gothic Neo"/>
                <a:cs typeface="Apple SD Gothic Neo"/>
              </a:rPr>
              <a:t>Pivot 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1801368"/>
            <a:ext cx="4937760" cy="45720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Block-bias 제거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258568"/>
            <a:ext cx="4937760" cy="6400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vector.c L889 의 TABLESAMPLE SYSTEM(%f) → BERNOULLI(%f) 한 줄 교체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880360"/>
            <a:ext cx="4937760" cy="27432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fair baseline 도구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108960"/>
            <a:ext cx="2286000" cy="45720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+9.6%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46120" y="3200400"/>
            <a:ext cx="2651760" cy="3657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s=0.500, p&lt;0.001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417320"/>
            <a:ext cx="5440680" cy="219456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172200" y="1417320"/>
            <a:ext cx="164592" cy="219456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537960" y="1490472"/>
            <a:ext cx="2286000" cy="3657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3B82F6"/>
                </a:solidFill>
                <a:latin typeface="Apple SD Gothic Neo"/>
                <a:ea typeface="Apple SD Gothic Neo"/>
                <a:cs typeface="Apple SD Gothic Neo"/>
              </a:rPr>
              <a:t>Pivot 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60" y="1801368"/>
            <a:ext cx="4937760" cy="45720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Data-side k-means K=20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7960" y="2258568"/>
            <a:ext cx="4937760" cy="6400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vector.c +228 줄 native 구현 — stratum_id 사전 부여 + Horvitz-Thompson 가중 추정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7960" y="2880360"/>
            <a:ext cx="4937760" cy="27432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공간 인식 sampling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37960" y="3108960"/>
            <a:ext cx="2286000" cy="45720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+1.64%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69680" y="3200400"/>
            <a:ext cx="2651760" cy="3657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DEEP 1M, 5-seed CI [+1.11, +2.18]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3749039"/>
            <a:ext cx="11064240" cy="50292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77240" y="3776472"/>
            <a:ext cx="10515600" cy="45720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3B82F6"/>
                </a:solidFill>
                <a:latin typeface="Apple SD Gothic Neo"/>
                <a:ea typeface="Apple SD Gothic Neo"/>
                <a:cs typeface="Apple SD Gothic Neo"/>
              </a:rPr>
              <a:t>✦  두 Pivot 은 직교적 — SYSTEM × BERNOULLI × STRATIFIED 의 ablation matrix 로 각 기여 분리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4526280"/>
            <a:ext cx="4206240" cy="32004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본 연구의 핵심 기여</a:t>
            </a:r>
          </a:p>
        </p:txBody>
      </p:sp>
      <p:sp>
        <p:nvSpPr>
          <p:cNvPr id="26" name="Oval 25"/>
          <p:cNvSpPr/>
          <p:nvPr/>
        </p:nvSpPr>
        <p:spPr>
          <a:xfrm>
            <a:off x="640080" y="4974336"/>
            <a:ext cx="118872" cy="118872"/>
          </a:xfrm>
          <a:prstGeom prst="ellipse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86384" y="4826174"/>
            <a:ext cx="4023360" cy="4114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dirty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RQ1: 8 </a:t>
            </a:r>
            <a:r>
              <a:rPr sz="900" b="0" dirty="0" err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지표</a:t>
            </a:r>
            <a:r>
              <a:rPr sz="900" b="0" dirty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 negative </a:t>
            </a:r>
            <a:r>
              <a:rPr sz="900" b="0" dirty="0" err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로</a:t>
            </a:r>
            <a:r>
              <a:rPr sz="900" b="0" dirty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 query-side feature </a:t>
            </a:r>
            <a:r>
              <a:rPr sz="900" b="0" dirty="0" err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의</a:t>
            </a:r>
            <a:r>
              <a:rPr sz="900" b="0" dirty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 </a:t>
            </a:r>
            <a:r>
              <a:rPr sz="900" b="0" dirty="0" err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사전</a:t>
            </a:r>
            <a:r>
              <a:rPr sz="900" b="0" dirty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 layer </a:t>
            </a:r>
            <a:r>
              <a:rPr sz="900" b="0" dirty="0" err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정의</a:t>
            </a:r>
            <a:r>
              <a:rPr sz="900" b="0" dirty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 </a:t>
            </a:r>
            <a:r>
              <a:rPr sz="900" b="0" dirty="0" err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불가능성을</a:t>
            </a:r>
            <a:r>
              <a:rPr sz="900" b="0" dirty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 </a:t>
            </a:r>
            <a:r>
              <a:rPr sz="900" b="0" dirty="0" err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정량</a:t>
            </a:r>
            <a:r>
              <a:rPr sz="900" b="0" dirty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 </a:t>
            </a:r>
            <a:r>
              <a:rPr sz="900" b="0" dirty="0" err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증명</a:t>
            </a:r>
            <a:endParaRPr sz="900" b="0" dirty="0">
              <a:solidFill>
                <a:srgbClr val="0F172A"/>
              </a:solidFill>
              <a:latin typeface="Apple SD Gothic Neo"/>
              <a:ea typeface="Apple SD Gothic Neo"/>
              <a:cs typeface="Apple SD Gothic Neo"/>
            </a:endParaRPr>
          </a:p>
        </p:txBody>
      </p:sp>
      <p:sp>
        <p:nvSpPr>
          <p:cNvPr id="28" name="Oval 27"/>
          <p:cNvSpPr/>
          <p:nvPr/>
        </p:nvSpPr>
        <p:spPr>
          <a:xfrm>
            <a:off x="640080" y="5431536"/>
            <a:ext cx="118872" cy="118872"/>
          </a:xfrm>
          <a:prstGeom prst="ellipse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86384" y="5283374"/>
            <a:ext cx="4023360" cy="4114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dirty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RQ2: KM20 stratified </a:t>
            </a:r>
            <a:r>
              <a:rPr sz="900" b="0" dirty="0" err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가</a:t>
            </a:r>
            <a:r>
              <a:rPr sz="900" b="0" dirty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 BERNOULLI </a:t>
            </a:r>
            <a:r>
              <a:rPr sz="900" b="0" dirty="0" err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위에서</a:t>
            </a:r>
            <a:r>
              <a:rPr sz="900" b="0" dirty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 </a:t>
            </a:r>
            <a:r>
              <a:rPr sz="900" b="0" dirty="0" err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추가</a:t>
            </a:r>
            <a:r>
              <a:rPr sz="900" b="0" dirty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 </a:t>
            </a:r>
            <a:r>
              <a:rPr sz="900" b="0" dirty="0" err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개선</a:t>
            </a:r>
            <a:r>
              <a:rPr sz="900" b="0" dirty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 — 5-seed CI </a:t>
            </a:r>
            <a:r>
              <a:rPr sz="900" b="0" dirty="0" err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하한</a:t>
            </a:r>
            <a:r>
              <a:rPr sz="900" b="0" dirty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 </a:t>
            </a:r>
            <a:r>
              <a:rPr sz="900" b="0" dirty="0" err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양수</a:t>
            </a:r>
            <a:endParaRPr sz="900" b="0" dirty="0">
              <a:solidFill>
                <a:srgbClr val="0F172A"/>
              </a:solidFill>
              <a:latin typeface="Apple SD Gothic Neo"/>
              <a:ea typeface="Apple SD Gothic Neo"/>
              <a:cs typeface="Apple SD Gothic Neo"/>
            </a:endParaRPr>
          </a:p>
        </p:txBody>
      </p:sp>
      <p:sp>
        <p:nvSpPr>
          <p:cNvPr id="30" name="Oval 29"/>
          <p:cNvSpPr/>
          <p:nvPr/>
        </p:nvSpPr>
        <p:spPr>
          <a:xfrm>
            <a:off x="640080" y="5888736"/>
            <a:ext cx="118872" cy="118872"/>
          </a:xfrm>
          <a:prstGeom prst="ellipse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86384" y="5837937"/>
            <a:ext cx="4315966" cy="206595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dirty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RQ3 </a:t>
            </a:r>
            <a:r>
              <a:rPr sz="900" b="0" dirty="0" err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설계</a:t>
            </a:r>
            <a:r>
              <a:rPr sz="900" b="0" dirty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: </a:t>
            </a:r>
            <a:r>
              <a:rPr sz="900" b="0" dirty="0" err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분포</a:t>
            </a:r>
            <a:r>
              <a:rPr sz="900" b="0" dirty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 </a:t>
            </a:r>
            <a:r>
              <a:rPr sz="900" b="0" dirty="0" err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미지</a:t>
            </a:r>
            <a:r>
              <a:rPr sz="900" b="0" dirty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 </a:t>
            </a:r>
            <a:r>
              <a:rPr sz="900" b="0" dirty="0" err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시</a:t>
            </a:r>
            <a:r>
              <a:rPr sz="900" b="0" dirty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 KM20 </a:t>
            </a:r>
            <a:r>
              <a:rPr sz="900" b="0" dirty="0" err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의</a:t>
            </a:r>
            <a:r>
              <a:rPr sz="900" b="0" dirty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 "</a:t>
            </a:r>
            <a:r>
              <a:rPr sz="900" b="0" dirty="0" err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공간</a:t>
            </a:r>
            <a:r>
              <a:rPr sz="900" b="0" dirty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 </a:t>
            </a:r>
            <a:r>
              <a:rPr sz="900" b="0" dirty="0" err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인식</a:t>
            </a:r>
            <a:r>
              <a:rPr sz="900" b="0" dirty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 </a:t>
            </a:r>
            <a:r>
              <a:rPr sz="900" b="0" dirty="0" err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효과</a:t>
            </a:r>
            <a:r>
              <a:rPr sz="900" b="0" dirty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" </a:t>
            </a:r>
            <a:r>
              <a:rPr sz="900" b="0" dirty="0" err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를</a:t>
            </a:r>
            <a:r>
              <a:rPr sz="900" b="0" dirty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 Recovery Rate </a:t>
            </a:r>
            <a:r>
              <a:rPr sz="900" b="0" dirty="0" err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프레임워크로</a:t>
            </a:r>
            <a:r>
              <a:rPr sz="900" b="0" dirty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 </a:t>
            </a:r>
            <a:r>
              <a:rPr sz="900" b="0" dirty="0" err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측정</a:t>
            </a:r>
            <a:endParaRPr lang="en-US" sz="900" b="0" dirty="0">
              <a:solidFill>
                <a:srgbClr val="0F172A"/>
              </a:solidFill>
              <a:latin typeface="Apple SD Gothic Neo"/>
              <a:ea typeface="Apple SD Gothic Neo"/>
              <a:cs typeface="Apple SD Gothic Neo"/>
            </a:endParaRPr>
          </a:p>
        </p:txBody>
      </p:sp>
      <p:pic>
        <p:nvPicPr>
          <p:cNvPr id="32" name="Picture 31" descr="figure_9_two_level_decompo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29760" y="4526280"/>
            <a:ext cx="4491119" cy="192024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4937760" y="6492240"/>
            <a:ext cx="6675120" cy="22860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Two-Level Decomposition — Level 1 (비례) + Level 2 (공간 인식) 분해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31520" y="502920"/>
            <a:ext cx="54864" cy="7772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411480"/>
            <a:ext cx="10515600" cy="54864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4-Ⅰ. RQ1 — Skew 지표는 Q-error 를 예측하지 못한다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960120"/>
            <a:ext cx="10972800" cy="32004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Phase 1 (글로벌) + Phase 5 (로컬) = 8 지표 전수 검증, 총 3000 측정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64240" cy="127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914400" cy="32004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7 /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5029200" cy="32004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실험 셋업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73352"/>
            <a:ext cx="1280160" cy="32004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데이터셋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20240" y="1655064"/>
            <a:ext cx="3657600" cy="32004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DEEP 1M subset · 96d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057400"/>
            <a:ext cx="1280160" cy="32004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쿼리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20240" y="2039112"/>
            <a:ext cx="3657600" cy="32004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100 query × 6 selectivity × 5 seed = 3000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441448"/>
            <a:ext cx="1280160" cy="32004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지표 (글로벌)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2423160"/>
            <a:ext cx="3657600" cy="32004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Fisher γ, log-Fisher γ, P99/P50 tail ratio, Bowley skew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2825496"/>
            <a:ext cx="1280160" cy="32004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지표 (로컬)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20240" y="2807208"/>
            <a:ext cx="3657600" cy="32004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k-NN entropy, PCA EVR1, KDE modality, NN clustering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3246120"/>
            <a:ext cx="5029200" cy="32004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55000"/>
              </a:lnSpc>
              <a:spcBef>
                <a:spcPts val="300"/>
              </a:spcBef>
              <a:spcAft>
                <a:spcPts val="300"/>
              </a:spcAft>
            </a:pPr>
            <a:r>
              <a:rPr sz="11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주요 발견 (Phase 1 + Phase 5)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566160"/>
            <a:ext cx="5074920" cy="182880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85800" y="3657600"/>
            <a:ext cx="4800600" cy="3657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</a:pPr>
            <a:r>
              <a:rPr sz="1000" b="0" dirty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①  12 </a:t>
            </a:r>
            <a:r>
              <a:rPr sz="1000" b="0" dirty="0" err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조합</a:t>
            </a:r>
            <a:r>
              <a:rPr sz="1000" b="0" dirty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 </a:t>
            </a:r>
            <a:r>
              <a:rPr sz="1000" b="0" dirty="0" err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모두</a:t>
            </a:r>
            <a:r>
              <a:rPr sz="1000" b="0" dirty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 Q-error ratio ≈ 1.0 (skewed/non-skewed </a:t>
            </a:r>
            <a:r>
              <a:rPr sz="1000" b="0" dirty="0" err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그룹</a:t>
            </a:r>
            <a:r>
              <a:rPr sz="1000" b="0" dirty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 </a:t>
            </a:r>
            <a:r>
              <a:rPr sz="1000" b="0" dirty="0" err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차이</a:t>
            </a:r>
            <a:r>
              <a:rPr sz="1000" b="0" dirty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 </a:t>
            </a:r>
            <a:r>
              <a:rPr sz="1000" b="0" dirty="0" err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없음</a:t>
            </a:r>
            <a:r>
              <a:rPr sz="1000" b="0" dirty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)</a:t>
            </a:r>
          </a:p>
          <a:p>
            <a:pPr algn="l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</a:pPr>
            <a:r>
              <a:rPr sz="1000" b="0" dirty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②  </a:t>
            </a:r>
            <a:r>
              <a:rPr sz="1000" b="0" dirty="0" err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글로벌</a:t>
            </a:r>
            <a:r>
              <a:rPr sz="1000" b="0" dirty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 24 + </a:t>
            </a:r>
            <a:r>
              <a:rPr sz="1000" b="0" dirty="0" err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로컬</a:t>
            </a:r>
            <a:r>
              <a:rPr sz="1000" b="0" dirty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 24 = 48 </a:t>
            </a:r>
            <a:r>
              <a:rPr sz="1000" b="0" dirty="0" err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조합</a:t>
            </a:r>
            <a:r>
              <a:rPr sz="1000" b="0" dirty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 </a:t>
            </a:r>
            <a:r>
              <a:rPr sz="1000" b="0" dirty="0" err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모두</a:t>
            </a:r>
            <a:r>
              <a:rPr sz="1000" b="0" dirty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 Spearman |</a:t>
            </a:r>
            <a:r>
              <a:rPr sz="1000" b="0" dirty="0" err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ρ</a:t>
            </a:r>
            <a:r>
              <a:rPr sz="1000" b="0" dirty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| &lt; 0.2 (Cohen 1988 small-effect </a:t>
            </a:r>
            <a:r>
              <a:rPr sz="1000" b="0" dirty="0" err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미달</a:t>
            </a:r>
            <a:r>
              <a:rPr sz="1000" b="0" dirty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)</a:t>
            </a:r>
          </a:p>
          <a:p>
            <a:pPr algn="l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</a:pPr>
            <a:r>
              <a:rPr sz="1000" b="0" dirty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③  100 query </a:t>
            </a:r>
            <a:r>
              <a:rPr sz="1000" b="0" dirty="0" err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전부</a:t>
            </a:r>
            <a:r>
              <a:rPr sz="1000" b="0" dirty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 Fisher </a:t>
            </a:r>
            <a:r>
              <a:rPr sz="1000" b="0" dirty="0" err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γ</a:t>
            </a:r>
            <a:r>
              <a:rPr sz="1000" b="0" dirty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 &lt; 0 (left-skewed) — </a:t>
            </a:r>
            <a:r>
              <a:rPr sz="1000" b="0" dirty="0" err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고차원</a:t>
            </a:r>
            <a:r>
              <a:rPr sz="1000" b="0" dirty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 </a:t>
            </a:r>
            <a:r>
              <a:rPr sz="1000" b="0" dirty="0" err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거리</a:t>
            </a:r>
            <a:r>
              <a:rPr sz="1000" b="0" dirty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 </a:t>
            </a:r>
            <a:r>
              <a:rPr sz="1000" b="0" dirty="0" err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집중</a:t>
            </a:r>
            <a:r>
              <a:rPr sz="1000" b="0" dirty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 </a:t>
            </a:r>
            <a:r>
              <a:rPr sz="1000" b="0" dirty="0" err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현상</a:t>
            </a:r>
            <a:endParaRPr sz="1000" b="0" dirty="0">
              <a:solidFill>
                <a:srgbClr val="0F172A"/>
              </a:solidFill>
              <a:latin typeface="Apple SD Gothic Neo"/>
              <a:ea typeface="Apple SD Gothic Neo"/>
              <a:cs typeface="Apple SD Gothic Neo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5852160" y="1325880"/>
            <a:ext cx="5852160" cy="32004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Phase 5 Local Skew × Selectivity Spearman ρ</a:t>
            </a:r>
          </a:p>
        </p:txBody>
      </p:sp>
      <p:pic>
        <p:nvPicPr>
          <p:cNvPr id="20" name="Picture 19" descr="figure_6_phase5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1847344"/>
            <a:ext cx="5806440" cy="211175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852160" y="4160520"/>
            <a:ext cx="5806440" cy="22860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Phase 5 — 로컬 4 지표 × 6 selectivity = 24 조합 모두 |ρ| &lt; 0.2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623560"/>
            <a:ext cx="11064240" cy="502920"/>
          </a:xfrm>
          <a:prstGeom prst="roundRect">
            <a:avLst>
              <a:gd name="adj" fmla="val 8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77240" y="5687568"/>
            <a:ext cx="10515600" cy="3657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→  고차원 벡터에서 query-side feature 로 layer 를 사전 정의하는 것은 불가능 — 본 연구의 Motivation 첫 줄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31520" y="502920"/>
            <a:ext cx="54864" cy="7772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411480"/>
            <a:ext cx="10515600" cy="54864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4-Ⅱ. RQ2 (1) — BERNOULLI 가 SYSTEM 의 block-bias 를 제거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960120"/>
            <a:ext cx="10972800" cy="32004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100 query × 6 selectivity × 1 seed × 2 mode = 1200 측정 · paired Wilcoxon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64240" cy="127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914400" cy="32004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8 / 17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36892202"/>
              </p:ext>
            </p:extLst>
          </p:nvPr>
        </p:nvGraphicFramePr>
        <p:xfrm>
          <a:off x="548640" y="1417320"/>
          <a:ext cx="6217920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7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55309">
                <a:tc>
                  <a:txBody>
                    <a:bodyPr/>
                    <a:lstStyle/>
                    <a:p>
                      <a:pPr algn="ctr"/>
                      <a:r>
                        <a:rPr sz="1000" b="1" dirty="0">
                          <a:solidFill>
                            <a:srgbClr val="FFFFFF"/>
                          </a:solidFill>
                          <a:latin typeface="Apple SD Gothic Neo"/>
                        </a:rPr>
                        <a:t>selectivity</a:t>
                      </a:r>
                    </a:p>
                  </a:txBody>
                  <a:tcPr marT="93600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pple SD Gothic Neo"/>
                        </a:rPr>
                        <a:t>SYS median</a:t>
                      </a:r>
                    </a:p>
                  </a:txBody>
                  <a:tcPr marT="93600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pple SD Gothic Neo"/>
                        </a:rPr>
                        <a:t>BERN median</a:t>
                      </a:r>
                    </a:p>
                  </a:txBody>
                  <a:tcPr marT="93600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pple SD Gothic Neo"/>
                        </a:rPr>
                        <a:t>diff%</a:t>
                      </a:r>
                    </a:p>
                  </a:txBody>
                  <a:tcPr marT="93600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pple SD Gothic Neo"/>
                        </a:rPr>
                        <a:t>p-value</a:t>
                      </a:r>
                    </a:p>
                  </a:txBody>
                  <a:tcPr marT="93600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pple SD Gothic Neo"/>
                        </a:rPr>
                        <a:t>유의</a:t>
                      </a:r>
                    </a:p>
                  </a:txBody>
                  <a:tcPr marT="93600">
                    <a:solidFill>
                      <a:srgbClr val="2563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5309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F172A"/>
                          </a:solidFill>
                          <a:latin typeface="Apple SD Gothic Neo"/>
                        </a:rPr>
                        <a:t>0.001</a:t>
                      </a:r>
                    </a:p>
                  </a:txBody>
                  <a:tcPr marT="9360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0F172A"/>
                          </a:solidFill>
                          <a:latin typeface="Apple SD Gothic Neo"/>
                        </a:rPr>
                        <a:t>2.597</a:t>
                      </a:r>
                    </a:p>
                  </a:txBody>
                  <a:tcPr marT="9360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0F172A"/>
                          </a:solidFill>
                          <a:latin typeface="Apple SD Gothic Neo"/>
                        </a:rPr>
                        <a:t>2.597</a:t>
                      </a:r>
                    </a:p>
                  </a:txBody>
                  <a:tcPr marT="9360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F172A"/>
                          </a:solidFill>
                          <a:latin typeface="Apple SD Gothic Neo"/>
                        </a:rPr>
                        <a:t>+0.0</a:t>
                      </a:r>
                    </a:p>
                  </a:txBody>
                  <a:tcPr marT="9360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F172A"/>
                          </a:solidFill>
                          <a:latin typeface="Apple SD Gothic Neo"/>
                        </a:rPr>
                        <a:t>0.596</a:t>
                      </a:r>
                    </a:p>
                  </a:txBody>
                  <a:tcPr marT="9360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F172A"/>
                          </a:solidFill>
                          <a:latin typeface="Apple SD Gothic Neo"/>
                        </a:rPr>
                        <a:t>—</a:t>
                      </a:r>
                    </a:p>
                  </a:txBody>
                  <a:tcPr marT="93600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5309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F172A"/>
                          </a:solidFill>
                          <a:latin typeface="Apple SD Gothic Neo"/>
                        </a:rPr>
                        <a:t>0.010</a:t>
                      </a:r>
                    </a:p>
                  </a:txBody>
                  <a:tcPr marT="936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F172A"/>
                          </a:solidFill>
                          <a:latin typeface="Apple SD Gothic Neo"/>
                        </a:rPr>
                        <a:t>1.558</a:t>
                      </a:r>
                    </a:p>
                  </a:txBody>
                  <a:tcPr marT="936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0F172A"/>
                          </a:solidFill>
                          <a:latin typeface="Apple SD Gothic Neo"/>
                        </a:rPr>
                        <a:t>1.299</a:t>
                      </a:r>
                    </a:p>
                  </a:txBody>
                  <a:tcPr marT="936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F172A"/>
                          </a:solidFill>
                          <a:latin typeface="Apple SD Gothic Neo"/>
                        </a:rPr>
                        <a:t>+20.0</a:t>
                      </a:r>
                    </a:p>
                  </a:txBody>
                  <a:tcPr marT="936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F172A"/>
                          </a:solidFill>
                          <a:latin typeface="Apple SD Gothic Neo"/>
                        </a:rPr>
                        <a:t>0.240</a:t>
                      </a:r>
                    </a:p>
                  </a:txBody>
                  <a:tcPr marT="936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F172A"/>
                          </a:solidFill>
                          <a:latin typeface="Apple SD Gothic Neo"/>
                        </a:rPr>
                        <a:t>—</a:t>
                      </a:r>
                    </a:p>
                  </a:txBody>
                  <a:tcPr marT="936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5309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F172A"/>
                          </a:solidFill>
                          <a:latin typeface="Apple SD Gothic Neo"/>
                        </a:rPr>
                        <a:t>0.050</a:t>
                      </a:r>
                    </a:p>
                  </a:txBody>
                  <a:tcPr marT="9360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F172A"/>
                          </a:solidFill>
                          <a:latin typeface="Apple SD Gothic Neo"/>
                        </a:rPr>
                        <a:t>1.203</a:t>
                      </a:r>
                    </a:p>
                  </a:txBody>
                  <a:tcPr marT="9360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F172A"/>
                          </a:solidFill>
                          <a:latin typeface="Apple SD Gothic Neo"/>
                        </a:rPr>
                        <a:t>1.195</a:t>
                      </a:r>
                    </a:p>
                  </a:txBody>
                  <a:tcPr marT="9360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0F172A"/>
                          </a:solidFill>
                          <a:latin typeface="Apple SD Gothic Neo"/>
                        </a:rPr>
                        <a:t>+0.7</a:t>
                      </a:r>
                    </a:p>
                  </a:txBody>
                  <a:tcPr marT="9360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F172A"/>
                          </a:solidFill>
                          <a:latin typeface="Apple SD Gothic Neo"/>
                        </a:rPr>
                        <a:t>0.0009</a:t>
                      </a:r>
                    </a:p>
                  </a:txBody>
                  <a:tcPr marT="9360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pple SD Gothic Neo"/>
                        </a:rPr>
                        <a:t>★★</a:t>
                      </a:r>
                    </a:p>
                  </a:txBody>
                  <a:tcPr marT="93600">
                    <a:solidFill>
                      <a:srgbClr val="3B82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5309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F172A"/>
                          </a:solidFill>
                          <a:latin typeface="Apple SD Gothic Neo"/>
                        </a:rPr>
                        <a:t>0.100</a:t>
                      </a:r>
                    </a:p>
                  </a:txBody>
                  <a:tcPr marT="936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F172A"/>
                          </a:solidFill>
                          <a:latin typeface="Apple SD Gothic Neo"/>
                        </a:rPr>
                        <a:t>1.212</a:t>
                      </a:r>
                    </a:p>
                  </a:txBody>
                  <a:tcPr marT="936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F172A"/>
                          </a:solidFill>
                          <a:latin typeface="Apple SD Gothic Neo"/>
                        </a:rPr>
                        <a:t>1.132</a:t>
                      </a:r>
                    </a:p>
                  </a:txBody>
                  <a:tcPr marT="936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F172A"/>
                          </a:solidFill>
                          <a:latin typeface="Apple SD Gothic Neo"/>
                        </a:rPr>
                        <a:t>+7.0</a:t>
                      </a:r>
                    </a:p>
                  </a:txBody>
                  <a:tcPr marT="936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0F172A"/>
                          </a:solidFill>
                          <a:latin typeface="Apple SD Gothic Neo"/>
                        </a:rPr>
                        <a:t>&lt;0.001</a:t>
                      </a:r>
                    </a:p>
                  </a:txBody>
                  <a:tcPr marT="936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pple SD Gothic Neo"/>
                        </a:rPr>
                        <a:t>★★★</a:t>
                      </a:r>
                    </a:p>
                  </a:txBody>
                  <a:tcPr marT="93600">
                    <a:solidFill>
                      <a:srgbClr val="3B82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5309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F172A"/>
                          </a:solidFill>
                          <a:latin typeface="Apple SD Gothic Neo"/>
                        </a:rPr>
                        <a:t>0.300</a:t>
                      </a:r>
                    </a:p>
                  </a:txBody>
                  <a:tcPr marT="9360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F172A"/>
                          </a:solidFill>
                          <a:latin typeface="Apple SD Gothic Neo"/>
                        </a:rPr>
                        <a:t>1.210</a:t>
                      </a:r>
                    </a:p>
                  </a:txBody>
                  <a:tcPr marT="9360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F172A"/>
                          </a:solidFill>
                          <a:latin typeface="Apple SD Gothic Neo"/>
                        </a:rPr>
                        <a:t>1.079</a:t>
                      </a:r>
                    </a:p>
                  </a:txBody>
                  <a:tcPr marT="9360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F172A"/>
                          </a:solidFill>
                          <a:latin typeface="Apple SD Gothic Neo"/>
                        </a:rPr>
                        <a:t>+12.0</a:t>
                      </a:r>
                    </a:p>
                  </a:txBody>
                  <a:tcPr marT="9360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 dirty="0">
                          <a:solidFill>
                            <a:srgbClr val="0F172A"/>
                          </a:solidFill>
                          <a:latin typeface="Apple SD Gothic Neo"/>
                        </a:rPr>
                        <a:t>&lt;0.001</a:t>
                      </a:r>
                    </a:p>
                  </a:txBody>
                  <a:tcPr marT="9360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dirty="0">
                          <a:solidFill>
                            <a:srgbClr val="FFFFFF"/>
                          </a:solidFill>
                          <a:latin typeface="Apple SD Gothic Neo"/>
                        </a:rPr>
                        <a:t>★★★</a:t>
                      </a:r>
                    </a:p>
                  </a:txBody>
                  <a:tcPr marT="93600">
                    <a:solidFill>
                      <a:srgbClr val="3B82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5314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0F172A"/>
                          </a:solidFill>
                          <a:latin typeface="Apple SD Gothic Neo"/>
                        </a:rPr>
                        <a:t>0.500</a:t>
                      </a:r>
                    </a:p>
                  </a:txBody>
                  <a:tcPr marT="936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F172A"/>
                          </a:solidFill>
                          <a:latin typeface="Apple SD Gothic Neo"/>
                        </a:rPr>
                        <a:t>1.153</a:t>
                      </a:r>
                    </a:p>
                  </a:txBody>
                  <a:tcPr marT="936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F172A"/>
                          </a:solidFill>
                          <a:latin typeface="Apple SD Gothic Neo"/>
                        </a:rPr>
                        <a:t>1.052</a:t>
                      </a:r>
                    </a:p>
                  </a:txBody>
                  <a:tcPr marT="936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F172A"/>
                          </a:solidFill>
                          <a:latin typeface="Apple SD Gothic Neo"/>
                        </a:rPr>
                        <a:t>+9.6</a:t>
                      </a:r>
                    </a:p>
                  </a:txBody>
                  <a:tcPr marT="936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F172A"/>
                          </a:solidFill>
                          <a:latin typeface="Apple SD Gothic Neo"/>
                        </a:rPr>
                        <a:t>&lt;0.001</a:t>
                      </a:r>
                    </a:p>
                  </a:txBody>
                  <a:tcPr marT="936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 dirty="0">
                          <a:solidFill>
                            <a:srgbClr val="FFFFFF"/>
                          </a:solidFill>
                          <a:latin typeface="Apple SD Gothic Neo"/>
                        </a:rPr>
                        <a:t>★★★</a:t>
                      </a:r>
                    </a:p>
                  </a:txBody>
                  <a:tcPr marT="93600">
                    <a:solidFill>
                      <a:srgbClr val="3B82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8" name="Picture 7" descr="figure_1_phase4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39760" y="1417320"/>
            <a:ext cx="4482799" cy="3840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858000" y="5303520"/>
            <a:ext cx="4846320" cy="22860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Phase 4 — SYS vs BERN paired Q-error 4 panel (s=0.05/0.10/0.30/0.50)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114800"/>
            <a:ext cx="6309360" cy="292608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55000"/>
              </a:lnSpc>
              <a:spcBef>
                <a:spcPts val="300"/>
              </a:spcBef>
              <a:spcAft>
                <a:spcPts val="300"/>
              </a:spcAft>
            </a:pPr>
            <a:r>
              <a:rPr sz="11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Takeaways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434840"/>
            <a:ext cx="6263640" cy="169164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13232" y="4526280"/>
            <a:ext cx="6080760" cy="3657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</a:pPr>
            <a:r>
              <a:rPr sz="1000" b="0" dirty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①  4 selectivity </a:t>
            </a:r>
            <a:r>
              <a:rPr sz="1000" b="0" dirty="0" err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구간</a:t>
            </a:r>
            <a:r>
              <a:rPr sz="1000" b="0" dirty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 (s=0.05~0.5) </a:t>
            </a:r>
            <a:r>
              <a:rPr sz="1000" b="0" dirty="0" err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에서</a:t>
            </a:r>
            <a:r>
              <a:rPr sz="1000" b="0" dirty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 p&lt;0.001 — block sampling bias </a:t>
            </a:r>
            <a:r>
              <a:rPr sz="1000" b="0" dirty="0" err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는</a:t>
            </a:r>
            <a:r>
              <a:rPr sz="1000" b="0" dirty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 </a:t>
            </a:r>
            <a:r>
              <a:rPr sz="1000" b="0" dirty="0" err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통계적으로</a:t>
            </a:r>
            <a:r>
              <a:rPr sz="1000" b="0" dirty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 </a:t>
            </a:r>
            <a:r>
              <a:rPr sz="1000" b="0" dirty="0" err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유의한</a:t>
            </a:r>
            <a:r>
              <a:rPr sz="1000" b="0" dirty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 </a:t>
            </a:r>
            <a:r>
              <a:rPr sz="1000" b="0" dirty="0" err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구조적</a:t>
            </a:r>
            <a:r>
              <a:rPr sz="1000" b="0" dirty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 </a:t>
            </a:r>
            <a:r>
              <a:rPr sz="1000" b="0" dirty="0" err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약점</a:t>
            </a:r>
            <a:endParaRPr sz="1000" b="0" dirty="0">
              <a:solidFill>
                <a:srgbClr val="0F172A"/>
              </a:solidFill>
              <a:latin typeface="Apple SD Gothic Neo"/>
              <a:ea typeface="Apple SD Gothic Neo"/>
              <a:cs typeface="Apple SD Gothic Neo"/>
            </a:endParaRPr>
          </a:p>
          <a:p>
            <a:pPr algn="l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</a:pPr>
            <a:r>
              <a:rPr sz="1000" b="0" dirty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②  </a:t>
            </a:r>
            <a:r>
              <a:rPr sz="1000" b="0" dirty="0" err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vector.c</a:t>
            </a:r>
            <a:r>
              <a:rPr sz="1000" b="0" dirty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 </a:t>
            </a:r>
            <a:r>
              <a:rPr sz="1000" b="0" dirty="0" err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한</a:t>
            </a:r>
            <a:r>
              <a:rPr sz="1000" b="0" dirty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 </a:t>
            </a:r>
            <a:r>
              <a:rPr sz="1000" b="0" dirty="0" err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줄</a:t>
            </a:r>
            <a:r>
              <a:rPr sz="1000" b="0" dirty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 </a:t>
            </a:r>
            <a:r>
              <a:rPr sz="1000" b="0" dirty="0" err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교체로</a:t>
            </a:r>
            <a:r>
              <a:rPr sz="1000" b="0" dirty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 </a:t>
            </a:r>
            <a:r>
              <a:rPr sz="1000" b="0" dirty="0" err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Exqutor</a:t>
            </a:r>
            <a:r>
              <a:rPr sz="1000" b="0" dirty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 </a:t>
            </a:r>
            <a:r>
              <a:rPr sz="1000" b="0" dirty="0" err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카디널리티</a:t>
            </a:r>
            <a:r>
              <a:rPr sz="1000" b="0" dirty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 </a:t>
            </a:r>
            <a:r>
              <a:rPr sz="1000" b="0" dirty="0" err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추정</a:t>
            </a:r>
            <a:r>
              <a:rPr sz="1000" b="0" dirty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 </a:t>
            </a:r>
            <a:r>
              <a:rPr sz="1000" b="0" dirty="0" err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개선</a:t>
            </a:r>
            <a:r>
              <a:rPr sz="1000" b="0" dirty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 </a:t>
            </a:r>
            <a:r>
              <a:rPr sz="1000" b="0" dirty="0" err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경로</a:t>
            </a:r>
            <a:r>
              <a:rPr sz="1000" b="0" dirty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 </a:t>
            </a:r>
            <a:r>
              <a:rPr sz="1000" b="0" dirty="0" err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확보</a:t>
            </a:r>
            <a:endParaRPr sz="1000" b="0" dirty="0">
              <a:solidFill>
                <a:srgbClr val="0F172A"/>
              </a:solidFill>
              <a:latin typeface="Apple SD Gothic Neo"/>
              <a:ea typeface="Apple SD Gothic Neo"/>
              <a:cs typeface="Apple SD Gothic Neo"/>
            </a:endParaRPr>
          </a:p>
          <a:p>
            <a:pPr algn="l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</a:pPr>
            <a:r>
              <a:rPr sz="1000" b="0" dirty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③  </a:t>
            </a:r>
            <a:r>
              <a:rPr sz="1000" b="0" dirty="0" err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단</a:t>
            </a:r>
            <a:r>
              <a:rPr sz="1000" b="0" dirty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, </a:t>
            </a:r>
            <a:r>
              <a:rPr sz="1000" b="0" dirty="0" err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이는</a:t>
            </a:r>
            <a:r>
              <a:rPr sz="1000" b="0" dirty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 Pivot C </a:t>
            </a:r>
            <a:r>
              <a:rPr sz="1000" b="0" dirty="0" err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의</a:t>
            </a:r>
            <a:r>
              <a:rPr sz="1000" b="0" dirty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 fair baseline </a:t>
            </a:r>
            <a:r>
              <a:rPr sz="1000" b="0" dirty="0" err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도구이지</a:t>
            </a:r>
            <a:r>
              <a:rPr sz="1000" b="0" dirty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 </a:t>
            </a:r>
            <a:r>
              <a:rPr sz="1000" b="0" dirty="0" err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단독</a:t>
            </a:r>
            <a:r>
              <a:rPr sz="1000" b="0" dirty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 </a:t>
            </a:r>
            <a:r>
              <a:rPr sz="1000" b="0" dirty="0" err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기여가</a:t>
            </a:r>
            <a:r>
              <a:rPr sz="1000" b="0" dirty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 </a:t>
            </a:r>
            <a:r>
              <a:rPr sz="1000" b="0" dirty="0" err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아님</a:t>
            </a:r>
            <a:endParaRPr sz="1000" b="0" dirty="0">
              <a:solidFill>
                <a:srgbClr val="0F172A"/>
              </a:solidFill>
              <a:latin typeface="Apple SD Gothic Neo"/>
              <a:ea typeface="Apple SD Gothic Neo"/>
              <a:cs typeface="Apple SD Gothic Neo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31520" y="502920"/>
            <a:ext cx="54864" cy="7772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411480"/>
            <a:ext cx="10515600" cy="54864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4-Ⅲ. RQ2 (2) — KM20 Stratified 가 BERNOULLI 위에서 추가 개선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960120"/>
            <a:ext cx="10972800" cy="32004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5-seed 신뢰구간으로 외적 타당성 확보 · vector.c +228 줄 native 구현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64240" cy="127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914400" cy="32004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9 / 17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06333062"/>
              </p:ext>
            </p:extLst>
          </p:nvPr>
        </p:nvGraphicFramePr>
        <p:xfrm>
          <a:off x="548640" y="1417320"/>
          <a:ext cx="68580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  <a:latin typeface="Apple SD Gothic Neo"/>
                        </a:rPr>
                        <a:t>selectivity</a:t>
                      </a:r>
                    </a:p>
                  </a:txBody>
                  <a:tcPr marT="129600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FFFFFF"/>
                          </a:solidFill>
                          <a:latin typeface="Apple SD Gothic Neo"/>
                        </a:rPr>
                        <a:t>5-seed </a:t>
                      </a:r>
                      <a:r>
                        <a:rPr sz="1100" b="1" dirty="0" err="1">
                          <a:solidFill>
                            <a:srgbClr val="FFFFFF"/>
                          </a:solidFill>
                          <a:latin typeface="Apple SD Gothic Neo"/>
                        </a:rPr>
                        <a:t>평균</a:t>
                      </a:r>
                      <a:endParaRPr sz="1100" b="1" dirty="0">
                        <a:solidFill>
                          <a:srgbClr val="FFFFFF"/>
                        </a:solidFill>
                        <a:latin typeface="Apple SD Gothic Neo"/>
                      </a:endParaRPr>
                    </a:p>
                  </a:txBody>
                  <a:tcPr marT="129600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pple SD Gothic Neo"/>
                        </a:rPr>
                        <a:t>95% CI</a:t>
                      </a:r>
                    </a:p>
                  </a:txBody>
                  <a:tcPr marT="129600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pple SD Gothic Neo"/>
                        </a:rPr>
                        <a:t>유의 seed</a:t>
                      </a:r>
                    </a:p>
                  </a:txBody>
                  <a:tcPr marT="129600">
                    <a:solidFill>
                      <a:srgbClr val="2563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0F172A"/>
                          </a:solidFill>
                          <a:latin typeface="Apple SD Gothic Neo"/>
                        </a:rPr>
                        <a:t>50%</a:t>
                      </a:r>
                    </a:p>
                  </a:txBody>
                  <a:tcPr marT="12960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059669"/>
                          </a:solidFill>
                          <a:latin typeface="Apple SD Gothic Neo"/>
                        </a:rPr>
                        <a:t>+1.64%</a:t>
                      </a:r>
                    </a:p>
                  </a:txBody>
                  <a:tcPr marT="12960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0F172A"/>
                          </a:solidFill>
                          <a:latin typeface="Apple SD Gothic Neo"/>
                        </a:rPr>
                        <a:t>[+1.11, +2.18]</a:t>
                      </a:r>
                    </a:p>
                  </a:txBody>
                  <a:tcPr marT="12960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pple SD Gothic Neo"/>
                        </a:rPr>
                        <a:t>5/5</a:t>
                      </a:r>
                    </a:p>
                  </a:txBody>
                  <a:tcPr marT="129600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F172A"/>
                          </a:solidFill>
                          <a:latin typeface="Apple SD Gothic Neo"/>
                        </a:rPr>
                        <a:t>30%</a:t>
                      </a:r>
                    </a:p>
                  </a:txBody>
                  <a:tcPr marT="1296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059669"/>
                          </a:solidFill>
                          <a:latin typeface="Apple SD Gothic Neo"/>
                        </a:rPr>
                        <a:t>+2.62%</a:t>
                      </a:r>
                    </a:p>
                  </a:txBody>
                  <a:tcPr marT="1296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0F172A"/>
                          </a:solidFill>
                          <a:latin typeface="Apple SD Gothic Neo"/>
                        </a:rPr>
                        <a:t>[+1.45, +3.80]</a:t>
                      </a:r>
                    </a:p>
                  </a:txBody>
                  <a:tcPr marT="1296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pple SD Gothic Neo"/>
                        </a:rPr>
                        <a:t>5/5 (p&lt;0.001)</a:t>
                      </a:r>
                    </a:p>
                  </a:txBody>
                  <a:tcPr marT="1296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F172A"/>
                          </a:solidFill>
                          <a:latin typeface="Apple SD Gothic Neo"/>
                        </a:rPr>
                        <a:t>10%</a:t>
                      </a:r>
                    </a:p>
                  </a:txBody>
                  <a:tcPr marT="12960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dirty="0">
                          <a:solidFill>
                            <a:srgbClr val="059669"/>
                          </a:solidFill>
                          <a:latin typeface="Apple SD Gothic Neo"/>
                        </a:rPr>
                        <a:t>+4.19%</a:t>
                      </a:r>
                    </a:p>
                  </a:txBody>
                  <a:tcPr marT="12960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0F172A"/>
                          </a:solidFill>
                          <a:latin typeface="Apple SD Gothic Neo"/>
                        </a:rPr>
                        <a:t>[+0.72, +7.66]</a:t>
                      </a:r>
                    </a:p>
                  </a:txBody>
                  <a:tcPr marT="12960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0F172A"/>
                          </a:solidFill>
                          <a:latin typeface="Apple SD Gothic Neo"/>
                        </a:rPr>
                        <a:t>5/5 (p&lt;0.004)</a:t>
                      </a:r>
                    </a:p>
                  </a:txBody>
                  <a:tcPr marT="129600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pple SD Gothic Neo"/>
                        </a:rPr>
                        <a:t>5%</a:t>
                      </a:r>
                    </a:p>
                  </a:txBody>
                  <a:tcPr marT="1296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0F172A"/>
                          </a:solidFill>
                          <a:latin typeface="Apple SD Gothic Neo"/>
                        </a:rPr>
                        <a:t>+1.85%</a:t>
                      </a:r>
                    </a:p>
                  </a:txBody>
                  <a:tcPr marT="1296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0F172A"/>
                          </a:solidFill>
                          <a:latin typeface="Apple SD Gothic Neo"/>
                        </a:rPr>
                        <a:t>1-seed (W5 </a:t>
                      </a:r>
                      <a:r>
                        <a:rPr sz="1100" b="0" dirty="0" err="1">
                          <a:solidFill>
                            <a:srgbClr val="0F172A"/>
                          </a:solidFill>
                          <a:latin typeface="Apple SD Gothic Neo"/>
                        </a:rPr>
                        <a:t>보충</a:t>
                      </a:r>
                      <a:r>
                        <a:rPr sz="1100" b="0" dirty="0">
                          <a:solidFill>
                            <a:srgbClr val="0F172A"/>
                          </a:solidFill>
                          <a:latin typeface="Apple SD Gothic Neo"/>
                        </a:rPr>
                        <a:t>)</a:t>
                      </a:r>
                    </a:p>
                  </a:txBody>
                  <a:tcPr marT="1296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0F172A"/>
                          </a:solidFill>
                          <a:latin typeface="Apple SD Gothic Neo"/>
                        </a:rPr>
                        <a:t>3/5</a:t>
                      </a:r>
                    </a:p>
                  </a:txBody>
                  <a:tcPr marT="1296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0F172A"/>
                          </a:solidFill>
                          <a:latin typeface="Apple SD Gothic Neo"/>
                        </a:rPr>
                        <a:t>1%</a:t>
                      </a:r>
                    </a:p>
                  </a:txBody>
                  <a:tcPr marT="12960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0F172A"/>
                          </a:solidFill>
                          <a:latin typeface="Apple SD Gothic Neo"/>
                        </a:rPr>
                        <a:t>+8.93%</a:t>
                      </a:r>
                    </a:p>
                  </a:txBody>
                  <a:tcPr marT="12960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F172A"/>
                          </a:solidFill>
                          <a:latin typeface="Apple SD Gothic Neo"/>
                        </a:rPr>
                        <a:t>1-seed (W5 보충)</a:t>
                      </a:r>
                    </a:p>
                  </a:txBody>
                  <a:tcPr marT="12960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dirty="0">
                          <a:solidFill>
                            <a:srgbClr val="0F172A"/>
                          </a:solidFill>
                          <a:latin typeface="Apple SD Gothic Neo"/>
                        </a:rPr>
                        <a:t>4/5</a:t>
                      </a:r>
                    </a:p>
                  </a:txBody>
                  <a:tcPr marT="129600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589520" y="1417320"/>
            <a:ext cx="4114800" cy="32004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BERNOULLI vs STRATIFIED (KM20)</a:t>
            </a:r>
          </a:p>
        </p:txBody>
      </p:sp>
      <p:pic>
        <p:nvPicPr>
          <p:cNvPr id="9" name="Picture 8" descr="figure_2_phase6_b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3523" y="1783080"/>
            <a:ext cx="4066794" cy="2331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589520" y="4160520"/>
            <a:ext cx="4114800" cy="22860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Phase 6 Step 4 — BERNOULLI vs STRATIFIED (KM20) 100 query boxplot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572000"/>
            <a:ext cx="11064240" cy="109728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77240" y="4663440"/>
            <a:ext cx="10515600" cy="4114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</a:pPr>
            <a:r>
              <a:rPr sz="1000" b="0" dirty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①  50% / 30% / 10% </a:t>
            </a:r>
            <a:r>
              <a:rPr sz="1000" b="0" dirty="0" err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세</a:t>
            </a:r>
            <a:r>
              <a:rPr sz="1000" b="0" dirty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 </a:t>
            </a:r>
            <a:r>
              <a:rPr sz="1000" b="0" dirty="0" err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구간</a:t>
            </a:r>
            <a:r>
              <a:rPr sz="1000" b="0" dirty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 </a:t>
            </a:r>
            <a:r>
              <a:rPr sz="1000" b="0" dirty="0" err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모두</a:t>
            </a:r>
            <a:r>
              <a:rPr sz="1000" b="0" dirty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 95% CI </a:t>
            </a:r>
            <a:r>
              <a:rPr sz="1000" b="0" dirty="0" err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가</a:t>
            </a:r>
            <a:r>
              <a:rPr sz="1000" b="0" dirty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 0 </a:t>
            </a:r>
            <a:r>
              <a:rPr sz="1000" b="0" dirty="0" err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을</a:t>
            </a:r>
            <a:r>
              <a:rPr sz="1000" b="0" dirty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 </a:t>
            </a:r>
            <a:r>
              <a:rPr sz="1000" b="0" dirty="0" err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포함하지</a:t>
            </a:r>
            <a:r>
              <a:rPr sz="1000" b="0" dirty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 </a:t>
            </a:r>
            <a:r>
              <a:rPr sz="1000" b="0" dirty="0" err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않음</a:t>
            </a:r>
            <a:r>
              <a:rPr sz="1000" b="0" dirty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 — real effect </a:t>
            </a:r>
            <a:r>
              <a:rPr sz="1000" b="0" dirty="0" err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통계적</a:t>
            </a:r>
            <a:r>
              <a:rPr sz="1000" b="0" dirty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 </a:t>
            </a:r>
            <a:r>
              <a:rPr sz="1000" b="0" dirty="0" err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확정</a:t>
            </a:r>
            <a:endParaRPr sz="1000" b="0" dirty="0">
              <a:solidFill>
                <a:srgbClr val="0F172A"/>
              </a:solidFill>
              <a:latin typeface="Apple SD Gothic Neo"/>
              <a:ea typeface="Apple SD Gothic Neo"/>
              <a:cs typeface="Apple SD Gothic Neo"/>
            </a:endParaRPr>
          </a:p>
          <a:p>
            <a:pPr algn="l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</a:pPr>
            <a:r>
              <a:rPr sz="1000" b="0" dirty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②  s=0.500 1-seed p=4.01e-05 (Bonferroni </a:t>
            </a:r>
            <a:r>
              <a:rPr sz="1000" b="0" dirty="0" err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통과</a:t>
            </a:r>
            <a:r>
              <a:rPr sz="1000" b="0" dirty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) → 5-seed </a:t>
            </a:r>
            <a:r>
              <a:rPr sz="1000" b="0" dirty="0" err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재현으로</a:t>
            </a:r>
            <a:r>
              <a:rPr sz="1000" b="0" dirty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 </a:t>
            </a:r>
            <a:r>
              <a:rPr sz="1000" b="0" dirty="0" err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우연</a:t>
            </a:r>
            <a:r>
              <a:rPr sz="1000" b="0" dirty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 </a:t>
            </a:r>
            <a:r>
              <a:rPr sz="1000" b="0" dirty="0" err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가능성</a:t>
            </a:r>
            <a:r>
              <a:rPr sz="1000" b="0" dirty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 </a:t>
            </a:r>
            <a:r>
              <a:rPr sz="1000" b="0" dirty="0" err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배제</a:t>
            </a:r>
            <a:endParaRPr sz="1000" b="0" dirty="0">
              <a:solidFill>
                <a:srgbClr val="0F172A"/>
              </a:solidFill>
              <a:latin typeface="Apple SD Gothic Neo"/>
              <a:ea typeface="Apple SD Gothic Neo"/>
              <a:cs typeface="Apple SD Gothic Neo"/>
            </a:endParaRPr>
          </a:p>
          <a:p>
            <a:pPr algn="l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</a:pPr>
            <a:r>
              <a:rPr sz="1000" b="0" dirty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③  BERNOULLI </a:t>
            </a:r>
            <a:r>
              <a:rPr sz="1000" b="0" dirty="0" err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위에서</a:t>
            </a:r>
            <a:r>
              <a:rPr sz="1000" b="0" dirty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 </a:t>
            </a:r>
            <a:r>
              <a:rPr sz="1000" b="0" dirty="0" err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추가</a:t>
            </a:r>
            <a:r>
              <a:rPr sz="1000" b="0" dirty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 </a:t>
            </a:r>
            <a:r>
              <a:rPr sz="1000" b="0" dirty="0" err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개선</a:t>
            </a:r>
            <a:r>
              <a:rPr sz="1000" b="0" dirty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 — </a:t>
            </a:r>
            <a:r>
              <a:rPr sz="1000" b="0" dirty="0" err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누적</a:t>
            </a:r>
            <a:r>
              <a:rPr sz="1000" b="0" dirty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 vs SYSTEM </a:t>
            </a:r>
            <a:r>
              <a:rPr sz="1000" b="0" dirty="0" err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은</a:t>
            </a:r>
            <a:r>
              <a:rPr sz="1000" b="0" dirty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 +12.5% (s=0.500)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760720"/>
            <a:ext cx="11064240" cy="41148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77240" y="5771219"/>
            <a:ext cx="10515600" cy="3657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 dirty="0" err="1">
                <a:solidFill>
                  <a:srgbClr val="3B82F6"/>
                </a:solidFill>
                <a:latin typeface="Apple SD Gothic Neo"/>
                <a:ea typeface="Apple SD Gothic Neo"/>
                <a:cs typeface="Apple SD Gothic Neo"/>
              </a:rPr>
              <a:t>vector.c</a:t>
            </a:r>
            <a:r>
              <a:rPr sz="1000" b="1" dirty="0">
                <a:solidFill>
                  <a:srgbClr val="3B82F6"/>
                </a:solidFill>
                <a:latin typeface="Apple SD Gothic Neo"/>
                <a:ea typeface="Apple SD Gothic Neo"/>
                <a:cs typeface="Apple SD Gothic Neo"/>
              </a:rPr>
              <a:t>  +228 </a:t>
            </a:r>
            <a:r>
              <a:rPr sz="1000" b="1" dirty="0" err="1">
                <a:solidFill>
                  <a:srgbClr val="3B82F6"/>
                </a:solidFill>
                <a:latin typeface="Apple SD Gothic Neo"/>
                <a:ea typeface="Apple SD Gothic Neo"/>
                <a:cs typeface="Apple SD Gothic Neo"/>
              </a:rPr>
              <a:t>줄</a:t>
            </a:r>
            <a:r>
              <a:rPr sz="1000" b="1" dirty="0">
                <a:solidFill>
                  <a:srgbClr val="3B82F6"/>
                </a:solidFill>
                <a:latin typeface="Apple SD Gothic Neo"/>
                <a:ea typeface="Apple SD Gothic Neo"/>
                <a:cs typeface="Apple SD Gothic Neo"/>
              </a:rPr>
              <a:t> native  ·  GUC 3 </a:t>
            </a:r>
            <a:r>
              <a:rPr sz="1000" b="1" dirty="0" err="1">
                <a:solidFill>
                  <a:srgbClr val="3B82F6"/>
                </a:solidFill>
                <a:latin typeface="Apple SD Gothic Neo"/>
                <a:ea typeface="Apple SD Gothic Neo"/>
                <a:cs typeface="Apple SD Gothic Neo"/>
              </a:rPr>
              <a:t>개</a:t>
            </a:r>
            <a:r>
              <a:rPr sz="1000" b="1" dirty="0">
                <a:solidFill>
                  <a:srgbClr val="3B82F6"/>
                </a:solidFill>
                <a:latin typeface="Apple SD Gothic Neo"/>
                <a:ea typeface="Apple SD Gothic Neo"/>
                <a:cs typeface="Apple SD Gothic Neo"/>
              </a:rPr>
              <a:t>  ·  </a:t>
            </a:r>
            <a:r>
              <a:rPr sz="1000" b="1" dirty="0" err="1">
                <a:solidFill>
                  <a:srgbClr val="3B82F6"/>
                </a:solidFill>
                <a:latin typeface="Apple SD Gothic Neo"/>
                <a:ea typeface="Apple SD Gothic Neo"/>
                <a:cs typeface="Apple SD Gothic Neo"/>
              </a:rPr>
              <a:t>stratum_id</a:t>
            </a:r>
            <a:r>
              <a:rPr sz="1000" b="1" dirty="0">
                <a:solidFill>
                  <a:srgbClr val="3B82F6"/>
                </a:solidFill>
                <a:latin typeface="Apple SD Gothic Neo"/>
                <a:ea typeface="Apple SD Gothic Neo"/>
                <a:cs typeface="Apple SD Gothic Neo"/>
              </a:rPr>
              <a:t> </a:t>
            </a:r>
            <a:r>
              <a:rPr sz="1000" b="1" dirty="0" err="1">
                <a:solidFill>
                  <a:srgbClr val="3B82F6"/>
                </a:solidFill>
                <a:latin typeface="Apple SD Gothic Neo"/>
                <a:ea typeface="Apple SD Gothic Neo"/>
                <a:cs typeface="Apple SD Gothic Neo"/>
              </a:rPr>
              <a:t>사전</a:t>
            </a:r>
            <a:r>
              <a:rPr sz="1000" b="1" dirty="0">
                <a:solidFill>
                  <a:srgbClr val="3B82F6"/>
                </a:solidFill>
                <a:latin typeface="Apple SD Gothic Neo"/>
                <a:ea typeface="Apple SD Gothic Neo"/>
                <a:cs typeface="Apple SD Gothic Neo"/>
              </a:rPr>
              <a:t> </a:t>
            </a:r>
            <a:r>
              <a:rPr sz="1000" b="1" dirty="0" err="1">
                <a:solidFill>
                  <a:srgbClr val="3B82F6"/>
                </a:solidFill>
                <a:latin typeface="Apple SD Gothic Neo"/>
                <a:ea typeface="Apple SD Gothic Neo"/>
                <a:cs typeface="Apple SD Gothic Neo"/>
              </a:rPr>
              <a:t>부여</a:t>
            </a:r>
            <a:r>
              <a:rPr sz="1000" b="1" dirty="0">
                <a:solidFill>
                  <a:srgbClr val="3B82F6"/>
                </a:solidFill>
                <a:latin typeface="Apple SD Gothic Neo"/>
                <a:ea typeface="Apple SD Gothic Neo"/>
                <a:cs typeface="Apple SD Gothic Neo"/>
              </a:rPr>
              <a:t>  ·  Horvitz-Thompson </a:t>
            </a:r>
            <a:r>
              <a:rPr sz="1000" b="1" dirty="0" err="1">
                <a:solidFill>
                  <a:srgbClr val="3B82F6"/>
                </a:solidFill>
                <a:latin typeface="Apple SD Gothic Neo"/>
                <a:ea typeface="Apple SD Gothic Neo"/>
                <a:cs typeface="Apple SD Gothic Neo"/>
              </a:rPr>
              <a:t>가중</a:t>
            </a:r>
            <a:r>
              <a:rPr sz="1000" b="1" dirty="0">
                <a:solidFill>
                  <a:srgbClr val="3B82F6"/>
                </a:solidFill>
                <a:latin typeface="Apple SD Gothic Neo"/>
                <a:ea typeface="Apple SD Gothic Neo"/>
                <a:cs typeface="Apple SD Gothic Neo"/>
              </a:rPr>
              <a:t> </a:t>
            </a:r>
            <a:r>
              <a:rPr sz="1000" b="1" dirty="0" err="1">
                <a:solidFill>
                  <a:srgbClr val="3B82F6"/>
                </a:solidFill>
                <a:latin typeface="Apple SD Gothic Neo"/>
                <a:ea typeface="Apple SD Gothic Neo"/>
                <a:cs typeface="Apple SD Gothic Neo"/>
              </a:rPr>
              <a:t>추정</a:t>
            </a:r>
            <a:endParaRPr sz="1000" b="1" dirty="0">
              <a:solidFill>
                <a:srgbClr val="3B82F6"/>
              </a:solidFill>
              <a:latin typeface="Apple SD Gothic Neo"/>
              <a:ea typeface="Apple SD Gothic Neo"/>
              <a:cs typeface="Apple SD Gothic Neo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31520" y="502920"/>
            <a:ext cx="54864" cy="7772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411480"/>
            <a:ext cx="10515600" cy="54864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4-Ⅳ. External Validity — 3 데이터셋 교차 검증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960120"/>
            <a:ext cx="10972800" cy="32004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DEEP 1M · DEEP 8M · SIFT 1.5M — D_target 데이터셋별 재계산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64240" cy="127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914400" cy="32004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10 / 17</a:t>
            </a:r>
          </a:p>
        </p:txBody>
      </p:sp>
      <p:pic>
        <p:nvPicPr>
          <p:cNvPr id="7" name="Picture 6" descr="figure_8_cross_dataset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911" y="1417320"/>
            <a:ext cx="5012656" cy="37490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5212080"/>
            <a:ext cx="5029200" cy="22860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외적 타당성 — DEEP 1M / 8M / SIFT 1.5M, KM20 s=0.500 효과 95% CI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52160" y="1417320"/>
            <a:ext cx="5806440" cy="82296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852160" y="1417320"/>
            <a:ext cx="164592" cy="82296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126480" y="1463040"/>
            <a:ext cx="2926080" cy="292608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DEEP 1M (96d)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1801368"/>
            <a:ext cx="3200400" cy="4114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CI [+1.11, +2.18]  ·  CV 0.234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9760" y="1508760"/>
            <a:ext cx="2011680" cy="6400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24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+1.64%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852160" y="2331720"/>
            <a:ext cx="5806440" cy="82296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852160" y="2331720"/>
            <a:ext cx="164592" cy="82296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126480" y="2377440"/>
            <a:ext cx="2926080" cy="292608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DEEP 8M (96d)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0" y="2715768"/>
            <a:ext cx="3200400" cy="4114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CI [+0.65, +2.86]  ·  CV 0.234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09760" y="2423160"/>
            <a:ext cx="2011680" cy="6400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24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+1.76%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852160" y="3246120"/>
            <a:ext cx="5806440" cy="82296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5852160" y="3246120"/>
            <a:ext cx="164592" cy="82296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126480" y="3291840"/>
            <a:ext cx="2926080" cy="292608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SIFT 1.5M (128d)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26480" y="3630168"/>
            <a:ext cx="3200400" cy="4114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CI [+2.66, +3.48]  ·  CV 0.394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09760" y="3337560"/>
            <a:ext cx="2011680" cy="6400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2400" b="1">
                <a:solidFill>
                  <a:srgbClr val="D97706"/>
                </a:solidFill>
                <a:latin typeface="Apple SD Gothic Neo"/>
                <a:ea typeface="Apple SD Gothic Neo"/>
                <a:cs typeface="Apple SD Gothic Neo"/>
              </a:rPr>
              <a:t>+3.07%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5458968"/>
            <a:ext cx="11064240" cy="27432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55000"/>
              </a:lnSpc>
              <a:spcBef>
                <a:spcPts val="300"/>
              </a:spcBef>
              <a:spcAft>
                <a:spcPts val="300"/>
              </a:spcAft>
            </a:pPr>
            <a:r>
              <a:rPr sz="10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주요 발견 + 시사점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779008"/>
            <a:ext cx="11064240" cy="91440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</a:pPr>
            <a:r>
              <a:rPr sz="900" b="0" dirty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①  DEEP 1M vs 8M : CI </a:t>
            </a:r>
            <a:r>
              <a:rPr sz="900" b="0" dirty="0" err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겹침</a:t>
            </a:r>
            <a:r>
              <a:rPr sz="900" b="0" dirty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 (CONSISTENT) — 8 </a:t>
            </a:r>
            <a:r>
              <a:rPr sz="900" b="0" dirty="0" err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배</a:t>
            </a:r>
            <a:r>
              <a:rPr sz="900" b="0" dirty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 </a:t>
            </a:r>
            <a:r>
              <a:rPr sz="900" b="0" dirty="0" err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규모에서</a:t>
            </a:r>
            <a:r>
              <a:rPr sz="900" b="0" dirty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 </a:t>
            </a:r>
            <a:r>
              <a:rPr sz="900" b="0" dirty="0" err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동일</a:t>
            </a:r>
            <a:r>
              <a:rPr sz="900" b="0" dirty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 </a:t>
            </a:r>
            <a:r>
              <a:rPr sz="900" b="0" dirty="0" err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효과</a:t>
            </a:r>
            <a:r>
              <a:rPr sz="900" b="0" dirty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 </a:t>
            </a:r>
            <a:r>
              <a:rPr sz="900" b="0" dirty="0" err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재현</a:t>
            </a:r>
            <a:endParaRPr sz="900" b="0" dirty="0">
              <a:solidFill>
                <a:srgbClr val="0F172A"/>
              </a:solidFill>
              <a:latin typeface="Apple SD Gothic Neo"/>
              <a:ea typeface="Apple SD Gothic Neo"/>
              <a:cs typeface="Apple SD Gothic Neo"/>
            </a:endParaRPr>
          </a:p>
          <a:p>
            <a:pPr algn="l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</a:pPr>
            <a:r>
              <a:rPr sz="900" b="0" dirty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②  SIFT 1.5M : CI </a:t>
            </a:r>
            <a:r>
              <a:rPr sz="900" b="0" dirty="0" err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가</a:t>
            </a:r>
            <a:r>
              <a:rPr sz="900" b="0" dirty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 DEEP </a:t>
            </a:r>
            <a:r>
              <a:rPr sz="900" b="0" dirty="0" err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과</a:t>
            </a:r>
            <a:r>
              <a:rPr sz="900" b="0" dirty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 </a:t>
            </a:r>
            <a:r>
              <a:rPr sz="900" b="0" dirty="0" err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겹치지</a:t>
            </a:r>
            <a:r>
              <a:rPr sz="900" b="0" dirty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 </a:t>
            </a:r>
            <a:r>
              <a:rPr sz="900" b="0" dirty="0" err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않음</a:t>
            </a:r>
            <a:r>
              <a:rPr sz="900" b="0" dirty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 (~2 </a:t>
            </a:r>
            <a:r>
              <a:rPr sz="900" b="0" dirty="0" err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배</a:t>
            </a:r>
            <a:r>
              <a:rPr sz="900" b="0" dirty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 </a:t>
            </a:r>
            <a:r>
              <a:rPr sz="900" b="0" dirty="0" err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효과</a:t>
            </a:r>
            <a:r>
              <a:rPr sz="900" b="0" dirty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) — </a:t>
            </a:r>
            <a:r>
              <a:rPr sz="900" b="0" dirty="0" err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통계적</a:t>
            </a:r>
            <a:r>
              <a:rPr sz="900" b="0" dirty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 </a:t>
            </a:r>
            <a:r>
              <a:rPr sz="900" b="0" dirty="0" err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구별</a:t>
            </a:r>
            <a:endParaRPr sz="900" b="0" dirty="0">
              <a:solidFill>
                <a:srgbClr val="0F172A"/>
              </a:solidFill>
              <a:latin typeface="Apple SD Gothic Neo"/>
              <a:ea typeface="Apple SD Gothic Neo"/>
              <a:cs typeface="Apple SD Gothic Neo"/>
            </a:endParaRPr>
          </a:p>
          <a:p>
            <a:pPr algn="l">
              <a:lnSpc>
                <a:spcPct val="140000"/>
              </a:lnSpc>
              <a:spcBef>
                <a:spcPts val="200"/>
              </a:spcBef>
              <a:spcAft>
                <a:spcPts val="200"/>
              </a:spcAft>
            </a:pPr>
            <a:r>
              <a:rPr sz="900" b="0" dirty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③  </a:t>
            </a:r>
            <a:r>
              <a:rPr sz="900" b="0" dirty="0" err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쏠림도</a:t>
            </a:r>
            <a:r>
              <a:rPr sz="900" b="0" dirty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 (CV) DEEP 0.234 vs SIFT 0.394 (68% </a:t>
            </a:r>
            <a:r>
              <a:rPr sz="900" b="0" dirty="0" err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높음</a:t>
            </a:r>
            <a:r>
              <a:rPr sz="900" b="0" dirty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) — </a:t>
            </a:r>
            <a:r>
              <a:rPr sz="900" b="0" dirty="0" err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쏠림</a:t>
            </a:r>
            <a:r>
              <a:rPr sz="900" b="0" dirty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 ↑ ⇒ </a:t>
            </a:r>
            <a:r>
              <a:rPr sz="900" b="0" dirty="0" err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공간</a:t>
            </a:r>
            <a:r>
              <a:rPr sz="900" b="0" dirty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 </a:t>
            </a:r>
            <a:r>
              <a:rPr sz="900" b="0" dirty="0" err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인식</a:t>
            </a:r>
            <a:r>
              <a:rPr sz="900" b="0" dirty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 </a:t>
            </a:r>
            <a:r>
              <a:rPr sz="900" b="0" dirty="0" err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가치</a:t>
            </a:r>
            <a:r>
              <a:rPr sz="900" b="0" dirty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 ↑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31520" y="502920"/>
            <a:ext cx="54864" cy="7772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411480"/>
            <a:ext cx="10515600" cy="54864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4-Ⅴ. 결과 해석 — 데이터 쏠림과 공간 인식 효과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960120"/>
            <a:ext cx="10972800" cy="32004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Two-Level Decomposition + 클러스터 쏠림도 (HHI / CV) 정량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64240" cy="127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914400" cy="32004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11 /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5669280" cy="32004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▣ KM20 개선 = Level 1 (비례 배분) + Level 2 (공간 인식)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50359091"/>
              </p:ext>
            </p:extLst>
          </p:nvPr>
        </p:nvGraphicFramePr>
        <p:xfrm>
          <a:off x="548640" y="1737360"/>
          <a:ext cx="5669280" cy="201167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0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35279">
                <a:tc>
                  <a:txBody>
                    <a:bodyPr/>
                    <a:lstStyle/>
                    <a:p>
                      <a:pPr algn="ctr"/>
                      <a:r>
                        <a:rPr sz="900" b="1" dirty="0">
                          <a:solidFill>
                            <a:srgbClr val="FFFFFF"/>
                          </a:solidFill>
                          <a:latin typeface="Apple SD Gothic Neo"/>
                        </a:rPr>
                        <a:t>selectivity</a:t>
                      </a:r>
                    </a:p>
                  </a:txBody>
                  <a:tcPr marT="93600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pple SD Gothic Neo"/>
                        </a:rPr>
                        <a:t>KM20</a:t>
                      </a:r>
                    </a:p>
                  </a:txBody>
                  <a:tcPr marT="93600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pple SD Gothic Neo"/>
                        </a:rPr>
                        <a:t>RANDOM20</a:t>
                      </a:r>
                    </a:p>
                  </a:txBody>
                  <a:tcPr marT="93600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pple SD Gothic Neo"/>
                        </a:rPr>
                        <a:t>격차 (Level 2)</a:t>
                      </a:r>
                    </a:p>
                  </a:txBody>
                  <a:tcPr marT="93600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dirty="0" err="1">
                          <a:solidFill>
                            <a:srgbClr val="FFFFFF"/>
                          </a:solidFill>
                          <a:latin typeface="Apple SD Gothic Neo"/>
                        </a:rPr>
                        <a:t>지배</a:t>
                      </a:r>
                      <a:r>
                        <a:rPr sz="900" b="1" dirty="0">
                          <a:solidFill>
                            <a:srgbClr val="FFFFFF"/>
                          </a:solidFill>
                          <a:latin typeface="Apple SD Gothic Neo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FFFFFF"/>
                          </a:solidFill>
                          <a:latin typeface="Apple SD Gothic Neo"/>
                        </a:rPr>
                        <a:t>요인</a:t>
                      </a:r>
                      <a:endParaRPr sz="900" b="1" dirty="0">
                        <a:solidFill>
                          <a:srgbClr val="FFFFFF"/>
                        </a:solidFill>
                        <a:latin typeface="Apple SD Gothic Neo"/>
                      </a:endParaRPr>
                    </a:p>
                  </a:txBody>
                  <a:tcPr marT="93600">
                    <a:solidFill>
                      <a:srgbClr val="2563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5279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F172A"/>
                          </a:solidFill>
                          <a:latin typeface="Apple SD Gothic Neo"/>
                        </a:rPr>
                        <a:t>s = 50%</a:t>
                      </a:r>
                    </a:p>
                  </a:txBody>
                  <a:tcPr marT="9360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F172A"/>
                          </a:solidFill>
                          <a:latin typeface="Apple SD Gothic Neo"/>
                        </a:rPr>
                        <a:t>+1.64%</a:t>
                      </a:r>
                    </a:p>
                  </a:txBody>
                  <a:tcPr marT="9360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F172A"/>
                          </a:solidFill>
                          <a:latin typeface="Apple SD Gothic Neo"/>
                        </a:rPr>
                        <a:t>+2.20%</a:t>
                      </a:r>
                    </a:p>
                  </a:txBody>
                  <a:tcPr marT="9360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F172A"/>
                          </a:solidFill>
                          <a:latin typeface="Apple SD Gothic Neo"/>
                        </a:rPr>
                        <a:t>~0</a:t>
                      </a:r>
                    </a:p>
                  </a:txBody>
                  <a:tcPr marT="9360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 err="1">
                          <a:solidFill>
                            <a:srgbClr val="0F172A"/>
                          </a:solidFill>
                          <a:latin typeface="Apple SD Gothic Neo"/>
                        </a:rPr>
                        <a:t>비례만</a:t>
                      </a:r>
                      <a:endParaRPr sz="900" b="0" dirty="0">
                        <a:solidFill>
                          <a:srgbClr val="0F172A"/>
                        </a:solidFill>
                        <a:latin typeface="Apple SD Gothic Neo"/>
                      </a:endParaRPr>
                    </a:p>
                  </a:txBody>
                  <a:tcPr marT="93600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5279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F172A"/>
                          </a:solidFill>
                          <a:latin typeface="Apple SD Gothic Neo"/>
                        </a:rPr>
                        <a:t>s = 30%</a:t>
                      </a:r>
                    </a:p>
                  </a:txBody>
                  <a:tcPr marT="936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F172A"/>
                          </a:solidFill>
                          <a:latin typeface="Apple SD Gothic Neo"/>
                        </a:rPr>
                        <a:t>+2.62%</a:t>
                      </a:r>
                    </a:p>
                  </a:txBody>
                  <a:tcPr marT="936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F172A"/>
                          </a:solidFill>
                          <a:latin typeface="Apple SD Gothic Neo"/>
                        </a:rPr>
                        <a:t>+0.26%</a:t>
                      </a:r>
                    </a:p>
                  </a:txBody>
                  <a:tcPr marT="936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F172A"/>
                          </a:solidFill>
                          <a:latin typeface="Apple SD Gothic Neo"/>
                        </a:rPr>
                        <a:t>+2.4%p</a:t>
                      </a:r>
                    </a:p>
                  </a:txBody>
                  <a:tcPr marT="936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F172A"/>
                          </a:solidFill>
                          <a:latin typeface="Apple SD Gothic Neo"/>
                        </a:rPr>
                        <a:t>Level 2</a:t>
                      </a:r>
                    </a:p>
                  </a:txBody>
                  <a:tcPr marT="936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5279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F172A"/>
                          </a:solidFill>
                          <a:latin typeface="Apple SD Gothic Neo"/>
                        </a:rPr>
                        <a:t>s = 10%</a:t>
                      </a:r>
                    </a:p>
                  </a:txBody>
                  <a:tcPr marT="9360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F172A"/>
                          </a:solidFill>
                          <a:latin typeface="Apple SD Gothic Neo"/>
                        </a:rPr>
                        <a:t>+4.19%</a:t>
                      </a:r>
                    </a:p>
                  </a:txBody>
                  <a:tcPr marT="9360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F172A"/>
                          </a:solidFill>
                          <a:latin typeface="Apple SD Gothic Neo"/>
                        </a:rPr>
                        <a:t>+1.74%</a:t>
                      </a:r>
                    </a:p>
                  </a:txBody>
                  <a:tcPr marT="9360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F172A"/>
                          </a:solidFill>
                          <a:latin typeface="Apple SD Gothic Neo"/>
                        </a:rPr>
                        <a:t>+2.5%p</a:t>
                      </a:r>
                    </a:p>
                  </a:txBody>
                  <a:tcPr marT="93600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F172A"/>
                          </a:solidFill>
                          <a:latin typeface="Apple SD Gothic Neo"/>
                        </a:rPr>
                        <a:t>Level 2</a:t>
                      </a:r>
                    </a:p>
                  </a:txBody>
                  <a:tcPr marT="93600"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5279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F172A"/>
                          </a:solidFill>
                          <a:latin typeface="Apple SD Gothic Neo"/>
                        </a:rPr>
                        <a:t>s = 5%</a:t>
                      </a:r>
                    </a:p>
                  </a:txBody>
                  <a:tcPr marT="936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F172A"/>
                          </a:solidFill>
                          <a:latin typeface="Apple SD Gothic Neo"/>
                        </a:rPr>
                        <a:t>+1.85%</a:t>
                      </a:r>
                    </a:p>
                  </a:txBody>
                  <a:tcPr marT="936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F172A"/>
                          </a:solidFill>
                          <a:latin typeface="Apple SD Gothic Neo"/>
                        </a:rPr>
                        <a:t>+0.79%</a:t>
                      </a:r>
                    </a:p>
                  </a:txBody>
                  <a:tcPr marT="936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F172A"/>
                          </a:solidFill>
                          <a:latin typeface="Apple SD Gothic Neo"/>
                        </a:rPr>
                        <a:t>+1.1%p</a:t>
                      </a:r>
                    </a:p>
                  </a:txBody>
                  <a:tcPr marT="936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F172A"/>
                          </a:solidFill>
                          <a:latin typeface="Apple SD Gothic Neo"/>
                        </a:rPr>
                        <a:t>Level 2</a:t>
                      </a:r>
                    </a:p>
                  </a:txBody>
                  <a:tcPr marT="936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5284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pple SD Gothic Neo"/>
                        </a:rPr>
                        <a:t>s = 1%</a:t>
                      </a:r>
                    </a:p>
                  </a:txBody>
                  <a:tcPr marT="93600">
                    <a:solidFill>
                      <a:srgbClr val="D9770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pple SD Gothic Neo"/>
                        </a:rPr>
                        <a:t>+8.93%</a:t>
                      </a:r>
                    </a:p>
                  </a:txBody>
                  <a:tcPr marT="93600">
                    <a:solidFill>
                      <a:srgbClr val="D9770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pple SD Gothic Neo"/>
                        </a:rPr>
                        <a:t>−10.67%</a:t>
                      </a:r>
                    </a:p>
                  </a:txBody>
                  <a:tcPr marT="93600">
                    <a:solidFill>
                      <a:srgbClr val="D9770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pple SD Gothic Neo"/>
                        </a:rPr>
                        <a:t>+19.6%p</a:t>
                      </a:r>
                    </a:p>
                  </a:txBody>
                  <a:tcPr marT="93600">
                    <a:solidFill>
                      <a:srgbClr val="D9770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dirty="0">
                          <a:solidFill>
                            <a:srgbClr val="FFFFFF"/>
                          </a:solidFill>
                          <a:latin typeface="Apple SD Gothic Neo"/>
                        </a:rPr>
                        <a:t>★ </a:t>
                      </a:r>
                      <a:r>
                        <a:rPr sz="900" b="1" dirty="0" err="1">
                          <a:solidFill>
                            <a:srgbClr val="FFFFFF"/>
                          </a:solidFill>
                          <a:latin typeface="Apple SD Gothic Neo"/>
                        </a:rPr>
                        <a:t>공간</a:t>
                      </a:r>
                      <a:r>
                        <a:rPr sz="900" b="1" dirty="0">
                          <a:solidFill>
                            <a:srgbClr val="FFFFFF"/>
                          </a:solidFill>
                          <a:latin typeface="Apple SD Gothic Neo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FFFFFF"/>
                          </a:solidFill>
                          <a:latin typeface="Apple SD Gothic Neo"/>
                        </a:rPr>
                        <a:t>인식</a:t>
                      </a:r>
                      <a:r>
                        <a:rPr sz="900" b="1" dirty="0">
                          <a:solidFill>
                            <a:srgbClr val="FFFFFF"/>
                          </a:solidFill>
                          <a:latin typeface="Apple SD Gothic Neo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FFFFFF"/>
                          </a:solidFill>
                          <a:latin typeface="Apple SD Gothic Neo"/>
                        </a:rPr>
                        <a:t>단독</a:t>
                      </a:r>
                      <a:endParaRPr sz="900" b="1" dirty="0">
                        <a:solidFill>
                          <a:srgbClr val="FFFFFF"/>
                        </a:solidFill>
                        <a:latin typeface="Apple SD Gothic Neo"/>
                      </a:endParaRPr>
                    </a:p>
                  </a:txBody>
                  <a:tcPr marT="93600">
                    <a:solidFill>
                      <a:srgbClr val="D9770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0" y="1371600"/>
            <a:ext cx="5303520" cy="32004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▣ 데이터셋 쏠림도 — DEEP CV 0.234 vs SIFT CV 0.394 (68% 높음)</a:t>
            </a:r>
          </a:p>
        </p:txBody>
      </p:sp>
      <p:pic>
        <p:nvPicPr>
          <p:cNvPr id="10" name="Picture 9" descr="figure_10_cluster_sk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901680"/>
            <a:ext cx="5349240" cy="214023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0" y="4251960"/>
            <a:ext cx="5349240" cy="22860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클러스터 쏠림도 — DEEP CV 0.234 vs SIFT CV 0.394 (HHI 정량)</a:t>
            </a:r>
          </a:p>
        </p:txBody>
      </p:sp>
      <p:sp>
        <p:nvSpPr>
          <p:cNvPr id="12" name="Oval 11"/>
          <p:cNvSpPr/>
          <p:nvPr/>
        </p:nvSpPr>
        <p:spPr>
          <a:xfrm>
            <a:off x="6400800" y="4727448"/>
            <a:ext cx="109728" cy="109728"/>
          </a:xfrm>
          <a:prstGeom prst="ellipse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629400" y="4621105"/>
            <a:ext cx="5029200" cy="292608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dirty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SIFT </a:t>
            </a:r>
            <a:r>
              <a:rPr sz="1000" b="0" dirty="0" err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최대</a:t>
            </a:r>
            <a:r>
              <a:rPr sz="1000" b="0" dirty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 </a:t>
            </a:r>
            <a:r>
              <a:rPr sz="1000" b="0" dirty="0" err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클러스터</a:t>
            </a:r>
            <a:r>
              <a:rPr sz="1000" b="0" dirty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 14.8 </a:t>
            </a:r>
            <a:r>
              <a:rPr sz="1000" b="0" dirty="0" err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만</a:t>
            </a:r>
            <a:r>
              <a:rPr sz="1000" b="0" dirty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 (</a:t>
            </a:r>
            <a:r>
              <a:rPr sz="1000" b="0" dirty="0" err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기대값</a:t>
            </a:r>
            <a:r>
              <a:rPr sz="1000" b="0" dirty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 7.5 </a:t>
            </a:r>
            <a:r>
              <a:rPr sz="1000" b="0" dirty="0" err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만의</a:t>
            </a:r>
            <a:r>
              <a:rPr sz="1000" b="0" dirty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 2 </a:t>
            </a:r>
            <a:r>
              <a:rPr sz="1000" b="0" dirty="0" err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배</a:t>
            </a:r>
            <a:r>
              <a:rPr sz="1000" b="0" dirty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)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0" y="5020056"/>
            <a:ext cx="109728" cy="109728"/>
          </a:xfrm>
          <a:prstGeom prst="ellipse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629400" y="4913713"/>
            <a:ext cx="5029200" cy="292608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dirty="0" err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상위</a:t>
            </a:r>
            <a:r>
              <a:rPr sz="1000" b="0" dirty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 2 </a:t>
            </a:r>
            <a:r>
              <a:rPr sz="1000" b="0" dirty="0" err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클러스터가</a:t>
            </a:r>
            <a:r>
              <a:rPr sz="1000" b="0" dirty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 </a:t>
            </a:r>
            <a:r>
              <a:rPr sz="1000" b="0" dirty="0" err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전체</a:t>
            </a:r>
            <a:r>
              <a:rPr sz="1000" b="0" dirty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 19% </a:t>
            </a:r>
            <a:r>
              <a:rPr sz="1000" b="0" dirty="0" err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점유</a:t>
            </a:r>
            <a:endParaRPr sz="1000" b="0" dirty="0">
              <a:solidFill>
                <a:srgbClr val="0F172A"/>
              </a:solidFill>
              <a:latin typeface="Apple SD Gothic Neo"/>
              <a:ea typeface="Apple SD Gothic Neo"/>
              <a:cs typeface="Apple SD Gothic Neo"/>
            </a:endParaRPr>
          </a:p>
        </p:txBody>
      </p:sp>
      <p:sp>
        <p:nvSpPr>
          <p:cNvPr id="16" name="Oval 15"/>
          <p:cNvSpPr/>
          <p:nvPr/>
        </p:nvSpPr>
        <p:spPr>
          <a:xfrm>
            <a:off x="6400800" y="5312664"/>
            <a:ext cx="109728" cy="109728"/>
          </a:xfrm>
          <a:prstGeom prst="ellipse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629400" y="5206321"/>
            <a:ext cx="5029200" cy="292608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KM20 효과 SIFT +3.07% (DEEP +1.64% 의 약 2 배)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669280"/>
            <a:ext cx="11064240" cy="50292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77240" y="5716354"/>
            <a:ext cx="10515600" cy="4114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dirty="0">
                <a:solidFill>
                  <a:srgbClr val="3B82F6"/>
                </a:solidFill>
                <a:latin typeface="Apple SD Gothic Neo"/>
                <a:ea typeface="Apple SD Gothic Neo"/>
                <a:cs typeface="Apple SD Gothic Neo"/>
              </a:rPr>
              <a:t>★  </a:t>
            </a:r>
            <a:r>
              <a:rPr sz="1100" b="1" dirty="0" err="1">
                <a:solidFill>
                  <a:srgbClr val="3B82F6"/>
                </a:solidFill>
                <a:latin typeface="Apple SD Gothic Neo"/>
                <a:ea typeface="Apple SD Gothic Neo"/>
                <a:cs typeface="Apple SD Gothic Neo"/>
              </a:rPr>
              <a:t>쏠림</a:t>
            </a:r>
            <a:r>
              <a:rPr sz="1100" b="1" dirty="0">
                <a:solidFill>
                  <a:srgbClr val="3B82F6"/>
                </a:solidFill>
                <a:latin typeface="Apple SD Gothic Neo"/>
                <a:ea typeface="Apple SD Gothic Neo"/>
                <a:cs typeface="Apple SD Gothic Neo"/>
              </a:rPr>
              <a:t> ↑ ⇒ Level 2 (</a:t>
            </a:r>
            <a:r>
              <a:rPr sz="1100" b="1" dirty="0" err="1">
                <a:solidFill>
                  <a:srgbClr val="3B82F6"/>
                </a:solidFill>
                <a:latin typeface="Apple SD Gothic Neo"/>
                <a:ea typeface="Apple SD Gothic Neo"/>
                <a:cs typeface="Apple SD Gothic Neo"/>
              </a:rPr>
              <a:t>공간</a:t>
            </a:r>
            <a:r>
              <a:rPr sz="1100" b="1" dirty="0">
                <a:solidFill>
                  <a:srgbClr val="3B82F6"/>
                </a:solidFill>
                <a:latin typeface="Apple SD Gothic Neo"/>
                <a:ea typeface="Apple SD Gothic Neo"/>
                <a:cs typeface="Apple SD Gothic Neo"/>
              </a:rPr>
              <a:t> </a:t>
            </a:r>
            <a:r>
              <a:rPr sz="1100" b="1" dirty="0" err="1">
                <a:solidFill>
                  <a:srgbClr val="3B82F6"/>
                </a:solidFill>
                <a:latin typeface="Apple SD Gothic Neo"/>
                <a:ea typeface="Apple SD Gothic Neo"/>
                <a:cs typeface="Apple SD Gothic Neo"/>
              </a:rPr>
              <a:t>인식</a:t>
            </a:r>
            <a:r>
              <a:rPr sz="1100" b="1" dirty="0">
                <a:solidFill>
                  <a:srgbClr val="3B82F6"/>
                </a:solidFill>
                <a:latin typeface="Apple SD Gothic Neo"/>
                <a:ea typeface="Apple SD Gothic Neo"/>
                <a:cs typeface="Apple SD Gothic Neo"/>
              </a:rPr>
              <a:t>) </a:t>
            </a:r>
            <a:r>
              <a:rPr sz="1100" b="1" dirty="0" err="1">
                <a:solidFill>
                  <a:srgbClr val="3B82F6"/>
                </a:solidFill>
                <a:latin typeface="Apple SD Gothic Neo"/>
                <a:ea typeface="Apple SD Gothic Neo"/>
                <a:cs typeface="Apple SD Gothic Neo"/>
              </a:rPr>
              <a:t>단독</a:t>
            </a:r>
            <a:r>
              <a:rPr sz="1100" b="1" dirty="0">
                <a:solidFill>
                  <a:srgbClr val="3B82F6"/>
                </a:solidFill>
                <a:latin typeface="Apple SD Gothic Neo"/>
                <a:ea typeface="Apple SD Gothic Neo"/>
                <a:cs typeface="Apple SD Gothic Neo"/>
              </a:rPr>
              <a:t> </a:t>
            </a:r>
            <a:r>
              <a:rPr sz="1100" b="1" dirty="0" err="1">
                <a:solidFill>
                  <a:srgbClr val="3B82F6"/>
                </a:solidFill>
                <a:latin typeface="Apple SD Gothic Neo"/>
                <a:ea typeface="Apple SD Gothic Neo"/>
                <a:cs typeface="Apple SD Gothic Neo"/>
              </a:rPr>
              <a:t>효과</a:t>
            </a:r>
            <a:r>
              <a:rPr sz="1100" b="1" dirty="0">
                <a:solidFill>
                  <a:srgbClr val="3B82F6"/>
                </a:solidFill>
                <a:latin typeface="Apple SD Gothic Neo"/>
                <a:ea typeface="Apple SD Gothic Neo"/>
                <a:cs typeface="Apple SD Gothic Neo"/>
              </a:rPr>
              <a:t> ↑ — </a:t>
            </a:r>
            <a:r>
              <a:rPr sz="1100" b="1" dirty="0" err="1">
                <a:solidFill>
                  <a:srgbClr val="3B82F6"/>
                </a:solidFill>
                <a:latin typeface="Apple SD Gothic Neo"/>
                <a:ea typeface="Apple SD Gothic Neo"/>
                <a:cs typeface="Apple SD Gothic Neo"/>
              </a:rPr>
              <a:t>본</a:t>
            </a:r>
            <a:r>
              <a:rPr sz="1100" b="1" dirty="0">
                <a:solidFill>
                  <a:srgbClr val="3B82F6"/>
                </a:solidFill>
                <a:latin typeface="Apple SD Gothic Neo"/>
                <a:ea typeface="Apple SD Gothic Neo"/>
                <a:cs typeface="Apple SD Gothic Neo"/>
              </a:rPr>
              <a:t> </a:t>
            </a:r>
            <a:r>
              <a:rPr sz="1100" b="1" dirty="0" err="1">
                <a:solidFill>
                  <a:srgbClr val="3B82F6"/>
                </a:solidFill>
                <a:latin typeface="Apple SD Gothic Neo"/>
                <a:ea typeface="Apple SD Gothic Neo"/>
                <a:cs typeface="Apple SD Gothic Neo"/>
              </a:rPr>
              <a:t>가설</a:t>
            </a:r>
            <a:r>
              <a:rPr sz="1100" b="1" dirty="0">
                <a:solidFill>
                  <a:srgbClr val="3B82F6"/>
                </a:solidFill>
                <a:latin typeface="Apple SD Gothic Neo"/>
                <a:ea typeface="Apple SD Gothic Neo"/>
                <a:cs typeface="Apple SD Gothic Neo"/>
              </a:rPr>
              <a:t> </a:t>
            </a:r>
            <a:r>
              <a:rPr sz="1100" b="1" dirty="0" err="1">
                <a:solidFill>
                  <a:srgbClr val="3B82F6"/>
                </a:solidFill>
                <a:latin typeface="Apple SD Gothic Neo"/>
                <a:ea typeface="Apple SD Gothic Neo"/>
                <a:cs typeface="Apple SD Gothic Neo"/>
              </a:rPr>
              <a:t>단조</a:t>
            </a:r>
            <a:r>
              <a:rPr sz="1100" b="1" dirty="0">
                <a:solidFill>
                  <a:srgbClr val="3B82F6"/>
                </a:solidFill>
                <a:latin typeface="Apple SD Gothic Neo"/>
                <a:ea typeface="Apple SD Gothic Neo"/>
                <a:cs typeface="Apple SD Gothic Neo"/>
              </a:rPr>
              <a:t> </a:t>
            </a:r>
            <a:r>
              <a:rPr sz="1100" b="1" dirty="0" err="1">
                <a:solidFill>
                  <a:srgbClr val="3B82F6"/>
                </a:solidFill>
                <a:latin typeface="Apple SD Gothic Neo"/>
                <a:ea typeface="Apple SD Gothic Neo"/>
                <a:cs typeface="Apple SD Gothic Neo"/>
              </a:rPr>
              <a:t>관계</a:t>
            </a:r>
            <a:r>
              <a:rPr sz="1100" b="1" dirty="0">
                <a:solidFill>
                  <a:srgbClr val="3B82F6"/>
                </a:solidFill>
                <a:latin typeface="Apple SD Gothic Neo"/>
                <a:ea typeface="Apple SD Gothic Neo"/>
                <a:cs typeface="Apple SD Gothic Neo"/>
              </a:rPr>
              <a:t> </a:t>
            </a:r>
            <a:r>
              <a:rPr sz="1100" b="1" dirty="0" err="1">
                <a:solidFill>
                  <a:srgbClr val="3B82F6"/>
                </a:solidFill>
                <a:latin typeface="Apple SD Gothic Neo"/>
                <a:ea typeface="Apple SD Gothic Neo"/>
                <a:cs typeface="Apple SD Gothic Neo"/>
              </a:rPr>
              <a:t>재확인</a:t>
            </a:r>
            <a:endParaRPr sz="1100" b="1" dirty="0">
              <a:solidFill>
                <a:srgbClr val="3B82F6"/>
              </a:solidFill>
              <a:latin typeface="Apple SD Gothic Neo"/>
              <a:ea typeface="Apple SD Gothic Neo"/>
              <a:cs typeface="Apple SD Gothic Neo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31520" y="502920"/>
            <a:ext cx="54864" cy="7772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411480"/>
            <a:ext cx="10515600" cy="54864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4-Ⅵ. RQ3 (설계) — 분포를 모를 때의 Recovery Rate 프레임워크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960120"/>
            <a:ext cx="10972800" cy="32004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3 패러다임 × 7 방법 — W5~W7 실험 예정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64240" cy="127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914400" cy="32004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12 / 17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325880"/>
            <a:ext cx="11064240" cy="59436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1390565"/>
            <a:ext cx="10515600" cy="45720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dirty="0">
                <a:solidFill>
                  <a:srgbClr val="3B82F6"/>
                </a:solidFill>
                <a:latin typeface="Apple SD Gothic Neo"/>
                <a:ea typeface="Apple SD Gothic Neo"/>
                <a:cs typeface="Apple SD Gothic Neo"/>
              </a:rPr>
              <a:t>▣ Recovery Rate = (</a:t>
            </a:r>
            <a:r>
              <a:rPr sz="1400" b="1" dirty="0" err="1">
                <a:solidFill>
                  <a:srgbClr val="3B82F6"/>
                </a:solidFill>
                <a:latin typeface="Apple SD Gothic Neo"/>
                <a:ea typeface="Apple SD Gothic Neo"/>
                <a:cs typeface="Apple SD Gothic Neo"/>
              </a:rPr>
              <a:t>방법X</a:t>
            </a:r>
            <a:r>
              <a:rPr sz="1400" b="1" dirty="0">
                <a:solidFill>
                  <a:srgbClr val="3B82F6"/>
                </a:solidFill>
                <a:latin typeface="Apple SD Gothic Neo"/>
                <a:ea typeface="Apple SD Gothic Neo"/>
                <a:cs typeface="Apple SD Gothic Neo"/>
              </a:rPr>
              <a:t> − RANDOM20) / (KM20 − RANDOM20)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103120"/>
            <a:ext cx="3611880" cy="274320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77240" y="2213583"/>
            <a:ext cx="457200" cy="3657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3B82F6"/>
                </a:solidFill>
                <a:latin typeface="Apple SD Gothic Neo"/>
                <a:ea typeface="Apple SD Gothic Neo"/>
                <a:cs typeface="Apple SD Gothic Neo"/>
              </a:rPr>
              <a:t>P1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2212848"/>
            <a:ext cx="2743200" cy="3657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Offline Partition (4 방법)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2697480"/>
            <a:ext cx="3200400" cy="127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822960" y="2944368"/>
            <a:ext cx="109728" cy="109728"/>
          </a:xfrm>
          <a:prstGeom prst="ellipse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51560" y="2812625"/>
            <a:ext cx="3108960" cy="3657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dirty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LSH Random Hyperplane</a:t>
            </a:r>
          </a:p>
        </p:txBody>
      </p:sp>
      <p:sp>
        <p:nvSpPr>
          <p:cNvPr id="15" name="Oval 14"/>
          <p:cNvSpPr/>
          <p:nvPr/>
        </p:nvSpPr>
        <p:spPr>
          <a:xfrm>
            <a:off x="822960" y="3328416"/>
            <a:ext cx="109728" cy="109728"/>
          </a:xfrm>
          <a:prstGeom prst="ellipse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051560" y="3196673"/>
            <a:ext cx="3108960" cy="3657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Random Projection (JL)</a:t>
            </a:r>
          </a:p>
        </p:txBody>
      </p:sp>
      <p:sp>
        <p:nvSpPr>
          <p:cNvPr id="17" name="Oval 16"/>
          <p:cNvSpPr/>
          <p:nvPr/>
        </p:nvSpPr>
        <p:spPr>
          <a:xfrm>
            <a:off x="822960" y="3712464"/>
            <a:ext cx="109728" cy="109728"/>
          </a:xfrm>
          <a:prstGeom prst="ellipse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051560" y="3580721"/>
            <a:ext cx="3108960" cy="3657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Hilbert Curve</a:t>
            </a:r>
          </a:p>
        </p:txBody>
      </p:sp>
      <p:sp>
        <p:nvSpPr>
          <p:cNvPr id="19" name="Oval 18"/>
          <p:cNvSpPr/>
          <p:nvPr/>
        </p:nvSpPr>
        <p:spPr>
          <a:xfrm>
            <a:off x="822960" y="4096512"/>
            <a:ext cx="109728" cy="109728"/>
          </a:xfrm>
          <a:prstGeom prst="ellipse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51560" y="3964769"/>
            <a:ext cx="3108960" cy="3657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Mini-batch K-means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251960"/>
            <a:ext cx="3200400" cy="50292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1회 사전 처리 — KM20 와 비용 동등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79" y="2103120"/>
            <a:ext cx="3611880" cy="274320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526279" y="2213583"/>
            <a:ext cx="457200" cy="3657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dirty="0">
                <a:solidFill>
                  <a:srgbClr val="3B82F6"/>
                </a:solidFill>
                <a:latin typeface="Apple SD Gothic Neo"/>
                <a:ea typeface="Apple SD Gothic Neo"/>
                <a:cs typeface="Apple SD Gothic Neo"/>
              </a:rPr>
              <a:t>P2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74919" y="2212848"/>
            <a:ext cx="2743200" cy="3657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Online Query-Adaptive (2 방법)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26279" y="2697480"/>
            <a:ext cx="3200400" cy="127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4571999" y="2944368"/>
            <a:ext cx="109728" cy="109728"/>
          </a:xfrm>
          <a:prstGeom prst="ellipse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800599" y="2812625"/>
            <a:ext cx="3108960" cy="3657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Distance-Shell</a:t>
            </a:r>
          </a:p>
        </p:txBody>
      </p:sp>
      <p:sp>
        <p:nvSpPr>
          <p:cNvPr id="28" name="Oval 27"/>
          <p:cNvSpPr/>
          <p:nvPr/>
        </p:nvSpPr>
        <p:spPr>
          <a:xfrm>
            <a:off x="4571999" y="3328416"/>
            <a:ext cx="109728" cy="109728"/>
          </a:xfrm>
          <a:prstGeom prst="ellipse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800599" y="3196673"/>
            <a:ext cx="3108960" cy="3657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KDE-pilot (Neyman)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26279" y="4251960"/>
            <a:ext cx="3200400" cy="50292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Query 도착 시점 학습 — D_target 의존성 제거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46719" y="2103120"/>
            <a:ext cx="3611880" cy="274320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275319" y="2213583"/>
            <a:ext cx="457200" cy="3657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3B82F6"/>
                </a:solidFill>
                <a:latin typeface="Apple SD Gothic Neo"/>
                <a:ea typeface="Apple SD Gothic Neo"/>
                <a:cs typeface="Apple SD Gothic Neo"/>
              </a:rPr>
              <a:t>P3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23959" y="2212848"/>
            <a:ext cx="2743200" cy="3657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Weight-based (1 방법)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275319" y="2697480"/>
            <a:ext cx="3200400" cy="127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Oval 34"/>
          <p:cNvSpPr/>
          <p:nvPr/>
        </p:nvSpPr>
        <p:spPr>
          <a:xfrm>
            <a:off x="8321039" y="2944368"/>
            <a:ext cx="109728" cy="109728"/>
          </a:xfrm>
          <a:prstGeom prst="ellipse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8549639" y="2812625"/>
            <a:ext cx="3108960" cy="3657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Importance Sampling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75319" y="4251960"/>
            <a:ext cx="3200400" cy="50292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Sample 후 재가중 — partition 자체 불필요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5074920"/>
            <a:ext cx="11064240" cy="32004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평가 조건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" y="5349240"/>
            <a:ext cx="11064240" cy="32004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→  DEEP 1M · 8M · SIFT 1.5M 3 데이터셋 × 5 seed × 5 selectivity 동일 조건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48640" y="5760720"/>
            <a:ext cx="11064240" cy="411480"/>
          </a:xfrm>
          <a:prstGeom prst="roundRect">
            <a:avLst>
              <a:gd name="adj" fmla="val 8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772748" y="5780612"/>
            <a:ext cx="10515600" cy="3657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dirty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★  </a:t>
            </a:r>
            <a:r>
              <a:rPr sz="1100" b="1" dirty="0" err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최소</a:t>
            </a:r>
            <a:r>
              <a:rPr sz="1100" b="1" dirty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 1 </a:t>
            </a:r>
            <a:r>
              <a:rPr sz="1100" b="1" dirty="0" err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방법이</a:t>
            </a:r>
            <a:r>
              <a:rPr sz="1100" b="1" dirty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 RR ≥ 0.5 → </a:t>
            </a:r>
            <a:r>
              <a:rPr sz="1100" b="1" dirty="0" err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분포</a:t>
            </a:r>
            <a:r>
              <a:rPr sz="1100" b="1" dirty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 </a:t>
            </a:r>
            <a:r>
              <a:rPr sz="1100" b="1" dirty="0" err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미지</a:t>
            </a:r>
            <a:r>
              <a:rPr sz="1100" b="1" dirty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 </a:t>
            </a:r>
            <a:r>
              <a:rPr sz="1100" b="1" dirty="0" err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시에도</a:t>
            </a:r>
            <a:r>
              <a:rPr sz="1100" b="1" dirty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 KM20 </a:t>
            </a:r>
            <a:r>
              <a:rPr sz="1100" b="1" dirty="0" err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의</a:t>
            </a:r>
            <a:r>
              <a:rPr sz="1100" b="1" dirty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 </a:t>
            </a:r>
            <a:r>
              <a:rPr sz="1100" b="1" dirty="0" err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절반</a:t>
            </a:r>
            <a:r>
              <a:rPr sz="1100" b="1" dirty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 </a:t>
            </a:r>
            <a:r>
              <a:rPr sz="1100" b="1" dirty="0" err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효과</a:t>
            </a:r>
            <a:r>
              <a:rPr sz="1100" b="1" dirty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 </a:t>
            </a:r>
            <a:r>
              <a:rPr sz="1100" b="1" dirty="0" err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회수</a:t>
            </a:r>
            <a:endParaRPr sz="1100" b="1" dirty="0">
              <a:solidFill>
                <a:srgbClr val="FFFFFF"/>
              </a:solidFill>
              <a:latin typeface="Apple SD Gothic Neo"/>
              <a:ea typeface="Apple SD Gothic Neo"/>
              <a:cs typeface="Apple SD Gothic Neo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31520" y="502920"/>
            <a:ext cx="54864" cy="7772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411480"/>
            <a:ext cx="10515600" cy="54864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5-Ⅰ. 현재 진행 상황 (W1~W9, 보고서 표 4 와 일치)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11064240" cy="127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247120" y="6446520"/>
            <a:ext cx="914400" cy="32004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13 / 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17320"/>
            <a:ext cx="2697480" cy="402336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48640" y="1417320"/>
            <a:ext cx="2697480" cy="50292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1490472"/>
            <a:ext cx="1371600" cy="3657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W1~W6  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057400"/>
            <a:ext cx="2377440" cy="32004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3/2~4/12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377440"/>
            <a:ext cx="2377440" cy="3657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Scope · 환경 세팅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834640"/>
            <a:ext cx="2468880" cy="50292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·  주제 확정 (3/3)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337560"/>
            <a:ext cx="2468880" cy="50292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·  Exqutor 채택 (4/3)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840480"/>
            <a:ext cx="2468880" cy="50292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·  코드·데이터 수령 (4/7~)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343400"/>
            <a:ext cx="2468880" cy="50292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·  서버 권한 + Docker (4/14)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37560" y="1417320"/>
            <a:ext cx="2697480" cy="402336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337560" y="1417320"/>
            <a:ext cx="2697480" cy="50292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520440" y="1490472"/>
            <a:ext cx="1371600" cy="3657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W7  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20440" y="2057400"/>
            <a:ext cx="2377440" cy="32004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4/13~4/19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0440" y="2377440"/>
            <a:ext cx="2377440" cy="3657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RQ1 Motivation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20440" y="2834640"/>
            <a:ext cx="2468880" cy="50292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·  Phase 1 가설 H1 기각 (4/14)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20440" y="3337560"/>
            <a:ext cx="2468880" cy="50292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·  Phase 5 로컬 4 지표 negative (4/15)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20440" y="3840480"/>
            <a:ext cx="2468880" cy="50292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·  Design Constraint 발견 (4/14)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26479" y="1417320"/>
            <a:ext cx="2697480" cy="402336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6126479" y="1417320"/>
            <a:ext cx="2697480" cy="50292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309359" y="1490472"/>
            <a:ext cx="1371600" cy="3657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W8  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59" y="2057400"/>
            <a:ext cx="2377440" cy="32004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4/20~4/26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59" y="2377440"/>
            <a:ext cx="2377440" cy="3657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RQ2 Aware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59" y="2834640"/>
            <a:ext cx="2468880" cy="50292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·  Phase 4 Pivot A native (4/14~15)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59" y="3337560"/>
            <a:ext cx="2468880" cy="50292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·  Phase 6 Step 4 KM20 1-seed (4/15)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9359" y="3840480"/>
            <a:ext cx="2468880" cy="50292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·  5-seed CI · DEEP 1M/8M/SIFT (4/16)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915399" y="1417320"/>
            <a:ext cx="2697480" cy="402336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8915399" y="1417320"/>
            <a:ext cx="2697480" cy="5029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9098279" y="1490472"/>
            <a:ext cx="1371600" cy="3657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W9  ▶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98279" y="2057400"/>
            <a:ext cx="2377440" cy="32004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4/27~5/3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098279" y="2377440"/>
            <a:ext cx="2377440" cy="3657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보강 + 발표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098279" y="2834640"/>
            <a:ext cx="2468880" cy="50292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·  Two-Level 분해 +19.6%p (4/16)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98279" y="3337560"/>
            <a:ext cx="2468880" cy="50292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·  HHI/CV 정량 (4/17)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98279" y="3840480"/>
            <a:ext cx="2468880" cy="50292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·  RQ3 7-way 설계 (4/16)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98279" y="4343400"/>
            <a:ext cx="2468880" cy="50292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·  중간보고서 + 발표 (4/28)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48640" y="5669280"/>
            <a:ext cx="11064240" cy="50292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758952" y="5692140"/>
            <a:ext cx="10515600" cy="45720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dirty="0">
                <a:solidFill>
                  <a:srgbClr val="3B82F6"/>
                </a:solidFill>
                <a:latin typeface="Apple SD Gothic Neo"/>
                <a:ea typeface="Apple SD Gothic Neo"/>
                <a:cs typeface="Apple SD Gothic Neo"/>
              </a:rPr>
              <a:t>✓  RQ1 + RQ2 </a:t>
            </a:r>
            <a:r>
              <a:rPr sz="1200" b="1" dirty="0" err="1">
                <a:solidFill>
                  <a:srgbClr val="3B82F6"/>
                </a:solidFill>
                <a:latin typeface="Apple SD Gothic Neo"/>
                <a:ea typeface="Apple SD Gothic Neo"/>
                <a:cs typeface="Apple SD Gothic Neo"/>
              </a:rPr>
              <a:t>본선</a:t>
            </a:r>
            <a:r>
              <a:rPr sz="1200" b="1" dirty="0">
                <a:solidFill>
                  <a:srgbClr val="3B82F6"/>
                </a:solidFill>
                <a:latin typeface="Apple SD Gothic Neo"/>
                <a:ea typeface="Apple SD Gothic Neo"/>
                <a:cs typeface="Apple SD Gothic Neo"/>
              </a:rPr>
              <a:t> + 5-seed </a:t>
            </a:r>
            <a:r>
              <a:rPr sz="1200" b="1" dirty="0" err="1">
                <a:solidFill>
                  <a:srgbClr val="3B82F6"/>
                </a:solidFill>
                <a:latin typeface="Apple SD Gothic Neo"/>
                <a:ea typeface="Apple SD Gothic Neo"/>
                <a:cs typeface="Apple SD Gothic Neo"/>
              </a:rPr>
              <a:t>외적</a:t>
            </a:r>
            <a:r>
              <a:rPr sz="1200" b="1" dirty="0">
                <a:solidFill>
                  <a:srgbClr val="3B82F6"/>
                </a:solidFill>
                <a:latin typeface="Apple SD Gothic Neo"/>
                <a:ea typeface="Apple SD Gothic Neo"/>
                <a:cs typeface="Apple SD Gothic Neo"/>
              </a:rPr>
              <a:t> </a:t>
            </a:r>
            <a:r>
              <a:rPr sz="1200" b="1" dirty="0" err="1">
                <a:solidFill>
                  <a:srgbClr val="3B82F6"/>
                </a:solidFill>
                <a:latin typeface="Apple SD Gothic Neo"/>
                <a:ea typeface="Apple SD Gothic Neo"/>
                <a:cs typeface="Apple SD Gothic Neo"/>
              </a:rPr>
              <a:t>타당성</a:t>
            </a:r>
            <a:r>
              <a:rPr sz="1200" b="1" dirty="0">
                <a:solidFill>
                  <a:srgbClr val="3B82F6"/>
                </a:solidFill>
                <a:latin typeface="Apple SD Gothic Neo"/>
                <a:ea typeface="Apple SD Gothic Neo"/>
                <a:cs typeface="Apple SD Gothic Neo"/>
              </a:rPr>
              <a:t> + RQ3 </a:t>
            </a:r>
            <a:r>
              <a:rPr sz="1200" b="1" dirty="0" err="1">
                <a:solidFill>
                  <a:srgbClr val="3B82F6"/>
                </a:solidFill>
                <a:latin typeface="Apple SD Gothic Neo"/>
                <a:ea typeface="Apple SD Gothic Neo"/>
                <a:cs typeface="Apple SD Gothic Neo"/>
              </a:rPr>
              <a:t>설계</a:t>
            </a:r>
            <a:r>
              <a:rPr sz="1200" b="1" dirty="0">
                <a:solidFill>
                  <a:srgbClr val="3B82F6"/>
                </a:solidFill>
                <a:latin typeface="Apple SD Gothic Neo"/>
                <a:ea typeface="Apple SD Gothic Neo"/>
                <a:cs typeface="Apple SD Gothic Neo"/>
              </a:rPr>
              <a:t> — </a:t>
            </a:r>
            <a:r>
              <a:rPr sz="1200" b="1" dirty="0" err="1">
                <a:solidFill>
                  <a:srgbClr val="3B82F6"/>
                </a:solidFill>
                <a:latin typeface="Apple SD Gothic Neo"/>
                <a:ea typeface="Apple SD Gothic Neo"/>
                <a:cs typeface="Apple SD Gothic Neo"/>
              </a:rPr>
              <a:t>학기</a:t>
            </a:r>
            <a:r>
              <a:rPr sz="1200" b="1" dirty="0">
                <a:solidFill>
                  <a:srgbClr val="3B82F6"/>
                </a:solidFill>
                <a:latin typeface="Apple SD Gothic Neo"/>
                <a:ea typeface="Apple SD Gothic Neo"/>
                <a:cs typeface="Apple SD Gothic Neo"/>
              </a:rPr>
              <a:t> </a:t>
            </a:r>
            <a:r>
              <a:rPr sz="1200" b="1" dirty="0" err="1">
                <a:solidFill>
                  <a:srgbClr val="3B82F6"/>
                </a:solidFill>
                <a:latin typeface="Apple SD Gothic Neo"/>
                <a:ea typeface="Apple SD Gothic Neo"/>
                <a:cs typeface="Apple SD Gothic Neo"/>
              </a:rPr>
              <a:t>중간</a:t>
            </a:r>
            <a:r>
              <a:rPr sz="1200" b="1" dirty="0">
                <a:solidFill>
                  <a:srgbClr val="3B82F6"/>
                </a:solidFill>
                <a:latin typeface="Apple SD Gothic Neo"/>
                <a:ea typeface="Apple SD Gothic Neo"/>
                <a:cs typeface="Apple SD Gothic Neo"/>
              </a:rPr>
              <a:t> </a:t>
            </a:r>
            <a:r>
              <a:rPr sz="1200" b="1" dirty="0" err="1">
                <a:solidFill>
                  <a:srgbClr val="3B82F6"/>
                </a:solidFill>
                <a:latin typeface="Apple SD Gothic Neo"/>
                <a:ea typeface="Apple SD Gothic Neo"/>
                <a:cs typeface="Apple SD Gothic Neo"/>
              </a:rPr>
              <a:t>시점</a:t>
            </a:r>
            <a:r>
              <a:rPr sz="1200" b="1" dirty="0">
                <a:solidFill>
                  <a:srgbClr val="3B82F6"/>
                </a:solidFill>
                <a:latin typeface="Apple SD Gothic Neo"/>
                <a:ea typeface="Apple SD Gothic Neo"/>
                <a:cs typeface="Apple SD Gothic Neo"/>
              </a:rPr>
              <a:t> </a:t>
            </a:r>
            <a:r>
              <a:rPr sz="1200" b="1" dirty="0" err="1">
                <a:solidFill>
                  <a:srgbClr val="3B82F6"/>
                </a:solidFill>
                <a:latin typeface="Apple SD Gothic Neo"/>
                <a:ea typeface="Apple SD Gothic Neo"/>
                <a:cs typeface="Apple SD Gothic Neo"/>
              </a:rPr>
              <a:t>완료</a:t>
            </a:r>
            <a:endParaRPr sz="1200" b="1" dirty="0">
              <a:solidFill>
                <a:srgbClr val="3B82F6"/>
              </a:solidFill>
              <a:latin typeface="Apple SD Gothic Neo"/>
              <a:ea typeface="Apple SD Gothic Neo"/>
              <a:cs typeface="Apple SD Gothic Neo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31520" y="502920"/>
            <a:ext cx="54864" cy="7772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411480"/>
            <a:ext cx="10515600" cy="54864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5-Ⅱ. 향후 계획 (W5~W10)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11064240" cy="127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247120" y="6446520"/>
            <a:ext cx="914400" cy="32004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14 / 17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20240"/>
            <a:ext cx="11064240" cy="127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48640" y="1417320"/>
            <a:ext cx="777240" cy="45720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1468628"/>
            <a:ext cx="777240" cy="3657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W5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1450340"/>
            <a:ext cx="1554480" cy="3657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4/29~5/6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54680" y="1450340"/>
            <a:ext cx="3200400" cy="3657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RQ3-A Offline Partition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1453361"/>
            <a:ext cx="5212080" cy="3657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dirty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Random K=20, Subspace decile, LSH 3 </a:t>
            </a:r>
            <a:r>
              <a:rPr sz="1000" b="0" dirty="0" err="1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방법</a:t>
            </a:r>
            <a:r>
              <a:rPr sz="1000" b="0" dirty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 — DEEP 1M 1-seed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514600"/>
            <a:ext cx="11064240" cy="127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548640" y="2011680"/>
            <a:ext cx="777240" cy="45720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48640" y="2062988"/>
            <a:ext cx="777240" cy="3657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W6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8760" y="2044700"/>
            <a:ext cx="1554480" cy="3657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5/7~5/13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54680" y="2044700"/>
            <a:ext cx="3200400" cy="3657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RQ3-A 5-seed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2047721"/>
            <a:ext cx="5212080" cy="3657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선별된 1~2 방법 5-seed × 3 데이터셋 — Recovery Rate 산출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108960"/>
            <a:ext cx="11064240" cy="127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548640" y="2606040"/>
            <a:ext cx="777240" cy="45720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48640" y="2657348"/>
            <a:ext cx="777240" cy="3657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W7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8760" y="2639060"/>
            <a:ext cx="1554480" cy="3657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5/14~5/20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54680" y="2639060"/>
            <a:ext cx="3200400" cy="3657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RQ3-B + Layer K sweep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2642081"/>
            <a:ext cx="5212080" cy="3657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Online + Weight 패러다임 + K=10/20/30/50 sweep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3703320"/>
            <a:ext cx="11064240" cy="127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548640" y="3200400"/>
            <a:ext cx="777240" cy="45720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48640" y="3251708"/>
            <a:ext cx="777240" cy="3657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W8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08760" y="3233420"/>
            <a:ext cx="1554480" cy="3657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5/21~5/27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54680" y="3233420"/>
            <a:ext cx="3200400" cy="3657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심화 + 최종발표 준비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46520" y="3236441"/>
            <a:ext cx="5212080" cy="3657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per-stratum BERN 최적화, sample_size sensitivity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4297680"/>
            <a:ext cx="11064240" cy="127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548640" y="3794760"/>
            <a:ext cx="777240" cy="45720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48640" y="3846068"/>
            <a:ext cx="777240" cy="3657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W9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508760" y="3827780"/>
            <a:ext cx="1554480" cy="3657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5/28~6/4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154680" y="3827780"/>
            <a:ext cx="3200400" cy="3657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최종발표 + 전시회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46520" y="3830801"/>
            <a:ext cx="5212080" cy="3657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5/27~29 발표, 6/5 전시회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48640" y="4892040"/>
            <a:ext cx="11064240" cy="127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ounded Rectangle 36"/>
          <p:cNvSpPr/>
          <p:nvPr/>
        </p:nvSpPr>
        <p:spPr>
          <a:xfrm>
            <a:off x="548640" y="4389120"/>
            <a:ext cx="777240" cy="45720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548640" y="4440428"/>
            <a:ext cx="777240" cy="3657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dirty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W10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508760" y="4422140"/>
            <a:ext cx="1554480" cy="3657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6/5~6/11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154680" y="4422140"/>
            <a:ext cx="3200400" cy="3657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최종보고서 작성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46520" y="4425161"/>
            <a:ext cx="5212080" cy="3657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RQ1 + RQ2 + RQ3 통합 + 실험 재현 가이드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8640" y="5760720"/>
            <a:ext cx="2286000" cy="3657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산출물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828800" y="5760720"/>
            <a:ext cx="9601200" cy="3657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최종발표 PDF (5/27~29)  ·  전시회 포스터 (6/5)  ·  최종보고서 PDF (6/11)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31520" y="502920"/>
            <a:ext cx="54864" cy="7772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411480"/>
            <a:ext cx="10515600" cy="54864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5-Ⅲ. 팀원별 역할 분담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11064240" cy="127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247120" y="6446520"/>
            <a:ext cx="914400" cy="32004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15 / 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63040"/>
            <a:ext cx="2697480" cy="402336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48640" y="1463040"/>
            <a:ext cx="2697480" cy="457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640080" y="1577340"/>
            <a:ext cx="246888" cy="2468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" y="1577340"/>
            <a:ext cx="246888" cy="246888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1542448"/>
            <a:ext cx="2103120" cy="292608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dirty="0" err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팀장</a:t>
            </a:r>
            <a:endParaRPr sz="1200" b="1" dirty="0">
              <a:solidFill>
                <a:srgbClr val="FFFFFF"/>
              </a:solidFill>
              <a:latin typeface="Apple SD Gothic Neo"/>
              <a:ea typeface="Apple SD Gothic Neo"/>
              <a:cs typeface="Apple SD Gothic Neo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731520" y="2057400"/>
            <a:ext cx="2377440" cy="50292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박세은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2651760"/>
            <a:ext cx="1097280" cy="2540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31520" y="2788920"/>
            <a:ext cx="2377440" cy="141732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전체 일정 관리 · 자문 회신 정리 · 발표·보고서 총괄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343400"/>
            <a:ext cx="2377440" cy="27432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1">
                <a:solidFill>
                  <a:srgbClr val="3B82F6"/>
                </a:solidFill>
                <a:latin typeface="Apple SD Gothic Neo"/>
                <a:ea typeface="Apple SD Gothic Neo"/>
                <a:cs typeface="Apple SD Gothic Neo"/>
              </a:rPr>
              <a:t>HIGHLIGHT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617720"/>
            <a:ext cx="2331720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2960" y="4663440"/>
            <a:ext cx="2194560" cy="68580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자문 컨택 정리 · 4 인 합의 주재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37560" y="1463040"/>
            <a:ext cx="2697480" cy="402336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3337560" y="1463040"/>
            <a:ext cx="2697480" cy="457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3429000" y="1577340"/>
            <a:ext cx="246888" cy="2468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429000" y="1577340"/>
            <a:ext cx="246888" cy="246888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75888" y="1542448"/>
            <a:ext cx="2103120" cy="292608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주 발표자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20440" y="2057400"/>
            <a:ext cx="2377440" cy="50292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강재현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520440" y="2651760"/>
            <a:ext cx="1097280" cy="2540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520440" y="2788920"/>
            <a:ext cx="2377440" cy="141732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중간발표 주 발표 · 슬라이드 검수 · Q&amp;A 사회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20440" y="4343400"/>
            <a:ext cx="2377440" cy="27432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1">
                <a:solidFill>
                  <a:srgbClr val="3B82F6"/>
                </a:solidFill>
                <a:latin typeface="Apple SD Gothic Neo"/>
                <a:ea typeface="Apple SD Gothic Neo"/>
                <a:cs typeface="Apple SD Gothic Neo"/>
              </a:rPr>
              <a:t>HIGHLIGHT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520440" y="4617720"/>
            <a:ext cx="2331720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611880" y="4663440"/>
            <a:ext cx="2194560" cy="68580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16 슬라이드 검수 · 리허설 2회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26479" y="1463040"/>
            <a:ext cx="2697480" cy="402336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6126479" y="1463040"/>
            <a:ext cx="2697480" cy="457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6217919" y="1577340"/>
            <a:ext cx="246888" cy="2468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217919" y="1577340"/>
            <a:ext cx="246888" cy="246888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64807" y="1542448"/>
            <a:ext cx="2103120" cy="292608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실험·문서화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09359" y="2057400"/>
            <a:ext cx="2377440" cy="50292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조현빈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309359" y="2651760"/>
            <a:ext cx="1097280" cy="2540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309359" y="2788920"/>
            <a:ext cx="2377440" cy="141732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RQ1/RQ2 실험 · vector.c native 구현 · 보고서 작성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09359" y="4299284"/>
            <a:ext cx="2377440" cy="27432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1">
                <a:solidFill>
                  <a:srgbClr val="3B82F6"/>
                </a:solidFill>
                <a:latin typeface="Apple SD Gothic Neo"/>
                <a:ea typeface="Apple SD Gothic Neo"/>
                <a:cs typeface="Apple SD Gothic Neo"/>
              </a:rPr>
              <a:t>HIGHLIGHT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309359" y="4617720"/>
            <a:ext cx="2331720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400799" y="4663440"/>
            <a:ext cx="2194560" cy="68580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vector.c +228 줄 native 구현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915399" y="1463040"/>
            <a:ext cx="2697480" cy="402336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8915399" y="1463040"/>
            <a:ext cx="2697480" cy="457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Oval 40"/>
          <p:cNvSpPr/>
          <p:nvPr/>
        </p:nvSpPr>
        <p:spPr>
          <a:xfrm>
            <a:off x="9006839" y="1577340"/>
            <a:ext cx="246888" cy="2468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9006839" y="1577340"/>
            <a:ext cx="246888" cy="246888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253727" y="1542448"/>
            <a:ext cx="2103120" cy="292608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분석·작도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098279" y="2057400"/>
            <a:ext cx="2377440" cy="50292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이동욱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098279" y="2651760"/>
            <a:ext cx="1097280" cy="2540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9098279" y="2788920"/>
            <a:ext cx="2377440" cy="141732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통계 분석 (CI·Two-Level) · 그림 작성 · RQ3 설계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098279" y="4343400"/>
            <a:ext cx="2377440" cy="27432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1">
                <a:solidFill>
                  <a:srgbClr val="3B82F6"/>
                </a:solidFill>
                <a:latin typeface="Apple SD Gothic Neo"/>
                <a:ea typeface="Apple SD Gothic Neo"/>
                <a:cs typeface="Apple SD Gothic Neo"/>
              </a:rPr>
              <a:t>HIGHLIGHT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098279" y="4617720"/>
            <a:ext cx="2331720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9189719" y="4663440"/>
            <a:ext cx="2194560" cy="68580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Two-Level +19.6%p 분해 · 그림 8 종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48640" y="5623560"/>
            <a:ext cx="11064240" cy="50292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777240" y="5669280"/>
            <a:ext cx="10515600" cy="4114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3B82F6"/>
                </a:solidFill>
                <a:latin typeface="Apple SD Gothic Neo"/>
                <a:ea typeface="Apple SD Gothic Neo"/>
                <a:cs typeface="Apple SD Gothic Neo"/>
              </a:rPr>
              <a:t>▣  Q&amp;A 응답 — 통계·CI 는 이동욱, 실험 디테일은 조현빈, 일정·체크포인트는 박세은 분담 (4 인 합의 후 진행)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31520" y="502920"/>
            <a:ext cx="54864" cy="7772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411480"/>
            <a:ext cx="10515600" cy="54864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결론 — 본 발표의 4 핵심 발견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960120"/>
            <a:ext cx="10972800" cy="32004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RQ1 negative · RQ2 외적 타당성 · Two-Level 분해 · RQ3 설계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64240" cy="127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247120" y="6446520"/>
            <a:ext cx="914400" cy="32004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16 / 17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17320"/>
            <a:ext cx="2697480" cy="411480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48640" y="1417320"/>
            <a:ext cx="2697480" cy="5029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1485900"/>
            <a:ext cx="2377440" cy="3657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RQ1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057400"/>
            <a:ext cx="2377440" cy="77724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Skew 지표는 Q-error 를 예측하지 못한다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926080"/>
            <a:ext cx="233172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31520" y="2971800"/>
            <a:ext cx="2331720" cy="50292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48 / 48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474720"/>
            <a:ext cx="2331720" cy="4114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조합 모두 |ρ| &lt; 0.2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023360"/>
            <a:ext cx="2377440" cy="141732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글로벌 4 + 로컬 4 = 48 조합 모두 negative — query-side feature 사전 layer 정의 불가능성을 정량 증명 (Cohen 1988)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37560" y="1417320"/>
            <a:ext cx="2697480" cy="411480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337560" y="1417320"/>
            <a:ext cx="2697480" cy="5029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474720" y="1485900"/>
            <a:ext cx="2377440" cy="3657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RQ2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20440" y="2057400"/>
            <a:ext cx="2377440" cy="77724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Skew-Aware Sampling 의 외적 타당성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520440" y="2926080"/>
            <a:ext cx="233172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520440" y="2971800"/>
            <a:ext cx="2331720" cy="50292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+1.64 ~ +3.07%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20440" y="3474720"/>
            <a:ext cx="2331720" cy="4114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DEEP 1M / 8M / SIFT 5-seed 95% CI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20440" y="4023360"/>
            <a:ext cx="2377440" cy="141732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3 데이터셋 모두 BERN 위에서 추가 개선 — DEEP 1M vs 8M CI 겹침 (CONSISTENT) · SIFT 1.5M 약 2배 효과 (CV 0.394, 통계적 구별)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26479" y="1417320"/>
            <a:ext cx="2697480" cy="411480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6126479" y="1417320"/>
            <a:ext cx="2697480" cy="5029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263639" y="1485900"/>
            <a:ext cx="2377440" cy="3657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Two-Level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59" y="2057400"/>
            <a:ext cx="2377440" cy="77724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공간 인식 단독 효과 정량화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309359" y="2926080"/>
            <a:ext cx="233172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309359" y="2971800"/>
            <a:ext cx="2331720" cy="50292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+19.6 %p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59" y="3474720"/>
            <a:ext cx="2331720" cy="4114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Level 2 단독 (DEEP 1M, s=0.010)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9359" y="4023360"/>
            <a:ext cx="2377440" cy="141732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KM20 +8.93%, RANDOM20 −10.67% — 비례 배분 (Level 1) 과 공간 인식 (Level 2) 분해, 가설 단조 관계 재확인 (Horvitz-Thompson 1952)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915399" y="1417320"/>
            <a:ext cx="2697480" cy="411480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8915399" y="1417320"/>
            <a:ext cx="2697480" cy="5029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9052559" y="1485900"/>
            <a:ext cx="2377440" cy="3657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RQ3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98279" y="2057400"/>
            <a:ext cx="2377440" cy="77724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Recovery Rate 프레임워크 설계 완료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098279" y="2926080"/>
            <a:ext cx="233172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9098279" y="2971800"/>
            <a:ext cx="2331720" cy="50292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>
                <a:solidFill>
                  <a:srgbClr val="2563EB"/>
                </a:solidFill>
                <a:latin typeface="Apple SD Gothic Neo"/>
                <a:ea typeface="Apple SD Gothic Neo"/>
                <a:cs typeface="Apple SD Gothic Neo"/>
              </a:rPr>
              <a:t>3 × 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98279" y="3474720"/>
            <a:ext cx="2331720" cy="4114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패러다임 × 방법 (W5~W7 실험)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98279" y="4023360"/>
            <a:ext cx="2377440" cy="141732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900" b="0">
                <a:solidFill>
                  <a:srgbClr val="0F172A"/>
                </a:solidFill>
                <a:latin typeface="Apple SD Gothic Neo"/>
                <a:ea typeface="Apple SD Gothic Neo"/>
                <a:cs typeface="Apple SD Gothic Neo"/>
              </a:rPr>
              <a:t>Offline (LSH/RP/Hilbert/MiniBatch) + Online (Shell/KDE-pilot) + Weight (IS) — 분포 미지 시 KM20 의 절반 효과 회수 목표 (Neyman 1934)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48640" y="5669280"/>
            <a:ext cx="11064240" cy="50292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777240" y="5715000"/>
            <a:ext cx="10515600" cy="4114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dirty="0">
                <a:solidFill>
                  <a:srgbClr val="3B82F6"/>
                </a:solidFill>
                <a:latin typeface="Apple SD Gothic Neo"/>
                <a:ea typeface="Apple SD Gothic Neo"/>
                <a:cs typeface="Apple SD Gothic Neo"/>
              </a:rPr>
              <a:t>★  skewed </a:t>
            </a:r>
            <a:r>
              <a:rPr sz="1100" b="1" dirty="0" err="1">
                <a:solidFill>
                  <a:srgbClr val="3B82F6"/>
                </a:solidFill>
                <a:latin typeface="Apple SD Gothic Neo"/>
                <a:ea typeface="Apple SD Gothic Neo"/>
                <a:cs typeface="Apple SD Gothic Neo"/>
              </a:rPr>
              <a:t>거리</a:t>
            </a:r>
            <a:r>
              <a:rPr sz="1100" b="1" dirty="0">
                <a:solidFill>
                  <a:srgbClr val="3B82F6"/>
                </a:solidFill>
                <a:latin typeface="Apple SD Gothic Neo"/>
                <a:ea typeface="Apple SD Gothic Neo"/>
                <a:cs typeface="Apple SD Gothic Neo"/>
              </a:rPr>
              <a:t> </a:t>
            </a:r>
            <a:r>
              <a:rPr sz="1100" b="1" dirty="0" err="1">
                <a:solidFill>
                  <a:srgbClr val="3B82F6"/>
                </a:solidFill>
                <a:latin typeface="Apple SD Gothic Neo"/>
                <a:ea typeface="Apple SD Gothic Neo"/>
                <a:cs typeface="Apple SD Gothic Neo"/>
              </a:rPr>
              <a:t>분포에서</a:t>
            </a:r>
            <a:r>
              <a:rPr sz="1100" b="1" dirty="0">
                <a:solidFill>
                  <a:srgbClr val="3B82F6"/>
                </a:solidFill>
                <a:latin typeface="Apple SD Gothic Neo"/>
                <a:ea typeface="Apple SD Gothic Neo"/>
                <a:cs typeface="Apple SD Gothic Neo"/>
              </a:rPr>
              <a:t> </a:t>
            </a:r>
            <a:r>
              <a:rPr sz="1100" b="1" dirty="0" err="1">
                <a:solidFill>
                  <a:srgbClr val="3B82F6"/>
                </a:solidFill>
                <a:latin typeface="Apple SD Gothic Neo"/>
                <a:ea typeface="Apple SD Gothic Neo"/>
                <a:cs typeface="Apple SD Gothic Neo"/>
              </a:rPr>
              <a:t>카디널리티</a:t>
            </a:r>
            <a:r>
              <a:rPr sz="1100" b="1" dirty="0">
                <a:solidFill>
                  <a:srgbClr val="3B82F6"/>
                </a:solidFill>
                <a:latin typeface="Apple SD Gothic Neo"/>
                <a:ea typeface="Apple SD Gothic Neo"/>
                <a:cs typeface="Apple SD Gothic Neo"/>
              </a:rPr>
              <a:t> </a:t>
            </a:r>
            <a:r>
              <a:rPr sz="1100" b="1" dirty="0" err="1">
                <a:solidFill>
                  <a:srgbClr val="3B82F6"/>
                </a:solidFill>
                <a:latin typeface="Apple SD Gothic Neo"/>
                <a:ea typeface="Apple SD Gothic Neo"/>
                <a:cs typeface="Apple SD Gothic Neo"/>
              </a:rPr>
              <a:t>추정</a:t>
            </a:r>
            <a:r>
              <a:rPr sz="1100" b="1" dirty="0">
                <a:solidFill>
                  <a:srgbClr val="3B82F6"/>
                </a:solidFill>
                <a:latin typeface="Apple SD Gothic Neo"/>
                <a:ea typeface="Apple SD Gothic Neo"/>
                <a:cs typeface="Apple SD Gothic Neo"/>
              </a:rPr>
              <a:t> </a:t>
            </a:r>
            <a:r>
              <a:rPr sz="1100" b="1" dirty="0" err="1">
                <a:solidFill>
                  <a:srgbClr val="3B82F6"/>
                </a:solidFill>
                <a:latin typeface="Apple SD Gothic Neo"/>
                <a:ea typeface="Apple SD Gothic Neo"/>
                <a:cs typeface="Apple SD Gothic Neo"/>
              </a:rPr>
              <a:t>정확도</a:t>
            </a:r>
            <a:r>
              <a:rPr sz="1100" b="1" dirty="0">
                <a:solidFill>
                  <a:srgbClr val="3B82F6"/>
                </a:solidFill>
                <a:latin typeface="Apple SD Gothic Neo"/>
                <a:ea typeface="Apple SD Gothic Neo"/>
                <a:cs typeface="Apple SD Gothic Neo"/>
              </a:rPr>
              <a:t> — </a:t>
            </a:r>
            <a:r>
              <a:rPr sz="1100" b="1" dirty="0" err="1">
                <a:solidFill>
                  <a:srgbClr val="3B82F6"/>
                </a:solidFill>
                <a:latin typeface="Apple SD Gothic Neo"/>
                <a:ea typeface="Apple SD Gothic Neo"/>
                <a:cs typeface="Apple SD Gothic Neo"/>
              </a:rPr>
              <a:t>본</a:t>
            </a:r>
            <a:r>
              <a:rPr sz="1100" b="1" dirty="0">
                <a:solidFill>
                  <a:srgbClr val="3B82F6"/>
                </a:solidFill>
                <a:latin typeface="Apple SD Gothic Neo"/>
                <a:ea typeface="Apple SD Gothic Neo"/>
                <a:cs typeface="Apple SD Gothic Neo"/>
              </a:rPr>
              <a:t> </a:t>
            </a:r>
            <a:r>
              <a:rPr sz="1100" b="1" dirty="0" err="1">
                <a:solidFill>
                  <a:srgbClr val="3B82F6"/>
                </a:solidFill>
                <a:latin typeface="Apple SD Gothic Neo"/>
                <a:ea typeface="Apple SD Gothic Neo"/>
                <a:cs typeface="Apple SD Gothic Neo"/>
              </a:rPr>
              <a:t>연구의</a:t>
            </a:r>
            <a:r>
              <a:rPr sz="1100" b="1" dirty="0">
                <a:solidFill>
                  <a:srgbClr val="3B82F6"/>
                </a:solidFill>
                <a:latin typeface="Apple SD Gothic Neo"/>
                <a:ea typeface="Apple SD Gothic Neo"/>
                <a:cs typeface="Apple SD Gothic Neo"/>
              </a:rPr>
              <a:t> </a:t>
            </a:r>
            <a:r>
              <a:rPr sz="1100" b="1" dirty="0" err="1">
                <a:solidFill>
                  <a:srgbClr val="3B82F6"/>
                </a:solidFill>
                <a:latin typeface="Apple SD Gothic Neo"/>
                <a:ea typeface="Apple SD Gothic Neo"/>
                <a:cs typeface="Apple SD Gothic Neo"/>
              </a:rPr>
              <a:t>단계적</a:t>
            </a:r>
            <a:r>
              <a:rPr sz="1100" b="1" dirty="0">
                <a:solidFill>
                  <a:srgbClr val="3B82F6"/>
                </a:solidFill>
                <a:latin typeface="Apple SD Gothic Neo"/>
                <a:ea typeface="Apple SD Gothic Neo"/>
                <a:cs typeface="Apple SD Gothic Neo"/>
              </a:rPr>
              <a:t> sanitize </a:t>
            </a:r>
            <a:r>
              <a:rPr sz="1100" b="1" dirty="0" err="1">
                <a:solidFill>
                  <a:srgbClr val="3B82F6"/>
                </a:solidFill>
                <a:latin typeface="Apple SD Gothic Neo"/>
                <a:ea typeface="Apple SD Gothic Neo"/>
                <a:cs typeface="Apple SD Gothic Neo"/>
              </a:rPr>
              <a:t>가</a:t>
            </a:r>
            <a:r>
              <a:rPr sz="1100" b="1" dirty="0">
                <a:solidFill>
                  <a:srgbClr val="3B82F6"/>
                </a:solidFill>
                <a:latin typeface="Apple SD Gothic Neo"/>
                <a:ea typeface="Apple SD Gothic Neo"/>
                <a:cs typeface="Apple SD Gothic Neo"/>
              </a:rPr>
              <a:t> </a:t>
            </a:r>
            <a:r>
              <a:rPr sz="1100" b="1" dirty="0" err="1">
                <a:solidFill>
                  <a:srgbClr val="3B82F6"/>
                </a:solidFill>
                <a:latin typeface="Apple SD Gothic Neo"/>
                <a:ea typeface="Apple SD Gothic Neo"/>
                <a:cs typeface="Apple SD Gothic Neo"/>
              </a:rPr>
              <a:t>측정</a:t>
            </a:r>
            <a:r>
              <a:rPr sz="1100" b="1" dirty="0">
                <a:solidFill>
                  <a:srgbClr val="3B82F6"/>
                </a:solidFill>
                <a:latin typeface="Apple SD Gothic Neo"/>
                <a:ea typeface="Apple SD Gothic Neo"/>
                <a:cs typeface="Apple SD Gothic Neo"/>
              </a:rPr>
              <a:t> </a:t>
            </a:r>
            <a:r>
              <a:rPr sz="1100" b="1" dirty="0" err="1">
                <a:solidFill>
                  <a:srgbClr val="3B82F6"/>
                </a:solidFill>
                <a:latin typeface="Apple SD Gothic Neo"/>
                <a:ea typeface="Apple SD Gothic Neo"/>
                <a:cs typeface="Apple SD Gothic Neo"/>
              </a:rPr>
              <a:t>가능한</a:t>
            </a:r>
            <a:r>
              <a:rPr sz="1100" b="1" dirty="0">
                <a:solidFill>
                  <a:srgbClr val="3B82F6"/>
                </a:solidFill>
                <a:latin typeface="Apple SD Gothic Neo"/>
                <a:ea typeface="Apple SD Gothic Neo"/>
                <a:cs typeface="Apple SD Gothic Neo"/>
              </a:rPr>
              <a:t> </a:t>
            </a:r>
            <a:r>
              <a:rPr sz="1100" b="1" dirty="0" err="1">
                <a:solidFill>
                  <a:srgbClr val="3B82F6"/>
                </a:solidFill>
                <a:latin typeface="Apple SD Gothic Neo"/>
                <a:ea typeface="Apple SD Gothic Neo"/>
                <a:cs typeface="Apple SD Gothic Neo"/>
              </a:rPr>
              <a:t>개선을</a:t>
            </a:r>
            <a:r>
              <a:rPr sz="1100" b="1" dirty="0">
                <a:solidFill>
                  <a:srgbClr val="3B82F6"/>
                </a:solidFill>
                <a:latin typeface="Apple SD Gothic Neo"/>
                <a:ea typeface="Apple SD Gothic Neo"/>
                <a:cs typeface="Apple SD Gothic Neo"/>
              </a:rPr>
              <a:t> </a:t>
            </a:r>
            <a:r>
              <a:rPr sz="1100" b="1" dirty="0" err="1">
                <a:solidFill>
                  <a:srgbClr val="3B82F6"/>
                </a:solidFill>
                <a:latin typeface="Apple SD Gothic Neo"/>
                <a:ea typeface="Apple SD Gothic Neo"/>
                <a:cs typeface="Apple SD Gothic Neo"/>
              </a:rPr>
              <a:t>정량</a:t>
            </a:r>
            <a:r>
              <a:rPr sz="1100" b="1" dirty="0">
                <a:solidFill>
                  <a:srgbClr val="3B82F6"/>
                </a:solidFill>
                <a:latin typeface="Apple SD Gothic Neo"/>
                <a:ea typeface="Apple SD Gothic Neo"/>
                <a:cs typeface="Apple SD Gothic Neo"/>
              </a:rPr>
              <a:t> </a:t>
            </a:r>
            <a:r>
              <a:rPr sz="1100" b="1" dirty="0" err="1">
                <a:solidFill>
                  <a:srgbClr val="3B82F6"/>
                </a:solidFill>
                <a:latin typeface="Apple SD Gothic Neo"/>
                <a:ea typeface="Apple SD Gothic Neo"/>
                <a:cs typeface="Apple SD Gothic Neo"/>
              </a:rPr>
              <a:t>확보</a:t>
            </a:r>
            <a:endParaRPr sz="1100" b="1" dirty="0">
              <a:solidFill>
                <a:srgbClr val="3B82F6"/>
              </a:solidFill>
              <a:latin typeface="Apple SD Gothic Neo"/>
              <a:ea typeface="Apple SD Gothic Neo"/>
              <a:cs typeface="Apple SD Gothic Neo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029200" y="2377440"/>
            <a:ext cx="2194560" cy="3810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0" y="2606040"/>
            <a:ext cx="12191695" cy="10972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58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감사합니다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749039"/>
            <a:ext cx="12191695" cy="54864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>
                <a:solidFill>
                  <a:srgbClr val="3B82F6"/>
                </a:solidFill>
                <a:latin typeface="Apple SD Gothic Neo"/>
                <a:ea typeface="Apple SD Gothic Neo"/>
                <a:cs typeface="Apple SD Gothic Neo"/>
              </a:rPr>
              <a:t>질문 부탁드립니다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5029200"/>
            <a:ext cx="12191695" cy="3657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속도는벡터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5440680"/>
            <a:ext cx="12191695" cy="3657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64748B"/>
                </a:solidFill>
                <a:latin typeface="Apple SD Gothic Neo"/>
                <a:ea typeface="Apple SD Gothic Neo"/>
                <a:cs typeface="Apple SD Gothic Neo"/>
              </a:rPr>
              <a:t>박세은 (팀장) · 강재현 · 조현빈 · 이동욱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</TotalTime>
  <Words>2425</Words>
  <Application>Microsoft Macintosh PowerPoint</Application>
  <PresentationFormat>와이드스크린</PresentationFormat>
  <Paragraphs>390</Paragraphs>
  <Slides>17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17</vt:i4>
      </vt:variant>
    </vt:vector>
  </HeadingPairs>
  <TitlesOfParts>
    <vt:vector size="22" baseType="lpstr">
      <vt:lpstr>Apple SD Gothic Neo</vt:lpstr>
      <vt:lpstr>Arial</vt:lpstr>
      <vt:lpstr>Calibri</vt:lpstr>
      <vt:lpstr>Menlo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조현빈</cp:lastModifiedBy>
  <cp:revision>3</cp:revision>
  <dcterms:created xsi:type="dcterms:W3CDTF">2013-01-27T09:14:16Z</dcterms:created>
  <dcterms:modified xsi:type="dcterms:W3CDTF">2026-04-27T09:50:51Z</dcterms:modified>
  <cp:category/>
</cp:coreProperties>
</file>
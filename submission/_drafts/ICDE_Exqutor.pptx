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9"/>
  </p:notesMasterIdLst>
  <p:sldIdLst>
    <p:sldId id="265" r:id="rId2"/>
    <p:sldId id="2145706836" r:id="rId3"/>
    <p:sldId id="2145706900" r:id="rId4"/>
    <p:sldId id="2145706865" r:id="rId5"/>
    <p:sldId id="2145706903" r:id="rId6"/>
    <p:sldId id="2145706868" r:id="rId7"/>
    <p:sldId id="2145706866" r:id="rId8"/>
    <p:sldId id="2145706869" r:id="rId9"/>
    <p:sldId id="2145706870" r:id="rId10"/>
    <p:sldId id="2145706885" r:id="rId11"/>
    <p:sldId id="2145706891" r:id="rId12"/>
    <p:sldId id="2145706871" r:id="rId13"/>
    <p:sldId id="2145706876" r:id="rId14"/>
    <p:sldId id="2145706877" r:id="rId15"/>
    <p:sldId id="2145706893" r:id="rId16"/>
    <p:sldId id="2145706894" r:id="rId17"/>
    <p:sldId id="2145706895" r:id="rId18"/>
    <p:sldId id="2145706882" r:id="rId19"/>
    <p:sldId id="2145706896" r:id="rId20"/>
    <p:sldId id="2145706897" r:id="rId21"/>
    <p:sldId id="2145706901" r:id="rId22"/>
    <p:sldId id="2145706898" r:id="rId23"/>
    <p:sldId id="2145706902" r:id="rId24"/>
    <p:sldId id="2145706884" r:id="rId25"/>
    <p:sldId id="2145706899" r:id="rId26"/>
    <p:sldId id="2145706887" r:id="rId27"/>
    <p:sldId id="2145706888" r:id="rId2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DF7F"/>
    <a:srgbClr val="FFFFE8"/>
    <a:srgbClr val="000000"/>
    <a:srgbClr val="FFFFFF"/>
    <a:srgbClr val="FFE4E3"/>
    <a:srgbClr val="C1E5F5"/>
    <a:srgbClr val="FFFFE7"/>
    <a:srgbClr val="EF7361"/>
    <a:srgbClr val="E8D4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543"/>
    <p:restoredTop sz="96966"/>
  </p:normalViewPr>
  <p:slideViewPr>
    <p:cSldViewPr snapToGrid="0">
      <p:cViewPr>
        <p:scale>
          <a:sx n="112" d="100"/>
          <a:sy n="112" d="100"/>
        </p:scale>
        <p:origin x="-1688" y="608"/>
      </p:cViewPr>
      <p:guideLst/>
    </p:cSldViewPr>
  </p:slideViewPr>
  <p:outlineViewPr>
    <p:cViewPr>
      <p:scale>
        <a:sx n="20" d="100"/>
        <a:sy n="20"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C22714-729E-5243-ACEB-6D1001DBE4D4}" type="datetimeFigureOut">
              <a:t>2026. 4. 24.</a:t>
            </a:fld>
            <a:endParaRPr kumimoji="1"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C3CDCC-F5F4-5342-B902-278AD20E11D8}" type="slidenum">
              <a:t>‹#›</a:t>
            </a:fld>
            <a:endParaRPr kumimoji="1" lang="ko-KR" altLang="en-US"/>
          </a:p>
        </p:txBody>
      </p:sp>
    </p:spTree>
    <p:extLst>
      <p:ext uri="{BB962C8B-B14F-4D97-AF65-F5344CB8AC3E}">
        <p14:creationId xmlns:p14="http://schemas.microsoft.com/office/powerpoint/2010/main" val="183912529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 altLang="ko-KR" sz="1800" b="0" i="0" u="none" strike="noStrike">
                <a:solidFill>
                  <a:srgbClr val="000000"/>
                </a:solidFill>
                <a:effectLst/>
                <a:latin typeface="Arial" panose="020B0604020202020204" pitchFamily="34" charset="0"/>
              </a:rPr>
              <a:t>Hello everyone. I am so glad to be here today as the first speaker of this session. My name is chaerim lim, from yonsei university studying for a master degree. Today I’m gonna present our research work called ‘Exqutor: Extended Optimizer for Vector-augmented analytical queries’.</a:t>
            </a:r>
            <a:endParaRPr lang="en-US">
              <a:effectLst/>
              <a:latin typeface="Helvetica Neue" panose="02000503000000020004" pitchFamily="2" charset="0"/>
            </a:endParaRPr>
          </a:p>
        </p:txBody>
      </p:sp>
      <p:sp>
        <p:nvSpPr>
          <p:cNvPr id="4" name="슬라이드 번호 개체 틀 3">
            <a:extLst>
              <a:ext uri="{FF2B5EF4-FFF2-40B4-BE49-F238E27FC236}">
                <a16:creationId xmlns:a16="http://schemas.microsoft.com/office/drawing/2014/main" id="{94EAF2F4-7910-30C5-893C-719FC601F60E}"/>
              </a:ext>
            </a:extLst>
          </p:cNvPr>
          <p:cNvSpPr>
            <a:spLocks noGrp="1"/>
          </p:cNvSpPr>
          <p:nvPr>
            <p:ph type="sldNum" sz="quarter" idx="5"/>
          </p:nvPr>
        </p:nvSpPr>
        <p:spPr/>
        <p:txBody>
          <a:bodyPr/>
          <a:lstStyle/>
          <a:p>
            <a:fld id="{AC2C0C08-2859-414A-8C7F-44AAEEDCB54A}" type="slidenum">
              <a:rPr lang="en-US" smtClean="0"/>
              <a:t>1</a:t>
            </a:fld>
            <a:endParaRPr lang="en-US"/>
          </a:p>
        </p:txBody>
      </p:sp>
    </p:spTree>
    <p:extLst>
      <p:ext uri="{BB962C8B-B14F-4D97-AF65-F5344CB8AC3E}">
        <p14:creationId xmlns:p14="http://schemas.microsoft.com/office/powerpoint/2010/main" val="3563137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ADD8A-E9EC-313A-3145-4EFC442D1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F51F87-4972-9B20-BD88-5D09662D2F62}"/>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E2A91218-3630-5E9D-4585-34D06758C26F}"/>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A7EBE20D-7940-D3EB-140C-AD8A9D3B71DE}"/>
              </a:ext>
            </a:extLst>
          </p:cNvPr>
          <p:cNvSpPr>
            <a:spLocks noGrp="1"/>
          </p:cNvSpPr>
          <p:nvPr>
            <p:ph type="sldNum" sz="quarter" idx="5"/>
          </p:nvPr>
        </p:nvSpPr>
        <p:spPr/>
        <p:txBody>
          <a:bodyPr/>
          <a:lstStyle/>
          <a:p>
            <a:fld id="{AC2C0C08-2859-414A-8C7F-44AAEEDCB54A}" type="slidenum">
              <a:rPr lang="en-US" smtClean="0"/>
              <a:t>2</a:t>
            </a:fld>
            <a:endParaRPr lang="en-US"/>
          </a:p>
        </p:txBody>
      </p:sp>
    </p:spTree>
    <p:extLst>
      <p:ext uri="{BB962C8B-B14F-4D97-AF65-F5344CB8AC3E}">
        <p14:creationId xmlns:p14="http://schemas.microsoft.com/office/powerpoint/2010/main" val="2697353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0C2E0-0371-46F5-7ADF-3AA302C69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EF9015-F6C5-501C-025D-55CC80F6BD9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AF71B657-320F-88A6-4B5A-C1AAC57E9C4B}"/>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4A917A49-F877-0099-B0B2-E7C98BD30F41}"/>
              </a:ext>
            </a:extLst>
          </p:cNvPr>
          <p:cNvSpPr>
            <a:spLocks noGrp="1"/>
          </p:cNvSpPr>
          <p:nvPr>
            <p:ph type="sldNum" sz="quarter" idx="5"/>
          </p:nvPr>
        </p:nvSpPr>
        <p:spPr/>
        <p:txBody>
          <a:bodyPr/>
          <a:lstStyle/>
          <a:p>
            <a:fld id="{AC2C0C08-2859-414A-8C7F-44AAEEDCB54A}" type="slidenum">
              <a:rPr lang="en-US" smtClean="0"/>
              <a:t>3</a:t>
            </a:fld>
            <a:endParaRPr lang="en-US"/>
          </a:p>
        </p:txBody>
      </p:sp>
    </p:spTree>
    <p:extLst>
      <p:ext uri="{BB962C8B-B14F-4D97-AF65-F5344CB8AC3E}">
        <p14:creationId xmlns:p14="http://schemas.microsoft.com/office/powerpoint/2010/main" val="4167378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48571-970C-CBD8-3BF9-E12BB53A10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CEC24-36D4-5390-44A4-C65A462DD7E0}"/>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E9C3A3C7-B554-478E-AD28-45A0AC4E8D1D}"/>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085A2167-EE11-94E5-10DC-AEF41E8F0AFC}"/>
              </a:ext>
            </a:extLst>
          </p:cNvPr>
          <p:cNvSpPr>
            <a:spLocks noGrp="1"/>
          </p:cNvSpPr>
          <p:nvPr>
            <p:ph type="sldNum" sz="quarter" idx="5"/>
          </p:nvPr>
        </p:nvSpPr>
        <p:spPr/>
        <p:txBody>
          <a:bodyPr/>
          <a:lstStyle/>
          <a:p>
            <a:fld id="{AC2C0C08-2859-414A-8C7F-44AAEEDCB54A}" type="slidenum">
              <a:rPr lang="en-US" smtClean="0"/>
              <a:t>4</a:t>
            </a:fld>
            <a:endParaRPr lang="en-US"/>
          </a:p>
        </p:txBody>
      </p:sp>
    </p:spTree>
    <p:extLst>
      <p:ext uri="{BB962C8B-B14F-4D97-AF65-F5344CB8AC3E}">
        <p14:creationId xmlns:p14="http://schemas.microsoft.com/office/powerpoint/2010/main" val="766125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18BDE-677E-3E8C-70F8-13AEEF2EA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F6440-75B5-36C5-F742-21E56038F0DA}"/>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4AF55DD8-2C61-0CA4-6264-196368611AB0}"/>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D4956DC9-5B15-3D86-17BA-2D400BD7F209}"/>
              </a:ext>
            </a:extLst>
          </p:cNvPr>
          <p:cNvSpPr>
            <a:spLocks noGrp="1"/>
          </p:cNvSpPr>
          <p:nvPr>
            <p:ph type="sldNum" sz="quarter" idx="5"/>
          </p:nvPr>
        </p:nvSpPr>
        <p:spPr/>
        <p:txBody>
          <a:bodyPr/>
          <a:lstStyle/>
          <a:p>
            <a:fld id="{AC2C0C08-2859-414A-8C7F-44AAEEDCB54A}" type="slidenum">
              <a:rPr lang="en-US" smtClean="0"/>
              <a:t>5</a:t>
            </a:fld>
            <a:endParaRPr lang="en-US"/>
          </a:p>
        </p:txBody>
      </p:sp>
    </p:spTree>
    <p:extLst>
      <p:ext uri="{BB962C8B-B14F-4D97-AF65-F5344CB8AC3E}">
        <p14:creationId xmlns:p14="http://schemas.microsoft.com/office/powerpoint/2010/main" val="520853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CF782-A79A-3E7B-0161-0ADAD8E4B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66FC5-C186-752B-5282-2EA3FE6FF7E3}"/>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B1D4CED0-1A92-0389-9C26-370A6065E549}"/>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52F8266B-47EF-F3E5-47EF-B493E13F1116}"/>
              </a:ext>
            </a:extLst>
          </p:cNvPr>
          <p:cNvSpPr>
            <a:spLocks noGrp="1"/>
          </p:cNvSpPr>
          <p:nvPr>
            <p:ph type="sldNum" sz="quarter" idx="5"/>
          </p:nvPr>
        </p:nvSpPr>
        <p:spPr/>
        <p:txBody>
          <a:bodyPr/>
          <a:lstStyle/>
          <a:p>
            <a:fld id="{AC2C0C08-2859-414A-8C7F-44AAEEDCB54A}" type="slidenum">
              <a:rPr lang="en-US" smtClean="0"/>
              <a:t>6</a:t>
            </a:fld>
            <a:endParaRPr lang="en-US"/>
          </a:p>
        </p:txBody>
      </p:sp>
    </p:spTree>
    <p:extLst>
      <p:ext uri="{BB962C8B-B14F-4D97-AF65-F5344CB8AC3E}">
        <p14:creationId xmlns:p14="http://schemas.microsoft.com/office/powerpoint/2010/main" val="17548544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DFBE1-64C3-235E-F6A5-A27425E945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59CDB-4E97-423E-5EC4-901855A1F61B}"/>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BB805A51-FFA9-DC51-CA75-C9EC96FD836D}"/>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68990F54-0082-8DDA-AC9C-158D23743EDC}"/>
              </a:ext>
            </a:extLst>
          </p:cNvPr>
          <p:cNvSpPr>
            <a:spLocks noGrp="1"/>
          </p:cNvSpPr>
          <p:nvPr>
            <p:ph type="sldNum" sz="quarter" idx="5"/>
          </p:nvPr>
        </p:nvSpPr>
        <p:spPr/>
        <p:txBody>
          <a:bodyPr/>
          <a:lstStyle/>
          <a:p>
            <a:fld id="{AC2C0C08-2859-414A-8C7F-44AAEEDCB54A}" type="slidenum">
              <a:rPr lang="en-US" smtClean="0"/>
              <a:t>7</a:t>
            </a:fld>
            <a:endParaRPr lang="en-US"/>
          </a:p>
        </p:txBody>
      </p:sp>
    </p:spTree>
    <p:extLst>
      <p:ext uri="{BB962C8B-B14F-4D97-AF65-F5344CB8AC3E}">
        <p14:creationId xmlns:p14="http://schemas.microsoft.com/office/powerpoint/2010/main" val="2427769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89B84-87D9-1C64-2DAF-A5BEF9C2B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245F37-D9BE-21C4-C089-4CDCB19E60C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85F75657-0050-2C48-0556-C246DE9A9534}"/>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E8698BAB-5FDE-4E0D-F244-4941EE28AD5B}"/>
              </a:ext>
            </a:extLst>
          </p:cNvPr>
          <p:cNvSpPr>
            <a:spLocks noGrp="1"/>
          </p:cNvSpPr>
          <p:nvPr>
            <p:ph type="sldNum" sz="quarter" idx="5"/>
          </p:nvPr>
        </p:nvSpPr>
        <p:spPr/>
        <p:txBody>
          <a:bodyPr/>
          <a:lstStyle/>
          <a:p>
            <a:fld id="{AC2C0C08-2859-414A-8C7F-44AAEEDCB54A}" type="slidenum">
              <a:rPr lang="en-US" smtClean="0"/>
              <a:t>8</a:t>
            </a:fld>
            <a:endParaRPr lang="en-US"/>
          </a:p>
        </p:txBody>
      </p:sp>
    </p:spTree>
    <p:extLst>
      <p:ext uri="{BB962C8B-B14F-4D97-AF65-F5344CB8AC3E}">
        <p14:creationId xmlns:p14="http://schemas.microsoft.com/office/powerpoint/2010/main" val="2817395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B156C-1EF9-A31B-8DED-94FD7B94D3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DE74C-3BFD-2D42-BFB8-70DDF38FC6C4}"/>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2112155A-9955-DF9E-B53D-57E03CA4B889}"/>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FBA538FC-F5D9-8680-8EC5-7561DA0F087E}"/>
              </a:ext>
            </a:extLst>
          </p:cNvPr>
          <p:cNvSpPr>
            <a:spLocks noGrp="1"/>
          </p:cNvSpPr>
          <p:nvPr>
            <p:ph type="sldNum" sz="quarter" idx="5"/>
          </p:nvPr>
        </p:nvSpPr>
        <p:spPr/>
        <p:txBody>
          <a:bodyPr/>
          <a:lstStyle/>
          <a:p>
            <a:fld id="{AC2C0C08-2859-414A-8C7F-44AAEEDCB54A}" type="slidenum">
              <a:rPr lang="en-US" smtClean="0"/>
              <a:t>9</a:t>
            </a:fld>
            <a:endParaRPr lang="en-US"/>
          </a:p>
        </p:txBody>
      </p:sp>
    </p:spTree>
    <p:extLst>
      <p:ext uri="{BB962C8B-B14F-4D97-AF65-F5344CB8AC3E}">
        <p14:creationId xmlns:p14="http://schemas.microsoft.com/office/powerpoint/2010/main" val="28472894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4C871-7DFB-2076-5FBB-831A246E0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D88DF-A1F9-0E1A-7AD1-E28E71A228A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38C9BDD8-6F19-6C36-0842-8BA15A03DD17}"/>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To evaluate the performance of VAQs, we designed a benchmark called Vector-augmented SQL Analytics. This benchmark extends two well-established analytical workloads, TPC-H and TPC-DS; by adding a realistic vector data column to the schema.</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in the tpc-h based benchmark, we add an image_embedding column to the partsupp table. This column contains realistic vector data. In the case of the DEEP dataset, for instance, it consists of 96 dimensional vectors obtained by embedding image data.</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To evaluate our method under diverse settings, we also conducted experiments using other vector datasets, including 128 dimensional SIFT and 256-dimensional SimSearchNet.</a:t>
            </a:r>
            <a:endParaRPr lang="en" altLang="ko-KR" b="0">
              <a:effectLst/>
            </a:endParaRPr>
          </a:p>
          <a:p>
            <a:pPr>
              <a:buNone/>
            </a:pPr>
            <a:br>
              <a:rPr lang="en" altLang="ko-KR"/>
            </a:br>
            <a:endParaRPr lang="ko-KR" altLang="en-US"/>
          </a:p>
          <a:p>
            <a:endParaRPr lang="ko-KR" altLang="en-US"/>
          </a:p>
        </p:txBody>
      </p:sp>
      <p:sp>
        <p:nvSpPr>
          <p:cNvPr id="4" name="슬라이드 번호 개체 틀 3">
            <a:extLst>
              <a:ext uri="{FF2B5EF4-FFF2-40B4-BE49-F238E27FC236}">
                <a16:creationId xmlns:a16="http://schemas.microsoft.com/office/drawing/2014/main" id="{E72C2032-9963-3DAF-50E6-029BB85CF73A}"/>
              </a:ext>
            </a:extLst>
          </p:cNvPr>
          <p:cNvSpPr>
            <a:spLocks noGrp="1"/>
          </p:cNvSpPr>
          <p:nvPr>
            <p:ph type="sldNum" sz="quarter" idx="5"/>
          </p:nvPr>
        </p:nvSpPr>
        <p:spPr/>
        <p:txBody>
          <a:bodyPr/>
          <a:lstStyle/>
          <a:p>
            <a:fld id="{AC2C0C08-2859-414A-8C7F-44AAEEDCB54A}" type="slidenum">
              <a:rPr lang="en-US" smtClean="0"/>
              <a:t>10</a:t>
            </a:fld>
            <a:endParaRPr lang="en-US"/>
          </a:p>
        </p:txBody>
      </p:sp>
    </p:spTree>
    <p:extLst>
      <p:ext uri="{BB962C8B-B14F-4D97-AF65-F5344CB8AC3E}">
        <p14:creationId xmlns:p14="http://schemas.microsoft.com/office/powerpoint/2010/main" val="3687276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B92D1-C95A-3E3E-5472-73052EE84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4D162-0E9C-0116-89E2-E300BA97F2A4}"/>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8ABB4985-DD2D-6E66-8261-E5B4781A2883}"/>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79238817-50E3-FC4F-3AE7-3322EFAEA52C}"/>
              </a:ext>
            </a:extLst>
          </p:cNvPr>
          <p:cNvSpPr>
            <a:spLocks noGrp="1"/>
          </p:cNvSpPr>
          <p:nvPr>
            <p:ph type="sldNum" sz="quarter" idx="5"/>
          </p:nvPr>
        </p:nvSpPr>
        <p:spPr/>
        <p:txBody>
          <a:bodyPr/>
          <a:lstStyle/>
          <a:p>
            <a:fld id="{AC2C0C08-2859-414A-8C7F-44AAEEDCB54A}" type="slidenum">
              <a:rPr lang="en-US" smtClean="0"/>
              <a:t>11</a:t>
            </a:fld>
            <a:endParaRPr lang="en-US"/>
          </a:p>
        </p:txBody>
      </p:sp>
    </p:spTree>
    <p:extLst>
      <p:ext uri="{BB962C8B-B14F-4D97-AF65-F5344CB8AC3E}">
        <p14:creationId xmlns:p14="http://schemas.microsoft.com/office/powerpoint/2010/main" val="3777035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4FAC-9F5C-E672-2533-03F8E89E7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F3A9B-9A91-55C8-A7FD-972539D2303E}"/>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EF56C810-0146-19DC-EDBE-3F207E8478EE}"/>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E6161143-40D4-33AD-DC95-293171D00599}"/>
              </a:ext>
            </a:extLst>
          </p:cNvPr>
          <p:cNvSpPr>
            <a:spLocks noGrp="1"/>
          </p:cNvSpPr>
          <p:nvPr>
            <p:ph type="sldNum" sz="quarter" idx="5"/>
          </p:nvPr>
        </p:nvSpPr>
        <p:spPr/>
        <p:txBody>
          <a:bodyPr/>
          <a:lstStyle/>
          <a:p>
            <a:fld id="{AC2C0C08-2859-414A-8C7F-44AAEEDCB54A}" type="slidenum">
              <a:rPr lang="en-US" smtClean="0"/>
              <a:t>12</a:t>
            </a:fld>
            <a:endParaRPr lang="en-US"/>
          </a:p>
        </p:txBody>
      </p:sp>
    </p:spTree>
    <p:extLst>
      <p:ext uri="{BB962C8B-B14F-4D97-AF65-F5344CB8AC3E}">
        <p14:creationId xmlns:p14="http://schemas.microsoft.com/office/powerpoint/2010/main" val="4191169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E8032-94CC-CB38-34FA-4131DA092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0E8D10-BECF-4300-68C0-38AE17FCF4A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88ED9A96-7A38-6032-3080-D8BA4E2B0CAF}"/>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923CC45D-FC06-637E-40F6-F5E3FB856C19}"/>
              </a:ext>
            </a:extLst>
          </p:cNvPr>
          <p:cNvSpPr>
            <a:spLocks noGrp="1"/>
          </p:cNvSpPr>
          <p:nvPr>
            <p:ph type="sldNum" sz="quarter" idx="5"/>
          </p:nvPr>
        </p:nvSpPr>
        <p:spPr/>
        <p:txBody>
          <a:bodyPr/>
          <a:lstStyle/>
          <a:p>
            <a:fld id="{AC2C0C08-2859-414A-8C7F-44AAEEDCB54A}" type="slidenum">
              <a:rPr lang="en-US" smtClean="0"/>
              <a:t>13</a:t>
            </a:fld>
            <a:endParaRPr lang="en-US"/>
          </a:p>
        </p:txBody>
      </p:sp>
    </p:spTree>
    <p:extLst>
      <p:ext uri="{BB962C8B-B14F-4D97-AF65-F5344CB8AC3E}">
        <p14:creationId xmlns:p14="http://schemas.microsoft.com/office/powerpoint/2010/main" val="3238427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CCEB7-ED6F-00EF-E091-FDFD51C25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8B0739-88EB-08EF-6E72-AEF25F41F53A}"/>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49552D60-2295-ABD7-1A20-BFAE668B6DCC}"/>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6D68D107-DDE8-F7B1-E2CA-D5E50CAF5257}"/>
              </a:ext>
            </a:extLst>
          </p:cNvPr>
          <p:cNvSpPr>
            <a:spLocks noGrp="1"/>
          </p:cNvSpPr>
          <p:nvPr>
            <p:ph type="sldNum" sz="quarter" idx="5"/>
          </p:nvPr>
        </p:nvSpPr>
        <p:spPr/>
        <p:txBody>
          <a:bodyPr/>
          <a:lstStyle/>
          <a:p>
            <a:fld id="{AC2C0C08-2859-414A-8C7F-44AAEEDCB54A}" type="slidenum">
              <a:rPr lang="en-US" smtClean="0"/>
              <a:t>14</a:t>
            </a:fld>
            <a:endParaRPr lang="en-US"/>
          </a:p>
        </p:txBody>
      </p:sp>
    </p:spTree>
    <p:extLst>
      <p:ext uri="{BB962C8B-B14F-4D97-AF65-F5344CB8AC3E}">
        <p14:creationId xmlns:p14="http://schemas.microsoft.com/office/powerpoint/2010/main" val="25870301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8C372-2A5C-5032-9B5E-18AD34420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FD2665-104B-FDF4-FE4B-27BE753C812A}"/>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0A439A31-0CD9-EFDE-B0B6-578283AF9EAF}"/>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A5606936-CDA3-FFF0-6B97-3402A1B45385}"/>
              </a:ext>
            </a:extLst>
          </p:cNvPr>
          <p:cNvSpPr>
            <a:spLocks noGrp="1"/>
          </p:cNvSpPr>
          <p:nvPr>
            <p:ph type="sldNum" sz="quarter" idx="5"/>
          </p:nvPr>
        </p:nvSpPr>
        <p:spPr/>
        <p:txBody>
          <a:bodyPr/>
          <a:lstStyle/>
          <a:p>
            <a:fld id="{AC2C0C08-2859-414A-8C7F-44AAEEDCB54A}" type="slidenum">
              <a:rPr lang="en-US" smtClean="0"/>
              <a:t>15</a:t>
            </a:fld>
            <a:endParaRPr lang="en-US"/>
          </a:p>
        </p:txBody>
      </p:sp>
    </p:spTree>
    <p:extLst>
      <p:ext uri="{BB962C8B-B14F-4D97-AF65-F5344CB8AC3E}">
        <p14:creationId xmlns:p14="http://schemas.microsoft.com/office/powerpoint/2010/main" val="2938248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31068-2C86-49D8-E457-2BA0DF3DC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6867E-C632-FA4A-C23D-C26D87A019E3}"/>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8667009C-2B8C-2A09-5770-CB08D9BA7D07}"/>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CD872080-4B76-16B6-A483-ED99D3357CF7}"/>
              </a:ext>
            </a:extLst>
          </p:cNvPr>
          <p:cNvSpPr>
            <a:spLocks noGrp="1"/>
          </p:cNvSpPr>
          <p:nvPr>
            <p:ph type="sldNum" sz="quarter" idx="5"/>
          </p:nvPr>
        </p:nvSpPr>
        <p:spPr/>
        <p:txBody>
          <a:bodyPr/>
          <a:lstStyle/>
          <a:p>
            <a:fld id="{AC2C0C08-2859-414A-8C7F-44AAEEDCB54A}" type="slidenum">
              <a:rPr lang="en-US" smtClean="0"/>
              <a:t>16</a:t>
            </a:fld>
            <a:endParaRPr lang="en-US"/>
          </a:p>
        </p:txBody>
      </p:sp>
    </p:spTree>
    <p:extLst>
      <p:ext uri="{BB962C8B-B14F-4D97-AF65-F5344CB8AC3E}">
        <p14:creationId xmlns:p14="http://schemas.microsoft.com/office/powerpoint/2010/main" val="37463931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C9462-2712-7522-DC87-680E7E85EB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573B95-B476-BD4B-B8C9-9AE348144414}"/>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7A25A2B3-3714-54EB-BE1C-5D6CAC7E3D5C}"/>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Let me start with vector similarity search, often referred to as VSS. It measures the distance between multi-dimensional data points to determine how similar they are.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For example, suppose we have dogs, cats, apples, and bananas.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We can transform these images into multi-dimensional vectors using embedding models, which we refer to as embedding vectors.</a:t>
            </a:r>
            <a:br>
              <a:rPr lang="en" altLang="ko-KR"/>
            </a:br>
            <a:endParaRPr lang="ko-KR" altLang="en-US"/>
          </a:p>
        </p:txBody>
      </p:sp>
      <p:sp>
        <p:nvSpPr>
          <p:cNvPr id="4" name="슬라이드 번호 개체 틀 3">
            <a:extLst>
              <a:ext uri="{FF2B5EF4-FFF2-40B4-BE49-F238E27FC236}">
                <a16:creationId xmlns:a16="http://schemas.microsoft.com/office/drawing/2014/main" id="{63FC5FC2-0C9B-1E10-F3E2-9479AEC5DCDB}"/>
              </a:ext>
            </a:extLst>
          </p:cNvPr>
          <p:cNvSpPr>
            <a:spLocks noGrp="1"/>
          </p:cNvSpPr>
          <p:nvPr>
            <p:ph type="sldNum" sz="quarter" idx="5"/>
          </p:nvPr>
        </p:nvSpPr>
        <p:spPr/>
        <p:txBody>
          <a:bodyPr/>
          <a:lstStyle/>
          <a:p>
            <a:fld id="{AC2C0C08-2859-414A-8C7F-44AAEEDCB54A}" type="slidenum">
              <a:rPr lang="en-US" smtClean="0"/>
              <a:t>17</a:t>
            </a:fld>
            <a:endParaRPr lang="en-US"/>
          </a:p>
        </p:txBody>
      </p:sp>
    </p:spTree>
    <p:extLst>
      <p:ext uri="{BB962C8B-B14F-4D97-AF65-F5344CB8AC3E}">
        <p14:creationId xmlns:p14="http://schemas.microsoft.com/office/powerpoint/2010/main" val="387119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20B4-1489-D478-5226-CBB60229AC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8E89C-FA1B-0FF5-8DE9-28856EE9020B}"/>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2196713D-6451-16BA-9D6C-FA54052027AC}"/>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To address this limitation, we propose Exqutor, an open-source framework for improving VSS cardinality estimation in relational DBMSs.</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When VAQ enters into the DBMS, Exqutor recognizes the queries and, during the query planning phase, provides more accurate cardinality estimates for VSS to the query optimizer. This allows the optimizer to generate more efficient query plans. </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In the system overview, we show two complementary mechanisms for estimating VSS cardinality. Since VSS is executed in DBMSs in two main scenarios, each mechanism in Exuqtor is designed for one of these scenarios.</a:t>
            </a:r>
            <a:endParaRPr lang="ko-KR" altLang="en-US"/>
          </a:p>
          <a:p>
            <a:endParaRPr lang="ko-KR" altLang="en-US"/>
          </a:p>
        </p:txBody>
      </p:sp>
      <p:sp>
        <p:nvSpPr>
          <p:cNvPr id="4" name="슬라이드 번호 개체 틀 3">
            <a:extLst>
              <a:ext uri="{FF2B5EF4-FFF2-40B4-BE49-F238E27FC236}">
                <a16:creationId xmlns:a16="http://schemas.microsoft.com/office/drawing/2014/main" id="{49F5CC14-69DB-E8F4-4642-8D714CE173DB}"/>
              </a:ext>
            </a:extLst>
          </p:cNvPr>
          <p:cNvSpPr>
            <a:spLocks noGrp="1"/>
          </p:cNvSpPr>
          <p:nvPr>
            <p:ph type="sldNum" sz="quarter" idx="5"/>
          </p:nvPr>
        </p:nvSpPr>
        <p:spPr/>
        <p:txBody>
          <a:bodyPr/>
          <a:lstStyle/>
          <a:p>
            <a:fld id="{AC2C0C08-2859-414A-8C7F-44AAEEDCB54A}" type="slidenum">
              <a:rPr lang="en-US" smtClean="0"/>
              <a:t>18</a:t>
            </a:fld>
            <a:endParaRPr lang="en-US"/>
          </a:p>
        </p:txBody>
      </p:sp>
    </p:spTree>
    <p:extLst>
      <p:ext uri="{BB962C8B-B14F-4D97-AF65-F5344CB8AC3E}">
        <p14:creationId xmlns:p14="http://schemas.microsoft.com/office/powerpoint/2010/main" val="10789454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AEC5C-283F-D814-6837-3A7F61068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526CBE-0343-CDDB-FA51-98682E0A908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7A47779B-1E1D-8761-78B4-9536DAD2AD22}"/>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To address this limitation, we propose Exqutor, an open-source framework for improving VSS cardinality estimation in relational DBMSs.</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When VAQ enters into the DBMS, Exqutor recognizes the queries and, during the query planning phase, provides more accurate cardinality estimates for VSS to the query optimizer. This allows the optimizer to generate more efficient query plans. </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In the system overview, we show two complementary mechanisms for estimating VSS cardinality. Since VSS is executed in DBMSs in two main scenarios, each mechanism in Exuqtor is designed for one of these scenarios.</a:t>
            </a:r>
            <a:endParaRPr lang="ko-KR" altLang="en-US"/>
          </a:p>
          <a:p>
            <a:endParaRPr lang="ko-KR" altLang="en-US"/>
          </a:p>
        </p:txBody>
      </p:sp>
      <p:sp>
        <p:nvSpPr>
          <p:cNvPr id="4" name="슬라이드 번호 개체 틀 3">
            <a:extLst>
              <a:ext uri="{FF2B5EF4-FFF2-40B4-BE49-F238E27FC236}">
                <a16:creationId xmlns:a16="http://schemas.microsoft.com/office/drawing/2014/main" id="{9E1AE1B1-C5C9-636C-4D3C-48AA2BC43171}"/>
              </a:ext>
            </a:extLst>
          </p:cNvPr>
          <p:cNvSpPr>
            <a:spLocks noGrp="1"/>
          </p:cNvSpPr>
          <p:nvPr>
            <p:ph type="sldNum" sz="quarter" idx="5"/>
          </p:nvPr>
        </p:nvSpPr>
        <p:spPr/>
        <p:txBody>
          <a:bodyPr/>
          <a:lstStyle/>
          <a:p>
            <a:fld id="{AC2C0C08-2859-414A-8C7F-44AAEEDCB54A}" type="slidenum">
              <a:rPr lang="en-US" smtClean="0"/>
              <a:t>19</a:t>
            </a:fld>
            <a:endParaRPr lang="en-US"/>
          </a:p>
        </p:txBody>
      </p:sp>
    </p:spTree>
    <p:extLst>
      <p:ext uri="{BB962C8B-B14F-4D97-AF65-F5344CB8AC3E}">
        <p14:creationId xmlns:p14="http://schemas.microsoft.com/office/powerpoint/2010/main" val="10337422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D99E3-B0B3-84DA-0D70-320C647FA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F81C9-BD86-C918-96C8-DA660A50321A}"/>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4B1B6375-6E1A-986E-9C29-CA1888704834}"/>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First of all, when an index is available, Exuqtor performs exact-cardinality-query-optimization or ECQO. </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In this method, Exqutor executes only the vector index portion of the query during the query planning phase, obtains the actual result, and uses it as the estimated cardinality for query optimization.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The key advantage is that, since Exqutor runs the actual vector search in advance, it can provide the optimizer with the true cardinality rather than a heuristic estimate.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One natural concern is the overhead introduced by this approach. However, we keep this overhead below 0.01% of the performance gain.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This is possible for two reasons.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First, vector ANN indexes are inherently lightweight, so invoking them during the query planning phase incurs very little cost.</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Second, the result is cached and reused during the actual execution phase.</a:t>
            </a:r>
            <a:endParaRPr lang="en" altLang="ko-KR" b="0">
              <a:effectLst/>
            </a:endParaRPr>
          </a:p>
          <a:p>
            <a:pPr>
              <a:buNone/>
            </a:pPr>
            <a:endParaRPr lang="ko-KR" altLang="en-US"/>
          </a:p>
          <a:p>
            <a:endParaRPr lang="ko-KR" altLang="en-US"/>
          </a:p>
        </p:txBody>
      </p:sp>
      <p:sp>
        <p:nvSpPr>
          <p:cNvPr id="4" name="슬라이드 번호 개체 틀 3">
            <a:extLst>
              <a:ext uri="{FF2B5EF4-FFF2-40B4-BE49-F238E27FC236}">
                <a16:creationId xmlns:a16="http://schemas.microsoft.com/office/drawing/2014/main" id="{F1949197-4CBE-60E3-FF56-07E4BBC77FAA}"/>
              </a:ext>
            </a:extLst>
          </p:cNvPr>
          <p:cNvSpPr>
            <a:spLocks noGrp="1"/>
          </p:cNvSpPr>
          <p:nvPr>
            <p:ph type="sldNum" sz="quarter" idx="5"/>
          </p:nvPr>
        </p:nvSpPr>
        <p:spPr/>
        <p:txBody>
          <a:bodyPr/>
          <a:lstStyle/>
          <a:p>
            <a:fld id="{AC2C0C08-2859-414A-8C7F-44AAEEDCB54A}" type="slidenum">
              <a:rPr lang="en-US" smtClean="0"/>
              <a:t>20</a:t>
            </a:fld>
            <a:endParaRPr lang="en-US"/>
          </a:p>
        </p:txBody>
      </p:sp>
    </p:spTree>
    <p:extLst>
      <p:ext uri="{BB962C8B-B14F-4D97-AF65-F5344CB8AC3E}">
        <p14:creationId xmlns:p14="http://schemas.microsoft.com/office/powerpoint/2010/main" val="527392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7508A-B92A-6874-789E-18DD19BDE5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1314F-363D-DBE6-C627-B6FCC6B18AD3}"/>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D2B9A87F-BE1D-EA06-6FAB-93F4D810ADF8}"/>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First of all, when an index is available, Exuqtor performs exact-cardinality-query-optimization or ECQO. </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In this method, Exqutor executes only the vector index portion of the query during the query planning phase, obtains the actual result, and uses it as the estimated cardinality for query optimization.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The key advantage is that, since Exqutor runs the actual vector search in advance, it can provide the optimizer with the true cardinality rather than a heuristic estimate.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One natural concern is the overhead introduced by this approach. However, we keep this overhead below 0.01% of the performance gain.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This is possible for two reasons.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First, vector ANN indexes are inherently lightweight, so invoking them during the query planning phase incurs very little cost.</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Second, the result is cached and reused during the actual execution phase.</a:t>
            </a:r>
            <a:endParaRPr lang="en" altLang="ko-KR" b="0">
              <a:effectLst/>
            </a:endParaRPr>
          </a:p>
          <a:p>
            <a:pPr>
              <a:buNone/>
            </a:pPr>
            <a:endParaRPr lang="ko-KR" altLang="en-US"/>
          </a:p>
          <a:p>
            <a:endParaRPr lang="ko-KR" altLang="en-US"/>
          </a:p>
        </p:txBody>
      </p:sp>
      <p:sp>
        <p:nvSpPr>
          <p:cNvPr id="4" name="슬라이드 번호 개체 틀 3">
            <a:extLst>
              <a:ext uri="{FF2B5EF4-FFF2-40B4-BE49-F238E27FC236}">
                <a16:creationId xmlns:a16="http://schemas.microsoft.com/office/drawing/2014/main" id="{726293C3-F843-1954-41B1-39C467617760}"/>
              </a:ext>
            </a:extLst>
          </p:cNvPr>
          <p:cNvSpPr>
            <a:spLocks noGrp="1"/>
          </p:cNvSpPr>
          <p:nvPr>
            <p:ph type="sldNum" sz="quarter" idx="5"/>
          </p:nvPr>
        </p:nvSpPr>
        <p:spPr/>
        <p:txBody>
          <a:bodyPr/>
          <a:lstStyle/>
          <a:p>
            <a:fld id="{AC2C0C08-2859-414A-8C7F-44AAEEDCB54A}" type="slidenum">
              <a:rPr lang="en-US" smtClean="0"/>
              <a:t>21</a:t>
            </a:fld>
            <a:endParaRPr lang="en-US"/>
          </a:p>
        </p:txBody>
      </p:sp>
    </p:spTree>
    <p:extLst>
      <p:ext uri="{BB962C8B-B14F-4D97-AF65-F5344CB8AC3E}">
        <p14:creationId xmlns:p14="http://schemas.microsoft.com/office/powerpoint/2010/main" val="20095151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C523F-9C60-22DC-C107-23420CE38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67C5A-3F05-3578-60DB-2880297456A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1E38BB23-D370-3B0F-E361-14BF540FF068}"/>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First of all, when an index is available, Exuqtor performs exact-cardinality-query-optimization or ECQO. </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In this method, Exqutor executes only the vector index portion of the query during the query planning phase, obtains the actual result, and uses it as the estimated cardinality for query optimization.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The key advantage is that, since Exqutor runs the actual vector search in advance, it can provide the optimizer with the true cardinality rather than a heuristic estimate.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One natural concern is the overhead introduced by this approach. However, we keep this overhead below 0.01% of the performance gain.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This is possible for two reasons.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First, vector ANN indexes are inherently lightweight, so invoking them during the query planning phase incurs very little cost.</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Second, the result is cached and reused during the actual execution phase.</a:t>
            </a:r>
            <a:endParaRPr lang="en" altLang="ko-KR" b="0">
              <a:effectLst/>
            </a:endParaRPr>
          </a:p>
          <a:p>
            <a:pPr>
              <a:buNone/>
            </a:pPr>
            <a:endParaRPr lang="ko-KR" altLang="en-US"/>
          </a:p>
          <a:p>
            <a:endParaRPr lang="ko-KR" altLang="en-US"/>
          </a:p>
        </p:txBody>
      </p:sp>
      <p:sp>
        <p:nvSpPr>
          <p:cNvPr id="4" name="슬라이드 번호 개체 틀 3">
            <a:extLst>
              <a:ext uri="{FF2B5EF4-FFF2-40B4-BE49-F238E27FC236}">
                <a16:creationId xmlns:a16="http://schemas.microsoft.com/office/drawing/2014/main" id="{122EDC15-323C-645A-CC75-B3F97CFBA855}"/>
              </a:ext>
            </a:extLst>
          </p:cNvPr>
          <p:cNvSpPr>
            <a:spLocks noGrp="1"/>
          </p:cNvSpPr>
          <p:nvPr>
            <p:ph type="sldNum" sz="quarter" idx="5"/>
          </p:nvPr>
        </p:nvSpPr>
        <p:spPr/>
        <p:txBody>
          <a:bodyPr/>
          <a:lstStyle/>
          <a:p>
            <a:fld id="{AC2C0C08-2859-414A-8C7F-44AAEEDCB54A}" type="slidenum">
              <a:rPr lang="en-US" smtClean="0"/>
              <a:t>22</a:t>
            </a:fld>
            <a:endParaRPr lang="en-US"/>
          </a:p>
        </p:txBody>
      </p:sp>
    </p:spTree>
    <p:extLst>
      <p:ext uri="{BB962C8B-B14F-4D97-AF65-F5344CB8AC3E}">
        <p14:creationId xmlns:p14="http://schemas.microsoft.com/office/powerpoint/2010/main" val="13556128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FD25B-DE07-0D5F-0C5E-43EF476FF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3E2CC8-8962-3DEA-AB16-562C3F3329DB}"/>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C409F919-15CC-37E9-4764-80D0DC03445D}"/>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First of all, when an index is available, Exuqtor performs exact-cardinality-query-optimization or ECQO. </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In this method, Exqutor executes only the vector index portion of the query during the query planning phase, obtains the actual result, and uses it as the estimated cardinality for query optimization.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The key advantage is that, since Exqutor runs the actual vector search in advance, it can provide the optimizer with the true cardinality rather than a heuristic estimate.</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One natural concern is the overhead introduced by this approach. However, we keep this overhead below 0.01% of the performance gain.</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This is possible for two reasons.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First, vector ANN indexes are inherently lightweight, so invoking them during the query planning phase incurs very little cost.</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Second, the result is cached and reused during the actual execution phase.</a:t>
            </a:r>
            <a:endParaRPr lang="en" altLang="ko-KR" b="0">
              <a:effectLst/>
            </a:endParaRPr>
          </a:p>
          <a:p>
            <a:pPr>
              <a:buNone/>
            </a:pPr>
            <a:endParaRPr lang="ko-KR" altLang="en-US"/>
          </a:p>
          <a:p>
            <a:endParaRPr lang="ko-KR" altLang="en-US"/>
          </a:p>
        </p:txBody>
      </p:sp>
      <p:sp>
        <p:nvSpPr>
          <p:cNvPr id="4" name="슬라이드 번호 개체 틀 3">
            <a:extLst>
              <a:ext uri="{FF2B5EF4-FFF2-40B4-BE49-F238E27FC236}">
                <a16:creationId xmlns:a16="http://schemas.microsoft.com/office/drawing/2014/main" id="{06232EFB-6253-6B97-477C-37A60373B48D}"/>
              </a:ext>
            </a:extLst>
          </p:cNvPr>
          <p:cNvSpPr>
            <a:spLocks noGrp="1"/>
          </p:cNvSpPr>
          <p:nvPr>
            <p:ph type="sldNum" sz="quarter" idx="5"/>
          </p:nvPr>
        </p:nvSpPr>
        <p:spPr/>
        <p:txBody>
          <a:bodyPr/>
          <a:lstStyle/>
          <a:p>
            <a:fld id="{AC2C0C08-2859-414A-8C7F-44AAEEDCB54A}" type="slidenum">
              <a:rPr lang="en-US" smtClean="0"/>
              <a:t>23</a:t>
            </a:fld>
            <a:endParaRPr lang="en-US"/>
          </a:p>
        </p:txBody>
      </p:sp>
    </p:spTree>
    <p:extLst>
      <p:ext uri="{BB962C8B-B14F-4D97-AF65-F5344CB8AC3E}">
        <p14:creationId xmlns:p14="http://schemas.microsoft.com/office/powerpoint/2010/main" val="4274228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99ECC-BFDA-515C-6871-1562539B0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E2CB9B-4BE2-ED05-D832-0B5D5ED8527A}"/>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A87DA72D-FF70-9E91-D76E-4BB8D34ED5E4}"/>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When no index is available, Exuqtor uses a sampling-based approach. However, simple random sampling is not always sufficient. We need to consider that vector data is high-dimensional, and in some cases, the data distribution itself may also be skewed. </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To address these challenges, Exqutor adaptively adjusts the sample size. Specifically, it uses a momentum-based adjustment algorithm. This algorithm uses q-error, which captures the gap between the sampling-based estimate and the true cardinality. Based on this value, the sample size is increased or decreased accordingly.</a:t>
            </a:r>
            <a:endParaRPr lang="en" altLang="ko-KR" b="0">
              <a:effectLst/>
            </a:endParaRPr>
          </a:p>
        </p:txBody>
      </p:sp>
      <p:sp>
        <p:nvSpPr>
          <p:cNvPr id="4" name="슬라이드 번호 개체 틀 3">
            <a:extLst>
              <a:ext uri="{FF2B5EF4-FFF2-40B4-BE49-F238E27FC236}">
                <a16:creationId xmlns:a16="http://schemas.microsoft.com/office/drawing/2014/main" id="{599A214F-57FB-4EF5-32B4-673A7F9AC9F6}"/>
              </a:ext>
            </a:extLst>
          </p:cNvPr>
          <p:cNvSpPr>
            <a:spLocks noGrp="1"/>
          </p:cNvSpPr>
          <p:nvPr>
            <p:ph type="sldNum" sz="quarter" idx="5"/>
          </p:nvPr>
        </p:nvSpPr>
        <p:spPr/>
        <p:txBody>
          <a:bodyPr/>
          <a:lstStyle/>
          <a:p>
            <a:fld id="{AC2C0C08-2859-414A-8C7F-44AAEEDCB54A}" type="slidenum">
              <a:rPr lang="en-US" smtClean="0"/>
              <a:t>24</a:t>
            </a:fld>
            <a:endParaRPr lang="en-US"/>
          </a:p>
        </p:txBody>
      </p:sp>
    </p:spTree>
    <p:extLst>
      <p:ext uri="{BB962C8B-B14F-4D97-AF65-F5344CB8AC3E}">
        <p14:creationId xmlns:p14="http://schemas.microsoft.com/office/powerpoint/2010/main" val="3796011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4F4E7-C86A-A65C-06DA-62445C104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5BFAB-E32A-FB41-A545-5C53F270E2E6}"/>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C7E8083A-34B6-273F-CA62-8EB0D904C504}"/>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Next, we show the performance improvement by Exqutor over existing systems.</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When an index is available, Exqutor achieves performance gains of up to four orders of magnitude. The main reason for this improvement is that better cardinality estimation for tables containing vector data leads the optimizer to choose a better query plan overall.</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We illustrate this using Query 3. In the original pgvector plan on the left, the Partsupp table containing the vectors is placed at the far right of the join order. With Exqutor, however, it moves to the bottom of the plan. This change also affects other operators in the plan. Sequential scans become index scans, and a hash join is replaced by a nested loop join.</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Moreover, this performance improvement remains consistent even for higher-dimensional vectors, as demonstrated by the results on the SIFT and SimSearchNet datasets.</a:t>
            </a:r>
            <a:endParaRPr lang="en" altLang="ko-KR" b="0">
              <a:effectLst/>
            </a:endParaRPr>
          </a:p>
          <a:p>
            <a:pPr>
              <a:buNone/>
            </a:pPr>
            <a:br>
              <a:rPr lang="en" altLang="ko-KR"/>
            </a:br>
            <a:endParaRPr lang="ko-KR" altLang="en-US"/>
          </a:p>
          <a:p>
            <a:endParaRPr lang="ko-KR" altLang="en-US"/>
          </a:p>
        </p:txBody>
      </p:sp>
      <p:sp>
        <p:nvSpPr>
          <p:cNvPr id="4" name="슬라이드 번호 개체 틀 3">
            <a:extLst>
              <a:ext uri="{FF2B5EF4-FFF2-40B4-BE49-F238E27FC236}">
                <a16:creationId xmlns:a16="http://schemas.microsoft.com/office/drawing/2014/main" id="{2DE3F10D-CD41-2E94-5B00-D7B3D0333703}"/>
              </a:ext>
            </a:extLst>
          </p:cNvPr>
          <p:cNvSpPr>
            <a:spLocks noGrp="1"/>
          </p:cNvSpPr>
          <p:nvPr>
            <p:ph type="sldNum" sz="quarter" idx="5"/>
          </p:nvPr>
        </p:nvSpPr>
        <p:spPr/>
        <p:txBody>
          <a:bodyPr/>
          <a:lstStyle/>
          <a:p>
            <a:fld id="{AC2C0C08-2859-414A-8C7F-44AAEEDCB54A}" type="slidenum">
              <a:rPr lang="en-US" smtClean="0"/>
              <a:t>25</a:t>
            </a:fld>
            <a:endParaRPr lang="en-US"/>
          </a:p>
        </p:txBody>
      </p:sp>
    </p:spTree>
    <p:extLst>
      <p:ext uri="{BB962C8B-B14F-4D97-AF65-F5344CB8AC3E}">
        <p14:creationId xmlns:p14="http://schemas.microsoft.com/office/powerpoint/2010/main" val="26005609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5D919-6574-5D54-68DF-A803D62A7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42C9B-CA01-475C-9D4C-B700AF8E3598}"/>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11E56741-08A8-02B2-F68D-F12A6DD049D8}"/>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When no index is available, Exqutor uses adaptive sampling, and it still archives performance improvements for the overall query execution.</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A particularly interesting observation is that skewed and high-dimensional vector datasets require a larger sample size for accurate cardinality estimation. For example, the blue curve in the figure represents the SIFT dataset, which has a much more skewed distribution than the others, and therefore requires more samples.</a:t>
            </a:r>
            <a:endParaRPr lang="en" altLang="ko-KR" b="0">
              <a:effectLst/>
            </a:endParaRPr>
          </a:p>
          <a:p>
            <a:pPr rtl="0">
              <a:buNone/>
            </a:pPr>
            <a:r>
              <a:rPr lang="en" altLang="ko-KR" sz="1800" b="0" i="0" u="none" strike="noStrike">
                <a:solidFill>
                  <a:srgbClr val="000000"/>
                </a:solidFill>
                <a:effectLst/>
                <a:latin typeface="Arial" panose="020B0604020202020204" pitchFamily="34" charset="0"/>
              </a:rPr>
              <a:t>In contrast, the DEEP dataset has relatively more regular distribution, so a smaller sample size is sufficient.</a:t>
            </a:r>
            <a:endParaRPr lang="en" altLang="ko-KR" b="0">
              <a:effectLst/>
            </a:endParaRPr>
          </a:p>
          <a:p>
            <a:pPr>
              <a:buNone/>
            </a:pPr>
            <a:br>
              <a:rPr lang="en" altLang="ko-KR"/>
            </a:br>
            <a:endParaRPr lang="ko-KR" altLang="en-US"/>
          </a:p>
        </p:txBody>
      </p:sp>
      <p:sp>
        <p:nvSpPr>
          <p:cNvPr id="4" name="슬라이드 번호 개체 틀 3">
            <a:extLst>
              <a:ext uri="{FF2B5EF4-FFF2-40B4-BE49-F238E27FC236}">
                <a16:creationId xmlns:a16="http://schemas.microsoft.com/office/drawing/2014/main" id="{B008366E-88BC-66E3-BB16-C093AE9AADA6}"/>
              </a:ext>
            </a:extLst>
          </p:cNvPr>
          <p:cNvSpPr>
            <a:spLocks noGrp="1"/>
          </p:cNvSpPr>
          <p:nvPr>
            <p:ph type="sldNum" sz="quarter" idx="5"/>
          </p:nvPr>
        </p:nvSpPr>
        <p:spPr/>
        <p:txBody>
          <a:bodyPr/>
          <a:lstStyle/>
          <a:p>
            <a:fld id="{AC2C0C08-2859-414A-8C7F-44AAEEDCB54A}" type="slidenum">
              <a:rPr lang="en-US" smtClean="0"/>
              <a:t>26</a:t>
            </a:fld>
            <a:endParaRPr lang="en-US"/>
          </a:p>
        </p:txBody>
      </p:sp>
    </p:spTree>
    <p:extLst>
      <p:ext uri="{BB962C8B-B14F-4D97-AF65-F5344CB8AC3E}">
        <p14:creationId xmlns:p14="http://schemas.microsoft.com/office/powerpoint/2010/main" val="10020012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3AC9F-03AC-6A2A-2D87-C710004D9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B5E36-E8C9-9F44-C18A-AAEF98D8256E}"/>
              </a:ext>
            </a:extLst>
          </p:cNvPr>
          <p:cNvSpPr>
            <a:spLocks noGrp="1" noRot="1" noChangeAspect="1"/>
          </p:cNvSpPr>
          <p:nvPr>
            <p:ph type="sldImg"/>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 name="Notes Placeholder 2">
            <a:extLst>
              <a:ext uri="{FF2B5EF4-FFF2-40B4-BE49-F238E27FC236}">
                <a16:creationId xmlns:a16="http://schemas.microsoft.com/office/drawing/2014/main" id="{F14BA222-1A73-3EB2-A847-799A5C29638A}"/>
              </a:ext>
            </a:extLst>
          </p:cNvPr>
          <p:cNvSpPr>
            <a:spLocks noGrp="1"/>
          </p:cNvSpPr>
          <p:nvPr>
            <p:ph type="body" idx="1"/>
          </p:nvPr>
        </p:nvSpPr>
        <p:spPr>
          <a:xfrm>
            <a:off x="685800" y="4400550"/>
            <a:ext cx="5486400" cy="3600450"/>
          </a:xfrm>
          <a:prstGeom prst="rect">
            <a:avLst/>
          </a:prstGeom>
        </p:spPr>
        <p:txBody>
          <a:bodyPr/>
          <a:lstStyle/>
          <a:p>
            <a:pPr rtl="0">
              <a:buNone/>
            </a:pPr>
            <a:r>
              <a:rPr lang="en" altLang="ko-KR" sz="1800" b="0" i="0" u="none" strike="noStrike">
                <a:solidFill>
                  <a:srgbClr val="000000"/>
                </a:solidFill>
                <a:effectLst/>
                <a:latin typeface="Arial" panose="020B0604020202020204" pitchFamily="34" charset="0"/>
              </a:rPr>
              <a:t>Finally, let me summarize the main contributions of our work.</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First, we introduced Vector-augmented Analytical Queries, and showed how VSS can be used together with relational operators in real-world scenarios.</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Second, we designed the Vector-augmented SQL Analytics benchmark to evaluate VAQ performance and shared it with the community.</a:t>
            </a:r>
            <a:endParaRPr lang="en" altLang="ko-KR" b="0">
              <a:effectLst/>
            </a:endParaRPr>
          </a:p>
          <a:p>
            <a:pPr rtl="0">
              <a:buNone/>
            </a:pPr>
            <a:br>
              <a:rPr lang="en" altLang="ko-KR" b="0">
                <a:effectLst/>
              </a:rPr>
            </a:br>
            <a:r>
              <a:rPr lang="en" altLang="ko-KR" sz="1800" b="0" i="0" u="none" strike="noStrike">
                <a:solidFill>
                  <a:srgbClr val="000000"/>
                </a:solidFill>
                <a:effectLst/>
                <a:latin typeface="Arial" panose="020B0604020202020204" pitchFamily="34" charset="0"/>
              </a:rPr>
              <a:t>Third, we proposed Exqutor, a framework that improves VAQ performance by replacing heuristic selectivity with computed cardinalities in the cost model, without modifying the execution engine or SQL interface.</a:t>
            </a:r>
            <a:endParaRPr lang="en" altLang="ko-KR" b="0">
              <a:effectLst/>
            </a:endParaRPr>
          </a:p>
          <a:p>
            <a:endParaRPr lang="ko-KR" altLang="en-US"/>
          </a:p>
        </p:txBody>
      </p:sp>
      <p:sp>
        <p:nvSpPr>
          <p:cNvPr id="4" name="슬라이드 번호 개체 틀 3">
            <a:extLst>
              <a:ext uri="{FF2B5EF4-FFF2-40B4-BE49-F238E27FC236}">
                <a16:creationId xmlns:a16="http://schemas.microsoft.com/office/drawing/2014/main" id="{9D59245A-5CD8-5368-9797-042530F7D802}"/>
              </a:ext>
            </a:extLst>
          </p:cNvPr>
          <p:cNvSpPr>
            <a:spLocks noGrp="1"/>
          </p:cNvSpPr>
          <p:nvPr>
            <p:ph type="sldNum" sz="quarter" idx="5"/>
          </p:nvPr>
        </p:nvSpPr>
        <p:spPr/>
        <p:txBody>
          <a:bodyPr/>
          <a:lstStyle/>
          <a:p>
            <a:fld id="{AC2C0C08-2859-414A-8C7F-44AAEEDCB54A}" type="slidenum">
              <a:rPr lang="en-US" smtClean="0"/>
              <a:t>27</a:t>
            </a:fld>
            <a:endParaRPr lang="en-US"/>
          </a:p>
        </p:txBody>
      </p:sp>
    </p:spTree>
    <p:extLst>
      <p:ext uri="{BB962C8B-B14F-4D97-AF65-F5344CB8AC3E}">
        <p14:creationId xmlns:p14="http://schemas.microsoft.com/office/powerpoint/2010/main" val="5298581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B56D690-A396-8338-A116-08D48F7AB712}"/>
              </a:ext>
            </a:extLst>
          </p:cNvPr>
          <p:cNvSpPr>
            <a:spLocks noGrp="1"/>
          </p:cNvSpPr>
          <p:nvPr>
            <p:ph type="ctrTitle"/>
          </p:nvPr>
        </p:nvSpPr>
        <p:spPr>
          <a:xfrm>
            <a:off x="1524000" y="1122363"/>
            <a:ext cx="9144000" cy="2387600"/>
          </a:xfrm>
        </p:spPr>
        <p:txBody>
          <a:bodyPr anchor="b"/>
          <a:lstStyle>
            <a:lvl1pPr algn="ctr">
              <a:defRPr sz="6000"/>
            </a:lvl1pPr>
          </a:lstStyle>
          <a:p>
            <a:r>
              <a:rPr kumimoji="1" lang="ko-KR" altLang="en-US"/>
              <a:t>마스터 제목 스타일 편집</a:t>
            </a:r>
          </a:p>
        </p:txBody>
      </p:sp>
      <p:sp>
        <p:nvSpPr>
          <p:cNvPr id="3" name="부제목 2">
            <a:extLst>
              <a:ext uri="{FF2B5EF4-FFF2-40B4-BE49-F238E27FC236}">
                <a16:creationId xmlns:a16="http://schemas.microsoft.com/office/drawing/2014/main" id="{8A82D752-D902-45B4-EC3A-ED8F932341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ko-KR" altLang="en-US"/>
              <a:t>클릭하여 마스터 부제목 스타일 편집</a:t>
            </a:r>
          </a:p>
        </p:txBody>
      </p:sp>
      <p:sp>
        <p:nvSpPr>
          <p:cNvPr id="4" name="날짜 개체 틀 3">
            <a:extLst>
              <a:ext uri="{FF2B5EF4-FFF2-40B4-BE49-F238E27FC236}">
                <a16:creationId xmlns:a16="http://schemas.microsoft.com/office/drawing/2014/main" id="{C1F305B7-7A4D-D830-93DF-9C87FC2AA1F2}"/>
              </a:ext>
            </a:extLst>
          </p:cNvPr>
          <p:cNvSpPr>
            <a:spLocks noGrp="1"/>
          </p:cNvSpPr>
          <p:nvPr>
            <p:ph type="dt" sz="half" idx="10"/>
          </p:nvPr>
        </p:nvSpPr>
        <p:spPr/>
        <p:txBody>
          <a:bodyPr/>
          <a:lstStyle/>
          <a:p>
            <a:endParaRPr kumimoji="1" lang="ko-KR" altLang="en-US"/>
          </a:p>
        </p:txBody>
      </p:sp>
      <p:sp>
        <p:nvSpPr>
          <p:cNvPr id="5" name="바닥글 개체 틀 4">
            <a:extLst>
              <a:ext uri="{FF2B5EF4-FFF2-40B4-BE49-F238E27FC236}">
                <a16:creationId xmlns:a16="http://schemas.microsoft.com/office/drawing/2014/main" id="{AFBBF784-F1B4-856C-625A-4EC93B7841A8}"/>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879EDB37-AF2F-56AC-54B5-9E4DFFDB43DF}"/>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3251495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EC10C9C-0ED4-4A2A-36F9-13B668F2746C}"/>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BF7B7AAC-0BEE-826B-4C46-5A899C2733C7}"/>
              </a:ext>
            </a:extLst>
          </p:cNvPr>
          <p:cNvSpPr>
            <a:spLocks noGrp="1"/>
          </p:cNvSpPr>
          <p:nvPr>
            <p:ph idx="1"/>
          </p:nvPr>
        </p:nvSpPr>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519271E5-910A-8506-7ADE-100C99247C15}"/>
              </a:ext>
            </a:extLst>
          </p:cNvPr>
          <p:cNvSpPr>
            <a:spLocks noGrp="1"/>
          </p:cNvSpPr>
          <p:nvPr>
            <p:ph type="dt" sz="half" idx="10"/>
          </p:nvPr>
        </p:nvSpPr>
        <p:spPr/>
        <p:txBody>
          <a:bodyPr/>
          <a:lstStyle/>
          <a:p>
            <a:endParaRPr kumimoji="1" lang="ko-KR" altLang="en-US"/>
          </a:p>
        </p:txBody>
      </p:sp>
      <p:sp>
        <p:nvSpPr>
          <p:cNvPr id="5" name="바닥글 개체 틀 4">
            <a:extLst>
              <a:ext uri="{FF2B5EF4-FFF2-40B4-BE49-F238E27FC236}">
                <a16:creationId xmlns:a16="http://schemas.microsoft.com/office/drawing/2014/main" id="{F118F496-52AC-FE4F-426D-35CBD99D0954}"/>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4C7E3C45-2CEF-2412-C764-AB76D8CD5C60}"/>
              </a:ext>
            </a:extLst>
          </p:cNvPr>
          <p:cNvSpPr>
            <a:spLocks noGrp="1"/>
          </p:cNvSpPr>
          <p:nvPr>
            <p:ph type="sldNum" sz="quarter" idx="12"/>
          </p:nvPr>
        </p:nvSpPr>
        <p:spPr/>
        <p:txBody>
          <a:bodyPr/>
          <a:lstStyle/>
          <a:p>
            <a:fld id="{C8CCB44E-7B51-1B4A-9BF2-1406D55FF4EB}" type="slidenum">
              <a:t>‹#›</a:t>
            </a:fld>
            <a:r>
              <a:rPr lang="ko-KR" altLang="en-US"/>
              <a:t> </a:t>
            </a:r>
            <a:r>
              <a:rPr lang="en-US" altLang="ko-KR"/>
              <a:t>/</a:t>
            </a:r>
            <a:r>
              <a:rPr lang="ko-KR" altLang="en-US"/>
              <a:t> </a:t>
            </a:r>
            <a:r>
              <a:rPr lang="en-US" altLang="ko-KR"/>
              <a:t>10</a:t>
            </a:r>
            <a:endParaRPr kumimoji="1" lang="ko-KR" altLang="en-US"/>
          </a:p>
        </p:txBody>
      </p:sp>
    </p:spTree>
    <p:extLst>
      <p:ext uri="{BB962C8B-B14F-4D97-AF65-F5344CB8AC3E}">
        <p14:creationId xmlns:p14="http://schemas.microsoft.com/office/powerpoint/2010/main" val="53344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A0C1A4C-B42E-F0D2-0C3E-4FB747C4BB2C}"/>
              </a:ext>
            </a:extLst>
          </p:cNvPr>
          <p:cNvSpPr>
            <a:spLocks noGrp="1"/>
          </p:cNvSpPr>
          <p:nvPr>
            <p:ph type="title"/>
          </p:nvPr>
        </p:nvSpPr>
        <p:spPr>
          <a:xfrm>
            <a:off x="831850" y="1709738"/>
            <a:ext cx="10515600" cy="2852737"/>
          </a:xfrm>
        </p:spPr>
        <p:txBody>
          <a:bodyPr anchor="b"/>
          <a:lstStyle>
            <a:lvl1pPr>
              <a:defRPr sz="6000"/>
            </a:lvl1pPr>
          </a:lstStyle>
          <a:p>
            <a:r>
              <a:rPr kumimoji="1" lang="ko-KR" altLang="en-US"/>
              <a:t>마스터 제목 스타일 편집</a:t>
            </a:r>
          </a:p>
        </p:txBody>
      </p:sp>
      <p:sp>
        <p:nvSpPr>
          <p:cNvPr id="3" name="텍스트 개체 틀 2">
            <a:extLst>
              <a:ext uri="{FF2B5EF4-FFF2-40B4-BE49-F238E27FC236}">
                <a16:creationId xmlns:a16="http://schemas.microsoft.com/office/drawing/2014/main" id="{8A2EB298-7797-87C0-5744-8EEF698547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ko-KR" altLang="en-US"/>
              <a:t>마스터 텍스트 스타일을 편집하려면 클릭</a:t>
            </a:r>
          </a:p>
        </p:txBody>
      </p:sp>
      <p:sp>
        <p:nvSpPr>
          <p:cNvPr id="4" name="날짜 개체 틀 3">
            <a:extLst>
              <a:ext uri="{FF2B5EF4-FFF2-40B4-BE49-F238E27FC236}">
                <a16:creationId xmlns:a16="http://schemas.microsoft.com/office/drawing/2014/main" id="{39213924-E58F-B4AE-E37B-5F7974A4074F}"/>
              </a:ext>
            </a:extLst>
          </p:cNvPr>
          <p:cNvSpPr>
            <a:spLocks noGrp="1"/>
          </p:cNvSpPr>
          <p:nvPr>
            <p:ph type="dt" sz="half" idx="10"/>
          </p:nvPr>
        </p:nvSpPr>
        <p:spPr/>
        <p:txBody>
          <a:bodyPr/>
          <a:lstStyle/>
          <a:p>
            <a:endParaRPr kumimoji="1" lang="ko-KR" altLang="en-US"/>
          </a:p>
        </p:txBody>
      </p:sp>
      <p:sp>
        <p:nvSpPr>
          <p:cNvPr id="5" name="바닥글 개체 틀 4">
            <a:extLst>
              <a:ext uri="{FF2B5EF4-FFF2-40B4-BE49-F238E27FC236}">
                <a16:creationId xmlns:a16="http://schemas.microsoft.com/office/drawing/2014/main" id="{34F3B6BC-7723-43C0-A275-868AB32332DE}"/>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5E796A9D-F050-E83E-1108-804701585510}"/>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1742281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832FF9-599E-56BA-6D5C-FFBB87B564D4}"/>
              </a:ext>
            </a:extLst>
          </p:cNvPr>
          <p:cNvSpPr>
            <a:spLocks noGrp="1"/>
          </p:cNvSpPr>
          <p:nvPr>
            <p:ph type="title"/>
          </p:nvPr>
        </p:nvSpPr>
        <p:spPr/>
        <p:txBody>
          <a:bodyPr/>
          <a:lstStyle/>
          <a:p>
            <a:r>
              <a:rPr kumimoji="1" lang="ko-KR" altLang="en-US"/>
              <a:t>마스터 제목 스타일 편집</a:t>
            </a:r>
          </a:p>
        </p:txBody>
      </p:sp>
      <p:sp>
        <p:nvSpPr>
          <p:cNvPr id="3" name="내용 개체 틀 2">
            <a:extLst>
              <a:ext uri="{FF2B5EF4-FFF2-40B4-BE49-F238E27FC236}">
                <a16:creationId xmlns:a16="http://schemas.microsoft.com/office/drawing/2014/main" id="{F18C72CE-240B-2403-D231-C2CCB59565CB}"/>
              </a:ext>
            </a:extLst>
          </p:cNvPr>
          <p:cNvSpPr>
            <a:spLocks noGrp="1"/>
          </p:cNvSpPr>
          <p:nvPr>
            <p:ph sz="half" idx="1"/>
          </p:nvPr>
        </p:nvSpPr>
        <p:spPr>
          <a:xfrm>
            <a:off x="838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내용 개체 틀 3">
            <a:extLst>
              <a:ext uri="{FF2B5EF4-FFF2-40B4-BE49-F238E27FC236}">
                <a16:creationId xmlns:a16="http://schemas.microsoft.com/office/drawing/2014/main" id="{8AC27C33-592E-B923-B58F-0413C6B0015E}"/>
              </a:ext>
            </a:extLst>
          </p:cNvPr>
          <p:cNvSpPr>
            <a:spLocks noGrp="1"/>
          </p:cNvSpPr>
          <p:nvPr>
            <p:ph sz="half" idx="2"/>
          </p:nvPr>
        </p:nvSpPr>
        <p:spPr>
          <a:xfrm>
            <a:off x="6172200" y="1825625"/>
            <a:ext cx="5181600" cy="435133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날짜 개체 틀 4">
            <a:extLst>
              <a:ext uri="{FF2B5EF4-FFF2-40B4-BE49-F238E27FC236}">
                <a16:creationId xmlns:a16="http://schemas.microsoft.com/office/drawing/2014/main" id="{072D7C7D-6067-0062-75D9-59F9052BBBA2}"/>
              </a:ext>
            </a:extLst>
          </p:cNvPr>
          <p:cNvSpPr>
            <a:spLocks noGrp="1"/>
          </p:cNvSpPr>
          <p:nvPr>
            <p:ph type="dt" sz="half" idx="10"/>
          </p:nvPr>
        </p:nvSpPr>
        <p:spPr/>
        <p:txBody>
          <a:bodyPr/>
          <a:lstStyle/>
          <a:p>
            <a:endParaRPr kumimoji="1" lang="ko-KR" altLang="en-US"/>
          </a:p>
        </p:txBody>
      </p:sp>
      <p:sp>
        <p:nvSpPr>
          <p:cNvPr id="6" name="바닥글 개체 틀 5">
            <a:extLst>
              <a:ext uri="{FF2B5EF4-FFF2-40B4-BE49-F238E27FC236}">
                <a16:creationId xmlns:a16="http://schemas.microsoft.com/office/drawing/2014/main" id="{DC1FEA28-994D-A6A9-70B9-E434A4FC543B}"/>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5D22BD60-F43D-D3FD-6041-7BA76DBFAE8C}"/>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424819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FB55554-F5BA-425B-56AD-0AA04D66E8E5}"/>
              </a:ext>
            </a:extLst>
          </p:cNvPr>
          <p:cNvSpPr>
            <a:spLocks noGrp="1"/>
          </p:cNvSpPr>
          <p:nvPr>
            <p:ph type="title"/>
          </p:nvPr>
        </p:nvSpPr>
        <p:spPr>
          <a:xfrm>
            <a:off x="839788" y="365125"/>
            <a:ext cx="10515600" cy="1325563"/>
          </a:xfrm>
        </p:spPr>
        <p:txBody>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E1254807-42EA-AE08-8F85-9AA2A36C6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4" name="내용 개체 틀 3">
            <a:extLst>
              <a:ext uri="{FF2B5EF4-FFF2-40B4-BE49-F238E27FC236}">
                <a16:creationId xmlns:a16="http://schemas.microsoft.com/office/drawing/2014/main" id="{AC9016A3-A5B1-69E8-ABB2-95EDABAF34BB}"/>
              </a:ext>
            </a:extLst>
          </p:cNvPr>
          <p:cNvSpPr>
            <a:spLocks noGrp="1"/>
          </p:cNvSpPr>
          <p:nvPr>
            <p:ph sz="half" idx="2"/>
          </p:nvPr>
        </p:nvSpPr>
        <p:spPr>
          <a:xfrm>
            <a:off x="839788" y="2505075"/>
            <a:ext cx="5157787"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5" name="텍스트 개체 틀 4">
            <a:extLst>
              <a:ext uri="{FF2B5EF4-FFF2-40B4-BE49-F238E27FC236}">
                <a16:creationId xmlns:a16="http://schemas.microsoft.com/office/drawing/2014/main" id="{FF70CE21-C26C-798D-8409-43EDEB27B5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ko-KR" altLang="en-US"/>
              <a:t>마스터 텍스트 스타일을 편집하려면 클릭</a:t>
            </a:r>
          </a:p>
        </p:txBody>
      </p:sp>
      <p:sp>
        <p:nvSpPr>
          <p:cNvPr id="6" name="내용 개체 틀 5">
            <a:extLst>
              <a:ext uri="{FF2B5EF4-FFF2-40B4-BE49-F238E27FC236}">
                <a16:creationId xmlns:a16="http://schemas.microsoft.com/office/drawing/2014/main" id="{361A5554-1072-4ACE-D668-7D45D46F2523}"/>
              </a:ext>
            </a:extLst>
          </p:cNvPr>
          <p:cNvSpPr>
            <a:spLocks noGrp="1"/>
          </p:cNvSpPr>
          <p:nvPr>
            <p:ph sz="quarter" idx="4"/>
          </p:nvPr>
        </p:nvSpPr>
        <p:spPr>
          <a:xfrm>
            <a:off x="6172200" y="2505075"/>
            <a:ext cx="5183188" cy="3684588"/>
          </a:xfrm>
        </p:spPr>
        <p:txBody>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7" name="날짜 개체 틀 6">
            <a:extLst>
              <a:ext uri="{FF2B5EF4-FFF2-40B4-BE49-F238E27FC236}">
                <a16:creationId xmlns:a16="http://schemas.microsoft.com/office/drawing/2014/main" id="{685BA1CC-172D-3AF5-EFD8-7A1F7A6EF6DC}"/>
              </a:ext>
            </a:extLst>
          </p:cNvPr>
          <p:cNvSpPr>
            <a:spLocks noGrp="1"/>
          </p:cNvSpPr>
          <p:nvPr>
            <p:ph type="dt" sz="half" idx="10"/>
          </p:nvPr>
        </p:nvSpPr>
        <p:spPr/>
        <p:txBody>
          <a:bodyPr/>
          <a:lstStyle/>
          <a:p>
            <a:endParaRPr kumimoji="1" lang="ko-KR" altLang="en-US"/>
          </a:p>
        </p:txBody>
      </p:sp>
      <p:sp>
        <p:nvSpPr>
          <p:cNvPr id="8" name="바닥글 개체 틀 7">
            <a:extLst>
              <a:ext uri="{FF2B5EF4-FFF2-40B4-BE49-F238E27FC236}">
                <a16:creationId xmlns:a16="http://schemas.microsoft.com/office/drawing/2014/main" id="{7D13F685-B0EB-BCB9-3AFD-2D48DC37D86A}"/>
              </a:ext>
            </a:extLst>
          </p:cNvPr>
          <p:cNvSpPr>
            <a:spLocks noGrp="1"/>
          </p:cNvSpPr>
          <p:nvPr>
            <p:ph type="ftr" sz="quarter" idx="11"/>
          </p:nvPr>
        </p:nvSpPr>
        <p:spPr/>
        <p:txBody>
          <a:bodyPr/>
          <a:lstStyle/>
          <a:p>
            <a:endParaRPr kumimoji="1" lang="ko-KR" altLang="en-US"/>
          </a:p>
        </p:txBody>
      </p:sp>
      <p:sp>
        <p:nvSpPr>
          <p:cNvPr id="9" name="슬라이드 번호 개체 틀 8">
            <a:extLst>
              <a:ext uri="{FF2B5EF4-FFF2-40B4-BE49-F238E27FC236}">
                <a16:creationId xmlns:a16="http://schemas.microsoft.com/office/drawing/2014/main" id="{C0497FB0-0DD5-136F-FF19-44778A8C9529}"/>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2947029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C6E44B8-B2BB-9BF2-C830-6DDB40448BBF}"/>
              </a:ext>
            </a:extLst>
          </p:cNvPr>
          <p:cNvSpPr>
            <a:spLocks noGrp="1"/>
          </p:cNvSpPr>
          <p:nvPr>
            <p:ph type="title"/>
          </p:nvPr>
        </p:nvSpPr>
        <p:spPr/>
        <p:txBody>
          <a:bodyPr/>
          <a:lstStyle/>
          <a:p>
            <a:r>
              <a:rPr kumimoji="1" lang="ko-KR" altLang="en-US"/>
              <a:t>마스터 제목 스타일 편집</a:t>
            </a:r>
          </a:p>
        </p:txBody>
      </p:sp>
      <p:sp>
        <p:nvSpPr>
          <p:cNvPr id="3" name="날짜 개체 틀 2">
            <a:extLst>
              <a:ext uri="{FF2B5EF4-FFF2-40B4-BE49-F238E27FC236}">
                <a16:creationId xmlns:a16="http://schemas.microsoft.com/office/drawing/2014/main" id="{8304F3FB-CFB8-AEB8-C886-65E5C7751602}"/>
              </a:ext>
            </a:extLst>
          </p:cNvPr>
          <p:cNvSpPr>
            <a:spLocks noGrp="1"/>
          </p:cNvSpPr>
          <p:nvPr>
            <p:ph type="dt" sz="half" idx="10"/>
          </p:nvPr>
        </p:nvSpPr>
        <p:spPr/>
        <p:txBody>
          <a:bodyPr/>
          <a:lstStyle/>
          <a:p>
            <a:endParaRPr kumimoji="1" lang="ko-KR" altLang="en-US"/>
          </a:p>
        </p:txBody>
      </p:sp>
      <p:sp>
        <p:nvSpPr>
          <p:cNvPr id="4" name="바닥글 개체 틀 3">
            <a:extLst>
              <a:ext uri="{FF2B5EF4-FFF2-40B4-BE49-F238E27FC236}">
                <a16:creationId xmlns:a16="http://schemas.microsoft.com/office/drawing/2014/main" id="{BA3BB90A-D0C9-8CF9-8D38-E45C03400CD9}"/>
              </a:ext>
            </a:extLst>
          </p:cNvPr>
          <p:cNvSpPr>
            <a:spLocks noGrp="1"/>
          </p:cNvSpPr>
          <p:nvPr>
            <p:ph type="ftr" sz="quarter" idx="11"/>
          </p:nvPr>
        </p:nvSpPr>
        <p:spPr/>
        <p:txBody>
          <a:bodyPr/>
          <a:lstStyle/>
          <a:p>
            <a:endParaRPr kumimoji="1" lang="ko-KR" altLang="en-US"/>
          </a:p>
        </p:txBody>
      </p:sp>
      <p:sp>
        <p:nvSpPr>
          <p:cNvPr id="5" name="슬라이드 번호 개체 틀 4">
            <a:extLst>
              <a:ext uri="{FF2B5EF4-FFF2-40B4-BE49-F238E27FC236}">
                <a16:creationId xmlns:a16="http://schemas.microsoft.com/office/drawing/2014/main" id="{D69BD068-3F7B-AB3E-E6E8-03A96145ADBA}"/>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2450719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2CDA548-7C9B-A807-D423-41B8D21D7E31}"/>
              </a:ext>
            </a:extLst>
          </p:cNvPr>
          <p:cNvSpPr>
            <a:spLocks noGrp="1"/>
          </p:cNvSpPr>
          <p:nvPr>
            <p:ph type="dt" sz="half" idx="10"/>
          </p:nvPr>
        </p:nvSpPr>
        <p:spPr/>
        <p:txBody>
          <a:bodyPr/>
          <a:lstStyle/>
          <a:p>
            <a:endParaRPr kumimoji="1" lang="ko-KR" altLang="en-US"/>
          </a:p>
        </p:txBody>
      </p:sp>
      <p:sp>
        <p:nvSpPr>
          <p:cNvPr id="3" name="바닥글 개체 틀 2">
            <a:extLst>
              <a:ext uri="{FF2B5EF4-FFF2-40B4-BE49-F238E27FC236}">
                <a16:creationId xmlns:a16="http://schemas.microsoft.com/office/drawing/2014/main" id="{F5738089-6067-B4B9-161F-449364E0244F}"/>
              </a:ext>
            </a:extLst>
          </p:cNvPr>
          <p:cNvSpPr>
            <a:spLocks noGrp="1"/>
          </p:cNvSpPr>
          <p:nvPr>
            <p:ph type="ftr" sz="quarter" idx="11"/>
          </p:nvPr>
        </p:nvSpPr>
        <p:spPr/>
        <p:txBody>
          <a:bodyPr/>
          <a:lstStyle/>
          <a:p>
            <a:endParaRPr kumimoji="1" lang="ko-KR" altLang="en-US"/>
          </a:p>
        </p:txBody>
      </p:sp>
      <p:sp>
        <p:nvSpPr>
          <p:cNvPr id="4" name="슬라이드 번호 개체 틀 3">
            <a:extLst>
              <a:ext uri="{FF2B5EF4-FFF2-40B4-BE49-F238E27FC236}">
                <a16:creationId xmlns:a16="http://schemas.microsoft.com/office/drawing/2014/main" id="{90F5DBFB-E3DE-F196-AF95-75AF62E2D6B7}"/>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17629178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AD66864-3012-8F18-491D-79B04061E2A9}"/>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내용 개체 틀 2">
            <a:extLst>
              <a:ext uri="{FF2B5EF4-FFF2-40B4-BE49-F238E27FC236}">
                <a16:creationId xmlns:a16="http://schemas.microsoft.com/office/drawing/2014/main" id="{C8090599-95F3-5441-9D48-6043A4A278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텍스트 개체 틀 3">
            <a:extLst>
              <a:ext uri="{FF2B5EF4-FFF2-40B4-BE49-F238E27FC236}">
                <a16:creationId xmlns:a16="http://schemas.microsoft.com/office/drawing/2014/main" id="{A3076FB4-CBF7-9637-FF10-A6986BA71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359B79E5-136A-0771-9C88-92077C88E1DC}"/>
              </a:ext>
            </a:extLst>
          </p:cNvPr>
          <p:cNvSpPr>
            <a:spLocks noGrp="1"/>
          </p:cNvSpPr>
          <p:nvPr>
            <p:ph type="dt" sz="half" idx="10"/>
          </p:nvPr>
        </p:nvSpPr>
        <p:spPr/>
        <p:txBody>
          <a:bodyPr/>
          <a:lstStyle/>
          <a:p>
            <a:endParaRPr kumimoji="1" lang="ko-KR" altLang="en-US"/>
          </a:p>
        </p:txBody>
      </p:sp>
      <p:sp>
        <p:nvSpPr>
          <p:cNvPr id="6" name="바닥글 개체 틀 5">
            <a:extLst>
              <a:ext uri="{FF2B5EF4-FFF2-40B4-BE49-F238E27FC236}">
                <a16:creationId xmlns:a16="http://schemas.microsoft.com/office/drawing/2014/main" id="{D8D795BE-0D03-50F6-8C11-2A30B8CB0543}"/>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35B69822-A76A-F507-A194-A53D035FB768}"/>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406571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2569CFA-9AFC-53D4-62FE-EC17F64596F4}"/>
              </a:ext>
            </a:extLst>
          </p:cNvPr>
          <p:cNvSpPr>
            <a:spLocks noGrp="1"/>
          </p:cNvSpPr>
          <p:nvPr>
            <p:ph type="title"/>
          </p:nvPr>
        </p:nvSpPr>
        <p:spPr>
          <a:xfrm>
            <a:off x="839788" y="457200"/>
            <a:ext cx="3932237" cy="1600200"/>
          </a:xfrm>
        </p:spPr>
        <p:txBody>
          <a:bodyPr anchor="b"/>
          <a:lstStyle>
            <a:lvl1pPr>
              <a:defRPr sz="3200"/>
            </a:lvl1pPr>
          </a:lstStyle>
          <a:p>
            <a:r>
              <a:rPr kumimoji="1" lang="ko-KR" altLang="en-US"/>
              <a:t>마스터 제목 스타일 편집</a:t>
            </a:r>
          </a:p>
        </p:txBody>
      </p:sp>
      <p:sp>
        <p:nvSpPr>
          <p:cNvPr id="3" name="그림 개체 틀 2">
            <a:extLst>
              <a:ext uri="{FF2B5EF4-FFF2-40B4-BE49-F238E27FC236}">
                <a16:creationId xmlns:a16="http://schemas.microsoft.com/office/drawing/2014/main" id="{DF3972B6-0F68-644E-097E-F2BD5372D5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ko-KR" altLang="en-US"/>
          </a:p>
        </p:txBody>
      </p:sp>
      <p:sp>
        <p:nvSpPr>
          <p:cNvPr id="4" name="텍스트 개체 틀 3">
            <a:extLst>
              <a:ext uri="{FF2B5EF4-FFF2-40B4-BE49-F238E27FC236}">
                <a16:creationId xmlns:a16="http://schemas.microsoft.com/office/drawing/2014/main" id="{86798B8B-5494-925B-E73A-50EF5C8B2C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ko-KR" altLang="en-US"/>
              <a:t>마스터 텍스트 스타일을 편집하려면 클릭</a:t>
            </a:r>
          </a:p>
        </p:txBody>
      </p:sp>
      <p:sp>
        <p:nvSpPr>
          <p:cNvPr id="5" name="날짜 개체 틀 4">
            <a:extLst>
              <a:ext uri="{FF2B5EF4-FFF2-40B4-BE49-F238E27FC236}">
                <a16:creationId xmlns:a16="http://schemas.microsoft.com/office/drawing/2014/main" id="{86945FA6-23CB-7A3F-7500-E62D36F78D20}"/>
              </a:ext>
            </a:extLst>
          </p:cNvPr>
          <p:cNvSpPr>
            <a:spLocks noGrp="1"/>
          </p:cNvSpPr>
          <p:nvPr>
            <p:ph type="dt" sz="half" idx="10"/>
          </p:nvPr>
        </p:nvSpPr>
        <p:spPr/>
        <p:txBody>
          <a:bodyPr/>
          <a:lstStyle/>
          <a:p>
            <a:endParaRPr kumimoji="1" lang="ko-KR" altLang="en-US"/>
          </a:p>
        </p:txBody>
      </p:sp>
      <p:sp>
        <p:nvSpPr>
          <p:cNvPr id="6" name="바닥글 개체 틀 5">
            <a:extLst>
              <a:ext uri="{FF2B5EF4-FFF2-40B4-BE49-F238E27FC236}">
                <a16:creationId xmlns:a16="http://schemas.microsoft.com/office/drawing/2014/main" id="{7ACF6C00-B523-665B-BDC3-46874F603886}"/>
              </a:ext>
            </a:extLst>
          </p:cNvPr>
          <p:cNvSpPr>
            <a:spLocks noGrp="1"/>
          </p:cNvSpPr>
          <p:nvPr>
            <p:ph type="ftr" sz="quarter" idx="11"/>
          </p:nvPr>
        </p:nvSpPr>
        <p:spPr/>
        <p:txBody>
          <a:bodyPr/>
          <a:lstStyle/>
          <a:p>
            <a:endParaRPr kumimoji="1" lang="ko-KR" altLang="en-US"/>
          </a:p>
        </p:txBody>
      </p:sp>
      <p:sp>
        <p:nvSpPr>
          <p:cNvPr id="7" name="슬라이드 번호 개체 틀 6">
            <a:extLst>
              <a:ext uri="{FF2B5EF4-FFF2-40B4-BE49-F238E27FC236}">
                <a16:creationId xmlns:a16="http://schemas.microsoft.com/office/drawing/2014/main" id="{CD3E2E71-3C86-90AC-18B7-7057822DCEF2}"/>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3174011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CF789C-776B-C679-CE84-51EE0B0378BE}"/>
              </a:ext>
            </a:extLst>
          </p:cNvPr>
          <p:cNvSpPr>
            <a:spLocks noGrp="1"/>
          </p:cNvSpPr>
          <p:nvPr>
            <p:ph type="title"/>
          </p:nvPr>
        </p:nvSpPr>
        <p:spPr/>
        <p:txBody>
          <a:bodyPr/>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10ED78B3-24EA-C2F3-C256-84953679AC1F}"/>
              </a:ext>
            </a:extLst>
          </p:cNvPr>
          <p:cNvSpPr>
            <a:spLocks noGrp="1"/>
          </p:cNvSpPr>
          <p:nvPr>
            <p:ph type="body" orient="vert" idx="1"/>
          </p:nvPr>
        </p:nvSpPr>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863F69DC-9111-56BE-3F73-25E5B8A09160}"/>
              </a:ext>
            </a:extLst>
          </p:cNvPr>
          <p:cNvSpPr>
            <a:spLocks noGrp="1"/>
          </p:cNvSpPr>
          <p:nvPr>
            <p:ph type="dt" sz="half" idx="10"/>
          </p:nvPr>
        </p:nvSpPr>
        <p:spPr/>
        <p:txBody>
          <a:bodyPr/>
          <a:lstStyle/>
          <a:p>
            <a:endParaRPr kumimoji="1" lang="ko-KR" altLang="en-US"/>
          </a:p>
        </p:txBody>
      </p:sp>
      <p:sp>
        <p:nvSpPr>
          <p:cNvPr id="5" name="바닥글 개체 틀 4">
            <a:extLst>
              <a:ext uri="{FF2B5EF4-FFF2-40B4-BE49-F238E27FC236}">
                <a16:creationId xmlns:a16="http://schemas.microsoft.com/office/drawing/2014/main" id="{30D8E295-CE30-AEF5-69C8-2E6700C014D5}"/>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E33679DB-2B91-9C99-4C2D-7897D914AE26}"/>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2819552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01F62D2-3BED-94EF-7100-41694B91AA02}"/>
              </a:ext>
            </a:extLst>
          </p:cNvPr>
          <p:cNvSpPr>
            <a:spLocks noGrp="1"/>
          </p:cNvSpPr>
          <p:nvPr>
            <p:ph type="title" orient="vert"/>
          </p:nvPr>
        </p:nvSpPr>
        <p:spPr>
          <a:xfrm>
            <a:off x="8724900" y="365125"/>
            <a:ext cx="2628900" cy="5811838"/>
          </a:xfrm>
        </p:spPr>
        <p:txBody>
          <a:bodyPr vert="eaVert"/>
          <a:lstStyle/>
          <a:p>
            <a:r>
              <a:rPr kumimoji="1" lang="ko-KR" altLang="en-US"/>
              <a:t>마스터 제목 스타일 편집</a:t>
            </a:r>
          </a:p>
        </p:txBody>
      </p:sp>
      <p:sp>
        <p:nvSpPr>
          <p:cNvPr id="3" name="세로 텍스트 개체 틀 2">
            <a:extLst>
              <a:ext uri="{FF2B5EF4-FFF2-40B4-BE49-F238E27FC236}">
                <a16:creationId xmlns:a16="http://schemas.microsoft.com/office/drawing/2014/main" id="{AA2DAD4C-18F9-671E-6A50-C9FDA1947C70}"/>
              </a:ext>
            </a:extLst>
          </p:cNvPr>
          <p:cNvSpPr>
            <a:spLocks noGrp="1"/>
          </p:cNvSpPr>
          <p:nvPr>
            <p:ph type="body" orient="vert" idx="1"/>
          </p:nvPr>
        </p:nvSpPr>
        <p:spPr>
          <a:xfrm>
            <a:off x="838200" y="365125"/>
            <a:ext cx="7734300" cy="5811838"/>
          </a:xfrm>
        </p:spPr>
        <p:txBody>
          <a:bodyPr vert="eaVert"/>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E1610C5F-3A83-125E-CAC8-34574A3F36F9}"/>
              </a:ext>
            </a:extLst>
          </p:cNvPr>
          <p:cNvSpPr>
            <a:spLocks noGrp="1"/>
          </p:cNvSpPr>
          <p:nvPr>
            <p:ph type="dt" sz="half" idx="10"/>
          </p:nvPr>
        </p:nvSpPr>
        <p:spPr/>
        <p:txBody>
          <a:bodyPr/>
          <a:lstStyle/>
          <a:p>
            <a:endParaRPr kumimoji="1" lang="ko-KR" altLang="en-US"/>
          </a:p>
        </p:txBody>
      </p:sp>
      <p:sp>
        <p:nvSpPr>
          <p:cNvPr id="5" name="바닥글 개체 틀 4">
            <a:extLst>
              <a:ext uri="{FF2B5EF4-FFF2-40B4-BE49-F238E27FC236}">
                <a16:creationId xmlns:a16="http://schemas.microsoft.com/office/drawing/2014/main" id="{8943635B-A1BB-7D37-7C05-B7A8042DC475}"/>
              </a:ext>
            </a:extLst>
          </p:cNvPr>
          <p:cNvSpPr>
            <a:spLocks noGrp="1"/>
          </p:cNvSpPr>
          <p:nvPr>
            <p:ph type="ftr" sz="quarter" idx="11"/>
          </p:nvPr>
        </p:nvSpPr>
        <p:spPr/>
        <p:txBody>
          <a:bodyPr/>
          <a:lstStyle/>
          <a:p>
            <a:endParaRPr kumimoji="1" lang="ko-KR" altLang="en-US"/>
          </a:p>
        </p:txBody>
      </p:sp>
      <p:sp>
        <p:nvSpPr>
          <p:cNvPr id="6" name="슬라이드 번호 개체 틀 5">
            <a:extLst>
              <a:ext uri="{FF2B5EF4-FFF2-40B4-BE49-F238E27FC236}">
                <a16:creationId xmlns:a16="http://schemas.microsoft.com/office/drawing/2014/main" id="{9D7F45D4-7C04-999A-B8DE-F5035533D42F}"/>
              </a:ext>
            </a:extLst>
          </p:cNvPr>
          <p:cNvSpPr>
            <a:spLocks noGrp="1"/>
          </p:cNvSpPr>
          <p:nvPr>
            <p:ph type="sldNum" sz="quarter" idx="12"/>
          </p:nvPr>
        </p:nvSpPr>
        <p:spPr/>
        <p:txBody>
          <a:bodyPr/>
          <a:lstStyle/>
          <a:p>
            <a:fld id="{C8CCB44E-7B51-1B4A-9BF2-1406D55FF4EB}" type="slidenum">
              <a:t>‹#›</a:t>
            </a:fld>
            <a:endParaRPr kumimoji="1" lang="ko-KR" altLang="en-US"/>
          </a:p>
        </p:txBody>
      </p:sp>
    </p:spTree>
    <p:extLst>
      <p:ext uri="{BB962C8B-B14F-4D97-AF65-F5344CB8AC3E}">
        <p14:creationId xmlns:p14="http://schemas.microsoft.com/office/powerpoint/2010/main" val="912503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A360C-B32E-4605-BAA4-CCD1DBD9C685}"/>
              </a:ext>
            </a:extLst>
          </p:cNvPr>
          <p:cNvSpPr>
            <a:spLocks noGrp="1"/>
          </p:cNvSpPr>
          <p:nvPr>
            <p:ph type="title"/>
          </p:nvPr>
        </p:nvSpPr>
        <p:spPr/>
        <p:txBody>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97C3DEAF-C905-4187-8021-D8D4CDD557A6}"/>
              </a:ext>
            </a:extLst>
          </p:cNvPr>
          <p:cNvSpPr>
            <a:spLocks noGrp="1"/>
          </p:cNvSpPr>
          <p:nvPr>
            <p:ph idx="1" hasCustomPrompt="1"/>
          </p:nvPr>
        </p:nvSpPr>
        <p:spPr>
          <a:xfrm>
            <a:off x="455994" y="1817559"/>
            <a:ext cx="11306469" cy="1689052"/>
          </a:xfrm>
        </p:spPr>
        <p:txBody>
          <a:bodyPr/>
          <a:lstStyle>
            <a:lvl1pPr>
              <a:defRPr sz="2800"/>
            </a:lvl1pPr>
            <a:lvl2pPr marL="285750" indent="0">
              <a:tabLst/>
              <a:defRPr sz="2400"/>
            </a:lvl2pPr>
            <a:lvl3pPr>
              <a:defRPr sz="2000"/>
            </a:lvl3pPr>
            <a:lvl4pPr>
              <a:defRPr sz="1800"/>
            </a:lvl4pPr>
          </a:lstStyle>
          <a:p>
            <a:pPr lvl="0"/>
            <a:r>
              <a:rPr lang="en-US"/>
              <a:t>Edit Master text styles</a:t>
            </a:r>
          </a:p>
          <a:p>
            <a:pPr lvl="2"/>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EF6896-C55B-4CD1-8734-C2246AEF8A71}"/>
              </a:ext>
            </a:extLst>
          </p:cNvPr>
          <p:cNvSpPr>
            <a:spLocks noGrp="1"/>
          </p:cNvSpPr>
          <p:nvPr>
            <p:ph type="dt" sz="half" idx="10"/>
          </p:nvPr>
        </p:nvSpPr>
        <p:spPr/>
        <p:txBody>
          <a:bodyPr/>
          <a:lstStyle/>
          <a:p>
            <a:endParaRPr lang="en-US"/>
          </a:p>
        </p:txBody>
      </p:sp>
      <p:sp>
        <p:nvSpPr>
          <p:cNvPr id="6" name="Slide Number Placeholder 5">
            <a:extLst>
              <a:ext uri="{FF2B5EF4-FFF2-40B4-BE49-F238E27FC236}">
                <a16:creationId xmlns:a16="http://schemas.microsoft.com/office/drawing/2014/main" id="{08389C87-6DC4-4942-A881-34393B41A407}"/>
              </a:ext>
            </a:extLst>
          </p:cNvPr>
          <p:cNvSpPr>
            <a:spLocks noGrp="1"/>
          </p:cNvSpPr>
          <p:nvPr>
            <p:ph type="sldNum" sz="quarter" idx="12"/>
          </p:nvPr>
        </p:nvSpPr>
        <p:spPr/>
        <p:txBody>
          <a:bodyPr/>
          <a:lstStyle/>
          <a:p>
            <a:fld id="{E74A7074-8D75-4C81-A45C-1B8BE52B7843}" type="slidenum">
              <a:rPr lang="en-US" smtClean="0"/>
              <a:t>‹#›</a:t>
            </a:fld>
            <a:endParaRPr lang="en-US"/>
          </a:p>
        </p:txBody>
      </p:sp>
      <p:sp>
        <p:nvSpPr>
          <p:cNvPr id="5" name="TextBox 4">
            <a:extLst>
              <a:ext uri="{FF2B5EF4-FFF2-40B4-BE49-F238E27FC236}">
                <a16:creationId xmlns:a16="http://schemas.microsoft.com/office/drawing/2014/main" id="{2553ECEA-97CF-C990-23E4-36E55F9F514E}"/>
              </a:ext>
            </a:extLst>
          </p:cNvPr>
          <p:cNvSpPr txBox="1"/>
          <p:nvPr userDrawn="1"/>
        </p:nvSpPr>
        <p:spPr>
          <a:xfrm>
            <a:off x="11444963" y="6476792"/>
            <a:ext cx="867687" cy="461665"/>
          </a:xfrm>
          <a:prstGeom prst="rect">
            <a:avLst/>
          </a:prstGeom>
          <a:noFill/>
        </p:spPr>
        <p:txBody>
          <a:bodyPr wrap="square" lIns="182880" tIns="146304" rIns="182880" bIns="146304" rtlCol="0">
            <a:spAutoFit/>
          </a:bodyPr>
          <a:lstStyle/>
          <a:p>
            <a:pPr algn="r">
              <a:lnSpc>
                <a:spcPct val="90000"/>
              </a:lnSpc>
              <a:spcAft>
                <a:spcPts val="600"/>
              </a:spcAft>
            </a:pPr>
            <a:fld id="{DB0E572F-8977-443E-9A30-4EC71401FC93}" type="slidenum">
              <a:rPr lang="en-US" altLang="ko-KR" sz="1200" smtClean="0">
                <a:gradFill>
                  <a:gsLst>
                    <a:gs pos="2917">
                      <a:schemeClr val="tx1"/>
                    </a:gs>
                    <a:gs pos="30000">
                      <a:schemeClr val="tx1"/>
                    </a:gs>
                  </a:gsLst>
                  <a:lin ang="5400000" scaled="0"/>
                </a:gradFill>
              </a:rPr>
              <a:pPr algn="r">
                <a:lnSpc>
                  <a:spcPct val="90000"/>
                </a:lnSpc>
                <a:spcAft>
                  <a:spcPts val="600"/>
                </a:spcAft>
              </a:pPr>
              <a:t>‹#›</a:t>
            </a:fld>
            <a:r>
              <a:rPr lang="en-US" altLang="ko-KR" sz="1200">
                <a:gradFill>
                  <a:gsLst>
                    <a:gs pos="2917">
                      <a:schemeClr val="tx1"/>
                    </a:gs>
                    <a:gs pos="30000">
                      <a:schemeClr val="tx1"/>
                    </a:gs>
                  </a:gsLst>
                  <a:lin ang="5400000" scaled="0"/>
                </a:gradFill>
              </a:rPr>
              <a:t>/27</a:t>
            </a:r>
            <a:endParaRPr lang="ko-KR" altLang="en-US" sz="1200">
              <a:gradFill>
                <a:gsLst>
                  <a:gs pos="2917">
                    <a:schemeClr val="tx1"/>
                  </a:gs>
                  <a:gs pos="30000">
                    <a:schemeClr val="tx1"/>
                  </a:gs>
                </a:gsLst>
                <a:lin ang="5400000" scaled="0"/>
              </a:gradFill>
            </a:endParaRPr>
          </a:p>
        </p:txBody>
      </p:sp>
      <p:sp>
        <p:nvSpPr>
          <p:cNvPr id="7" name="Content Placeholder 2">
            <a:extLst>
              <a:ext uri="{FF2B5EF4-FFF2-40B4-BE49-F238E27FC236}">
                <a16:creationId xmlns:a16="http://schemas.microsoft.com/office/drawing/2014/main" id="{7ECBFD16-B1EE-09E5-F4D3-542C804CFA18}"/>
              </a:ext>
            </a:extLst>
          </p:cNvPr>
          <p:cNvSpPr>
            <a:spLocks noGrp="1"/>
          </p:cNvSpPr>
          <p:nvPr>
            <p:ph idx="13" hasCustomPrompt="1"/>
          </p:nvPr>
        </p:nvSpPr>
        <p:spPr>
          <a:xfrm>
            <a:off x="455994" y="3732084"/>
            <a:ext cx="11306469" cy="2024080"/>
          </a:xfrm>
        </p:spPr>
        <p:txBody>
          <a:bodyPr/>
          <a:lstStyle>
            <a:lvl1pPr marL="457200" indent="-457200">
              <a:buFont typeface="Arial" panose="020B0604020202020204" pitchFamily="34" charset="0"/>
              <a:buChar char="•"/>
              <a:defRPr sz="2800"/>
            </a:lvl1pPr>
            <a:lvl2pPr marL="715963" indent="-377825">
              <a:buFont typeface="Arial" panose="020B0604020202020204" pitchFamily="34" charset="0"/>
              <a:buChar char="•"/>
              <a:tabLst/>
              <a:defRPr sz="2400"/>
            </a:lvl2pPr>
            <a:lvl3pPr marL="342900" indent="-342900">
              <a:buFont typeface="Arial" panose="020B0604020202020204" pitchFamily="34" charset="0"/>
              <a:buChar char="•"/>
              <a:defRPr sz="2000"/>
            </a:lvl3pPr>
            <a:lvl4pPr>
              <a:defRPr sz="1800"/>
            </a:lvl4pPr>
            <a:lvl8pPr marL="3200285" indent="0">
              <a:buNone/>
              <a:defRPr/>
            </a:lvl8pPr>
          </a:lstStyle>
          <a:p>
            <a:pPr lvl="0"/>
            <a:r>
              <a:rPr lang="en-US"/>
              <a:t>Edit Master text styles</a:t>
            </a:r>
          </a:p>
          <a:p>
            <a:pPr lvl="1"/>
            <a:r>
              <a:rPr lang="ko-KR" altLang="en-US"/>
              <a:t>ㅇㅇ</a:t>
            </a:r>
            <a:endParaRPr lang="en-US" altLang="ko-KR"/>
          </a:p>
          <a:p>
            <a:pPr lvl="1"/>
            <a:endParaRPr lang="en-US" altLang="ko-KR"/>
          </a:p>
          <a:p>
            <a:pPr lvl="5"/>
            <a:endParaRPr lang="en-US" altLang="ko-KR"/>
          </a:p>
          <a:p>
            <a:pPr lvl="2"/>
            <a:endParaRPr lang="en-US"/>
          </a:p>
        </p:txBody>
      </p:sp>
    </p:spTree>
    <p:extLst>
      <p:ext uri="{BB962C8B-B14F-4D97-AF65-F5344CB8AC3E}">
        <p14:creationId xmlns:p14="http://schemas.microsoft.com/office/powerpoint/2010/main" val="158293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724AC209-39FB-36BF-ABC0-5FE7596989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ko-KR" altLang="en-US"/>
              <a:t>마스터 제목 스타일 편집</a:t>
            </a:r>
          </a:p>
        </p:txBody>
      </p:sp>
      <p:sp>
        <p:nvSpPr>
          <p:cNvPr id="3" name="텍스트 개체 틀 2">
            <a:extLst>
              <a:ext uri="{FF2B5EF4-FFF2-40B4-BE49-F238E27FC236}">
                <a16:creationId xmlns:a16="http://schemas.microsoft.com/office/drawing/2014/main" id="{E37A5F57-4D22-5A31-C940-684419B8D5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ko-KR" altLang="en-US"/>
              <a:t>마스터 텍스트 스타일을 편집하려면 클릭</a:t>
            </a:r>
          </a:p>
          <a:p>
            <a:pPr lvl="1"/>
            <a:r>
              <a:rPr kumimoji="1" lang="ko-KR" altLang="en-US"/>
              <a:t>두 번째 수준</a:t>
            </a:r>
          </a:p>
          <a:p>
            <a:pPr lvl="2"/>
            <a:r>
              <a:rPr kumimoji="1" lang="ko-KR" altLang="en-US"/>
              <a:t>세 번째 수준</a:t>
            </a:r>
          </a:p>
          <a:p>
            <a:pPr lvl="3"/>
            <a:r>
              <a:rPr kumimoji="1" lang="ko-KR" altLang="en-US"/>
              <a:t>네 번째 수준</a:t>
            </a:r>
          </a:p>
          <a:p>
            <a:pPr lvl="4"/>
            <a:r>
              <a:rPr kumimoji="1" lang="ko-KR" altLang="en-US"/>
              <a:t>다섯 번째 수준</a:t>
            </a:r>
          </a:p>
        </p:txBody>
      </p:sp>
      <p:sp>
        <p:nvSpPr>
          <p:cNvPr id="4" name="날짜 개체 틀 3">
            <a:extLst>
              <a:ext uri="{FF2B5EF4-FFF2-40B4-BE49-F238E27FC236}">
                <a16:creationId xmlns:a16="http://schemas.microsoft.com/office/drawing/2014/main" id="{B997EFA7-94C0-6C1E-3227-E2688D98E3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kumimoji="1" lang="ko-KR" altLang="en-US"/>
          </a:p>
        </p:txBody>
      </p:sp>
      <p:sp>
        <p:nvSpPr>
          <p:cNvPr id="5" name="바닥글 개체 틀 4">
            <a:extLst>
              <a:ext uri="{FF2B5EF4-FFF2-40B4-BE49-F238E27FC236}">
                <a16:creationId xmlns:a16="http://schemas.microsoft.com/office/drawing/2014/main" id="{004DE72D-087F-2D6C-8FBA-9FD0278BEF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ko-KR" altLang="en-US"/>
          </a:p>
        </p:txBody>
      </p:sp>
      <p:sp>
        <p:nvSpPr>
          <p:cNvPr id="6" name="슬라이드 번호 개체 틀 5">
            <a:extLst>
              <a:ext uri="{FF2B5EF4-FFF2-40B4-BE49-F238E27FC236}">
                <a16:creationId xmlns:a16="http://schemas.microsoft.com/office/drawing/2014/main" id="{D5929603-3FB3-7675-5D60-571BAA25B6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8CCB44E-7B51-1B4A-9BF2-1406D55FF4EB}" type="slidenum">
              <a:t>‹#›</a:t>
            </a:fld>
            <a:r>
              <a:rPr lang="ko-KR" altLang="en-US"/>
              <a:t> </a:t>
            </a:r>
            <a:r>
              <a:rPr lang="en-US" altLang="ko-KR"/>
              <a:t>/</a:t>
            </a:r>
            <a:r>
              <a:rPr lang="ko-KR" altLang="en-US"/>
              <a:t> </a:t>
            </a:r>
            <a:r>
              <a:rPr lang="en-US" altLang="ko-KR"/>
              <a:t>10</a:t>
            </a:r>
            <a:endParaRPr kumimoji="1" lang="ko-KR" altLang="en-US"/>
          </a:p>
        </p:txBody>
      </p:sp>
    </p:spTree>
    <p:extLst>
      <p:ext uri="{BB962C8B-B14F-4D97-AF65-F5344CB8AC3E}">
        <p14:creationId xmlns:p14="http://schemas.microsoft.com/office/powerpoint/2010/main" val="2414182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7.png"/><Relationship Id="rId5" Type="http://schemas.openxmlformats.org/officeDocument/2006/relationships/image" Target="../media/image19.png"/><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6.svg"/></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17.png"/><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17.png"/><Relationship Id="rId4" Type="http://schemas.openxmlformats.org/officeDocument/2006/relationships/image" Target="../media/image6.svg"/></Relationships>
</file>

<file path=ppt/slides/_rels/slide1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17.png"/><Relationship Id="rId4" Type="http://schemas.openxmlformats.org/officeDocument/2006/relationships/image" Target="../media/image6.svg"/><Relationship Id="rId9" Type="http://schemas.openxmlformats.org/officeDocument/2006/relationships/image" Target="../media/image26.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7.png"/><Relationship Id="rId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6.svg"/><Relationship Id="rId9"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17.png"/><Relationship Id="rId10" Type="http://schemas.openxmlformats.org/officeDocument/2006/relationships/image" Target="../media/image8.png"/><Relationship Id="rId4" Type="http://schemas.openxmlformats.org/officeDocument/2006/relationships/image" Target="../media/image6.svg"/><Relationship Id="rId9"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27.emf"/><Relationship Id="rId10"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27.emf"/><Relationship Id="rId10"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25.png"/><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image" Target="../media/image6.sv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image" Target="../media/image6.sv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4.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7.png"/><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Object 1" descr="preencoded.png">
            <a:extLst>
              <a:ext uri="{FF2B5EF4-FFF2-40B4-BE49-F238E27FC236}">
                <a16:creationId xmlns:a16="http://schemas.microsoft.com/office/drawing/2014/main" id="{7ACE34D4-14DC-4273-517B-8251B79EC0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1976294"/>
            <a:ext cx="12188952" cy="2373400"/>
          </a:xfrm>
          <a:prstGeom prst="rect">
            <a:avLst/>
          </a:prstGeom>
        </p:spPr>
      </p:pic>
      <p:sp>
        <p:nvSpPr>
          <p:cNvPr id="17" name="Object 2">
            <a:extLst>
              <a:ext uri="{FF2B5EF4-FFF2-40B4-BE49-F238E27FC236}">
                <a16:creationId xmlns:a16="http://schemas.microsoft.com/office/drawing/2014/main" id="{9084E573-0283-5F72-A398-D4513C95BE3A}"/>
              </a:ext>
            </a:extLst>
          </p:cNvPr>
          <p:cNvSpPr/>
          <p:nvPr/>
        </p:nvSpPr>
        <p:spPr>
          <a:xfrm>
            <a:off x="1" y="2693952"/>
            <a:ext cx="12188952" cy="995201"/>
          </a:xfrm>
          <a:prstGeom prst="rect">
            <a:avLst/>
          </a:prstGeom>
          <a:noFill/>
        </p:spPr>
        <p:txBody>
          <a:bodyPr wrap="square" lIns="0" tIns="0" rIns="0" bIns="0" rtlCol="0" anchor="ctr"/>
          <a:lstStyle/>
          <a:p>
            <a:pPr marL="0" marR="0" lvl="0" indent="0" algn="ctr" defTabSz="914400" rtl="0" eaLnBrk="1" fontAlgn="auto" latinLnBrk="0" hangingPunct="1">
              <a:lnSpc>
                <a:spcPct val="100000"/>
              </a:lnSpc>
              <a:spcBef>
                <a:spcPts val="0"/>
              </a:spcBef>
              <a:spcAft>
                <a:spcPts val="600"/>
              </a:spcAft>
              <a:buClr>
                <a:srgbClr val="000000"/>
              </a:buClr>
              <a:buSzTx/>
              <a:buFont typeface="Arial"/>
              <a:buNone/>
              <a:tabLst/>
              <a:defRPr/>
            </a:pPr>
            <a:r>
              <a:rPr kumimoji="0" lang="en-US" sz="3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Arial"/>
              </a:rPr>
              <a:t>Exqutor: Extended Query Optimizer </a:t>
            </a:r>
            <a:br>
              <a:rPr kumimoji="0" lang="en-US" sz="3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Arial"/>
              </a:rPr>
            </a:br>
            <a:r>
              <a:rPr kumimoji="0" lang="en-US" sz="3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sym typeface="Arial"/>
              </a:rPr>
              <a:t>for Vector-augmented Analytical Queries</a:t>
            </a:r>
          </a:p>
        </p:txBody>
      </p:sp>
      <p:sp>
        <p:nvSpPr>
          <p:cNvPr id="9" name="Object 4">
            <a:extLst>
              <a:ext uri="{FF2B5EF4-FFF2-40B4-BE49-F238E27FC236}">
                <a16:creationId xmlns:a16="http://schemas.microsoft.com/office/drawing/2014/main" id="{AA925D7B-C9B8-F14E-AFDE-4A699FE54EBE}"/>
              </a:ext>
            </a:extLst>
          </p:cNvPr>
          <p:cNvSpPr/>
          <p:nvPr/>
        </p:nvSpPr>
        <p:spPr>
          <a:xfrm>
            <a:off x="1800733" y="4072672"/>
            <a:ext cx="8575339" cy="1434315"/>
          </a:xfrm>
          <a:prstGeom prst="rect">
            <a:avLst/>
          </a:prstGeom>
          <a:noFill/>
        </p:spPr>
        <p:txBody>
          <a:bodyPr wrap="square" lIns="0" tIns="0" rIns="0" bIns="0" rtlCol="0" anchor="ctr"/>
          <a:lstStyle/>
          <a:p>
            <a:pPr algn="ctr">
              <a:spcAft>
                <a:spcPts val="600"/>
              </a:spcAft>
              <a:defRPr/>
            </a:pPr>
            <a:r>
              <a:rPr lang="en-US" altLang="ko-KR" spc="38" err="1">
                <a:solidFill>
                  <a:srgbClr val="000000">
                    <a:alpha val="80000"/>
                  </a:srgbClr>
                </a:solidFill>
                <a:latin typeface="Open Sans"/>
                <a:ea typeface="Open Sans"/>
                <a:cs typeface="Open Sans"/>
              </a:rPr>
              <a:t>Hyunjoon Kim¹, </a:t>
            </a:r>
            <a:r>
              <a:rPr lang="en-US" altLang="ko-KR" u="sng" spc="38" err="1">
                <a:solidFill>
                  <a:srgbClr val="000000">
                    <a:alpha val="80000"/>
                  </a:srgbClr>
                </a:solidFill>
                <a:latin typeface="Open Sans"/>
                <a:ea typeface="Open Sans"/>
                <a:cs typeface="Open Sans"/>
              </a:rPr>
              <a:t>Chaerim</a:t>
            </a:r>
            <a:r>
              <a:rPr lang="en-US" altLang="ko-KR" u="sng" spc="38">
                <a:solidFill>
                  <a:srgbClr val="000000">
                    <a:alpha val="80000"/>
                  </a:srgbClr>
                </a:solidFill>
                <a:latin typeface="Open Sans"/>
                <a:ea typeface="Open Sans"/>
                <a:cs typeface="Open Sans"/>
              </a:rPr>
              <a:t> Lim</a:t>
            </a:r>
            <a:r>
              <a:rPr lang="en-US" altLang="ko-KR" spc="38" err="1">
                <a:solidFill>
                  <a:srgbClr val="000000">
                    <a:alpha val="80000"/>
                  </a:srgbClr>
                </a:solidFill>
                <a:latin typeface="Open Sans"/>
                <a:ea typeface="Open Sans"/>
                <a:cs typeface="Open Sans"/>
              </a:rPr>
              <a:t>¹</a:t>
            </a:r>
            <a:r>
              <a:rPr lang="en-US" altLang="ko-KR" spc="38">
                <a:solidFill>
                  <a:srgbClr val="000000">
                    <a:alpha val="80000"/>
                  </a:srgbClr>
                </a:solidFill>
                <a:latin typeface="Open Sans"/>
                <a:ea typeface="Open Sans"/>
                <a:cs typeface="Open Sans"/>
              </a:rPr>
              <a:t>, Hyeonjun An</a:t>
            </a:r>
            <a:r>
              <a:rPr lang="en-US" altLang="ko-KR" spc="38" err="1">
                <a:solidFill>
                  <a:srgbClr val="000000">
                    <a:alpha val="80000"/>
                  </a:srgbClr>
                </a:solidFill>
                <a:latin typeface="Open Sans"/>
                <a:ea typeface="Open Sans"/>
                <a:cs typeface="Open Sans"/>
              </a:rPr>
              <a:t>¹</a:t>
            </a:r>
            <a:r>
              <a:rPr lang="en-US" altLang="ko-KR" spc="38">
                <a:solidFill>
                  <a:srgbClr val="000000">
                    <a:alpha val="80000"/>
                  </a:srgbClr>
                </a:solidFill>
                <a:latin typeface="Open Sans"/>
                <a:ea typeface="Open Sans"/>
                <a:cs typeface="Open Sans"/>
              </a:rPr>
              <a:t>, Rathijit Sen², Kwanghyun Park</a:t>
            </a:r>
            <a:r>
              <a:rPr lang="en-US" altLang="ko-KR" sz="1600" spc="38" err="1">
                <a:solidFill>
                  <a:srgbClr val="000000">
                    <a:alpha val="80000"/>
                  </a:srgbClr>
                </a:solidFill>
                <a:latin typeface="Open Sans"/>
                <a:ea typeface="Open Sans"/>
                <a:cs typeface="Open Sans"/>
              </a:rPr>
              <a:t>¹</a:t>
            </a:r>
            <a:endParaRPr kumimoji="0" lang="en-US" sz="1600" i="0" u="none" strike="noStrike" kern="0" cap="none" spc="0" normalizeH="0" baseline="0" noProof="0">
              <a:ln>
                <a:noFill/>
              </a:ln>
              <a:solidFill>
                <a:srgbClr val="000000"/>
              </a:solidFill>
              <a:effectLst/>
              <a:uLnTx/>
              <a:uFillTx/>
              <a:latin typeface="Open Sans" panose="020B0606030504020204" pitchFamily="34" charset="0"/>
              <a:ea typeface="Open Sans" panose="020B0606030504020204" pitchFamily="34" charset="0"/>
              <a:cs typeface="Open Sans" panose="020B0606030504020204" pitchFamily="34" charset="0"/>
              <a:sym typeface="Arial"/>
            </a:endParaRPr>
          </a:p>
        </p:txBody>
      </p:sp>
      <p:pic>
        <p:nvPicPr>
          <p:cNvPr id="1026" name="Picture 2">
            <a:extLst>
              <a:ext uri="{FF2B5EF4-FFF2-40B4-BE49-F238E27FC236}">
                <a16:creationId xmlns:a16="http://schemas.microsoft.com/office/drawing/2014/main" id="{5475E8CA-2041-1B1C-2A9B-5206A4DB7A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32660" y="5263540"/>
            <a:ext cx="3069513" cy="8245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CDE 2026 Montreal, Canada">
            <a:extLst>
              <a:ext uri="{FF2B5EF4-FFF2-40B4-BE49-F238E27FC236}">
                <a16:creationId xmlns:a16="http://schemas.microsoft.com/office/drawing/2014/main" id="{C13C0ED0-1ECC-FC1C-D156-A8E5C3F0F6F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r="839" b="20051"/>
          <a:stretch/>
        </p:blipFill>
        <p:spPr bwMode="auto">
          <a:xfrm>
            <a:off x="9068650" y="5140470"/>
            <a:ext cx="1542489" cy="107067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C04B3FB8-5A4E-390C-5683-D7CD50A0450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64828" y="5433403"/>
            <a:ext cx="3069513" cy="6546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600AC67-4EA6-3BC2-5905-343E1036FE0E}"/>
              </a:ext>
            </a:extLst>
          </p:cNvPr>
          <p:cNvSpPr txBox="1"/>
          <p:nvPr/>
        </p:nvSpPr>
        <p:spPr>
          <a:xfrm>
            <a:off x="1334180" y="5216042"/>
            <a:ext cx="298480" cy="338554"/>
          </a:xfrm>
          <a:prstGeom prst="rect">
            <a:avLst/>
          </a:prstGeom>
          <a:noFill/>
        </p:spPr>
        <p:txBody>
          <a:bodyPr wrap="none" rtlCol="0">
            <a:spAutoFit/>
          </a:bodyPr>
          <a:lstStyle/>
          <a:p>
            <a:r>
              <a:rPr kumimoji="1" lang="en-US" altLang="ko-KR" sz="1600"/>
              <a:t>1</a:t>
            </a:r>
            <a:endParaRPr kumimoji="1" lang="ko-KR" altLang="en-US" sz="1600"/>
          </a:p>
        </p:txBody>
      </p:sp>
      <p:sp>
        <p:nvSpPr>
          <p:cNvPr id="4" name="TextBox 3">
            <a:extLst>
              <a:ext uri="{FF2B5EF4-FFF2-40B4-BE49-F238E27FC236}">
                <a16:creationId xmlns:a16="http://schemas.microsoft.com/office/drawing/2014/main" id="{2AAECE17-0A02-0893-69E2-7CDC1CB412F4}"/>
              </a:ext>
            </a:extLst>
          </p:cNvPr>
          <p:cNvSpPr txBox="1"/>
          <p:nvPr/>
        </p:nvSpPr>
        <p:spPr>
          <a:xfrm>
            <a:off x="4966348" y="5216042"/>
            <a:ext cx="298480" cy="338554"/>
          </a:xfrm>
          <a:prstGeom prst="rect">
            <a:avLst/>
          </a:prstGeom>
          <a:noFill/>
        </p:spPr>
        <p:txBody>
          <a:bodyPr wrap="none" rtlCol="0">
            <a:spAutoFit/>
          </a:bodyPr>
          <a:lstStyle/>
          <a:p>
            <a:r>
              <a:rPr kumimoji="1" lang="en-US" altLang="ko-KR" sz="1600"/>
              <a:t>2</a:t>
            </a:r>
            <a:endParaRPr kumimoji="1" lang="ko-KR" altLang="en-US" sz="1600"/>
          </a:p>
        </p:txBody>
      </p:sp>
    </p:spTree>
    <p:extLst>
      <p:ext uri="{BB962C8B-B14F-4D97-AF65-F5344CB8AC3E}">
        <p14:creationId xmlns:p14="http://schemas.microsoft.com/office/powerpoint/2010/main" val="1790573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5C41E-43F0-DF92-13E9-01AEAF48D0AB}"/>
            </a:ext>
          </a:extLst>
        </p:cNvPr>
        <p:cNvGrpSpPr/>
        <p:nvPr/>
      </p:nvGrpSpPr>
      <p:grpSpPr>
        <a:xfrm>
          <a:off x="0" y="0"/>
          <a:ext cx="0" cy="0"/>
          <a:chOff x="0" y="0"/>
          <a:chExt cx="0" cy="0"/>
        </a:xfrm>
      </p:grpSpPr>
      <p:sp>
        <p:nvSpPr>
          <p:cNvPr id="24" name="모서리가 둥근 직사각형 23">
            <a:extLst>
              <a:ext uri="{FF2B5EF4-FFF2-40B4-BE49-F238E27FC236}">
                <a16:creationId xmlns:a16="http://schemas.microsoft.com/office/drawing/2014/main" id="{83E589B9-0C10-B77E-E163-AA04FA2E2DDF}"/>
              </a:ext>
            </a:extLst>
          </p:cNvPr>
          <p:cNvSpPr/>
          <p:nvPr/>
        </p:nvSpPr>
        <p:spPr>
          <a:xfrm>
            <a:off x="3343636" y="5243251"/>
            <a:ext cx="3758621" cy="468018"/>
          </a:xfrm>
          <a:prstGeom prst="roundRect">
            <a:avLst>
              <a:gd name="adj" fmla="val 24804"/>
            </a:avLst>
          </a:prstGeom>
          <a:solidFill>
            <a:srgbClr val="FFC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2" name="모서리가 둥근 직사각형 21">
            <a:extLst>
              <a:ext uri="{FF2B5EF4-FFF2-40B4-BE49-F238E27FC236}">
                <a16:creationId xmlns:a16="http://schemas.microsoft.com/office/drawing/2014/main" id="{BEDB27F7-24B4-4389-4156-8D98CE8389D3}"/>
              </a:ext>
            </a:extLst>
          </p:cNvPr>
          <p:cNvSpPr/>
          <p:nvPr/>
        </p:nvSpPr>
        <p:spPr>
          <a:xfrm>
            <a:off x="3420322" y="4416346"/>
            <a:ext cx="4069394" cy="448054"/>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 name="TextBox 2">
            <a:extLst>
              <a:ext uri="{FF2B5EF4-FFF2-40B4-BE49-F238E27FC236}">
                <a16:creationId xmlns:a16="http://schemas.microsoft.com/office/drawing/2014/main" id="{232A4443-B5EE-476A-54BB-E904A54EA0AF}"/>
              </a:ext>
            </a:extLst>
          </p:cNvPr>
          <p:cNvSpPr txBox="1"/>
          <p:nvPr/>
        </p:nvSpPr>
        <p:spPr>
          <a:xfrm>
            <a:off x="524604" y="4361202"/>
            <a:ext cx="11142791" cy="1290353"/>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altLang="ko-KR">
                <a:latin typeface="NanumGothic" panose="020D0604000000000000" pitchFamily="34" charset="-127"/>
                <a:ea typeface="NanumGothic" panose="020D0604000000000000" pitchFamily="34" charset="-127"/>
                <a:cs typeface="Microsoft GothicNeo" panose="020B0500000101010101" pitchFamily="34" charset="-127"/>
              </a:rPr>
              <a:t>Existing systems rely on</a:t>
            </a:r>
            <a:r>
              <a:rPr lang="en-US" altLang="ko-KR" i="1">
                <a:latin typeface="NanumGothic" panose="020D0604000000000000" pitchFamily="34" charset="-127"/>
                <a:ea typeface="NanumGothic" panose="020D0604000000000000" pitchFamily="34" charset="-127"/>
                <a:cs typeface="Microsoft GothicNeo" panose="020B0500000101010101" pitchFamily="34" charset="-127"/>
              </a:rPr>
              <a:t> </a:t>
            </a:r>
            <a:r>
              <a:rPr lang="en-US" altLang="ko-KR" b="1">
                <a:latin typeface="NanumGothic" panose="020D0604000000000000" pitchFamily="34" charset="-127"/>
                <a:ea typeface="NanumGothic" panose="020D0604000000000000" pitchFamily="34" charset="-127"/>
                <a:cs typeface="Microsoft GothicNeo" panose="020B0500000101010101" pitchFamily="34" charset="-127"/>
              </a:rPr>
              <a:t>“blind” heuristic cardinality estimation </a:t>
            </a:r>
            <a:r>
              <a:rPr lang="en-US" altLang="ko-KR">
                <a:latin typeface="NanumGothic" panose="020D0604000000000000" pitchFamily="34" charset="-127"/>
                <a:ea typeface="NanumGothic" panose="020D0604000000000000" pitchFamily="34" charset="-127"/>
                <a:cs typeface="Microsoft GothicNeo" panose="020B0500000101010101" pitchFamily="34" charset="-127"/>
              </a:rPr>
              <a:t>for vector similarity search.</a:t>
            </a:r>
          </a:p>
          <a:p>
            <a:pPr marL="342900" indent="-342900">
              <a:lnSpc>
                <a:spcPct val="150000"/>
              </a:lnSpc>
              <a:buFont typeface="Arial" panose="020B0604020202020204" pitchFamily="34" charset="0"/>
              <a:buChar char="•"/>
            </a:pPr>
            <a:endParaRPr lang="en-US" altLang="ko-KR" b="1">
              <a:latin typeface="NanumGothic" panose="020D0604000000000000" pitchFamily="34" charset="-127"/>
              <a:ea typeface="NanumGothic" panose="020D0604000000000000" pitchFamily="34" charset="-127"/>
              <a:cs typeface="Microsoft GothicNeo" panose="020B0500000101010101" pitchFamily="34" charset="-127"/>
            </a:endParaRPr>
          </a:p>
          <a:p>
            <a:pPr marL="342900" indent="-342900">
              <a:lnSpc>
                <a:spcPct val="150000"/>
              </a:lnSpc>
              <a:buFont typeface="Arial" panose="020B0604020202020204" pitchFamily="34" charset="0"/>
              <a:buChar char="•"/>
            </a:pPr>
            <a:r>
              <a:rPr lang="en-US" altLang="ko-KR" b="1">
                <a:latin typeface="NanumGothic" panose="020D0604000000000000" pitchFamily="34" charset="-127"/>
                <a:ea typeface="NanumGothic" panose="020D0604000000000000" pitchFamily="34" charset="-127"/>
                <a:cs typeface="Microsoft GothicNeo" panose="020B0500000101010101" pitchFamily="34" charset="-127"/>
              </a:rPr>
              <a:t>Exqutor</a:t>
            </a:r>
            <a:r>
              <a:rPr lang="en-US" altLang="ko-KR">
                <a:latin typeface="NanumGothic" panose="020D0604000000000000" pitchFamily="34" charset="-127"/>
                <a:ea typeface="NanumGothic" panose="020D0604000000000000" pitchFamily="34" charset="-127"/>
                <a:cs typeface="Microsoft GothicNeo" panose="020B0500000101010101" pitchFamily="34" charset="-127"/>
              </a:rPr>
              <a:t> achieves up to </a:t>
            </a:r>
            <a:r>
              <a:rPr lang="en-US" altLang="ko-KR" b="1">
                <a:latin typeface="NanumGothic" panose="020D0604000000000000" pitchFamily="34" charset="-127"/>
                <a:ea typeface="NanumGothic" panose="020D0604000000000000" pitchFamily="34" charset="-127"/>
                <a:cs typeface="Microsoft GothicNeo" panose="020B0500000101010101" pitchFamily="34" charset="-127"/>
              </a:rPr>
              <a:t>four orders of magnitude speedup</a:t>
            </a:r>
            <a:r>
              <a:rPr lang="en-US" altLang="ko-KR" b="1">
                <a:solidFill>
                  <a:srgbClr val="FFC000"/>
                </a:solidFill>
                <a:latin typeface="NanumGothic" panose="020D0604000000000000" pitchFamily="34" charset="-127"/>
                <a:ea typeface="NanumGothic" panose="020D0604000000000000" pitchFamily="34" charset="-127"/>
                <a:cs typeface="Microsoft GothicNeo" panose="020B0500000101010101" pitchFamily="34" charset="-127"/>
              </a:rPr>
              <a:t> </a:t>
            </a:r>
            <a:r>
              <a:rPr lang="en-US" altLang="ko-KR">
                <a:latin typeface="NanumGothic" panose="020D0604000000000000" pitchFamily="34" charset="-127"/>
                <a:ea typeface="NanumGothic" panose="020D0604000000000000" pitchFamily="34" charset="-127"/>
                <a:cs typeface="Microsoft GothicNeo" panose="020B0500000101010101" pitchFamily="34" charset="-127"/>
              </a:rPr>
              <a:t>for vector-augmented analytical queries.</a:t>
            </a:r>
          </a:p>
        </p:txBody>
      </p:sp>
      <p:sp>
        <p:nvSpPr>
          <p:cNvPr id="48" name="모서리가 둥근 직사각형 47">
            <a:extLst>
              <a:ext uri="{FF2B5EF4-FFF2-40B4-BE49-F238E27FC236}">
                <a16:creationId xmlns:a16="http://schemas.microsoft.com/office/drawing/2014/main" id="{1BB5CDC4-224A-FBFA-14E6-6D7D7565F337}"/>
              </a:ext>
            </a:extLst>
          </p:cNvPr>
          <p:cNvSpPr/>
          <p:nvPr/>
        </p:nvSpPr>
        <p:spPr>
          <a:xfrm>
            <a:off x="6435184" y="2484481"/>
            <a:ext cx="1574918" cy="942110"/>
          </a:xfrm>
          <a:prstGeom prst="roundRect">
            <a:avLst>
              <a:gd name="adj" fmla="val 24804"/>
            </a:avLst>
          </a:prstGeom>
          <a:solidFill>
            <a:srgbClr val="FFC000">
              <a:alpha val="17215"/>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49" name="모서리가 둥근 직사각형 48">
            <a:extLst>
              <a:ext uri="{FF2B5EF4-FFF2-40B4-BE49-F238E27FC236}">
                <a16:creationId xmlns:a16="http://schemas.microsoft.com/office/drawing/2014/main" id="{B73C7655-DF85-C686-9EA7-B06A81997E40}"/>
              </a:ext>
            </a:extLst>
          </p:cNvPr>
          <p:cNvSpPr/>
          <p:nvPr/>
        </p:nvSpPr>
        <p:spPr>
          <a:xfrm>
            <a:off x="805689" y="2484481"/>
            <a:ext cx="5255662" cy="942110"/>
          </a:xfrm>
          <a:prstGeom prst="roundRect">
            <a:avLst>
              <a:gd name="adj" fmla="val 24804"/>
            </a:avLst>
          </a:prstGeom>
          <a:solidFill>
            <a:srgbClr val="FF0000">
              <a:alpha val="17215"/>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chemeClr val="tx1"/>
              </a:solidFill>
            </a:endParaRPr>
          </a:p>
        </p:txBody>
      </p:sp>
      <p:cxnSp>
        <p:nvCxnSpPr>
          <p:cNvPr id="4" name="Straight Connector 3">
            <a:extLst>
              <a:ext uri="{FF2B5EF4-FFF2-40B4-BE49-F238E27FC236}">
                <a16:creationId xmlns:a16="http://schemas.microsoft.com/office/drawing/2014/main" id="{3BD2967F-7D32-7059-BFFE-3D29654A595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1DED5B1B-B2D4-47F3-3433-9305E8BAD3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C6F94AE2-77E3-3DEE-3D4E-36BB4CC92C81}"/>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ea typeface="Calibri"/>
                <a:cs typeface="Calibri"/>
              </a:rPr>
              <a:t> </a:t>
            </a:r>
            <a:r>
              <a:rPr lang="en-US" sz="4400" err="1">
                <a:solidFill>
                  <a:srgbClr val="FFFFFF"/>
                </a:solidFill>
                <a:latin typeface="Calibri"/>
                <a:ea typeface="Calibri"/>
                <a:cs typeface="Calibri"/>
              </a:rPr>
              <a:t>Summary</a:t>
            </a:r>
            <a:endParaRPr lang="ko-KR" altLang="en-US" err="1">
              <a:ea typeface="+mn-ea"/>
            </a:endParaRPr>
          </a:p>
        </p:txBody>
      </p:sp>
      <p:pic>
        <p:nvPicPr>
          <p:cNvPr id="19" name="그림 18" descr="패턴, 사각형, 픽셀, 낱말맞추기 퍼즐이(가) 표시된 사진&#10;&#10;AI가 생성한 콘텐츠는 부정확할 수 있습니다.">
            <a:extLst>
              <a:ext uri="{FF2B5EF4-FFF2-40B4-BE49-F238E27FC236}">
                <a16:creationId xmlns:a16="http://schemas.microsoft.com/office/drawing/2014/main" id="{E13A02BD-3278-A9E5-40B2-726E32453F95}"/>
              </a:ext>
            </a:extLst>
          </p:cNvPr>
          <p:cNvPicPr>
            <a:picLocks noChangeAspect="1"/>
          </p:cNvPicPr>
          <p:nvPr/>
        </p:nvPicPr>
        <p:blipFill>
          <a:blip r:embed="rId5"/>
          <a:stretch>
            <a:fillRect/>
          </a:stretch>
        </p:blipFill>
        <p:spPr>
          <a:xfrm>
            <a:off x="9108595" y="2265005"/>
            <a:ext cx="1407005" cy="1407005"/>
          </a:xfrm>
          <a:prstGeom prst="rect">
            <a:avLst/>
          </a:prstGeom>
        </p:spPr>
      </p:pic>
      <p:sp>
        <p:nvSpPr>
          <p:cNvPr id="20" name="TextBox 19">
            <a:extLst>
              <a:ext uri="{FF2B5EF4-FFF2-40B4-BE49-F238E27FC236}">
                <a16:creationId xmlns:a16="http://schemas.microsoft.com/office/drawing/2014/main" id="{209DCE98-D499-94FB-96AA-90478A695B00}"/>
              </a:ext>
            </a:extLst>
          </p:cNvPr>
          <p:cNvSpPr txBox="1"/>
          <p:nvPr/>
        </p:nvSpPr>
        <p:spPr>
          <a:xfrm>
            <a:off x="8759681" y="1704414"/>
            <a:ext cx="2104834" cy="523220"/>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Exqutor</a:t>
            </a:r>
          </a:p>
          <a:p>
            <a:pPr algn="ctr"/>
            <a:r>
              <a:rPr lang="en-US" altLang="ko-KR" sz="14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on our GitHub!</a:t>
            </a:r>
          </a:p>
        </p:txBody>
      </p:sp>
      <p:sp>
        <p:nvSpPr>
          <p:cNvPr id="32" name="TextBox 31">
            <a:extLst>
              <a:ext uri="{FF2B5EF4-FFF2-40B4-BE49-F238E27FC236}">
                <a16:creationId xmlns:a16="http://schemas.microsoft.com/office/drawing/2014/main" id="{3D611EC3-E165-E2DB-717B-FB47AFD56DBF}"/>
              </a:ext>
            </a:extLst>
          </p:cNvPr>
          <p:cNvSpPr txBox="1"/>
          <p:nvPr/>
        </p:nvSpPr>
        <p:spPr>
          <a:xfrm>
            <a:off x="6542925" y="2793385"/>
            <a:ext cx="1428067" cy="369332"/>
          </a:xfrm>
          <a:prstGeom prst="rect">
            <a:avLst/>
          </a:prstGeom>
          <a:noFill/>
        </p:spPr>
        <p:txBody>
          <a:bodyPr wrap="square">
            <a:spAutoFit/>
          </a:bodyPr>
          <a:lstStyle/>
          <a:p>
            <a:pPr algn="ctr"/>
            <a:r>
              <a:rPr lang="en-US" altLang="ko-KR" sz="1800" b="1">
                <a:latin typeface="Open Sans" panose="020B0606030504020204" pitchFamily="34" charset="0"/>
                <a:ea typeface="Open Sans" panose="020B0606030504020204" pitchFamily="34" charset="0"/>
                <a:cs typeface="Open Sans" panose="020B0606030504020204" pitchFamily="34" charset="0"/>
              </a:rPr>
              <a:t>Exqutor</a:t>
            </a:r>
            <a:endParaRPr lang="ko-KR" altLang="en-US" i="1">
              <a:latin typeface="Open Sans" panose="020B0606030504020204" pitchFamily="34" charset="0"/>
              <a:cs typeface="Open Sans" panose="020B0606030504020204" pitchFamily="34" charset="0"/>
            </a:endParaRPr>
          </a:p>
        </p:txBody>
      </p:sp>
      <p:pic>
        <p:nvPicPr>
          <p:cNvPr id="33" name="그림 32" descr="상징, 클립아트, 디자인이(가) 표시된 사진&#10;&#10;AI가 생성한 콘텐츠는 부정확할 수 있습니다.">
            <a:extLst>
              <a:ext uri="{FF2B5EF4-FFF2-40B4-BE49-F238E27FC236}">
                <a16:creationId xmlns:a16="http://schemas.microsoft.com/office/drawing/2014/main" id="{98F165DB-CE11-60DD-9A5E-74E655B7B8DF}"/>
              </a:ext>
            </a:extLst>
          </p:cNvPr>
          <p:cNvPicPr>
            <a:picLocks noChangeAspect="1"/>
          </p:cNvPicPr>
          <p:nvPr/>
        </p:nvPicPr>
        <p:blipFill>
          <a:blip r:embed="rId6"/>
          <a:stretch>
            <a:fillRect/>
          </a:stretch>
        </p:blipFill>
        <p:spPr>
          <a:xfrm rot="16200000">
            <a:off x="5988531" y="2720409"/>
            <a:ext cx="515285" cy="515285"/>
          </a:xfrm>
          <a:prstGeom prst="rect">
            <a:avLst/>
          </a:prstGeom>
        </p:spPr>
      </p:pic>
      <p:pic>
        <p:nvPicPr>
          <p:cNvPr id="37" name="그림 36" descr="그래픽, 폰트, 그래픽 디자인, 로고이(가) 표시된 사진&#10;&#10;AI가 생성한 콘텐츠는 부정확할 수 있습니다.">
            <a:extLst>
              <a:ext uri="{FF2B5EF4-FFF2-40B4-BE49-F238E27FC236}">
                <a16:creationId xmlns:a16="http://schemas.microsoft.com/office/drawing/2014/main" id="{AA1D9833-DB7E-D697-FB04-144D10435144}"/>
              </a:ext>
            </a:extLst>
          </p:cNvPr>
          <p:cNvPicPr>
            <a:picLocks noChangeAspect="1"/>
          </p:cNvPicPr>
          <p:nvPr/>
        </p:nvPicPr>
        <p:blipFill>
          <a:blip r:embed="rId7"/>
          <a:stretch>
            <a:fillRect/>
          </a:stretch>
        </p:blipFill>
        <p:spPr>
          <a:xfrm>
            <a:off x="2406025" y="2722434"/>
            <a:ext cx="1724929" cy="435588"/>
          </a:xfrm>
          <a:prstGeom prst="rect">
            <a:avLst/>
          </a:prstGeom>
        </p:spPr>
      </p:pic>
      <p:pic>
        <p:nvPicPr>
          <p:cNvPr id="38" name="Picture 4">
            <a:extLst>
              <a:ext uri="{FF2B5EF4-FFF2-40B4-BE49-F238E27FC236}">
                <a16:creationId xmlns:a16="http://schemas.microsoft.com/office/drawing/2014/main" id="{9D306DF4-3681-E40E-B3A2-EB89820A2B9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5637" b="15821"/>
          <a:stretch/>
        </p:blipFill>
        <p:spPr bwMode="auto">
          <a:xfrm>
            <a:off x="4242558" y="2672923"/>
            <a:ext cx="1042691" cy="476455"/>
          </a:xfrm>
          <a:prstGeom prst="rect">
            <a:avLst/>
          </a:prstGeom>
          <a:noFill/>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721716DC-2487-D2BE-9770-16B4869BEE8D}"/>
              </a:ext>
            </a:extLst>
          </p:cNvPr>
          <p:cNvSpPr txBox="1"/>
          <p:nvPr/>
        </p:nvSpPr>
        <p:spPr>
          <a:xfrm>
            <a:off x="681039" y="2033211"/>
            <a:ext cx="4976166" cy="463588"/>
          </a:xfrm>
          <a:prstGeom prst="rect">
            <a:avLst/>
          </a:prstGeom>
          <a:noFill/>
        </p:spPr>
        <p:txBody>
          <a:bodyPr wrap="square">
            <a:spAutoFit/>
          </a:bodyPr>
          <a:lstStyle/>
          <a:p>
            <a:pPr algn="ctr">
              <a:lnSpc>
                <a:spcPct val="150000"/>
              </a:lnSpc>
            </a:pPr>
            <a:r>
              <a:rPr kumimoji="1" lang="en-US" altLang="ko-KR" b="1" i="1">
                <a:latin typeface="Open Sans" panose="020B0606030504020204" pitchFamily="34" charset="0"/>
                <a:ea typeface="Open Sans" panose="020B0606030504020204" pitchFamily="34" charset="0"/>
                <a:cs typeface="Open Sans" panose="020B0606030504020204" pitchFamily="34" charset="0"/>
              </a:rPr>
              <a:t>Existing Database Management Systems</a:t>
            </a:r>
          </a:p>
        </p:txBody>
      </p:sp>
      <p:pic>
        <p:nvPicPr>
          <p:cNvPr id="42" name="그림 41" descr="그래픽, 폰트, 그래픽 디자인, 로고이(가) 표시된 사진&#10;&#10;AI가 생성한 콘텐츠는 부정확할 수 있습니다.">
            <a:extLst>
              <a:ext uri="{FF2B5EF4-FFF2-40B4-BE49-F238E27FC236}">
                <a16:creationId xmlns:a16="http://schemas.microsoft.com/office/drawing/2014/main" id="{038BBA93-84C0-A8F8-E892-9ADD3D2BFD69}"/>
              </a:ext>
            </a:extLst>
          </p:cNvPr>
          <p:cNvPicPr>
            <a:picLocks noChangeAspect="1"/>
          </p:cNvPicPr>
          <p:nvPr/>
        </p:nvPicPr>
        <p:blipFill>
          <a:blip r:embed="rId7"/>
          <a:stretch>
            <a:fillRect/>
          </a:stretch>
        </p:blipFill>
        <p:spPr>
          <a:xfrm>
            <a:off x="2406025" y="2722434"/>
            <a:ext cx="1724929" cy="435588"/>
          </a:xfrm>
          <a:prstGeom prst="rect">
            <a:avLst/>
          </a:prstGeom>
        </p:spPr>
      </p:pic>
      <p:pic>
        <p:nvPicPr>
          <p:cNvPr id="43" name="Picture 4">
            <a:extLst>
              <a:ext uri="{FF2B5EF4-FFF2-40B4-BE49-F238E27FC236}">
                <a16:creationId xmlns:a16="http://schemas.microsoft.com/office/drawing/2014/main" id="{465ACB7E-9E32-F665-A09B-77206D587AF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15637" b="15821"/>
          <a:stretch/>
        </p:blipFill>
        <p:spPr bwMode="auto">
          <a:xfrm>
            <a:off x="4242558" y="2672923"/>
            <a:ext cx="1042691" cy="476455"/>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14DE1756-E316-A9EC-1DC8-595DD14BBF2E}"/>
              </a:ext>
            </a:extLst>
          </p:cNvPr>
          <p:cNvSpPr txBox="1"/>
          <p:nvPr/>
        </p:nvSpPr>
        <p:spPr>
          <a:xfrm>
            <a:off x="5179334" y="2831793"/>
            <a:ext cx="1042691" cy="400110"/>
          </a:xfrm>
          <a:prstGeom prst="rect">
            <a:avLst/>
          </a:prstGeom>
          <a:noFill/>
        </p:spPr>
        <p:txBody>
          <a:bodyPr wrap="square">
            <a:spAutoFit/>
          </a:bodyPr>
          <a:lstStyle/>
          <a:p>
            <a:r>
              <a:rPr lang="en-US" altLang="ko-KR" sz="2000" b="1"/>
              <a:t>, etc.</a:t>
            </a:r>
            <a:endParaRPr lang="ko-KR" altLang="en-US" sz="2000" b="1"/>
          </a:p>
        </p:txBody>
      </p:sp>
      <p:sp>
        <p:nvSpPr>
          <p:cNvPr id="45" name="TextBox 44">
            <a:extLst>
              <a:ext uri="{FF2B5EF4-FFF2-40B4-BE49-F238E27FC236}">
                <a16:creationId xmlns:a16="http://schemas.microsoft.com/office/drawing/2014/main" id="{569647F5-3F52-52EF-BA79-ACCF52742E22}"/>
              </a:ext>
            </a:extLst>
          </p:cNvPr>
          <p:cNvSpPr txBox="1"/>
          <p:nvPr/>
        </p:nvSpPr>
        <p:spPr>
          <a:xfrm>
            <a:off x="4080841" y="2848510"/>
            <a:ext cx="1042691" cy="400110"/>
          </a:xfrm>
          <a:prstGeom prst="rect">
            <a:avLst/>
          </a:prstGeom>
          <a:noFill/>
        </p:spPr>
        <p:txBody>
          <a:bodyPr wrap="square">
            <a:spAutoFit/>
          </a:bodyPr>
          <a:lstStyle/>
          <a:p>
            <a:r>
              <a:rPr lang="en-US" altLang="ko-KR" sz="2000" b="1"/>
              <a:t>, </a:t>
            </a:r>
            <a:endParaRPr lang="ko-KR" altLang="en-US" sz="2000" b="1"/>
          </a:p>
        </p:txBody>
      </p:sp>
      <p:sp>
        <p:nvSpPr>
          <p:cNvPr id="46" name="TextBox 45">
            <a:extLst>
              <a:ext uri="{FF2B5EF4-FFF2-40B4-BE49-F238E27FC236}">
                <a16:creationId xmlns:a16="http://schemas.microsoft.com/office/drawing/2014/main" id="{F7ED3313-FB2E-D198-906D-CF0FBF17BFAD}"/>
              </a:ext>
            </a:extLst>
          </p:cNvPr>
          <p:cNvSpPr txBox="1"/>
          <p:nvPr/>
        </p:nvSpPr>
        <p:spPr>
          <a:xfrm>
            <a:off x="2126431" y="2855731"/>
            <a:ext cx="1042691" cy="400110"/>
          </a:xfrm>
          <a:prstGeom prst="rect">
            <a:avLst/>
          </a:prstGeom>
          <a:noFill/>
        </p:spPr>
        <p:txBody>
          <a:bodyPr wrap="square">
            <a:spAutoFit/>
          </a:bodyPr>
          <a:lstStyle/>
          <a:p>
            <a:r>
              <a:rPr lang="en-US" altLang="ko-KR" sz="2000" b="1"/>
              <a:t>, </a:t>
            </a:r>
            <a:endParaRPr lang="ko-KR" altLang="en-US" sz="2000" b="1"/>
          </a:p>
        </p:txBody>
      </p:sp>
      <p:sp>
        <p:nvSpPr>
          <p:cNvPr id="47" name="TextBox 46">
            <a:extLst>
              <a:ext uri="{FF2B5EF4-FFF2-40B4-BE49-F238E27FC236}">
                <a16:creationId xmlns:a16="http://schemas.microsoft.com/office/drawing/2014/main" id="{C97F814C-E5B9-D77E-1039-AEA6C2E48307}"/>
              </a:ext>
            </a:extLst>
          </p:cNvPr>
          <p:cNvSpPr txBox="1"/>
          <p:nvPr/>
        </p:nvSpPr>
        <p:spPr>
          <a:xfrm>
            <a:off x="1465289" y="2855731"/>
            <a:ext cx="1042691" cy="400110"/>
          </a:xfrm>
          <a:prstGeom prst="rect">
            <a:avLst/>
          </a:prstGeom>
          <a:noFill/>
        </p:spPr>
        <p:txBody>
          <a:bodyPr wrap="square">
            <a:spAutoFit/>
          </a:bodyPr>
          <a:lstStyle/>
          <a:p>
            <a:r>
              <a:rPr lang="en-US" altLang="ko-KR" sz="2000" b="1"/>
              <a:t>, </a:t>
            </a:r>
            <a:endParaRPr lang="ko-KR" altLang="en-US" sz="2000" b="1"/>
          </a:p>
        </p:txBody>
      </p:sp>
      <p:pic>
        <p:nvPicPr>
          <p:cNvPr id="50" name="그림 49">
            <a:extLst>
              <a:ext uri="{FF2B5EF4-FFF2-40B4-BE49-F238E27FC236}">
                <a16:creationId xmlns:a16="http://schemas.microsoft.com/office/drawing/2014/main" id="{B57BBA7D-31CE-A6A2-2F53-AEBB4A82B7F6}"/>
              </a:ext>
            </a:extLst>
          </p:cNvPr>
          <p:cNvPicPr>
            <a:picLocks noChangeAspect="1"/>
          </p:cNvPicPr>
          <p:nvPr/>
        </p:nvPicPr>
        <p:blipFill>
          <a:blip r:embed="rId9"/>
          <a:srcRect l="2852" t="31759" r="78343" b="27411"/>
          <a:stretch/>
        </p:blipFill>
        <p:spPr>
          <a:xfrm>
            <a:off x="996445" y="2692971"/>
            <a:ext cx="530610" cy="540952"/>
          </a:xfrm>
          <a:prstGeom prst="rect">
            <a:avLst/>
          </a:prstGeom>
        </p:spPr>
      </p:pic>
      <p:pic>
        <p:nvPicPr>
          <p:cNvPr id="1028" name="Picture 4">
            <a:extLst>
              <a:ext uri="{FF2B5EF4-FFF2-40B4-BE49-F238E27FC236}">
                <a16:creationId xmlns:a16="http://schemas.microsoft.com/office/drawing/2014/main" id="{D2F07387-7868-4FB7-F0FD-03460E4B67D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943" r="27572" b="41931"/>
          <a:stretch/>
        </p:blipFill>
        <p:spPr bwMode="auto">
          <a:xfrm>
            <a:off x="1676400" y="2718587"/>
            <a:ext cx="461356" cy="463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006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24B98-C076-A220-C661-D7280AC5A42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4B3AABA-646B-120C-AA8F-44A9EE2BDB4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AFBA75CD-14C9-D8C9-8B0F-330C0E55967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29DB6DED-0A84-AEC3-2281-DCC3CC0EB287}"/>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VAQ in RAG Scenario</a:t>
            </a:r>
            <a:endParaRPr lang="ko-KR" altLang="en-US" err="1">
              <a:ea typeface="+mn-ea"/>
            </a:endParaRPr>
          </a:p>
        </p:txBody>
      </p:sp>
      <p:grpSp>
        <p:nvGrpSpPr>
          <p:cNvPr id="16" name="그룹 15">
            <a:extLst>
              <a:ext uri="{FF2B5EF4-FFF2-40B4-BE49-F238E27FC236}">
                <a16:creationId xmlns:a16="http://schemas.microsoft.com/office/drawing/2014/main" id="{55D4EDDA-AADA-5089-1259-F674DF3508BC}"/>
              </a:ext>
            </a:extLst>
          </p:cNvPr>
          <p:cNvGrpSpPr/>
          <p:nvPr/>
        </p:nvGrpSpPr>
        <p:grpSpPr>
          <a:xfrm>
            <a:off x="631903" y="2163337"/>
            <a:ext cx="10575088" cy="3454228"/>
            <a:chOff x="457199" y="1851103"/>
            <a:chExt cx="10575088" cy="3454228"/>
          </a:xfrm>
        </p:grpSpPr>
        <p:pic>
          <p:nvPicPr>
            <p:cNvPr id="11" name="그림 10" descr="텍스트, 스크린샷, 도표, 폰트이(가) 표시된 사진&#10;&#10;AI 생성 콘텐츠는 정확하지 않을 수 있습니다.">
              <a:extLst>
                <a:ext uri="{FF2B5EF4-FFF2-40B4-BE49-F238E27FC236}">
                  <a16:creationId xmlns:a16="http://schemas.microsoft.com/office/drawing/2014/main" id="{3E7CFC4A-5737-E438-9DAE-BB689FBE1090}"/>
                </a:ext>
              </a:extLst>
            </p:cNvPr>
            <p:cNvPicPr>
              <a:picLocks noChangeAspect="1"/>
            </p:cNvPicPr>
            <p:nvPr/>
          </p:nvPicPr>
          <p:blipFill>
            <a:blip r:embed="rId5"/>
            <a:srcRect l="-1" t="364" r="296" b="-227"/>
            <a:stretch/>
          </p:blipFill>
          <p:spPr>
            <a:xfrm>
              <a:off x="457199" y="1851103"/>
              <a:ext cx="10575088" cy="3454228"/>
            </a:xfrm>
            <a:prstGeom prst="rect">
              <a:avLst/>
            </a:prstGeom>
          </p:spPr>
        </p:pic>
        <p:sp>
          <p:nvSpPr>
            <p:cNvPr id="13" name="TextBox 12">
              <a:extLst>
                <a:ext uri="{FF2B5EF4-FFF2-40B4-BE49-F238E27FC236}">
                  <a16:creationId xmlns:a16="http://schemas.microsoft.com/office/drawing/2014/main" id="{12695D0F-638E-BE63-2477-3D50FA261ACD}"/>
                </a:ext>
              </a:extLst>
            </p:cNvPr>
            <p:cNvSpPr txBox="1"/>
            <p:nvPr/>
          </p:nvSpPr>
          <p:spPr>
            <a:xfrm>
              <a:off x="1550019" y="2200228"/>
              <a:ext cx="4668644" cy="646331"/>
            </a:xfrm>
            <a:prstGeom prst="rect">
              <a:avLst/>
            </a:prstGeom>
            <a:solidFill>
              <a:srgbClr val="FFFFE8"/>
            </a:solidFill>
          </p:spPr>
          <p:txBody>
            <a:bodyPr wrap="square" lIns="0" tIns="0" rIns="0" bIns="0" rtlCol="0">
              <a:spAutoFit/>
            </a:bodyPr>
            <a:lstStyle/>
            <a:p>
              <a:pPr algn="ctr"/>
              <a:r>
                <a:rPr kumimoji="1" lang="en-US" altLang="ko-KR" sz="1400" b="1">
                  <a:latin typeface="Apple SD Gothic Neo" panose="02000300000000000000" pitchFamily="2" charset="-127"/>
                  <a:ea typeface="Apple SD Gothic Neo" panose="02000300000000000000" pitchFamily="2" charset="-127"/>
                </a:rPr>
                <a:t>Given supplier parts similar to this headphone image, analyze customer comments from 2024 data and </a:t>
              </a:r>
            </a:p>
            <a:p>
              <a:pPr algn="ctr"/>
              <a:r>
                <a:rPr kumimoji="1" lang="en-US" altLang="ko-KR" sz="1400" b="1">
                  <a:latin typeface="Apple SD Gothic Neo" panose="02000300000000000000" pitchFamily="2" charset="-127"/>
                  <a:ea typeface="Apple SD Gothic Neo" panose="02000300000000000000" pitchFamily="2" charset="-127"/>
                </a:rPr>
                <a:t>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grpSp>
      <p:sp>
        <p:nvSpPr>
          <p:cNvPr id="15" name="TextBox 14">
            <a:extLst>
              <a:ext uri="{FF2B5EF4-FFF2-40B4-BE49-F238E27FC236}">
                <a16:creationId xmlns:a16="http://schemas.microsoft.com/office/drawing/2014/main" id="{6EE2678F-672F-6544-FAF9-FFCA2877C0E7}"/>
              </a:ext>
            </a:extLst>
          </p:cNvPr>
          <p:cNvSpPr txBox="1"/>
          <p:nvPr/>
        </p:nvSpPr>
        <p:spPr>
          <a:xfrm>
            <a:off x="644912" y="331995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sp>
        <p:nvSpPr>
          <p:cNvPr id="3" name="직사각형 2">
            <a:extLst>
              <a:ext uri="{FF2B5EF4-FFF2-40B4-BE49-F238E27FC236}">
                <a16:creationId xmlns:a16="http://schemas.microsoft.com/office/drawing/2014/main" id="{114965D0-84D3-43A2-8FF3-1AD3A2957D09}"/>
              </a:ext>
            </a:extLst>
          </p:cNvPr>
          <p:cNvSpPr/>
          <p:nvPr/>
        </p:nvSpPr>
        <p:spPr>
          <a:xfrm>
            <a:off x="1332571" y="3246344"/>
            <a:ext cx="6047943" cy="284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5" name="직사각형 4">
            <a:extLst>
              <a:ext uri="{FF2B5EF4-FFF2-40B4-BE49-F238E27FC236}">
                <a16:creationId xmlns:a16="http://schemas.microsoft.com/office/drawing/2014/main" id="{C11BDE72-E149-3FBD-9F6F-EC5284880963}"/>
              </a:ext>
            </a:extLst>
          </p:cNvPr>
          <p:cNvSpPr/>
          <p:nvPr/>
        </p:nvSpPr>
        <p:spPr>
          <a:xfrm>
            <a:off x="840958" y="3611656"/>
            <a:ext cx="5911725" cy="284368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8" name="직사각형 7">
            <a:extLst>
              <a:ext uri="{FF2B5EF4-FFF2-40B4-BE49-F238E27FC236}">
                <a16:creationId xmlns:a16="http://schemas.microsoft.com/office/drawing/2014/main" id="{8D294296-0664-4C45-1315-3CECD28D8A7F}"/>
              </a:ext>
            </a:extLst>
          </p:cNvPr>
          <p:cNvSpPr/>
          <p:nvPr/>
        </p:nvSpPr>
        <p:spPr>
          <a:xfrm>
            <a:off x="7120257" y="1530351"/>
            <a:ext cx="4346992" cy="4470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extLst>
      <p:ext uri="{BB962C8B-B14F-4D97-AF65-F5344CB8AC3E}">
        <p14:creationId xmlns:p14="http://schemas.microsoft.com/office/powerpoint/2010/main" val="31785808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57216-BEF5-CCA4-12AB-BA82007BA64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237ADCD-951F-E266-640D-5B504FD5BB2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660E2244-295E-5452-7523-71FA805586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5EF4EEBD-7E11-1FEA-C698-EAFF3111D1EF}"/>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VAQ in RAG Scenario</a:t>
            </a:r>
            <a:endParaRPr lang="ko-KR" altLang="en-US" sz="3200" err="1">
              <a:ea typeface="+mn-ea"/>
            </a:endParaRPr>
          </a:p>
        </p:txBody>
      </p:sp>
      <p:grpSp>
        <p:nvGrpSpPr>
          <p:cNvPr id="16" name="그룹 15">
            <a:extLst>
              <a:ext uri="{FF2B5EF4-FFF2-40B4-BE49-F238E27FC236}">
                <a16:creationId xmlns:a16="http://schemas.microsoft.com/office/drawing/2014/main" id="{E21B37E7-46A9-B46E-514D-2060B6B8829C}"/>
              </a:ext>
            </a:extLst>
          </p:cNvPr>
          <p:cNvGrpSpPr/>
          <p:nvPr/>
        </p:nvGrpSpPr>
        <p:grpSpPr>
          <a:xfrm>
            <a:off x="631903" y="2163337"/>
            <a:ext cx="10575088" cy="3454228"/>
            <a:chOff x="457199" y="1851103"/>
            <a:chExt cx="10575088" cy="3454228"/>
          </a:xfrm>
        </p:grpSpPr>
        <p:pic>
          <p:nvPicPr>
            <p:cNvPr id="11" name="그림 10" descr="텍스트, 스크린샷, 도표, 폰트이(가) 표시된 사진&#10;&#10;AI 생성 콘텐츠는 정확하지 않을 수 있습니다.">
              <a:extLst>
                <a:ext uri="{FF2B5EF4-FFF2-40B4-BE49-F238E27FC236}">
                  <a16:creationId xmlns:a16="http://schemas.microsoft.com/office/drawing/2014/main" id="{114AE39A-C109-0B64-1F75-8ABFE16B35C6}"/>
                </a:ext>
              </a:extLst>
            </p:cNvPr>
            <p:cNvPicPr>
              <a:picLocks noChangeAspect="1"/>
            </p:cNvPicPr>
            <p:nvPr/>
          </p:nvPicPr>
          <p:blipFill>
            <a:blip r:embed="rId5"/>
            <a:srcRect l="-1" t="364" r="296" b="-227"/>
            <a:stretch/>
          </p:blipFill>
          <p:spPr>
            <a:xfrm>
              <a:off x="457199" y="1851103"/>
              <a:ext cx="10575088" cy="3454228"/>
            </a:xfrm>
            <a:prstGeom prst="rect">
              <a:avLst/>
            </a:prstGeom>
          </p:spPr>
        </p:pic>
        <p:sp>
          <p:nvSpPr>
            <p:cNvPr id="13" name="TextBox 12">
              <a:extLst>
                <a:ext uri="{FF2B5EF4-FFF2-40B4-BE49-F238E27FC236}">
                  <a16:creationId xmlns:a16="http://schemas.microsoft.com/office/drawing/2014/main" id="{96CB9740-D090-5259-A7AF-F7FC50A6509D}"/>
                </a:ext>
              </a:extLst>
            </p:cNvPr>
            <p:cNvSpPr txBox="1"/>
            <p:nvPr/>
          </p:nvSpPr>
          <p:spPr>
            <a:xfrm>
              <a:off x="1550019" y="2200228"/>
              <a:ext cx="4668644" cy="646331"/>
            </a:xfrm>
            <a:prstGeom prst="rect">
              <a:avLst/>
            </a:prstGeom>
            <a:solidFill>
              <a:srgbClr val="FFFFE8"/>
            </a:solidFill>
          </p:spPr>
          <p:txBody>
            <a:bodyPr wrap="square" lIns="0" tIns="0" rIns="0" bIns="0" rtlCol="0">
              <a:spAutoFit/>
            </a:bodyPr>
            <a:lstStyle/>
            <a:p>
              <a:pPr algn="ctr"/>
              <a:r>
                <a:rPr kumimoji="1" lang="en-US" altLang="ko-KR" sz="1400" b="1">
                  <a:latin typeface="Apple SD Gothic Neo" panose="02000300000000000000" pitchFamily="2" charset="-127"/>
                  <a:ea typeface="Apple SD Gothic Neo" panose="02000300000000000000" pitchFamily="2" charset="-127"/>
                </a:rPr>
                <a:t>Given supplier parts similar to this headphone image, analyze customer comments from 2024 data and </a:t>
              </a:r>
            </a:p>
            <a:p>
              <a:pPr algn="ctr"/>
              <a:r>
                <a:rPr kumimoji="1" lang="en-US" altLang="ko-KR" sz="1400" b="1">
                  <a:latin typeface="Apple SD Gothic Neo" panose="02000300000000000000" pitchFamily="2" charset="-127"/>
                  <a:ea typeface="Apple SD Gothic Neo" panose="02000300000000000000" pitchFamily="2" charset="-127"/>
                </a:rPr>
                <a:t>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grpSp>
      <p:sp>
        <p:nvSpPr>
          <p:cNvPr id="15" name="TextBox 14">
            <a:extLst>
              <a:ext uri="{FF2B5EF4-FFF2-40B4-BE49-F238E27FC236}">
                <a16:creationId xmlns:a16="http://schemas.microsoft.com/office/drawing/2014/main" id="{C0A8F6AC-42C6-FBB1-D718-C8489264AB06}"/>
              </a:ext>
            </a:extLst>
          </p:cNvPr>
          <p:cNvSpPr txBox="1"/>
          <p:nvPr/>
        </p:nvSpPr>
        <p:spPr>
          <a:xfrm>
            <a:off x="644912" y="331995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sp>
        <p:nvSpPr>
          <p:cNvPr id="2" name="직사각형 1">
            <a:extLst>
              <a:ext uri="{FF2B5EF4-FFF2-40B4-BE49-F238E27FC236}">
                <a16:creationId xmlns:a16="http://schemas.microsoft.com/office/drawing/2014/main" id="{2A0D201C-DB2F-7D25-8BEF-DB94ABA8D794}"/>
              </a:ext>
            </a:extLst>
          </p:cNvPr>
          <p:cNvSpPr/>
          <p:nvPr/>
        </p:nvSpPr>
        <p:spPr>
          <a:xfrm>
            <a:off x="7120257" y="1530351"/>
            <a:ext cx="4346992" cy="4470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3" name="그림 2">
            <a:extLst>
              <a:ext uri="{FF2B5EF4-FFF2-40B4-BE49-F238E27FC236}">
                <a16:creationId xmlns:a16="http://schemas.microsoft.com/office/drawing/2014/main" id="{DE2779FA-18F1-7F6C-14BC-CE7B34C79806}"/>
              </a:ext>
            </a:extLst>
          </p:cNvPr>
          <p:cNvPicPr>
            <a:picLocks noChangeAspect="1"/>
          </p:cNvPicPr>
          <p:nvPr/>
        </p:nvPicPr>
        <p:blipFill>
          <a:blip r:embed="rId6"/>
          <a:stretch>
            <a:fillRect/>
          </a:stretch>
        </p:blipFill>
        <p:spPr>
          <a:xfrm>
            <a:off x="4654550" y="5251449"/>
            <a:ext cx="2355850" cy="284057"/>
          </a:xfrm>
          <a:prstGeom prst="rect">
            <a:avLst/>
          </a:prstGeom>
        </p:spPr>
      </p:pic>
      <p:pic>
        <p:nvPicPr>
          <p:cNvPr id="5" name="그림 4">
            <a:extLst>
              <a:ext uri="{FF2B5EF4-FFF2-40B4-BE49-F238E27FC236}">
                <a16:creationId xmlns:a16="http://schemas.microsoft.com/office/drawing/2014/main" id="{BEAE74AF-E07C-189E-D074-A4C60DA5AA3E}"/>
              </a:ext>
            </a:extLst>
          </p:cNvPr>
          <p:cNvPicPr>
            <a:picLocks noChangeAspect="1"/>
          </p:cNvPicPr>
          <p:nvPr/>
        </p:nvPicPr>
        <p:blipFill>
          <a:blip r:embed="rId7"/>
          <a:stretch>
            <a:fillRect/>
          </a:stretch>
        </p:blipFill>
        <p:spPr>
          <a:xfrm>
            <a:off x="5360647" y="5279177"/>
            <a:ext cx="1117600" cy="228600"/>
          </a:xfrm>
          <a:prstGeom prst="rect">
            <a:avLst/>
          </a:prstGeom>
        </p:spPr>
      </p:pic>
    </p:spTree>
    <p:extLst>
      <p:ext uri="{BB962C8B-B14F-4D97-AF65-F5344CB8AC3E}">
        <p14:creationId xmlns:p14="http://schemas.microsoft.com/office/powerpoint/2010/main" val="4748468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D3FC3-F6B0-62C9-A3F1-1DD928DA320F}"/>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2E7A4CE-4A0B-9CF8-968B-71D5BDB06F2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12891BE5-3081-7548-F306-EAC7AF8BB8B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7C9435D2-1227-1459-1E36-B00114A3E03B}"/>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VAQ in RAG Scenario</a:t>
            </a:r>
            <a:endParaRPr lang="ko-KR" altLang="en-US" sz="3200" err="1">
              <a:ea typeface="+mn-ea"/>
            </a:endParaRPr>
          </a:p>
        </p:txBody>
      </p:sp>
      <p:grpSp>
        <p:nvGrpSpPr>
          <p:cNvPr id="16" name="그룹 15">
            <a:extLst>
              <a:ext uri="{FF2B5EF4-FFF2-40B4-BE49-F238E27FC236}">
                <a16:creationId xmlns:a16="http://schemas.microsoft.com/office/drawing/2014/main" id="{D6977F4B-7949-8075-3629-EA3FD6C8D52B}"/>
              </a:ext>
            </a:extLst>
          </p:cNvPr>
          <p:cNvGrpSpPr/>
          <p:nvPr/>
        </p:nvGrpSpPr>
        <p:grpSpPr>
          <a:xfrm>
            <a:off x="631903" y="2163337"/>
            <a:ext cx="10575088" cy="3454228"/>
            <a:chOff x="457199" y="1851103"/>
            <a:chExt cx="10575088" cy="3454228"/>
          </a:xfrm>
        </p:grpSpPr>
        <p:pic>
          <p:nvPicPr>
            <p:cNvPr id="11" name="그림 10" descr="텍스트, 스크린샷, 도표, 폰트이(가) 표시된 사진&#10;&#10;AI 생성 콘텐츠는 정확하지 않을 수 있습니다.">
              <a:extLst>
                <a:ext uri="{FF2B5EF4-FFF2-40B4-BE49-F238E27FC236}">
                  <a16:creationId xmlns:a16="http://schemas.microsoft.com/office/drawing/2014/main" id="{65DA7890-138D-A30E-334C-1192B2A51175}"/>
                </a:ext>
              </a:extLst>
            </p:cNvPr>
            <p:cNvPicPr>
              <a:picLocks noChangeAspect="1"/>
            </p:cNvPicPr>
            <p:nvPr/>
          </p:nvPicPr>
          <p:blipFill>
            <a:blip r:embed="rId5"/>
            <a:srcRect l="-1" t="364" r="296" b="-227"/>
            <a:stretch/>
          </p:blipFill>
          <p:spPr>
            <a:xfrm>
              <a:off x="457199" y="1851103"/>
              <a:ext cx="10575088" cy="3454228"/>
            </a:xfrm>
            <a:prstGeom prst="rect">
              <a:avLst/>
            </a:prstGeom>
          </p:spPr>
        </p:pic>
        <p:sp>
          <p:nvSpPr>
            <p:cNvPr id="13" name="TextBox 12">
              <a:extLst>
                <a:ext uri="{FF2B5EF4-FFF2-40B4-BE49-F238E27FC236}">
                  <a16:creationId xmlns:a16="http://schemas.microsoft.com/office/drawing/2014/main" id="{5B9D16E1-39DD-045F-0D6A-391EDE16787F}"/>
                </a:ext>
              </a:extLst>
            </p:cNvPr>
            <p:cNvSpPr txBox="1"/>
            <p:nvPr/>
          </p:nvSpPr>
          <p:spPr>
            <a:xfrm>
              <a:off x="1550019" y="2200228"/>
              <a:ext cx="4668644" cy="646331"/>
            </a:xfrm>
            <a:prstGeom prst="rect">
              <a:avLst/>
            </a:prstGeom>
            <a:solidFill>
              <a:srgbClr val="FFFFE8"/>
            </a:solidFill>
          </p:spPr>
          <p:txBody>
            <a:bodyPr wrap="square" lIns="0" tIns="0" rIns="0" bIns="0" rtlCol="0">
              <a:spAutoFit/>
            </a:bodyPr>
            <a:lstStyle/>
            <a:p>
              <a:pPr algn="ctr"/>
              <a:r>
                <a:rPr kumimoji="1" lang="en-US" altLang="ko-KR" sz="1400" b="1">
                  <a:latin typeface="Apple SD Gothic Neo" panose="02000300000000000000" pitchFamily="2" charset="-127"/>
                  <a:ea typeface="Apple SD Gothic Neo" panose="02000300000000000000" pitchFamily="2" charset="-127"/>
                </a:rPr>
                <a:t>Given supplier parts similar to this headphone image, analyze customer comments from 2024 data and </a:t>
              </a:r>
            </a:p>
            <a:p>
              <a:pPr algn="ctr"/>
              <a:r>
                <a:rPr kumimoji="1" lang="en-US" altLang="ko-KR" sz="1400" b="1">
                  <a:latin typeface="Apple SD Gothic Neo" panose="02000300000000000000" pitchFamily="2" charset="-127"/>
                  <a:ea typeface="Apple SD Gothic Neo" panose="02000300000000000000" pitchFamily="2" charset="-127"/>
                </a:rPr>
                <a:t>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grpSp>
      <p:sp>
        <p:nvSpPr>
          <p:cNvPr id="15" name="TextBox 14">
            <a:extLst>
              <a:ext uri="{FF2B5EF4-FFF2-40B4-BE49-F238E27FC236}">
                <a16:creationId xmlns:a16="http://schemas.microsoft.com/office/drawing/2014/main" id="{FA4D7661-2467-4A46-57AF-387639EFA8A0}"/>
              </a:ext>
            </a:extLst>
          </p:cNvPr>
          <p:cNvSpPr txBox="1"/>
          <p:nvPr/>
        </p:nvSpPr>
        <p:spPr>
          <a:xfrm>
            <a:off x="644912" y="331995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pic>
        <p:nvPicPr>
          <p:cNvPr id="3" name="그림 2">
            <a:extLst>
              <a:ext uri="{FF2B5EF4-FFF2-40B4-BE49-F238E27FC236}">
                <a16:creationId xmlns:a16="http://schemas.microsoft.com/office/drawing/2014/main" id="{9028C9BC-A4D0-38A4-E613-F796C9A41BA6}"/>
              </a:ext>
            </a:extLst>
          </p:cNvPr>
          <p:cNvPicPr>
            <a:picLocks noChangeAspect="1"/>
          </p:cNvPicPr>
          <p:nvPr/>
        </p:nvPicPr>
        <p:blipFill>
          <a:blip r:embed="rId6"/>
          <a:stretch>
            <a:fillRect/>
          </a:stretch>
        </p:blipFill>
        <p:spPr>
          <a:xfrm>
            <a:off x="4654550" y="5251449"/>
            <a:ext cx="2355850" cy="284057"/>
          </a:xfrm>
          <a:prstGeom prst="rect">
            <a:avLst/>
          </a:prstGeom>
        </p:spPr>
      </p:pic>
      <p:pic>
        <p:nvPicPr>
          <p:cNvPr id="5" name="그림 4">
            <a:extLst>
              <a:ext uri="{FF2B5EF4-FFF2-40B4-BE49-F238E27FC236}">
                <a16:creationId xmlns:a16="http://schemas.microsoft.com/office/drawing/2014/main" id="{69F28141-03A8-5082-4335-CFB343CC610A}"/>
              </a:ext>
            </a:extLst>
          </p:cNvPr>
          <p:cNvPicPr>
            <a:picLocks noChangeAspect="1"/>
          </p:cNvPicPr>
          <p:nvPr/>
        </p:nvPicPr>
        <p:blipFill>
          <a:blip r:embed="rId7"/>
          <a:stretch>
            <a:fillRect/>
          </a:stretch>
        </p:blipFill>
        <p:spPr>
          <a:xfrm>
            <a:off x="5360647" y="5279177"/>
            <a:ext cx="1117600" cy="228600"/>
          </a:xfrm>
          <a:prstGeom prst="rect">
            <a:avLst/>
          </a:prstGeom>
        </p:spPr>
      </p:pic>
    </p:spTree>
    <p:extLst>
      <p:ext uri="{BB962C8B-B14F-4D97-AF65-F5344CB8AC3E}">
        <p14:creationId xmlns:p14="http://schemas.microsoft.com/office/powerpoint/2010/main" val="3441427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7C7D4-3EC4-8052-315C-F7CA66916B02}"/>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FCBDB7D-1A7F-C78A-799D-1A42384903B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FB1AA5D7-F910-7296-BB1D-3AB5723D08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68591F9C-3A1C-A3FC-56A8-E5144C207D0A}"/>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VAQ in RAG Scenario</a:t>
            </a:r>
            <a:endParaRPr lang="ko-KR" altLang="en-US" sz="3200" err="1">
              <a:ea typeface="+mn-ea"/>
            </a:endParaRPr>
          </a:p>
        </p:txBody>
      </p:sp>
      <p:pic>
        <p:nvPicPr>
          <p:cNvPr id="6" name="그림 5" descr="텍스트, 스크린샷, 도표, 폰트이(가) 표시된 사진&#10;&#10;AI 생성 콘텐츠는 정확하지 않을 수 있습니다.">
            <a:extLst>
              <a:ext uri="{FF2B5EF4-FFF2-40B4-BE49-F238E27FC236}">
                <a16:creationId xmlns:a16="http://schemas.microsoft.com/office/drawing/2014/main" id="{8736570C-ED5D-0C33-78B2-0374123D5B48}"/>
              </a:ext>
            </a:extLst>
          </p:cNvPr>
          <p:cNvPicPr>
            <a:picLocks noChangeAspect="1"/>
          </p:cNvPicPr>
          <p:nvPr/>
        </p:nvPicPr>
        <p:blipFill>
          <a:blip r:embed="rId5"/>
          <a:srcRect t="3038" r="90989" b="64562"/>
          <a:stretch/>
        </p:blipFill>
        <p:spPr>
          <a:xfrm>
            <a:off x="533750" y="2265329"/>
            <a:ext cx="956246" cy="1121205"/>
          </a:xfrm>
          <a:prstGeom prst="rect">
            <a:avLst/>
          </a:prstGeom>
        </p:spPr>
      </p:pic>
      <p:sp>
        <p:nvSpPr>
          <p:cNvPr id="7" name="모서리가 둥근 사각형 설명선[R] 6">
            <a:extLst>
              <a:ext uri="{FF2B5EF4-FFF2-40B4-BE49-F238E27FC236}">
                <a16:creationId xmlns:a16="http://schemas.microsoft.com/office/drawing/2014/main" id="{0AA3B898-119F-DDE7-D95D-B8A1D3020E94}"/>
              </a:ext>
            </a:extLst>
          </p:cNvPr>
          <p:cNvSpPr/>
          <p:nvPr/>
        </p:nvSpPr>
        <p:spPr>
          <a:xfrm>
            <a:off x="1523107" y="2123445"/>
            <a:ext cx="4784559" cy="1226334"/>
          </a:xfrm>
          <a:prstGeom prst="wedgeRoundRectCallout">
            <a:avLst>
              <a:gd name="adj1" fmla="val -55044"/>
              <a:gd name="adj2" fmla="val 1945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4" name="그림 13">
            <a:extLst>
              <a:ext uri="{FF2B5EF4-FFF2-40B4-BE49-F238E27FC236}">
                <a16:creationId xmlns:a16="http://schemas.microsoft.com/office/drawing/2014/main" id="{B56A5002-5D45-0F50-40A0-A9D049BEAB07}"/>
              </a:ext>
            </a:extLst>
          </p:cNvPr>
          <p:cNvPicPr>
            <a:picLocks noChangeAspect="1"/>
          </p:cNvPicPr>
          <p:nvPr/>
        </p:nvPicPr>
        <p:blipFill>
          <a:blip r:embed="rId6"/>
          <a:stretch>
            <a:fillRect/>
          </a:stretch>
        </p:blipFill>
        <p:spPr>
          <a:xfrm>
            <a:off x="1615726" y="2294073"/>
            <a:ext cx="794125" cy="919352"/>
          </a:xfrm>
          <a:prstGeom prst="rect">
            <a:avLst/>
          </a:prstGeom>
        </p:spPr>
      </p:pic>
      <p:sp>
        <p:nvSpPr>
          <p:cNvPr id="17" name="TextBox 16">
            <a:extLst>
              <a:ext uri="{FF2B5EF4-FFF2-40B4-BE49-F238E27FC236}">
                <a16:creationId xmlns:a16="http://schemas.microsoft.com/office/drawing/2014/main" id="{F84AF0BB-2FD8-6D82-22EF-9DE491E76DD1}"/>
              </a:ext>
            </a:extLst>
          </p:cNvPr>
          <p:cNvSpPr txBox="1"/>
          <p:nvPr/>
        </p:nvSpPr>
        <p:spPr>
          <a:xfrm>
            <a:off x="2502470" y="2265329"/>
            <a:ext cx="3609949" cy="942566"/>
          </a:xfrm>
          <a:prstGeom prst="rect">
            <a:avLst/>
          </a:prstGeom>
          <a:solidFill>
            <a:schemeClr val="bg1"/>
          </a:solidFill>
        </p:spPr>
        <p:txBody>
          <a:bodyPr wrap="square" lIns="0" tIns="0" rIns="0" bIns="0" rtlCol="0">
            <a:spAutoFit/>
          </a:bodyPr>
          <a:lstStyle/>
          <a:p>
            <a:pPr algn="ctr">
              <a:lnSpc>
                <a:spcPct val="150000"/>
              </a:lnSpc>
            </a:pPr>
            <a:r>
              <a:rPr kumimoji="1" lang="en-US" altLang="ko-KR" sz="1400" b="1">
                <a:latin typeface="Apple SD Gothic Neo" panose="02000300000000000000" pitchFamily="2" charset="-127"/>
                <a:ea typeface="Apple SD Gothic Neo" panose="02000300000000000000" pitchFamily="2" charset="-127"/>
              </a:rPr>
              <a:t>Given supplier parts similar to this image,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analyze customer comments from 2024 data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and 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sp>
        <p:nvSpPr>
          <p:cNvPr id="18" name="TextBox 17">
            <a:extLst>
              <a:ext uri="{FF2B5EF4-FFF2-40B4-BE49-F238E27FC236}">
                <a16:creationId xmlns:a16="http://schemas.microsoft.com/office/drawing/2014/main" id="{4DD3B95D-9286-0459-C67A-7C180A0B4D99}"/>
              </a:ext>
            </a:extLst>
          </p:cNvPr>
          <p:cNvSpPr txBox="1"/>
          <p:nvPr/>
        </p:nvSpPr>
        <p:spPr>
          <a:xfrm>
            <a:off x="638303" y="338983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sp>
        <p:nvSpPr>
          <p:cNvPr id="26" name="오른쪽 화살표[R] 25">
            <a:extLst>
              <a:ext uri="{FF2B5EF4-FFF2-40B4-BE49-F238E27FC236}">
                <a16:creationId xmlns:a16="http://schemas.microsoft.com/office/drawing/2014/main" id="{6DA685C9-3A28-33D0-5B72-F05FD61C2F36}"/>
              </a:ext>
            </a:extLst>
          </p:cNvPr>
          <p:cNvSpPr/>
          <p:nvPr/>
        </p:nvSpPr>
        <p:spPr>
          <a:xfrm>
            <a:off x="6497381" y="2577917"/>
            <a:ext cx="437907" cy="351663"/>
          </a:xfrm>
          <a:prstGeom prst="rightArrow">
            <a:avLst>
              <a:gd name="adj1" fmla="val 30583"/>
              <a:gd name="adj2" fmla="val 441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ko-KR" altLang="en-US"/>
          </a:p>
        </p:txBody>
      </p:sp>
      <p:pic>
        <p:nvPicPr>
          <p:cNvPr id="28" name="그림 27" descr="텍스트, 스크린샷, 폰트, 대수학이(가) 표시된 사진&#10;&#10;AI가 생성한 콘텐츠는 부정확할 수 있습니다.">
            <a:extLst>
              <a:ext uri="{FF2B5EF4-FFF2-40B4-BE49-F238E27FC236}">
                <a16:creationId xmlns:a16="http://schemas.microsoft.com/office/drawing/2014/main" id="{0AAF67D3-C381-9F9A-8783-E682FFC5E390}"/>
              </a:ext>
            </a:extLst>
          </p:cNvPr>
          <p:cNvPicPr>
            <a:picLocks noChangeAspect="1"/>
          </p:cNvPicPr>
          <p:nvPr/>
        </p:nvPicPr>
        <p:blipFill>
          <a:blip r:embed="rId7"/>
          <a:srcRect l="9515" t="19204" r="8675" b="14689"/>
          <a:stretch/>
        </p:blipFill>
        <p:spPr>
          <a:xfrm>
            <a:off x="7109262" y="1710892"/>
            <a:ext cx="4444435" cy="2085711"/>
          </a:xfrm>
          <a:prstGeom prst="rect">
            <a:avLst/>
          </a:prstGeom>
          <a:ln w="19050">
            <a:solidFill>
              <a:schemeClr val="tx1"/>
            </a:solidFill>
          </a:ln>
        </p:spPr>
      </p:pic>
    </p:spTree>
    <p:extLst>
      <p:ext uri="{BB962C8B-B14F-4D97-AF65-F5344CB8AC3E}">
        <p14:creationId xmlns:p14="http://schemas.microsoft.com/office/powerpoint/2010/main" val="872738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E9A7-9FB4-B977-15BB-99C0658AA08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4F0D3842-9D57-2554-0F64-E987C6B4059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0CC5541B-9117-F4EC-85CA-5739ACC0322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23368FA2-7130-BAB4-0E07-D402246753CC}"/>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Vector-augmented Analytical Queries</a:t>
            </a:r>
            <a:endParaRPr lang="ko-KR" altLang="en-US" err="1">
              <a:ea typeface="+mn-ea"/>
            </a:endParaRPr>
          </a:p>
        </p:txBody>
      </p:sp>
      <p:pic>
        <p:nvPicPr>
          <p:cNvPr id="6" name="그림 5" descr="텍스트, 스크린샷, 도표, 폰트이(가) 표시된 사진&#10;&#10;AI 생성 콘텐츠는 정확하지 않을 수 있습니다.">
            <a:extLst>
              <a:ext uri="{FF2B5EF4-FFF2-40B4-BE49-F238E27FC236}">
                <a16:creationId xmlns:a16="http://schemas.microsoft.com/office/drawing/2014/main" id="{C85B83E3-5972-4E86-69BA-E3279E0422CB}"/>
              </a:ext>
            </a:extLst>
          </p:cNvPr>
          <p:cNvPicPr>
            <a:picLocks noChangeAspect="1"/>
          </p:cNvPicPr>
          <p:nvPr/>
        </p:nvPicPr>
        <p:blipFill>
          <a:blip r:embed="rId5"/>
          <a:srcRect t="3038" r="90989" b="64562"/>
          <a:stretch/>
        </p:blipFill>
        <p:spPr>
          <a:xfrm>
            <a:off x="533750" y="2265329"/>
            <a:ext cx="956246" cy="1121205"/>
          </a:xfrm>
          <a:prstGeom prst="rect">
            <a:avLst/>
          </a:prstGeom>
        </p:spPr>
      </p:pic>
      <p:sp>
        <p:nvSpPr>
          <p:cNvPr id="7" name="모서리가 둥근 사각형 설명선[R] 6">
            <a:extLst>
              <a:ext uri="{FF2B5EF4-FFF2-40B4-BE49-F238E27FC236}">
                <a16:creationId xmlns:a16="http://schemas.microsoft.com/office/drawing/2014/main" id="{912087EF-102E-CAEE-5792-13234AE5E5F2}"/>
              </a:ext>
            </a:extLst>
          </p:cNvPr>
          <p:cNvSpPr/>
          <p:nvPr/>
        </p:nvSpPr>
        <p:spPr>
          <a:xfrm>
            <a:off x="1523107" y="2123445"/>
            <a:ext cx="4784559" cy="1226334"/>
          </a:xfrm>
          <a:prstGeom prst="wedgeRoundRectCallout">
            <a:avLst>
              <a:gd name="adj1" fmla="val -55044"/>
              <a:gd name="adj2" fmla="val 19459"/>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4" name="그림 13">
            <a:extLst>
              <a:ext uri="{FF2B5EF4-FFF2-40B4-BE49-F238E27FC236}">
                <a16:creationId xmlns:a16="http://schemas.microsoft.com/office/drawing/2014/main" id="{4AF3F747-68BC-0FA7-1FF3-DB979E11FDA7}"/>
              </a:ext>
            </a:extLst>
          </p:cNvPr>
          <p:cNvPicPr>
            <a:picLocks noChangeAspect="1"/>
          </p:cNvPicPr>
          <p:nvPr/>
        </p:nvPicPr>
        <p:blipFill>
          <a:blip r:embed="rId6"/>
          <a:stretch>
            <a:fillRect/>
          </a:stretch>
        </p:blipFill>
        <p:spPr>
          <a:xfrm>
            <a:off x="1615726" y="2294073"/>
            <a:ext cx="794125" cy="919352"/>
          </a:xfrm>
          <a:prstGeom prst="rect">
            <a:avLst/>
          </a:prstGeom>
        </p:spPr>
      </p:pic>
      <p:sp>
        <p:nvSpPr>
          <p:cNvPr id="17" name="TextBox 16">
            <a:extLst>
              <a:ext uri="{FF2B5EF4-FFF2-40B4-BE49-F238E27FC236}">
                <a16:creationId xmlns:a16="http://schemas.microsoft.com/office/drawing/2014/main" id="{0B3711ED-8026-4DE3-6356-E3F51F27C0D8}"/>
              </a:ext>
            </a:extLst>
          </p:cNvPr>
          <p:cNvSpPr txBox="1"/>
          <p:nvPr/>
        </p:nvSpPr>
        <p:spPr>
          <a:xfrm>
            <a:off x="2502470" y="2265329"/>
            <a:ext cx="3609949" cy="942566"/>
          </a:xfrm>
          <a:prstGeom prst="rect">
            <a:avLst/>
          </a:prstGeom>
          <a:solidFill>
            <a:schemeClr val="bg1"/>
          </a:solidFill>
        </p:spPr>
        <p:txBody>
          <a:bodyPr wrap="square" lIns="0" tIns="0" rIns="0" bIns="0" rtlCol="0">
            <a:spAutoFit/>
          </a:bodyPr>
          <a:lstStyle/>
          <a:p>
            <a:pPr algn="ctr">
              <a:lnSpc>
                <a:spcPct val="150000"/>
              </a:lnSpc>
            </a:pPr>
            <a:r>
              <a:rPr kumimoji="1" lang="en-US" altLang="ko-KR" sz="1400" b="1">
                <a:latin typeface="Apple SD Gothic Neo" panose="02000300000000000000" pitchFamily="2" charset="-127"/>
                <a:ea typeface="Apple SD Gothic Neo" panose="02000300000000000000" pitchFamily="2" charset="-127"/>
              </a:rPr>
              <a:t>Given supplier parts similar to this image,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analyze customer comments from 2024 data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and 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sp>
        <p:nvSpPr>
          <p:cNvPr id="18" name="TextBox 17">
            <a:extLst>
              <a:ext uri="{FF2B5EF4-FFF2-40B4-BE49-F238E27FC236}">
                <a16:creationId xmlns:a16="http://schemas.microsoft.com/office/drawing/2014/main" id="{9AD2EC77-E032-DCBF-2708-14B954FB248A}"/>
              </a:ext>
            </a:extLst>
          </p:cNvPr>
          <p:cNvSpPr txBox="1"/>
          <p:nvPr/>
        </p:nvSpPr>
        <p:spPr>
          <a:xfrm>
            <a:off x="638303" y="338983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sp>
        <p:nvSpPr>
          <p:cNvPr id="26" name="오른쪽 화살표[R] 25">
            <a:extLst>
              <a:ext uri="{FF2B5EF4-FFF2-40B4-BE49-F238E27FC236}">
                <a16:creationId xmlns:a16="http://schemas.microsoft.com/office/drawing/2014/main" id="{3C3A8542-143D-2240-18A7-A3049396E0DC}"/>
              </a:ext>
            </a:extLst>
          </p:cNvPr>
          <p:cNvSpPr/>
          <p:nvPr/>
        </p:nvSpPr>
        <p:spPr>
          <a:xfrm>
            <a:off x="6497381" y="2577917"/>
            <a:ext cx="437907" cy="351663"/>
          </a:xfrm>
          <a:prstGeom prst="rightArrow">
            <a:avLst>
              <a:gd name="adj1" fmla="val 30583"/>
              <a:gd name="adj2" fmla="val 441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ko-KR" altLang="en-US"/>
          </a:p>
        </p:txBody>
      </p:sp>
      <p:pic>
        <p:nvPicPr>
          <p:cNvPr id="28" name="그림 27" descr="텍스트, 스크린샷, 폰트, 대수학이(가) 표시된 사진&#10;&#10;AI가 생성한 콘텐츠는 부정확할 수 있습니다.">
            <a:extLst>
              <a:ext uri="{FF2B5EF4-FFF2-40B4-BE49-F238E27FC236}">
                <a16:creationId xmlns:a16="http://schemas.microsoft.com/office/drawing/2014/main" id="{E5DBCE13-C279-D42A-42E0-F2CF3A3132FE}"/>
              </a:ext>
            </a:extLst>
          </p:cNvPr>
          <p:cNvPicPr>
            <a:picLocks noChangeAspect="1"/>
          </p:cNvPicPr>
          <p:nvPr/>
        </p:nvPicPr>
        <p:blipFill>
          <a:blip r:embed="rId7"/>
          <a:srcRect l="9515" t="19204" r="8675" b="14689"/>
          <a:stretch/>
        </p:blipFill>
        <p:spPr>
          <a:xfrm>
            <a:off x="7109262" y="1710892"/>
            <a:ext cx="4444435" cy="2085711"/>
          </a:xfrm>
          <a:prstGeom prst="rect">
            <a:avLst/>
          </a:prstGeom>
          <a:ln w="19050">
            <a:solidFill>
              <a:schemeClr val="tx1"/>
            </a:solidFill>
          </a:ln>
        </p:spPr>
      </p:pic>
      <p:sp>
        <p:nvSpPr>
          <p:cNvPr id="29" name="모서리가 둥근 직사각형 28">
            <a:extLst>
              <a:ext uri="{FF2B5EF4-FFF2-40B4-BE49-F238E27FC236}">
                <a16:creationId xmlns:a16="http://schemas.microsoft.com/office/drawing/2014/main" id="{7ED57D0C-B479-ECD0-87FE-67FF47198CD7}"/>
              </a:ext>
            </a:extLst>
          </p:cNvPr>
          <p:cNvSpPr/>
          <p:nvPr/>
        </p:nvSpPr>
        <p:spPr>
          <a:xfrm>
            <a:off x="2417803" y="2598821"/>
            <a:ext cx="3779282" cy="661518"/>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0" name="모서리가 둥근 직사각형 29">
            <a:extLst>
              <a:ext uri="{FF2B5EF4-FFF2-40B4-BE49-F238E27FC236}">
                <a16:creationId xmlns:a16="http://schemas.microsoft.com/office/drawing/2014/main" id="{5CA7265B-B664-8D42-1978-6F7E3D03906D}"/>
              </a:ext>
            </a:extLst>
          </p:cNvPr>
          <p:cNvSpPr/>
          <p:nvPr/>
        </p:nvSpPr>
        <p:spPr>
          <a:xfrm>
            <a:off x="7202362" y="1813109"/>
            <a:ext cx="4268118" cy="1269917"/>
          </a:xfrm>
          <a:prstGeom prst="roundRect">
            <a:avLst>
              <a:gd name="adj" fmla="val 13411"/>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5" name="모서리가 둥근 직사각형 34">
            <a:extLst>
              <a:ext uri="{FF2B5EF4-FFF2-40B4-BE49-F238E27FC236}">
                <a16:creationId xmlns:a16="http://schemas.microsoft.com/office/drawing/2014/main" id="{1377086E-B1F7-68F3-67E7-72AB8CEEB60B}"/>
              </a:ext>
            </a:extLst>
          </p:cNvPr>
          <p:cNvSpPr/>
          <p:nvPr/>
        </p:nvSpPr>
        <p:spPr>
          <a:xfrm>
            <a:off x="2116667" y="4285746"/>
            <a:ext cx="3218907" cy="601204"/>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6" name="TextBox 35">
            <a:extLst>
              <a:ext uri="{FF2B5EF4-FFF2-40B4-BE49-F238E27FC236}">
                <a16:creationId xmlns:a16="http://schemas.microsoft.com/office/drawing/2014/main" id="{BA9631A9-8980-FA48-4B10-CB4D26C6E1D8}"/>
              </a:ext>
            </a:extLst>
          </p:cNvPr>
          <p:cNvSpPr txBox="1"/>
          <p:nvPr/>
        </p:nvSpPr>
        <p:spPr>
          <a:xfrm>
            <a:off x="2281771" y="4421007"/>
            <a:ext cx="2908298" cy="369332"/>
          </a:xfrm>
          <a:prstGeom prst="rect">
            <a:avLst/>
          </a:prstGeom>
          <a:noFill/>
        </p:spPr>
        <p:txBody>
          <a:bodyPr wrap="square">
            <a:spAutoFit/>
          </a:bodyPr>
          <a:lstStyle/>
          <a:p>
            <a:pPr algn="ctr"/>
            <a:r>
              <a:rPr kumimoji="1" lang="en-US" altLang="ko-KR" sz="1800">
                <a:latin typeface="Apple SD Gothic Neo" panose="02000300000000000000" pitchFamily="2" charset="-127"/>
                <a:ea typeface="Apple SD Gothic Neo" panose="02000300000000000000" pitchFamily="2" charset="-127"/>
              </a:rPr>
              <a:t>Relational filters and joins</a:t>
            </a:r>
            <a:endParaRPr lang="ko-KR" altLang="en-US"/>
          </a:p>
        </p:txBody>
      </p:sp>
    </p:spTree>
    <p:extLst>
      <p:ext uri="{BB962C8B-B14F-4D97-AF65-F5344CB8AC3E}">
        <p14:creationId xmlns:p14="http://schemas.microsoft.com/office/powerpoint/2010/main" val="9913169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32A5B-9F80-EB89-DBFB-7159724732BF}"/>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BA5426E-2E21-4F83-991E-34C7C978C97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842304DE-2A3D-6622-E272-D134C3FA6C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9C9D6ECC-80FE-E49D-6D45-A5D052D7E581}"/>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Vector-augmented Analytical Queries</a:t>
            </a:r>
            <a:endParaRPr lang="ko-KR" altLang="en-US" sz="3200" err="1">
              <a:ea typeface="+mn-ea"/>
            </a:endParaRPr>
          </a:p>
        </p:txBody>
      </p:sp>
      <p:pic>
        <p:nvPicPr>
          <p:cNvPr id="6" name="그림 5" descr="텍스트, 스크린샷, 도표, 폰트이(가) 표시된 사진&#10;&#10;AI 생성 콘텐츠는 정확하지 않을 수 있습니다.">
            <a:extLst>
              <a:ext uri="{FF2B5EF4-FFF2-40B4-BE49-F238E27FC236}">
                <a16:creationId xmlns:a16="http://schemas.microsoft.com/office/drawing/2014/main" id="{00FE1C85-6552-C82A-109D-F6B3B35B12F3}"/>
              </a:ext>
            </a:extLst>
          </p:cNvPr>
          <p:cNvPicPr>
            <a:picLocks noChangeAspect="1"/>
          </p:cNvPicPr>
          <p:nvPr/>
        </p:nvPicPr>
        <p:blipFill>
          <a:blip r:embed="rId5"/>
          <a:srcRect t="3038" r="90989" b="64562"/>
          <a:stretch/>
        </p:blipFill>
        <p:spPr>
          <a:xfrm>
            <a:off x="533750" y="2265329"/>
            <a:ext cx="956246" cy="1121205"/>
          </a:xfrm>
          <a:prstGeom prst="rect">
            <a:avLst/>
          </a:prstGeom>
        </p:spPr>
      </p:pic>
      <p:sp>
        <p:nvSpPr>
          <p:cNvPr id="7" name="모서리가 둥근 사각형 설명선[R] 6">
            <a:extLst>
              <a:ext uri="{FF2B5EF4-FFF2-40B4-BE49-F238E27FC236}">
                <a16:creationId xmlns:a16="http://schemas.microsoft.com/office/drawing/2014/main" id="{DA66F39D-4CF8-496E-CA9C-EE95DE299271}"/>
              </a:ext>
            </a:extLst>
          </p:cNvPr>
          <p:cNvSpPr/>
          <p:nvPr/>
        </p:nvSpPr>
        <p:spPr>
          <a:xfrm>
            <a:off x="1523107" y="2123445"/>
            <a:ext cx="4784559" cy="1226334"/>
          </a:xfrm>
          <a:prstGeom prst="wedgeRoundRectCallout">
            <a:avLst>
              <a:gd name="adj1" fmla="val -55044"/>
              <a:gd name="adj2" fmla="val 19459"/>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4" name="그림 13">
            <a:extLst>
              <a:ext uri="{FF2B5EF4-FFF2-40B4-BE49-F238E27FC236}">
                <a16:creationId xmlns:a16="http://schemas.microsoft.com/office/drawing/2014/main" id="{2951B8F8-C96E-B274-E524-2496B623929F}"/>
              </a:ext>
            </a:extLst>
          </p:cNvPr>
          <p:cNvPicPr>
            <a:picLocks noChangeAspect="1"/>
          </p:cNvPicPr>
          <p:nvPr/>
        </p:nvPicPr>
        <p:blipFill>
          <a:blip r:embed="rId6"/>
          <a:stretch>
            <a:fillRect/>
          </a:stretch>
        </p:blipFill>
        <p:spPr>
          <a:xfrm>
            <a:off x="1615726" y="2294073"/>
            <a:ext cx="794125" cy="919352"/>
          </a:xfrm>
          <a:prstGeom prst="rect">
            <a:avLst/>
          </a:prstGeom>
        </p:spPr>
      </p:pic>
      <p:sp>
        <p:nvSpPr>
          <p:cNvPr id="17" name="TextBox 16">
            <a:extLst>
              <a:ext uri="{FF2B5EF4-FFF2-40B4-BE49-F238E27FC236}">
                <a16:creationId xmlns:a16="http://schemas.microsoft.com/office/drawing/2014/main" id="{BBA4B3FE-52E3-09E3-969D-E0652EA93C90}"/>
              </a:ext>
            </a:extLst>
          </p:cNvPr>
          <p:cNvSpPr txBox="1"/>
          <p:nvPr/>
        </p:nvSpPr>
        <p:spPr>
          <a:xfrm>
            <a:off x="2502470" y="2265329"/>
            <a:ext cx="3609949" cy="942566"/>
          </a:xfrm>
          <a:prstGeom prst="rect">
            <a:avLst/>
          </a:prstGeom>
          <a:solidFill>
            <a:schemeClr val="bg1"/>
          </a:solidFill>
        </p:spPr>
        <p:txBody>
          <a:bodyPr wrap="square" lIns="0" tIns="0" rIns="0" bIns="0" rtlCol="0">
            <a:spAutoFit/>
          </a:bodyPr>
          <a:lstStyle/>
          <a:p>
            <a:pPr algn="ctr">
              <a:lnSpc>
                <a:spcPct val="150000"/>
              </a:lnSpc>
            </a:pPr>
            <a:r>
              <a:rPr kumimoji="1" lang="en-US" altLang="ko-KR" sz="1400" b="1">
                <a:latin typeface="Apple SD Gothic Neo" panose="02000300000000000000" pitchFamily="2" charset="-127"/>
                <a:ea typeface="Apple SD Gothic Neo" panose="02000300000000000000" pitchFamily="2" charset="-127"/>
              </a:rPr>
              <a:t>Given supplier parts similar to this image,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analyze customer comments from 2024 data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and 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sp>
        <p:nvSpPr>
          <p:cNvPr id="18" name="TextBox 17">
            <a:extLst>
              <a:ext uri="{FF2B5EF4-FFF2-40B4-BE49-F238E27FC236}">
                <a16:creationId xmlns:a16="http://schemas.microsoft.com/office/drawing/2014/main" id="{F51B63C5-5653-FB1F-A633-990946B52F8B}"/>
              </a:ext>
            </a:extLst>
          </p:cNvPr>
          <p:cNvSpPr txBox="1"/>
          <p:nvPr/>
        </p:nvSpPr>
        <p:spPr>
          <a:xfrm>
            <a:off x="638303" y="338983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sp>
        <p:nvSpPr>
          <p:cNvPr id="26" name="오른쪽 화살표[R] 25">
            <a:extLst>
              <a:ext uri="{FF2B5EF4-FFF2-40B4-BE49-F238E27FC236}">
                <a16:creationId xmlns:a16="http://schemas.microsoft.com/office/drawing/2014/main" id="{3E1A9328-6590-E011-A1A5-BE1A52C6C491}"/>
              </a:ext>
            </a:extLst>
          </p:cNvPr>
          <p:cNvSpPr/>
          <p:nvPr/>
        </p:nvSpPr>
        <p:spPr>
          <a:xfrm>
            <a:off x="6497381" y="2577917"/>
            <a:ext cx="437907" cy="351663"/>
          </a:xfrm>
          <a:prstGeom prst="rightArrow">
            <a:avLst>
              <a:gd name="adj1" fmla="val 30583"/>
              <a:gd name="adj2" fmla="val 441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ko-KR" altLang="en-US"/>
          </a:p>
        </p:txBody>
      </p:sp>
      <p:pic>
        <p:nvPicPr>
          <p:cNvPr id="28" name="그림 27" descr="텍스트, 스크린샷, 폰트, 대수학이(가) 표시된 사진&#10;&#10;AI가 생성한 콘텐츠는 부정확할 수 있습니다.">
            <a:extLst>
              <a:ext uri="{FF2B5EF4-FFF2-40B4-BE49-F238E27FC236}">
                <a16:creationId xmlns:a16="http://schemas.microsoft.com/office/drawing/2014/main" id="{5F87EE38-BDAE-D225-DA89-042A6D9C6391}"/>
              </a:ext>
            </a:extLst>
          </p:cNvPr>
          <p:cNvPicPr>
            <a:picLocks noChangeAspect="1"/>
          </p:cNvPicPr>
          <p:nvPr/>
        </p:nvPicPr>
        <p:blipFill>
          <a:blip r:embed="rId7"/>
          <a:srcRect l="9515" t="19204" r="8675" b="14689"/>
          <a:stretch/>
        </p:blipFill>
        <p:spPr>
          <a:xfrm>
            <a:off x="7109262" y="1710892"/>
            <a:ext cx="4444435" cy="2085711"/>
          </a:xfrm>
          <a:prstGeom prst="rect">
            <a:avLst/>
          </a:prstGeom>
          <a:ln w="19050">
            <a:solidFill>
              <a:schemeClr val="tx1"/>
            </a:solidFill>
          </a:ln>
        </p:spPr>
      </p:pic>
      <p:sp>
        <p:nvSpPr>
          <p:cNvPr id="29" name="모서리가 둥근 직사각형 28">
            <a:extLst>
              <a:ext uri="{FF2B5EF4-FFF2-40B4-BE49-F238E27FC236}">
                <a16:creationId xmlns:a16="http://schemas.microsoft.com/office/drawing/2014/main" id="{4F5AD577-6766-DEDD-0C5A-9661D0D210AE}"/>
              </a:ext>
            </a:extLst>
          </p:cNvPr>
          <p:cNvSpPr/>
          <p:nvPr/>
        </p:nvSpPr>
        <p:spPr>
          <a:xfrm>
            <a:off x="2417803" y="2598821"/>
            <a:ext cx="3779282" cy="661518"/>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0" name="모서리가 둥근 직사각형 29">
            <a:extLst>
              <a:ext uri="{FF2B5EF4-FFF2-40B4-BE49-F238E27FC236}">
                <a16:creationId xmlns:a16="http://schemas.microsoft.com/office/drawing/2014/main" id="{667279DA-3265-7673-A223-509D8A291484}"/>
              </a:ext>
            </a:extLst>
          </p:cNvPr>
          <p:cNvSpPr/>
          <p:nvPr/>
        </p:nvSpPr>
        <p:spPr>
          <a:xfrm>
            <a:off x="7202362" y="1813109"/>
            <a:ext cx="4268118" cy="1269917"/>
          </a:xfrm>
          <a:prstGeom prst="roundRect">
            <a:avLst>
              <a:gd name="adj" fmla="val 13411"/>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1" name="모서리가 둥근 직사각형 30">
            <a:extLst>
              <a:ext uri="{FF2B5EF4-FFF2-40B4-BE49-F238E27FC236}">
                <a16:creationId xmlns:a16="http://schemas.microsoft.com/office/drawing/2014/main" id="{5DC8A7B5-A6FD-96E1-B8D7-E2CF921A4D44}"/>
              </a:ext>
            </a:extLst>
          </p:cNvPr>
          <p:cNvSpPr/>
          <p:nvPr/>
        </p:nvSpPr>
        <p:spPr>
          <a:xfrm>
            <a:off x="2116667" y="4285746"/>
            <a:ext cx="3218907" cy="601204"/>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2" name="TextBox 31">
            <a:extLst>
              <a:ext uri="{FF2B5EF4-FFF2-40B4-BE49-F238E27FC236}">
                <a16:creationId xmlns:a16="http://schemas.microsoft.com/office/drawing/2014/main" id="{9DDC94A4-5A06-D86A-FAF0-BA63DF5E47A0}"/>
              </a:ext>
            </a:extLst>
          </p:cNvPr>
          <p:cNvSpPr txBox="1"/>
          <p:nvPr/>
        </p:nvSpPr>
        <p:spPr>
          <a:xfrm>
            <a:off x="2281771" y="4421007"/>
            <a:ext cx="2908298" cy="369332"/>
          </a:xfrm>
          <a:prstGeom prst="rect">
            <a:avLst/>
          </a:prstGeom>
          <a:noFill/>
        </p:spPr>
        <p:txBody>
          <a:bodyPr wrap="square">
            <a:spAutoFit/>
          </a:bodyPr>
          <a:lstStyle/>
          <a:p>
            <a:pPr algn="ctr"/>
            <a:r>
              <a:rPr kumimoji="1" lang="en-US" altLang="ko-KR" sz="1800">
                <a:latin typeface="Apple SD Gothic Neo" panose="02000300000000000000" pitchFamily="2" charset="-127"/>
                <a:ea typeface="Apple SD Gothic Neo" panose="02000300000000000000" pitchFamily="2" charset="-127"/>
              </a:rPr>
              <a:t>Relational filters and joins</a:t>
            </a:r>
            <a:endParaRPr lang="ko-KR" altLang="en-US"/>
          </a:p>
        </p:txBody>
      </p:sp>
      <p:sp>
        <p:nvSpPr>
          <p:cNvPr id="2" name="모서리가 둥근 직사각형 1">
            <a:extLst>
              <a:ext uri="{FF2B5EF4-FFF2-40B4-BE49-F238E27FC236}">
                <a16:creationId xmlns:a16="http://schemas.microsoft.com/office/drawing/2014/main" id="{AA1ABA80-6483-C439-BE96-B0972F03B631}"/>
              </a:ext>
            </a:extLst>
          </p:cNvPr>
          <p:cNvSpPr/>
          <p:nvPr/>
        </p:nvSpPr>
        <p:spPr>
          <a:xfrm>
            <a:off x="6680200" y="4305301"/>
            <a:ext cx="3218907" cy="601204"/>
          </a:xfrm>
          <a:prstGeom prst="roundRect">
            <a:avLst>
              <a:gd name="adj" fmla="val 24804"/>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 name="TextBox 2">
            <a:extLst>
              <a:ext uri="{FF2B5EF4-FFF2-40B4-BE49-F238E27FC236}">
                <a16:creationId xmlns:a16="http://schemas.microsoft.com/office/drawing/2014/main" id="{5BA30B1D-B54D-C9E3-5C94-2BAA45CE82D2}"/>
              </a:ext>
            </a:extLst>
          </p:cNvPr>
          <p:cNvSpPr txBox="1"/>
          <p:nvPr/>
        </p:nvSpPr>
        <p:spPr>
          <a:xfrm>
            <a:off x="6986088" y="4421237"/>
            <a:ext cx="2674379" cy="369332"/>
          </a:xfrm>
          <a:prstGeom prst="rect">
            <a:avLst/>
          </a:prstGeom>
          <a:noFill/>
        </p:spPr>
        <p:txBody>
          <a:bodyPr wrap="square">
            <a:spAutoFit/>
          </a:bodyPr>
          <a:lstStyle/>
          <a:p>
            <a:pPr algn="ctr"/>
            <a:r>
              <a:rPr kumimoji="1" lang="en-US" altLang="ko-KR" sz="1800">
                <a:latin typeface="Apple SD Gothic Neo" panose="02000300000000000000" pitchFamily="2" charset="-127"/>
                <a:ea typeface="Apple SD Gothic Neo" panose="02000300000000000000" pitchFamily="2" charset="-127"/>
              </a:rPr>
              <a:t>Vector Similarity Search</a:t>
            </a:r>
            <a:endParaRPr lang="ko-KR" altLang="en-US"/>
          </a:p>
        </p:txBody>
      </p:sp>
      <p:sp>
        <p:nvSpPr>
          <p:cNvPr id="5" name="모서리가 둥근 직사각형 4">
            <a:extLst>
              <a:ext uri="{FF2B5EF4-FFF2-40B4-BE49-F238E27FC236}">
                <a16:creationId xmlns:a16="http://schemas.microsoft.com/office/drawing/2014/main" id="{C594E0ED-E23C-1B32-4748-C5F19FED8101}"/>
              </a:ext>
            </a:extLst>
          </p:cNvPr>
          <p:cNvSpPr/>
          <p:nvPr/>
        </p:nvSpPr>
        <p:spPr>
          <a:xfrm>
            <a:off x="2442962" y="2251381"/>
            <a:ext cx="3754123" cy="333492"/>
          </a:xfrm>
          <a:prstGeom prst="roundRect">
            <a:avLst>
              <a:gd name="adj" fmla="val 24804"/>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8" name="모서리가 둥근 직사각형 7">
            <a:extLst>
              <a:ext uri="{FF2B5EF4-FFF2-40B4-BE49-F238E27FC236}">
                <a16:creationId xmlns:a16="http://schemas.microsoft.com/office/drawing/2014/main" id="{DEF32F59-F8E1-2AC5-1D7C-349863151EA3}"/>
              </a:ext>
            </a:extLst>
          </p:cNvPr>
          <p:cNvSpPr/>
          <p:nvPr/>
        </p:nvSpPr>
        <p:spPr>
          <a:xfrm>
            <a:off x="7202362" y="3083025"/>
            <a:ext cx="4268118" cy="599975"/>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5" name="TextBox 14">
            <a:extLst>
              <a:ext uri="{FF2B5EF4-FFF2-40B4-BE49-F238E27FC236}">
                <a16:creationId xmlns:a16="http://schemas.microsoft.com/office/drawing/2014/main" id="{96ABCD41-411F-7043-7AB5-EEB815EB7C8A}"/>
              </a:ext>
            </a:extLst>
          </p:cNvPr>
          <p:cNvSpPr txBox="1"/>
          <p:nvPr/>
        </p:nvSpPr>
        <p:spPr>
          <a:xfrm>
            <a:off x="6435997" y="5048957"/>
            <a:ext cx="3707312" cy="646331"/>
          </a:xfrm>
          <a:prstGeom prst="rect">
            <a:avLst/>
          </a:prstGeom>
          <a:noFill/>
        </p:spPr>
        <p:txBody>
          <a:bodyPr wrap="square">
            <a:spAutoFit/>
          </a:bodyPr>
          <a:lstStyle/>
          <a:p>
            <a:pPr algn="ctr"/>
            <a:r>
              <a:rPr kumimoji="1" lang="en-US" altLang="ko-KR" i="1">
                <a:latin typeface="Apple SD Gothic Neo" panose="02000300000000000000" pitchFamily="2" charset="-127"/>
                <a:ea typeface="Apple SD Gothic Neo" panose="02000300000000000000" pitchFamily="2" charset="-127"/>
              </a:rPr>
              <a:t>To find semantically related items </a:t>
            </a:r>
          </a:p>
          <a:p>
            <a:pPr algn="ctr"/>
            <a:r>
              <a:rPr kumimoji="1" lang="en-US" altLang="ko-KR" i="1">
                <a:latin typeface="Apple SD Gothic Neo" panose="02000300000000000000" pitchFamily="2" charset="-127"/>
                <a:ea typeface="Apple SD Gothic Neo" panose="02000300000000000000" pitchFamily="2" charset="-127"/>
              </a:rPr>
              <a:t>by calculating their distance</a:t>
            </a:r>
            <a:endParaRPr lang="ko-KR" altLang="en-US" i="1"/>
          </a:p>
        </p:txBody>
      </p:sp>
    </p:spTree>
    <p:extLst>
      <p:ext uri="{BB962C8B-B14F-4D97-AF65-F5344CB8AC3E}">
        <p14:creationId xmlns:p14="http://schemas.microsoft.com/office/powerpoint/2010/main" val="2163436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DEFCA-8B83-DCD2-6B01-4C020E13074D}"/>
            </a:ext>
          </a:extLst>
        </p:cNvPr>
        <p:cNvGrpSpPr/>
        <p:nvPr/>
      </p:nvGrpSpPr>
      <p:grpSpPr>
        <a:xfrm>
          <a:off x="0" y="0"/>
          <a:ext cx="0" cy="0"/>
          <a:chOff x="0" y="0"/>
          <a:chExt cx="0" cy="0"/>
        </a:xfrm>
      </p:grpSpPr>
      <p:sp>
        <p:nvSpPr>
          <p:cNvPr id="27" name="모서리가 둥근 직사각형 26">
            <a:extLst>
              <a:ext uri="{FF2B5EF4-FFF2-40B4-BE49-F238E27FC236}">
                <a16:creationId xmlns:a16="http://schemas.microsoft.com/office/drawing/2014/main" id="{FBC00DAD-B7B2-7065-5B51-3AC768274D74}"/>
              </a:ext>
            </a:extLst>
          </p:cNvPr>
          <p:cNvSpPr/>
          <p:nvPr/>
        </p:nvSpPr>
        <p:spPr>
          <a:xfrm>
            <a:off x="3672787" y="5564611"/>
            <a:ext cx="4573260" cy="829604"/>
          </a:xfrm>
          <a:prstGeom prst="roundRect">
            <a:avLst>
              <a:gd name="adj" fmla="val 24804"/>
            </a:avLst>
          </a:prstGeom>
          <a:solidFill>
            <a:srgbClr val="FFC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14EC6B0A-2A44-2128-AB37-E035AA28821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0A5AF9FF-1EA5-9048-F03A-D6199DC1B68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2279FDC7-DD16-1D9A-4D1D-B5DBB8A3A909}"/>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Vector-augmented Analytical Queries</a:t>
            </a:r>
            <a:endParaRPr lang="ko-KR" altLang="en-US" sz="3200" err="1">
              <a:ea typeface="+mn-ea"/>
            </a:endParaRPr>
          </a:p>
        </p:txBody>
      </p:sp>
      <p:pic>
        <p:nvPicPr>
          <p:cNvPr id="6" name="그림 5" descr="텍스트, 스크린샷, 도표, 폰트이(가) 표시된 사진&#10;&#10;AI 생성 콘텐츠는 정확하지 않을 수 있습니다.">
            <a:extLst>
              <a:ext uri="{FF2B5EF4-FFF2-40B4-BE49-F238E27FC236}">
                <a16:creationId xmlns:a16="http://schemas.microsoft.com/office/drawing/2014/main" id="{43168407-6F63-9437-0E06-90CA113FA50A}"/>
              </a:ext>
            </a:extLst>
          </p:cNvPr>
          <p:cNvPicPr>
            <a:picLocks noChangeAspect="1"/>
          </p:cNvPicPr>
          <p:nvPr/>
        </p:nvPicPr>
        <p:blipFill>
          <a:blip r:embed="rId5"/>
          <a:srcRect t="3038" r="90989" b="64562"/>
          <a:stretch/>
        </p:blipFill>
        <p:spPr>
          <a:xfrm>
            <a:off x="533750" y="2265329"/>
            <a:ext cx="956246" cy="1121205"/>
          </a:xfrm>
          <a:prstGeom prst="rect">
            <a:avLst/>
          </a:prstGeom>
        </p:spPr>
      </p:pic>
      <p:sp>
        <p:nvSpPr>
          <p:cNvPr id="7" name="모서리가 둥근 사각형 설명선[R] 6">
            <a:extLst>
              <a:ext uri="{FF2B5EF4-FFF2-40B4-BE49-F238E27FC236}">
                <a16:creationId xmlns:a16="http://schemas.microsoft.com/office/drawing/2014/main" id="{D7F46CF5-DB4A-9208-407B-AB6783644A38}"/>
              </a:ext>
            </a:extLst>
          </p:cNvPr>
          <p:cNvSpPr/>
          <p:nvPr/>
        </p:nvSpPr>
        <p:spPr>
          <a:xfrm>
            <a:off x="1523107" y="2123445"/>
            <a:ext cx="4784559" cy="1226334"/>
          </a:xfrm>
          <a:prstGeom prst="wedgeRoundRectCallout">
            <a:avLst>
              <a:gd name="adj1" fmla="val -55044"/>
              <a:gd name="adj2" fmla="val 19459"/>
              <a:gd name="adj3" fmla="val 1666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14" name="그림 13">
            <a:extLst>
              <a:ext uri="{FF2B5EF4-FFF2-40B4-BE49-F238E27FC236}">
                <a16:creationId xmlns:a16="http://schemas.microsoft.com/office/drawing/2014/main" id="{42E5D48C-E6B2-4C75-7902-E8922282A49B}"/>
              </a:ext>
            </a:extLst>
          </p:cNvPr>
          <p:cNvPicPr>
            <a:picLocks noChangeAspect="1"/>
          </p:cNvPicPr>
          <p:nvPr/>
        </p:nvPicPr>
        <p:blipFill>
          <a:blip r:embed="rId6"/>
          <a:stretch>
            <a:fillRect/>
          </a:stretch>
        </p:blipFill>
        <p:spPr>
          <a:xfrm>
            <a:off x="1615726" y="2294073"/>
            <a:ext cx="794125" cy="919352"/>
          </a:xfrm>
          <a:prstGeom prst="rect">
            <a:avLst/>
          </a:prstGeom>
        </p:spPr>
      </p:pic>
      <p:sp>
        <p:nvSpPr>
          <p:cNvPr id="17" name="TextBox 16">
            <a:extLst>
              <a:ext uri="{FF2B5EF4-FFF2-40B4-BE49-F238E27FC236}">
                <a16:creationId xmlns:a16="http://schemas.microsoft.com/office/drawing/2014/main" id="{9FD4E3C4-04D7-48B1-08A2-AEA5A8614794}"/>
              </a:ext>
            </a:extLst>
          </p:cNvPr>
          <p:cNvSpPr txBox="1"/>
          <p:nvPr/>
        </p:nvSpPr>
        <p:spPr>
          <a:xfrm>
            <a:off x="2502470" y="2265329"/>
            <a:ext cx="3609949" cy="942566"/>
          </a:xfrm>
          <a:prstGeom prst="rect">
            <a:avLst/>
          </a:prstGeom>
          <a:solidFill>
            <a:schemeClr val="bg1"/>
          </a:solidFill>
        </p:spPr>
        <p:txBody>
          <a:bodyPr wrap="square" lIns="0" tIns="0" rIns="0" bIns="0" rtlCol="0">
            <a:spAutoFit/>
          </a:bodyPr>
          <a:lstStyle/>
          <a:p>
            <a:pPr algn="ctr">
              <a:lnSpc>
                <a:spcPct val="150000"/>
              </a:lnSpc>
            </a:pPr>
            <a:r>
              <a:rPr kumimoji="1" lang="en-US" altLang="ko-KR" sz="1400" b="1">
                <a:latin typeface="Apple SD Gothic Neo" panose="02000300000000000000" pitchFamily="2" charset="-127"/>
                <a:ea typeface="Apple SD Gothic Neo" panose="02000300000000000000" pitchFamily="2" charset="-127"/>
              </a:rPr>
              <a:t>Given supplier parts similar to this image,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analyze customer comments from 2024 data </a:t>
            </a:r>
            <a:br>
              <a:rPr kumimoji="1" lang="en-US" altLang="ko-KR" sz="1400" b="1">
                <a:latin typeface="Apple SD Gothic Neo" panose="02000300000000000000" pitchFamily="2" charset="-127"/>
                <a:ea typeface="Apple SD Gothic Neo" panose="02000300000000000000" pitchFamily="2" charset="-127"/>
              </a:rPr>
            </a:br>
            <a:r>
              <a:rPr kumimoji="1" lang="en-US" altLang="ko-KR" sz="1400" b="1">
                <a:latin typeface="Apple SD Gothic Neo" panose="02000300000000000000" pitchFamily="2" charset="-127"/>
                <a:ea typeface="Apple SD Gothic Neo" panose="02000300000000000000" pitchFamily="2" charset="-127"/>
              </a:rPr>
              <a:t>and determine an appropriate discount rate. </a:t>
            </a:r>
            <a:endParaRPr kumimoji="1" lang="ko-KR" altLang="en-US" sz="1400" b="1">
              <a:latin typeface="Apple SD Gothic Neo" panose="02000300000000000000" pitchFamily="2" charset="-127"/>
              <a:ea typeface="Apple SD Gothic Neo" panose="02000300000000000000" pitchFamily="2" charset="-127"/>
            </a:endParaRPr>
          </a:p>
        </p:txBody>
      </p:sp>
      <p:sp>
        <p:nvSpPr>
          <p:cNvPr id="18" name="TextBox 17">
            <a:extLst>
              <a:ext uri="{FF2B5EF4-FFF2-40B4-BE49-F238E27FC236}">
                <a16:creationId xmlns:a16="http://schemas.microsoft.com/office/drawing/2014/main" id="{ACBEEFEB-8CC9-67B7-18CF-2B8C6D740803}"/>
              </a:ext>
            </a:extLst>
          </p:cNvPr>
          <p:cNvSpPr txBox="1"/>
          <p:nvPr/>
        </p:nvSpPr>
        <p:spPr>
          <a:xfrm>
            <a:off x="638303" y="3389837"/>
            <a:ext cx="687659" cy="355276"/>
          </a:xfrm>
          <a:prstGeom prst="rect">
            <a:avLst/>
          </a:prstGeom>
          <a:solidFill>
            <a:schemeClr val="bg1"/>
          </a:solidFill>
        </p:spPr>
        <p:txBody>
          <a:bodyPr wrap="square" lIns="0" tIns="54000" rIns="0" bIns="54000">
            <a:spAutoFit/>
          </a:bodyPr>
          <a:lstStyle/>
          <a:p>
            <a:pPr algn="ctr"/>
            <a:r>
              <a:rPr kumimoji="1" lang="en-US" altLang="ko-KR" sz="1600" b="1">
                <a:latin typeface="Apple SD Gothic Neo" panose="02000300000000000000" pitchFamily="2" charset="-127"/>
                <a:ea typeface="Apple SD Gothic Neo" panose="02000300000000000000" pitchFamily="2" charset="-127"/>
              </a:rPr>
              <a:t>Analyst</a:t>
            </a:r>
            <a:endParaRPr lang="ko-KR" altLang="en-US" sz="1600"/>
          </a:p>
        </p:txBody>
      </p:sp>
      <p:sp>
        <p:nvSpPr>
          <p:cNvPr id="26" name="오른쪽 화살표[R] 25">
            <a:extLst>
              <a:ext uri="{FF2B5EF4-FFF2-40B4-BE49-F238E27FC236}">
                <a16:creationId xmlns:a16="http://schemas.microsoft.com/office/drawing/2014/main" id="{E4A3C9F3-9A9E-AADA-9043-2C88538200B9}"/>
              </a:ext>
            </a:extLst>
          </p:cNvPr>
          <p:cNvSpPr/>
          <p:nvPr/>
        </p:nvSpPr>
        <p:spPr>
          <a:xfrm>
            <a:off x="6497381" y="2577917"/>
            <a:ext cx="437907" cy="351663"/>
          </a:xfrm>
          <a:prstGeom prst="rightArrow">
            <a:avLst>
              <a:gd name="adj1" fmla="val 30583"/>
              <a:gd name="adj2" fmla="val 4417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ko-KR" altLang="en-US"/>
          </a:p>
        </p:txBody>
      </p:sp>
      <p:pic>
        <p:nvPicPr>
          <p:cNvPr id="28" name="그림 27" descr="텍스트, 스크린샷, 폰트, 대수학이(가) 표시된 사진&#10;&#10;AI가 생성한 콘텐츠는 부정확할 수 있습니다.">
            <a:extLst>
              <a:ext uri="{FF2B5EF4-FFF2-40B4-BE49-F238E27FC236}">
                <a16:creationId xmlns:a16="http://schemas.microsoft.com/office/drawing/2014/main" id="{CC001ABE-1E82-A6F8-C1C4-04809AC762E7}"/>
              </a:ext>
            </a:extLst>
          </p:cNvPr>
          <p:cNvPicPr>
            <a:picLocks noChangeAspect="1"/>
          </p:cNvPicPr>
          <p:nvPr/>
        </p:nvPicPr>
        <p:blipFill>
          <a:blip r:embed="rId7"/>
          <a:srcRect l="9515" t="19204" r="8675" b="14689"/>
          <a:stretch/>
        </p:blipFill>
        <p:spPr>
          <a:xfrm>
            <a:off x="7109262" y="1710892"/>
            <a:ext cx="4444435" cy="2085711"/>
          </a:xfrm>
          <a:prstGeom prst="rect">
            <a:avLst/>
          </a:prstGeom>
          <a:ln w="19050">
            <a:solidFill>
              <a:schemeClr val="tx1"/>
            </a:solidFill>
          </a:ln>
        </p:spPr>
      </p:pic>
      <p:sp>
        <p:nvSpPr>
          <p:cNvPr id="29" name="모서리가 둥근 직사각형 28">
            <a:extLst>
              <a:ext uri="{FF2B5EF4-FFF2-40B4-BE49-F238E27FC236}">
                <a16:creationId xmlns:a16="http://schemas.microsoft.com/office/drawing/2014/main" id="{426B7EBA-EE6C-5926-45A7-2F818384255C}"/>
              </a:ext>
            </a:extLst>
          </p:cNvPr>
          <p:cNvSpPr/>
          <p:nvPr/>
        </p:nvSpPr>
        <p:spPr>
          <a:xfrm>
            <a:off x="2417803" y="2598821"/>
            <a:ext cx="3779282" cy="661518"/>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0" name="모서리가 둥근 직사각형 29">
            <a:extLst>
              <a:ext uri="{FF2B5EF4-FFF2-40B4-BE49-F238E27FC236}">
                <a16:creationId xmlns:a16="http://schemas.microsoft.com/office/drawing/2014/main" id="{44C825F0-5E86-DF19-C473-255EFDE0511D}"/>
              </a:ext>
            </a:extLst>
          </p:cNvPr>
          <p:cNvSpPr/>
          <p:nvPr/>
        </p:nvSpPr>
        <p:spPr>
          <a:xfrm>
            <a:off x="7202362" y="1813109"/>
            <a:ext cx="4268118" cy="1269917"/>
          </a:xfrm>
          <a:prstGeom prst="roundRect">
            <a:avLst>
              <a:gd name="adj" fmla="val 13411"/>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1" name="모서리가 둥근 직사각형 30">
            <a:extLst>
              <a:ext uri="{FF2B5EF4-FFF2-40B4-BE49-F238E27FC236}">
                <a16:creationId xmlns:a16="http://schemas.microsoft.com/office/drawing/2014/main" id="{E128E47B-AEE7-A0C2-4005-6DBDCCED3041}"/>
              </a:ext>
            </a:extLst>
          </p:cNvPr>
          <p:cNvSpPr/>
          <p:nvPr/>
        </p:nvSpPr>
        <p:spPr>
          <a:xfrm>
            <a:off x="2116667" y="4285746"/>
            <a:ext cx="3218907" cy="601204"/>
          </a:xfrm>
          <a:prstGeom prst="roundRect">
            <a:avLst>
              <a:gd name="adj" fmla="val 24804"/>
            </a:avLst>
          </a:prstGeom>
          <a:solidFill>
            <a:srgbClr val="FF0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2" name="TextBox 31">
            <a:extLst>
              <a:ext uri="{FF2B5EF4-FFF2-40B4-BE49-F238E27FC236}">
                <a16:creationId xmlns:a16="http://schemas.microsoft.com/office/drawing/2014/main" id="{0602E03C-61C8-CB26-9535-A613BD6D7607}"/>
              </a:ext>
            </a:extLst>
          </p:cNvPr>
          <p:cNvSpPr txBox="1"/>
          <p:nvPr/>
        </p:nvSpPr>
        <p:spPr>
          <a:xfrm>
            <a:off x="2281771" y="4421007"/>
            <a:ext cx="2908298" cy="369332"/>
          </a:xfrm>
          <a:prstGeom prst="rect">
            <a:avLst/>
          </a:prstGeom>
          <a:noFill/>
        </p:spPr>
        <p:txBody>
          <a:bodyPr wrap="square">
            <a:spAutoFit/>
          </a:bodyPr>
          <a:lstStyle/>
          <a:p>
            <a:pPr algn="ctr"/>
            <a:r>
              <a:rPr kumimoji="1" lang="en-US" altLang="ko-KR" sz="1800">
                <a:latin typeface="Apple SD Gothic Neo" panose="02000300000000000000" pitchFamily="2" charset="-127"/>
                <a:ea typeface="Apple SD Gothic Neo" panose="02000300000000000000" pitchFamily="2" charset="-127"/>
              </a:rPr>
              <a:t>Relational filters and joins</a:t>
            </a:r>
            <a:endParaRPr lang="ko-KR" altLang="en-US"/>
          </a:p>
        </p:txBody>
      </p:sp>
      <p:sp>
        <p:nvSpPr>
          <p:cNvPr id="2" name="모서리가 둥근 직사각형 1">
            <a:extLst>
              <a:ext uri="{FF2B5EF4-FFF2-40B4-BE49-F238E27FC236}">
                <a16:creationId xmlns:a16="http://schemas.microsoft.com/office/drawing/2014/main" id="{B5F2FAD2-F0D3-D192-9F70-794AF4C8EC5A}"/>
              </a:ext>
            </a:extLst>
          </p:cNvPr>
          <p:cNvSpPr/>
          <p:nvPr/>
        </p:nvSpPr>
        <p:spPr>
          <a:xfrm>
            <a:off x="6680200" y="4305301"/>
            <a:ext cx="3218907" cy="601204"/>
          </a:xfrm>
          <a:prstGeom prst="roundRect">
            <a:avLst>
              <a:gd name="adj" fmla="val 24804"/>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 name="TextBox 2">
            <a:extLst>
              <a:ext uri="{FF2B5EF4-FFF2-40B4-BE49-F238E27FC236}">
                <a16:creationId xmlns:a16="http://schemas.microsoft.com/office/drawing/2014/main" id="{4FB8A49F-3A00-A375-5BC8-BE1412022586}"/>
              </a:ext>
            </a:extLst>
          </p:cNvPr>
          <p:cNvSpPr txBox="1"/>
          <p:nvPr/>
        </p:nvSpPr>
        <p:spPr>
          <a:xfrm>
            <a:off x="6986088" y="4421237"/>
            <a:ext cx="2674379" cy="369332"/>
          </a:xfrm>
          <a:prstGeom prst="rect">
            <a:avLst/>
          </a:prstGeom>
          <a:noFill/>
        </p:spPr>
        <p:txBody>
          <a:bodyPr wrap="square">
            <a:spAutoFit/>
          </a:bodyPr>
          <a:lstStyle/>
          <a:p>
            <a:pPr algn="ctr"/>
            <a:r>
              <a:rPr kumimoji="1" lang="en-US" altLang="ko-KR" sz="1800">
                <a:latin typeface="Apple SD Gothic Neo" panose="02000300000000000000" pitchFamily="2" charset="-127"/>
                <a:ea typeface="Apple SD Gothic Neo" panose="02000300000000000000" pitchFamily="2" charset="-127"/>
              </a:rPr>
              <a:t>Vector Similarity Search</a:t>
            </a:r>
            <a:endParaRPr lang="ko-KR" altLang="en-US"/>
          </a:p>
        </p:txBody>
      </p:sp>
      <p:sp>
        <p:nvSpPr>
          <p:cNvPr id="5" name="모서리가 둥근 직사각형 4">
            <a:extLst>
              <a:ext uri="{FF2B5EF4-FFF2-40B4-BE49-F238E27FC236}">
                <a16:creationId xmlns:a16="http://schemas.microsoft.com/office/drawing/2014/main" id="{F8DAA6A4-3C65-7C6A-56A3-437382B3BDCA}"/>
              </a:ext>
            </a:extLst>
          </p:cNvPr>
          <p:cNvSpPr/>
          <p:nvPr/>
        </p:nvSpPr>
        <p:spPr>
          <a:xfrm>
            <a:off x="2442962" y="2251381"/>
            <a:ext cx="3754123" cy="333492"/>
          </a:xfrm>
          <a:prstGeom prst="roundRect">
            <a:avLst>
              <a:gd name="adj" fmla="val 24804"/>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8" name="모서리가 둥근 직사각형 7">
            <a:extLst>
              <a:ext uri="{FF2B5EF4-FFF2-40B4-BE49-F238E27FC236}">
                <a16:creationId xmlns:a16="http://schemas.microsoft.com/office/drawing/2014/main" id="{5D73E077-473D-5763-2F18-C2984D0FD72B}"/>
              </a:ext>
            </a:extLst>
          </p:cNvPr>
          <p:cNvSpPr/>
          <p:nvPr/>
        </p:nvSpPr>
        <p:spPr>
          <a:xfrm>
            <a:off x="7202362" y="3083025"/>
            <a:ext cx="4268118" cy="599975"/>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11" name="꺾인 연결선[E] 10">
            <a:extLst>
              <a:ext uri="{FF2B5EF4-FFF2-40B4-BE49-F238E27FC236}">
                <a16:creationId xmlns:a16="http://schemas.microsoft.com/office/drawing/2014/main" id="{B15285BF-1592-3C44-CC7B-E0B2A16FE5D8}"/>
              </a:ext>
            </a:extLst>
          </p:cNvPr>
          <p:cNvCxnSpPr>
            <a:cxnSpLocks/>
            <a:stCxn id="2" idx="2"/>
            <a:endCxn id="31" idx="2"/>
          </p:cNvCxnSpPr>
          <p:nvPr/>
        </p:nvCxnSpPr>
        <p:spPr>
          <a:xfrm rot="5400000" flipH="1">
            <a:off x="5998110" y="2614962"/>
            <a:ext cx="19555" cy="4563533"/>
          </a:xfrm>
          <a:prstGeom prst="bentConnector3">
            <a:avLst>
              <a:gd name="adj1" fmla="val -1169010"/>
            </a:avLst>
          </a:prstGeom>
          <a:ln w="38100"/>
        </p:spPr>
        <p:style>
          <a:lnRef idx="2">
            <a:schemeClr val="dk1"/>
          </a:lnRef>
          <a:fillRef idx="0">
            <a:schemeClr val="dk1"/>
          </a:fillRef>
          <a:effectRef idx="1">
            <a:schemeClr val="dk1"/>
          </a:effectRef>
          <a:fontRef idx="minor">
            <a:schemeClr val="tx1"/>
          </a:fontRef>
        </p:style>
      </p:cxnSp>
      <p:cxnSp>
        <p:nvCxnSpPr>
          <p:cNvPr id="16" name="직선 화살표 연결선 15">
            <a:extLst>
              <a:ext uri="{FF2B5EF4-FFF2-40B4-BE49-F238E27FC236}">
                <a16:creationId xmlns:a16="http://schemas.microsoft.com/office/drawing/2014/main" id="{925DC8C4-449C-F1A2-63D5-1538149B6735}"/>
              </a:ext>
            </a:extLst>
          </p:cNvPr>
          <p:cNvCxnSpPr>
            <a:cxnSpLocks/>
            <a:endCxn id="27" idx="0"/>
          </p:cNvCxnSpPr>
          <p:nvPr/>
        </p:nvCxnSpPr>
        <p:spPr>
          <a:xfrm>
            <a:off x="5959417" y="5139707"/>
            <a:ext cx="0" cy="424904"/>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35101168-CF91-0B5C-8978-06DA49621C08}"/>
              </a:ext>
            </a:extLst>
          </p:cNvPr>
          <p:cNvSpPr txBox="1"/>
          <p:nvPr/>
        </p:nvSpPr>
        <p:spPr>
          <a:xfrm>
            <a:off x="3842198" y="5663838"/>
            <a:ext cx="4263644" cy="646331"/>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Vector-augmented Analytical Queries (VAQs)</a:t>
            </a:r>
            <a:endParaRPr lang="ko-KR" altLang="en-US"/>
          </a:p>
        </p:txBody>
      </p:sp>
      <p:sp>
        <p:nvSpPr>
          <p:cNvPr id="19" name="TextBox 18">
            <a:extLst>
              <a:ext uri="{FF2B5EF4-FFF2-40B4-BE49-F238E27FC236}">
                <a16:creationId xmlns:a16="http://schemas.microsoft.com/office/drawing/2014/main" id="{D4B41BA2-5DE0-FAD9-DE26-7858297C4F01}"/>
              </a:ext>
            </a:extLst>
          </p:cNvPr>
          <p:cNvSpPr txBox="1"/>
          <p:nvPr/>
        </p:nvSpPr>
        <p:spPr>
          <a:xfrm>
            <a:off x="9535627" y="6261965"/>
            <a:ext cx="210483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VAQs</a:t>
            </a:r>
          </a:p>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on our GitHub!</a:t>
            </a:r>
          </a:p>
        </p:txBody>
      </p:sp>
      <p:pic>
        <p:nvPicPr>
          <p:cNvPr id="22" name="그림 21">
            <a:extLst>
              <a:ext uri="{FF2B5EF4-FFF2-40B4-BE49-F238E27FC236}">
                <a16:creationId xmlns:a16="http://schemas.microsoft.com/office/drawing/2014/main" id="{64B8D176-C125-9D9C-B0AB-037EB968D43A}"/>
              </a:ext>
            </a:extLst>
          </p:cNvPr>
          <p:cNvPicPr>
            <a:picLocks noChangeAspect="1"/>
          </p:cNvPicPr>
          <p:nvPr/>
        </p:nvPicPr>
        <p:blipFill>
          <a:blip r:embed="rId8"/>
          <a:stretch>
            <a:fillRect/>
          </a:stretch>
        </p:blipFill>
        <p:spPr>
          <a:xfrm>
            <a:off x="10148024" y="5288159"/>
            <a:ext cx="891739" cy="891739"/>
          </a:xfrm>
          <a:prstGeom prst="rect">
            <a:avLst/>
          </a:prstGeom>
        </p:spPr>
      </p:pic>
    </p:spTree>
    <p:extLst>
      <p:ext uri="{BB962C8B-B14F-4D97-AF65-F5344CB8AC3E}">
        <p14:creationId xmlns:p14="http://schemas.microsoft.com/office/powerpoint/2010/main" val="3922836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2B546-1A33-A976-6481-6016FF502AD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7145B26-6109-D9A6-188B-64FC23ACA35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746CE540-44D7-14F9-FEA2-7947214D496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0629B277-49D0-0BCC-655E-615BAD79EFB1}"/>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ko-KR" altLang="en-US" sz="4400" err="1">
                <a:solidFill>
                  <a:srgbClr val="FFFFFF"/>
                </a:solidFill>
                <a:latin typeface="Calibri"/>
                <a:ea typeface="+mn-ea"/>
                <a:cs typeface="Calibri"/>
                <a:sym typeface="Arial"/>
              </a:rPr>
              <a:t> </a:t>
            </a:r>
            <a:r>
              <a:rPr lang="en-US" sz="4400" err="1">
                <a:solidFill>
                  <a:srgbClr val="FFFFFF"/>
                </a:solidFill>
                <a:latin typeface="Calibri"/>
                <a:ea typeface="+mn-ea"/>
                <a:cs typeface="Calibri"/>
                <a:sym typeface="Arial"/>
              </a:rPr>
              <a:t>Vector-augmented SQL Analytics</a:t>
            </a:r>
            <a:endParaRPr kumimoji="0" lang="en-US" sz="44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pic>
        <p:nvPicPr>
          <p:cNvPr id="15362" name="Picture 2" descr="Vector-augmented SQL analytics Schema extended TPC-H benchmark">
            <a:extLst>
              <a:ext uri="{FF2B5EF4-FFF2-40B4-BE49-F238E27FC236}">
                <a16:creationId xmlns:a16="http://schemas.microsoft.com/office/drawing/2014/main" id="{03A8AD80-7985-618E-786C-02039E51BB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3176" y="3088509"/>
            <a:ext cx="3803109" cy="350681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07DF67C-30EF-26D8-2B7B-23E0ED8415D6}"/>
              </a:ext>
            </a:extLst>
          </p:cNvPr>
          <p:cNvSpPr txBox="1"/>
          <p:nvPr/>
        </p:nvSpPr>
        <p:spPr>
          <a:xfrm>
            <a:off x="234022" y="1419348"/>
            <a:ext cx="11203396" cy="874855"/>
          </a:xfrm>
          <a:prstGeom prst="rect">
            <a:avLst/>
          </a:prstGeom>
          <a:noFill/>
        </p:spPr>
        <p:txBody>
          <a:bodyPr wrap="square">
            <a:spAutoFit/>
          </a:bodyPr>
          <a:lstStyle/>
          <a:p>
            <a:pPr algn="ctr">
              <a:lnSpc>
                <a:spcPct val="150000"/>
              </a:lnSpc>
            </a:pPr>
            <a:r>
              <a:rPr lang="en-US" altLang="ko-KR">
                <a:latin typeface="NanumGothic" panose="020D0604000000000000" pitchFamily="34" charset="-127"/>
                <a:ea typeface="NanumGothic" panose="020D0604000000000000" pitchFamily="34" charset="-127"/>
              </a:rPr>
              <a:t>TPC-H and TPC-DS benchmark (SF100) are extended with vector datasets: </a:t>
            </a:r>
            <a:br>
              <a:rPr lang="en-US" altLang="ko-KR">
                <a:latin typeface="NanumGothic" panose="020D0604000000000000" pitchFamily="34" charset="-127"/>
                <a:ea typeface="NanumGothic" panose="020D0604000000000000" pitchFamily="34" charset="-127"/>
              </a:rPr>
            </a:br>
            <a:r>
              <a:rPr lang="en-US" altLang="ko-KR">
                <a:latin typeface="NanumGothic" panose="020D0604000000000000" pitchFamily="34" charset="-127"/>
                <a:ea typeface="NanumGothic" panose="020D0604000000000000" pitchFamily="34" charset="-127"/>
              </a:rPr>
              <a:t>DEEP (96 dim), SIFT (128 dim), and SimSearchNet (256 dim)</a:t>
            </a:r>
          </a:p>
        </p:txBody>
      </p:sp>
      <p:sp>
        <p:nvSpPr>
          <p:cNvPr id="2" name="TextBox 1">
            <a:extLst>
              <a:ext uri="{FF2B5EF4-FFF2-40B4-BE49-F238E27FC236}">
                <a16:creationId xmlns:a16="http://schemas.microsoft.com/office/drawing/2014/main" id="{07C1A2C7-C379-A1A4-D0B8-E7BA60295E3C}"/>
              </a:ext>
            </a:extLst>
          </p:cNvPr>
          <p:cNvSpPr txBox="1"/>
          <p:nvPr/>
        </p:nvSpPr>
        <p:spPr>
          <a:xfrm>
            <a:off x="431109" y="2650997"/>
            <a:ext cx="5547241" cy="307777"/>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i="1">
                <a:solidFill>
                  <a:schemeClr val="accent4"/>
                </a:solidFill>
                <a:latin typeface="NanumGothic" panose="020D0604000000000000" pitchFamily="34" charset="-127"/>
                <a:ea typeface="NanumGothic" panose="020D0604000000000000" pitchFamily="34" charset="-127"/>
                <a:cs typeface="Open Sans" panose="020B0606030504020204" pitchFamily="34" charset="0"/>
              </a:rPr>
              <a:t>New vector columns (yellow) in TPC-H benchmark</a:t>
            </a:r>
            <a:endParaRPr lang="ko-KR" altLang="en-US" sz="1400" b="1" i="1">
              <a:solidFill>
                <a:schemeClr val="accent4"/>
              </a:solidFill>
              <a:latin typeface="NanumGothic" panose="020D0604000000000000" pitchFamily="34" charset="-127"/>
              <a:ea typeface="NanumGothic" panose="020D0604000000000000" pitchFamily="34" charset="-127"/>
              <a:cs typeface="Open Sans" panose="020B0606030504020204" pitchFamily="34" charset="0"/>
            </a:endParaRPr>
          </a:p>
        </p:txBody>
      </p:sp>
      <p:pic>
        <p:nvPicPr>
          <p:cNvPr id="9" name="그림 8" descr="텍스트, 스크린샷, 폰트, 대수학이(가) 표시된 사진&#10;&#10;AI가 생성한 콘텐츠는 부정확할 수 있습니다.">
            <a:extLst>
              <a:ext uri="{FF2B5EF4-FFF2-40B4-BE49-F238E27FC236}">
                <a16:creationId xmlns:a16="http://schemas.microsoft.com/office/drawing/2014/main" id="{DB3E0215-5846-185B-EEB7-445A3E3D4C12}"/>
              </a:ext>
            </a:extLst>
          </p:cNvPr>
          <p:cNvPicPr>
            <a:picLocks noChangeAspect="1"/>
          </p:cNvPicPr>
          <p:nvPr/>
        </p:nvPicPr>
        <p:blipFill>
          <a:blip r:embed="rId6"/>
          <a:srcRect l="9515" t="19204" r="8675" b="14689"/>
          <a:stretch/>
        </p:blipFill>
        <p:spPr>
          <a:xfrm>
            <a:off x="6444389" y="3088509"/>
            <a:ext cx="4444435" cy="2085711"/>
          </a:xfrm>
          <a:prstGeom prst="rect">
            <a:avLst/>
          </a:prstGeom>
          <a:ln w="19050">
            <a:solidFill>
              <a:schemeClr val="tx1"/>
            </a:solidFill>
          </a:ln>
        </p:spPr>
      </p:pic>
      <p:sp>
        <p:nvSpPr>
          <p:cNvPr id="11" name="TextBox 10">
            <a:extLst>
              <a:ext uri="{FF2B5EF4-FFF2-40B4-BE49-F238E27FC236}">
                <a16:creationId xmlns:a16="http://schemas.microsoft.com/office/drawing/2014/main" id="{460D703B-9C85-4F93-7E00-9AC6EF3A4AE9}"/>
              </a:ext>
            </a:extLst>
          </p:cNvPr>
          <p:cNvSpPr txBox="1"/>
          <p:nvPr/>
        </p:nvSpPr>
        <p:spPr>
          <a:xfrm>
            <a:off x="6965916" y="2650997"/>
            <a:ext cx="3401379" cy="307777"/>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i="1">
                <a:solidFill>
                  <a:schemeClr val="accent4"/>
                </a:solidFill>
                <a:latin typeface="NanumGothic" panose="020D0604000000000000" pitchFamily="34" charset="-127"/>
                <a:ea typeface="NanumGothic" panose="020D0604000000000000" pitchFamily="34" charset="-127"/>
                <a:cs typeface="Open Sans" panose="020B0606030504020204" pitchFamily="34" charset="0"/>
              </a:rPr>
              <a:t>VAQ derived from TPC-H Query 12</a:t>
            </a:r>
            <a:endParaRPr lang="ko-KR" altLang="en-US" sz="1400" b="1" i="1">
              <a:solidFill>
                <a:schemeClr val="accent4"/>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8" name="TextBox 7">
            <a:extLst>
              <a:ext uri="{FF2B5EF4-FFF2-40B4-BE49-F238E27FC236}">
                <a16:creationId xmlns:a16="http://schemas.microsoft.com/office/drawing/2014/main" id="{AF4A3DB1-0C9E-D06C-32C1-C71DCC3266F3}"/>
              </a:ext>
            </a:extLst>
          </p:cNvPr>
          <p:cNvSpPr txBox="1"/>
          <p:nvPr/>
        </p:nvSpPr>
        <p:spPr>
          <a:xfrm>
            <a:off x="9535627" y="6261965"/>
            <a:ext cx="210483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benchmark</a:t>
            </a:r>
          </a:p>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on our GitHub!</a:t>
            </a:r>
          </a:p>
        </p:txBody>
      </p:sp>
      <p:pic>
        <p:nvPicPr>
          <p:cNvPr id="13" name="그림 12">
            <a:extLst>
              <a:ext uri="{FF2B5EF4-FFF2-40B4-BE49-F238E27FC236}">
                <a16:creationId xmlns:a16="http://schemas.microsoft.com/office/drawing/2014/main" id="{0B0DCDA7-CCA9-F0B1-EE0B-E8F0EE1C497D}"/>
              </a:ext>
            </a:extLst>
          </p:cNvPr>
          <p:cNvPicPr>
            <a:picLocks noChangeAspect="1"/>
          </p:cNvPicPr>
          <p:nvPr/>
        </p:nvPicPr>
        <p:blipFill>
          <a:blip r:embed="rId7"/>
          <a:stretch>
            <a:fillRect/>
          </a:stretch>
        </p:blipFill>
        <p:spPr>
          <a:xfrm>
            <a:off x="10148024" y="5288159"/>
            <a:ext cx="891739" cy="891739"/>
          </a:xfrm>
          <a:prstGeom prst="rect">
            <a:avLst/>
          </a:prstGeom>
        </p:spPr>
      </p:pic>
    </p:spTree>
    <p:extLst>
      <p:ext uri="{BB962C8B-B14F-4D97-AF65-F5344CB8AC3E}">
        <p14:creationId xmlns:p14="http://schemas.microsoft.com/office/powerpoint/2010/main" val="3499485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5C305-59ED-4855-76D7-1DB08F77A080}"/>
            </a:ext>
          </a:extLst>
        </p:cNvPr>
        <p:cNvGrpSpPr/>
        <p:nvPr/>
      </p:nvGrpSpPr>
      <p:grpSpPr>
        <a:xfrm>
          <a:off x="0" y="0"/>
          <a:ext cx="0" cy="0"/>
          <a:chOff x="0" y="0"/>
          <a:chExt cx="0" cy="0"/>
        </a:xfrm>
      </p:grpSpPr>
      <p:sp>
        <p:nvSpPr>
          <p:cNvPr id="27" name="모서리가 둥근 직사각형 26">
            <a:extLst>
              <a:ext uri="{FF2B5EF4-FFF2-40B4-BE49-F238E27FC236}">
                <a16:creationId xmlns:a16="http://schemas.microsoft.com/office/drawing/2014/main" id="{61C79925-FBF6-41D2-91D7-28A19D5A2A9A}"/>
              </a:ext>
            </a:extLst>
          </p:cNvPr>
          <p:cNvSpPr/>
          <p:nvPr/>
        </p:nvSpPr>
        <p:spPr>
          <a:xfrm>
            <a:off x="525995" y="1701664"/>
            <a:ext cx="4929347" cy="3250576"/>
          </a:xfrm>
          <a:prstGeom prst="roundRect">
            <a:avLst>
              <a:gd name="adj" fmla="val 8007"/>
            </a:avLst>
          </a:prstGeom>
          <a:solidFill>
            <a:srgbClr val="FFC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1D46D00F-CAE0-D4B0-746E-A0EADFDBC1E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51451A6A-16A2-05C9-29DE-DAF1F500341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BAAAB728-BBC5-C1B6-783F-9D74A9C7B09C}"/>
              </a:ext>
            </a:extLst>
          </p:cNvPr>
          <p:cNvSpPr txBox="1">
            <a:spLocks/>
          </p:cNvSpPr>
          <p:nvPr/>
        </p:nvSpPr>
        <p:spPr>
          <a:xfrm>
            <a:off x="0" y="0"/>
            <a:ext cx="1118235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Poor Performance of VAQs on Existing Systems</a:t>
            </a:r>
            <a:endParaRPr lang="ko-KR" altLang="en-US" sz="3200" err="1">
              <a:ea typeface="+mn-ea"/>
            </a:endParaRPr>
          </a:p>
        </p:txBody>
      </p:sp>
      <p:pic>
        <p:nvPicPr>
          <p:cNvPr id="28" name="그림 27" descr="텍스트, 스크린샷, 폰트, 대수학이(가) 표시된 사진&#10;&#10;AI가 생성한 콘텐츠는 부정확할 수 있습니다.">
            <a:extLst>
              <a:ext uri="{FF2B5EF4-FFF2-40B4-BE49-F238E27FC236}">
                <a16:creationId xmlns:a16="http://schemas.microsoft.com/office/drawing/2014/main" id="{9452BB62-B81A-4B7A-D339-C9FFD80708C7}"/>
              </a:ext>
            </a:extLst>
          </p:cNvPr>
          <p:cNvPicPr>
            <a:picLocks noChangeAspect="1"/>
          </p:cNvPicPr>
          <p:nvPr/>
        </p:nvPicPr>
        <p:blipFill>
          <a:blip r:embed="rId5"/>
          <a:srcRect l="9515" t="19204" r="8675" b="14689"/>
          <a:stretch/>
        </p:blipFill>
        <p:spPr>
          <a:xfrm>
            <a:off x="768450" y="2610307"/>
            <a:ext cx="4444435" cy="2085711"/>
          </a:xfrm>
          <a:prstGeom prst="rect">
            <a:avLst/>
          </a:prstGeom>
          <a:ln w="19050">
            <a:solidFill>
              <a:schemeClr val="tx1"/>
            </a:solidFill>
          </a:ln>
        </p:spPr>
      </p:pic>
      <p:sp>
        <p:nvSpPr>
          <p:cNvPr id="21" name="TextBox 20">
            <a:extLst>
              <a:ext uri="{FF2B5EF4-FFF2-40B4-BE49-F238E27FC236}">
                <a16:creationId xmlns:a16="http://schemas.microsoft.com/office/drawing/2014/main" id="{B6650B74-04A6-E532-03A3-EB2139B3E91F}"/>
              </a:ext>
            </a:extLst>
          </p:cNvPr>
          <p:cNvSpPr txBox="1"/>
          <p:nvPr/>
        </p:nvSpPr>
        <p:spPr>
          <a:xfrm>
            <a:off x="768450" y="1825970"/>
            <a:ext cx="4263644" cy="646331"/>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Vector-augmented Analytical Queries (VAQs)</a:t>
            </a:r>
            <a:endParaRPr lang="ko-KR" altLang="en-US"/>
          </a:p>
        </p:txBody>
      </p:sp>
      <p:sp>
        <p:nvSpPr>
          <p:cNvPr id="2" name="모서리가 둥근 직사각형 1">
            <a:extLst>
              <a:ext uri="{FF2B5EF4-FFF2-40B4-BE49-F238E27FC236}">
                <a16:creationId xmlns:a16="http://schemas.microsoft.com/office/drawing/2014/main" id="{057747B6-B447-E36D-37B9-0B6023E340E8}"/>
              </a:ext>
            </a:extLst>
          </p:cNvPr>
          <p:cNvSpPr/>
          <p:nvPr/>
        </p:nvSpPr>
        <p:spPr bwMode="auto">
          <a:xfrm>
            <a:off x="525994" y="5355619"/>
            <a:ext cx="4929347" cy="974089"/>
          </a:xfrm>
          <a:prstGeom prst="roundRect">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400" err="1">
              <a:solidFill>
                <a:schemeClr val="tx1"/>
              </a:solidFill>
              <a:ea typeface="Segoe UI" pitchFamily="34" charset="0"/>
              <a:cs typeface="Segoe UI" pitchFamily="34" charset="0"/>
            </a:endParaRPr>
          </a:p>
        </p:txBody>
      </p:sp>
      <p:pic>
        <p:nvPicPr>
          <p:cNvPr id="3" name="Picture 4" descr="PostgreSQL - 나무위키">
            <a:extLst>
              <a:ext uri="{FF2B5EF4-FFF2-40B4-BE49-F238E27FC236}">
                <a16:creationId xmlns:a16="http://schemas.microsoft.com/office/drawing/2014/main" id="{3F87E007-4E6A-9450-06D1-C19DF49CF95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00" r="65532"/>
          <a:stretch/>
        </p:blipFill>
        <p:spPr bwMode="auto">
          <a:xfrm>
            <a:off x="768450" y="5631631"/>
            <a:ext cx="488466" cy="4504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25133E-AAC9-5C63-658E-70F8D301154E}"/>
              </a:ext>
            </a:extLst>
          </p:cNvPr>
          <p:cNvSpPr txBox="1"/>
          <p:nvPr/>
        </p:nvSpPr>
        <p:spPr>
          <a:xfrm>
            <a:off x="1256916" y="5564456"/>
            <a:ext cx="2419755" cy="584775"/>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pgvector</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kumimoji="1" lang="en-US" altLang="ko-KR" sz="1600">
                <a:solidFill>
                  <a:schemeClr val="tx1"/>
                </a:solidFill>
                <a:latin typeface="Open Sans" panose="020B0606030504020204" pitchFamily="34" charset="0"/>
                <a:ea typeface="Open Sans" panose="020B0606030504020204" pitchFamily="34" charset="0"/>
                <a:cs typeface="Open Sans" panose="020B0606030504020204" pitchFamily="34" charset="0"/>
              </a:rPr>
              <a:t>(PostgreSQ</a:t>
            </a:r>
            <a:r>
              <a:rPr kumimoji="1" lang="en-US" altLang="ko-KR" sz="1600">
                <a:latin typeface="Open Sans" panose="020B0606030504020204" pitchFamily="34" charset="0"/>
                <a:ea typeface="Open Sans" panose="020B0606030504020204" pitchFamily="34" charset="0"/>
                <a:cs typeface="Open Sans" panose="020B0606030504020204" pitchFamily="34" charset="0"/>
              </a:rPr>
              <a:t>L</a:t>
            </a:r>
            <a:r>
              <a:rPr kumimoji="1" lang="en-US" altLang="ko-KR"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ko-KR" altLang="en-US" sz="1600">
              <a:latin typeface="Open Sans" panose="020B0606030504020204" pitchFamily="34" charset="0"/>
              <a:cs typeface="Open Sans" panose="020B0606030504020204" pitchFamily="34" charset="0"/>
            </a:endParaRPr>
          </a:p>
        </p:txBody>
      </p:sp>
      <p:pic>
        <p:nvPicPr>
          <p:cNvPr id="6" name="Picture 2" descr="GitHub - duckdb/duckdb-r: The duckdb R package · GitHub">
            <a:extLst>
              <a:ext uri="{FF2B5EF4-FFF2-40B4-BE49-F238E27FC236}">
                <a16:creationId xmlns:a16="http://schemas.microsoft.com/office/drawing/2014/main" id="{6BEAE5DB-C403-8B8E-5E74-AFD75AFEC11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5" r="70610"/>
          <a:stretch/>
        </p:blipFill>
        <p:spPr bwMode="auto">
          <a:xfrm>
            <a:off x="3188205" y="5604661"/>
            <a:ext cx="488466" cy="4755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D70F213-BFBF-EF12-3E48-9452EE047635}"/>
              </a:ext>
            </a:extLst>
          </p:cNvPr>
          <p:cNvSpPr txBox="1"/>
          <p:nvPr/>
        </p:nvSpPr>
        <p:spPr>
          <a:xfrm>
            <a:off x="3770480" y="5580831"/>
            <a:ext cx="1565619" cy="584775"/>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duckdb-vss</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kumimoji="1" lang="en-US" altLang="ko-KR" sz="1600">
                <a:solidFill>
                  <a:schemeClr val="tx1"/>
                </a:solidFill>
                <a:latin typeface="Open Sans" panose="020B0606030504020204" pitchFamily="34" charset="0"/>
                <a:ea typeface="Open Sans" panose="020B0606030504020204" pitchFamily="34" charset="0"/>
                <a:cs typeface="Open Sans" panose="020B0606030504020204" pitchFamily="34" charset="0"/>
              </a:rPr>
              <a:t>(DuckDB)</a:t>
            </a:r>
            <a:endParaRPr lang="ko-KR" altLang="en-US" sz="1600">
              <a:latin typeface="Open Sans" panose="020B0606030504020204" pitchFamily="34" charset="0"/>
              <a:cs typeface="Open Sans" panose="020B0606030504020204" pitchFamily="34" charset="0"/>
            </a:endParaRPr>
          </a:p>
        </p:txBody>
      </p:sp>
      <p:sp>
        <p:nvSpPr>
          <p:cNvPr id="8" name="오른쪽 화살표[R] 7">
            <a:extLst>
              <a:ext uri="{FF2B5EF4-FFF2-40B4-BE49-F238E27FC236}">
                <a16:creationId xmlns:a16="http://schemas.microsoft.com/office/drawing/2014/main" id="{3A20C190-685A-5931-9808-961F41C6E652}"/>
              </a:ext>
            </a:extLst>
          </p:cNvPr>
          <p:cNvSpPr/>
          <p:nvPr/>
        </p:nvSpPr>
        <p:spPr bwMode="auto">
          <a:xfrm rot="5400000">
            <a:off x="2582013" y="4870555"/>
            <a:ext cx="638264" cy="789745"/>
          </a:xfrm>
          <a:prstGeom prst="rightArrow">
            <a:avLst>
              <a:gd name="adj1" fmla="val 36106"/>
              <a:gd name="adj2" fmla="val 50000"/>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955592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A276B-3413-D8EB-803A-8CF2E01AE6B3}"/>
            </a:ext>
          </a:extLst>
        </p:cNvPr>
        <p:cNvGrpSpPr/>
        <p:nvPr/>
      </p:nvGrpSpPr>
      <p:grpSpPr>
        <a:xfrm>
          <a:off x="0" y="0"/>
          <a:ext cx="0" cy="0"/>
          <a:chOff x="0" y="0"/>
          <a:chExt cx="0" cy="0"/>
        </a:xfrm>
      </p:grpSpPr>
      <p:sp>
        <p:nvSpPr>
          <p:cNvPr id="27" name="모서리가 둥근 직사각형 26">
            <a:extLst>
              <a:ext uri="{FF2B5EF4-FFF2-40B4-BE49-F238E27FC236}">
                <a16:creationId xmlns:a16="http://schemas.microsoft.com/office/drawing/2014/main" id="{B435CF4D-BF41-E16B-9376-F91DDBDA9904}"/>
              </a:ext>
            </a:extLst>
          </p:cNvPr>
          <p:cNvSpPr/>
          <p:nvPr/>
        </p:nvSpPr>
        <p:spPr>
          <a:xfrm>
            <a:off x="525995" y="1701664"/>
            <a:ext cx="4929347" cy="3250576"/>
          </a:xfrm>
          <a:prstGeom prst="roundRect">
            <a:avLst>
              <a:gd name="adj" fmla="val 8007"/>
            </a:avLst>
          </a:prstGeom>
          <a:solidFill>
            <a:srgbClr val="FFC00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238A636A-5C26-FFE0-0994-7ED18B00B35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D5667F67-C0A4-AE0A-D7A4-241955C42A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3AEDDF97-A8E7-08EC-E7E6-07872CEFFD5B}"/>
              </a:ext>
            </a:extLst>
          </p:cNvPr>
          <p:cNvSpPr txBox="1">
            <a:spLocks/>
          </p:cNvSpPr>
          <p:nvPr/>
        </p:nvSpPr>
        <p:spPr>
          <a:xfrm>
            <a:off x="0" y="0"/>
            <a:ext cx="109093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Poor Performance of VAQs on Existing Systems</a:t>
            </a:r>
            <a:endParaRPr lang="ko-KR" altLang="en-US" err="1">
              <a:ea typeface="+mn-ea"/>
            </a:endParaRPr>
          </a:p>
        </p:txBody>
      </p:sp>
      <p:pic>
        <p:nvPicPr>
          <p:cNvPr id="28" name="그림 27" descr="텍스트, 스크린샷, 폰트, 대수학이(가) 표시된 사진&#10;&#10;AI가 생성한 콘텐츠는 부정확할 수 있습니다.">
            <a:extLst>
              <a:ext uri="{FF2B5EF4-FFF2-40B4-BE49-F238E27FC236}">
                <a16:creationId xmlns:a16="http://schemas.microsoft.com/office/drawing/2014/main" id="{6D0E3334-E9CE-E34F-75DE-7A7372B8788E}"/>
              </a:ext>
            </a:extLst>
          </p:cNvPr>
          <p:cNvPicPr>
            <a:picLocks noChangeAspect="1"/>
          </p:cNvPicPr>
          <p:nvPr/>
        </p:nvPicPr>
        <p:blipFill>
          <a:blip r:embed="rId5"/>
          <a:srcRect l="9515" t="19204" r="8675" b="14689"/>
          <a:stretch/>
        </p:blipFill>
        <p:spPr>
          <a:xfrm>
            <a:off x="768450" y="2610307"/>
            <a:ext cx="4444435" cy="2085711"/>
          </a:xfrm>
          <a:prstGeom prst="rect">
            <a:avLst/>
          </a:prstGeom>
          <a:ln w="19050">
            <a:solidFill>
              <a:schemeClr val="tx1"/>
            </a:solidFill>
          </a:ln>
        </p:spPr>
      </p:pic>
      <p:sp>
        <p:nvSpPr>
          <p:cNvPr id="21" name="TextBox 20">
            <a:extLst>
              <a:ext uri="{FF2B5EF4-FFF2-40B4-BE49-F238E27FC236}">
                <a16:creationId xmlns:a16="http://schemas.microsoft.com/office/drawing/2014/main" id="{7D04F200-766D-4AA9-7D59-CB1C74618C17}"/>
              </a:ext>
            </a:extLst>
          </p:cNvPr>
          <p:cNvSpPr txBox="1"/>
          <p:nvPr/>
        </p:nvSpPr>
        <p:spPr>
          <a:xfrm>
            <a:off x="768450" y="1825970"/>
            <a:ext cx="4263644" cy="646331"/>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Vector-augmented Analytical Queries (VAQs)</a:t>
            </a:r>
            <a:endParaRPr lang="ko-KR" altLang="en-US"/>
          </a:p>
        </p:txBody>
      </p:sp>
      <p:sp>
        <p:nvSpPr>
          <p:cNvPr id="2" name="모서리가 둥근 직사각형 1">
            <a:extLst>
              <a:ext uri="{FF2B5EF4-FFF2-40B4-BE49-F238E27FC236}">
                <a16:creationId xmlns:a16="http://schemas.microsoft.com/office/drawing/2014/main" id="{5899F8E0-2E9B-7463-5306-0692457FF0F3}"/>
              </a:ext>
            </a:extLst>
          </p:cNvPr>
          <p:cNvSpPr/>
          <p:nvPr/>
        </p:nvSpPr>
        <p:spPr bwMode="auto">
          <a:xfrm>
            <a:off x="525994" y="5355619"/>
            <a:ext cx="4929347" cy="974089"/>
          </a:xfrm>
          <a:prstGeom prst="roundRect">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400" err="1">
              <a:solidFill>
                <a:schemeClr val="tx1"/>
              </a:solidFill>
              <a:ea typeface="Segoe UI" pitchFamily="34" charset="0"/>
              <a:cs typeface="Segoe UI" pitchFamily="34" charset="0"/>
            </a:endParaRPr>
          </a:p>
        </p:txBody>
      </p:sp>
      <p:pic>
        <p:nvPicPr>
          <p:cNvPr id="3" name="Picture 4" descr="PostgreSQL - 나무위키">
            <a:extLst>
              <a:ext uri="{FF2B5EF4-FFF2-40B4-BE49-F238E27FC236}">
                <a16:creationId xmlns:a16="http://schemas.microsoft.com/office/drawing/2014/main" id="{4549AEA7-1541-4D69-7F67-57F469AA422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00" r="65532"/>
          <a:stretch/>
        </p:blipFill>
        <p:spPr bwMode="auto">
          <a:xfrm>
            <a:off x="768450" y="5631631"/>
            <a:ext cx="488466" cy="4504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B956244-4D40-0680-6DA9-3CEA905E11CF}"/>
              </a:ext>
            </a:extLst>
          </p:cNvPr>
          <p:cNvSpPr txBox="1"/>
          <p:nvPr/>
        </p:nvSpPr>
        <p:spPr>
          <a:xfrm>
            <a:off x="1256916" y="5564456"/>
            <a:ext cx="2419755" cy="584775"/>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pgvector</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kumimoji="1" lang="en-US" altLang="ko-KR" sz="1600">
                <a:solidFill>
                  <a:schemeClr val="tx1"/>
                </a:solidFill>
                <a:latin typeface="Open Sans" panose="020B0606030504020204" pitchFamily="34" charset="0"/>
                <a:ea typeface="Open Sans" panose="020B0606030504020204" pitchFamily="34" charset="0"/>
                <a:cs typeface="Open Sans" panose="020B0606030504020204" pitchFamily="34" charset="0"/>
              </a:rPr>
              <a:t>(PostgreSQ</a:t>
            </a:r>
            <a:r>
              <a:rPr kumimoji="1" lang="en-US" altLang="ko-KR" sz="1600">
                <a:latin typeface="Open Sans" panose="020B0606030504020204" pitchFamily="34" charset="0"/>
                <a:ea typeface="Open Sans" panose="020B0606030504020204" pitchFamily="34" charset="0"/>
                <a:cs typeface="Open Sans" panose="020B0606030504020204" pitchFamily="34" charset="0"/>
              </a:rPr>
              <a:t>L</a:t>
            </a:r>
            <a:r>
              <a:rPr kumimoji="1" lang="en-US" altLang="ko-KR" sz="1600">
                <a:solidFill>
                  <a:schemeClr val="tx1"/>
                </a:solidFill>
                <a:latin typeface="Open Sans" panose="020B0606030504020204" pitchFamily="34" charset="0"/>
                <a:ea typeface="Open Sans" panose="020B0606030504020204" pitchFamily="34" charset="0"/>
                <a:cs typeface="Open Sans" panose="020B0606030504020204" pitchFamily="34" charset="0"/>
              </a:rPr>
              <a:t>)</a:t>
            </a:r>
            <a:endParaRPr lang="ko-KR" altLang="en-US" sz="1600">
              <a:latin typeface="Open Sans" panose="020B0606030504020204" pitchFamily="34" charset="0"/>
              <a:cs typeface="Open Sans" panose="020B0606030504020204" pitchFamily="34" charset="0"/>
            </a:endParaRPr>
          </a:p>
        </p:txBody>
      </p:sp>
      <p:pic>
        <p:nvPicPr>
          <p:cNvPr id="6" name="Picture 2" descr="GitHub - duckdb/duckdb-r: The duckdb R package · GitHub">
            <a:extLst>
              <a:ext uri="{FF2B5EF4-FFF2-40B4-BE49-F238E27FC236}">
                <a16:creationId xmlns:a16="http://schemas.microsoft.com/office/drawing/2014/main" id="{88CA4859-1B52-B9EB-9688-10F4A9690B8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5" r="70610"/>
          <a:stretch/>
        </p:blipFill>
        <p:spPr bwMode="auto">
          <a:xfrm>
            <a:off x="3188205" y="5604661"/>
            <a:ext cx="488466" cy="47556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1B331BB-3F15-C681-2F56-7F826B58BC30}"/>
              </a:ext>
            </a:extLst>
          </p:cNvPr>
          <p:cNvSpPr txBox="1"/>
          <p:nvPr/>
        </p:nvSpPr>
        <p:spPr>
          <a:xfrm>
            <a:off x="3770480" y="5580831"/>
            <a:ext cx="1565619" cy="584775"/>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duckdb-vss</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a:p>
            <a:r>
              <a:rPr kumimoji="1" lang="en-US" altLang="ko-KR" sz="1600">
                <a:solidFill>
                  <a:schemeClr val="tx1"/>
                </a:solidFill>
                <a:latin typeface="Open Sans" panose="020B0606030504020204" pitchFamily="34" charset="0"/>
                <a:ea typeface="Open Sans" panose="020B0606030504020204" pitchFamily="34" charset="0"/>
                <a:cs typeface="Open Sans" panose="020B0606030504020204" pitchFamily="34" charset="0"/>
              </a:rPr>
              <a:t>(DuckDB)</a:t>
            </a:r>
            <a:endParaRPr lang="ko-KR" altLang="en-US" sz="1600">
              <a:latin typeface="Open Sans" panose="020B0606030504020204" pitchFamily="34" charset="0"/>
              <a:cs typeface="Open Sans" panose="020B0606030504020204" pitchFamily="34" charset="0"/>
            </a:endParaRPr>
          </a:p>
        </p:txBody>
      </p:sp>
      <p:sp>
        <p:nvSpPr>
          <p:cNvPr id="8" name="오른쪽 화살표[R] 7">
            <a:extLst>
              <a:ext uri="{FF2B5EF4-FFF2-40B4-BE49-F238E27FC236}">
                <a16:creationId xmlns:a16="http://schemas.microsoft.com/office/drawing/2014/main" id="{B6AD7D52-AB8C-1642-DE44-9C6A6176C59A}"/>
              </a:ext>
            </a:extLst>
          </p:cNvPr>
          <p:cNvSpPr/>
          <p:nvPr/>
        </p:nvSpPr>
        <p:spPr bwMode="auto">
          <a:xfrm rot="5400000">
            <a:off x="2582013" y="4870555"/>
            <a:ext cx="638264" cy="789745"/>
          </a:xfrm>
          <a:prstGeom prst="rightArrow">
            <a:avLst>
              <a:gd name="adj1" fmla="val 36106"/>
              <a:gd name="adj2" fmla="val 50000"/>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9" name="그림 8">
            <a:extLst>
              <a:ext uri="{FF2B5EF4-FFF2-40B4-BE49-F238E27FC236}">
                <a16:creationId xmlns:a16="http://schemas.microsoft.com/office/drawing/2014/main" id="{0BE10D00-FB9B-161D-3E93-10A23D77F985}"/>
              </a:ext>
            </a:extLst>
          </p:cNvPr>
          <p:cNvPicPr>
            <a:picLocks noChangeAspect="1"/>
          </p:cNvPicPr>
          <p:nvPr/>
        </p:nvPicPr>
        <p:blipFill>
          <a:blip r:embed="rId8"/>
          <a:srcRect l="6564" r="61917" b="44237"/>
          <a:stretch/>
        </p:blipFill>
        <p:spPr>
          <a:xfrm>
            <a:off x="6796945" y="1700573"/>
            <a:ext cx="3805764" cy="4465033"/>
          </a:xfrm>
          <a:prstGeom prst="rect">
            <a:avLst/>
          </a:prstGeom>
        </p:spPr>
      </p:pic>
      <p:cxnSp>
        <p:nvCxnSpPr>
          <p:cNvPr id="13" name="직선 연결선[R] 12">
            <a:extLst>
              <a:ext uri="{FF2B5EF4-FFF2-40B4-BE49-F238E27FC236}">
                <a16:creationId xmlns:a16="http://schemas.microsoft.com/office/drawing/2014/main" id="{7B55B128-DDF1-AD5A-4F59-F96561B40117}"/>
              </a:ext>
            </a:extLst>
          </p:cNvPr>
          <p:cNvCxnSpPr>
            <a:cxnSpLocks/>
          </p:cNvCxnSpPr>
          <p:nvPr/>
        </p:nvCxnSpPr>
        <p:spPr>
          <a:xfrm>
            <a:off x="8010071" y="2783242"/>
            <a:ext cx="2210462" cy="0"/>
          </a:xfrm>
          <a:prstGeom prst="line">
            <a:avLst/>
          </a:prstGeom>
          <a:ln w="57150"/>
        </p:spPr>
        <p:style>
          <a:lnRef idx="2">
            <a:schemeClr val="dk1"/>
          </a:lnRef>
          <a:fillRef idx="0">
            <a:schemeClr val="dk1"/>
          </a:fillRef>
          <a:effectRef idx="1">
            <a:schemeClr val="dk1"/>
          </a:effectRef>
          <a:fontRef idx="minor">
            <a:schemeClr val="tx1"/>
          </a:fontRef>
        </p:style>
      </p:cxnSp>
      <p:cxnSp>
        <p:nvCxnSpPr>
          <p:cNvPr id="23" name="직선 화살표 연결선 22">
            <a:extLst>
              <a:ext uri="{FF2B5EF4-FFF2-40B4-BE49-F238E27FC236}">
                <a16:creationId xmlns:a16="http://schemas.microsoft.com/office/drawing/2014/main" id="{16316308-70DB-8F4A-8DC0-D8F157248EF5}"/>
              </a:ext>
            </a:extLst>
          </p:cNvPr>
          <p:cNvCxnSpPr>
            <a:cxnSpLocks/>
          </p:cNvCxnSpPr>
          <p:nvPr/>
        </p:nvCxnSpPr>
        <p:spPr>
          <a:xfrm>
            <a:off x="9739942" y="2783242"/>
            <a:ext cx="0" cy="1498954"/>
          </a:xfrm>
          <a:prstGeom prst="straightConnector1">
            <a:avLst/>
          </a:prstGeom>
          <a:ln w="5715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14953614-645F-BC6F-8EE8-B3D8DC09BD4B}"/>
              </a:ext>
            </a:extLst>
          </p:cNvPr>
          <p:cNvSpPr txBox="1"/>
          <p:nvPr/>
        </p:nvSpPr>
        <p:spPr>
          <a:xfrm>
            <a:off x="9191682" y="3181627"/>
            <a:ext cx="1096519" cy="646331"/>
          </a:xfrm>
          <a:prstGeom prst="rect">
            <a:avLst/>
          </a:prstGeom>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b="1" i="1">
                <a:solidFill>
                  <a:srgbClr val="FF0000"/>
                </a:solidFill>
                <a:latin typeface="NANUMGOTHIC EXTRABOLD" panose="020D0604000000000000" pitchFamily="34" charset="-127"/>
                <a:ea typeface="NANUMGOTHIC EXTRABOLD" panose="020D0604000000000000" pitchFamily="34" charset="-127"/>
                <a:cs typeface="Open Sans" panose="020B0606030504020204" pitchFamily="34" charset="0"/>
              </a:rPr>
              <a:t>~300x</a:t>
            </a:r>
          </a:p>
          <a:p>
            <a:pPr algn="ctr"/>
            <a:r>
              <a:rPr lang="en-US" altLang="ko-KR" b="1" i="1">
                <a:solidFill>
                  <a:srgbClr val="FF0000"/>
                </a:solidFill>
                <a:latin typeface="NANUMGOTHIC EXTRABOLD" panose="020D0604000000000000" pitchFamily="34" charset="-127"/>
                <a:ea typeface="NANUMGOTHIC EXTRABOLD" panose="020D0604000000000000" pitchFamily="34" charset="-127"/>
                <a:cs typeface="Open Sans" panose="020B0606030504020204" pitchFamily="34" charset="0"/>
              </a:rPr>
              <a:t>speedup</a:t>
            </a:r>
            <a:endParaRPr lang="ko-KR" altLang="en-US" b="1" i="1">
              <a:solidFill>
                <a:srgbClr val="FF0000"/>
              </a:solidFill>
              <a:latin typeface="NANUMGOTHIC EXTRABOLD" panose="020D0604000000000000" pitchFamily="34" charset="-127"/>
              <a:ea typeface="NANUMGOTHIC EXTRABOLD" panose="020D0604000000000000" pitchFamily="34" charset="-127"/>
              <a:cs typeface="Open Sans" panose="020B0606030504020204" pitchFamily="34" charset="0"/>
            </a:endParaRPr>
          </a:p>
        </p:txBody>
      </p:sp>
      <p:sp>
        <p:nvSpPr>
          <p:cNvPr id="37" name="TextBox 36">
            <a:extLst>
              <a:ext uri="{FF2B5EF4-FFF2-40B4-BE49-F238E27FC236}">
                <a16:creationId xmlns:a16="http://schemas.microsoft.com/office/drawing/2014/main" id="{40B1D6D2-50E6-48BA-3930-1AB5480E825B}"/>
              </a:ext>
            </a:extLst>
          </p:cNvPr>
          <p:cNvSpPr txBox="1"/>
          <p:nvPr/>
        </p:nvSpPr>
        <p:spPr>
          <a:xfrm>
            <a:off x="8031417" y="5799037"/>
            <a:ext cx="1083569" cy="547580"/>
          </a:xfrm>
          <a:prstGeom prst="rect">
            <a:avLst/>
          </a:prstGeom>
          <a:solidFill>
            <a:schemeClr val="bg1"/>
          </a:solidFill>
        </p:spPr>
        <p:txBody>
          <a:bodyPr wrap="square" anchor="t">
            <a:noAutofit/>
          </a:bodyPr>
          <a:lstStyle/>
          <a:p>
            <a:pPr algn="ctr"/>
            <a:r>
              <a:rPr kumimoji="1" lang="en-US" altLang="ko-KR" sz="1400" err="1">
                <a:solidFill>
                  <a:schemeClr val="tx1"/>
                </a:solidFill>
                <a:latin typeface="Open Sans" panose="020B0606030504020204" pitchFamily="34" charset="0"/>
                <a:ea typeface="Open Sans" panose="020B0606030504020204" pitchFamily="34" charset="0"/>
                <a:cs typeface="Open Sans" panose="020B0606030504020204" pitchFamily="34" charset="0"/>
              </a:rPr>
              <a:t>pgvector</a:t>
            </a:r>
            <a:endParaRPr lang="ko-KR" altLang="en-US" sz="1400"/>
          </a:p>
        </p:txBody>
      </p:sp>
      <p:sp>
        <p:nvSpPr>
          <p:cNvPr id="38" name="TextBox 37">
            <a:extLst>
              <a:ext uri="{FF2B5EF4-FFF2-40B4-BE49-F238E27FC236}">
                <a16:creationId xmlns:a16="http://schemas.microsoft.com/office/drawing/2014/main" id="{A02D2C71-D34F-0367-CB41-0A239D5831D8}"/>
              </a:ext>
            </a:extLst>
          </p:cNvPr>
          <p:cNvSpPr txBox="1"/>
          <p:nvPr/>
        </p:nvSpPr>
        <p:spPr>
          <a:xfrm>
            <a:off x="9114986" y="5806488"/>
            <a:ext cx="1400614" cy="523220"/>
          </a:xfrm>
          <a:prstGeom prst="rect">
            <a:avLst/>
          </a:prstGeom>
          <a:solidFill>
            <a:schemeClr val="bg1"/>
          </a:solidFill>
        </p:spPr>
        <p:txBody>
          <a:bodyPr wrap="square">
            <a:spAutoFit/>
          </a:bodyPr>
          <a:lstStyle/>
          <a:p>
            <a:pPr algn="ctr"/>
            <a:r>
              <a:rPr kumimoji="1" lang="en-US" altLang="ko-KR" sz="1400" err="1">
                <a:latin typeface="Open Sans" panose="020B0606030504020204" pitchFamily="34" charset="0"/>
                <a:ea typeface="Open Sans" panose="020B0606030504020204" pitchFamily="34" charset="0"/>
                <a:cs typeface="Open Sans" panose="020B0606030504020204" pitchFamily="34" charset="0"/>
              </a:rPr>
              <a:t>p</a:t>
            </a:r>
            <a:r>
              <a:rPr kumimoji="1" lang="en-US" altLang="ko-KR" sz="1400" err="1">
                <a:solidFill>
                  <a:schemeClr val="tx1"/>
                </a:solidFill>
                <a:latin typeface="Open Sans" panose="020B0606030504020204" pitchFamily="34" charset="0"/>
                <a:ea typeface="Open Sans" panose="020B0606030504020204" pitchFamily="34" charset="0"/>
                <a:cs typeface="Open Sans" panose="020B0606030504020204" pitchFamily="34" charset="0"/>
              </a:rPr>
              <a:t>gvector with Exqutor</a:t>
            </a:r>
            <a:endParaRPr lang="ko-KR" altLang="en-US" sz="1400"/>
          </a:p>
        </p:txBody>
      </p:sp>
      <p:sp>
        <p:nvSpPr>
          <p:cNvPr id="39" name="TextBox 38">
            <a:extLst>
              <a:ext uri="{FF2B5EF4-FFF2-40B4-BE49-F238E27FC236}">
                <a16:creationId xmlns:a16="http://schemas.microsoft.com/office/drawing/2014/main" id="{F85A59E0-8F5C-73C3-9683-4512BFE54C49}"/>
              </a:ext>
            </a:extLst>
          </p:cNvPr>
          <p:cNvSpPr txBox="1"/>
          <p:nvPr/>
        </p:nvSpPr>
        <p:spPr>
          <a:xfrm>
            <a:off x="6395899" y="1701218"/>
            <a:ext cx="5270106" cy="718658"/>
          </a:xfrm>
          <a:prstGeom prst="rect">
            <a:avLst/>
          </a:prstGeom>
          <a:noFill/>
        </p:spPr>
        <p:txBody>
          <a:bodyPr wrap="square">
            <a:spAutoFit/>
          </a:bodyPr>
          <a:lstStyle/>
          <a:p>
            <a:pPr algn="ctr">
              <a:lnSpc>
                <a:spcPct val="125000"/>
              </a:lnSpc>
            </a:pPr>
            <a:r>
              <a:rPr lang="en-US" altLang="ko-KR" b="1">
                <a:latin typeface="NanumGothic" panose="020D0604000000000000" pitchFamily="34" charset="-127"/>
                <a:ea typeface="NanumGothic" panose="020D0604000000000000" pitchFamily="34" charset="-127"/>
                <a:cs typeface="Microsoft GothicNeo" panose="020B0500000101010101" pitchFamily="34" charset="-127"/>
              </a:rPr>
              <a:t>End-to-end execution time of VAQ </a:t>
            </a:r>
            <a:br>
              <a:rPr lang="en-US" altLang="ko-KR" b="1">
                <a:latin typeface="NanumGothic" panose="020D0604000000000000" pitchFamily="34" charset="-127"/>
                <a:ea typeface="NanumGothic" panose="020D0604000000000000" pitchFamily="34" charset="-127"/>
                <a:cs typeface="Microsoft GothicNeo" panose="020B0500000101010101" pitchFamily="34" charset="-127"/>
              </a:rPr>
            </a:br>
            <a:r>
              <a:rPr lang="en-US" altLang="ko-KR" sz="1600">
                <a:latin typeface="NanumGothic" panose="020D0604000000000000" pitchFamily="34" charset="-127"/>
                <a:ea typeface="NanumGothic" panose="020D0604000000000000" pitchFamily="34" charset="-127"/>
                <a:cs typeface="Microsoft GothicNeo" panose="020B0500000101010101" pitchFamily="34" charset="-127"/>
              </a:rPr>
              <a:t>(TPC-H based Query 12</a:t>
            </a:r>
            <a:r>
              <a:rPr lang="ko-KR" altLang="en-US" sz="1600">
                <a:latin typeface="NanumGothic" panose="020D0604000000000000" pitchFamily="34" charset="-127"/>
                <a:ea typeface="NanumGothic" panose="020D0604000000000000" pitchFamily="34" charset="-127"/>
                <a:cs typeface="Microsoft GothicNeo" panose="020B0500000101010101" pitchFamily="34" charset="-127"/>
              </a:rPr>
              <a:t> </a:t>
            </a:r>
            <a:r>
              <a:rPr lang="en-US" altLang="ko-KR" sz="1600">
                <a:latin typeface="NanumGothic" panose="020D0604000000000000" pitchFamily="34" charset="-127"/>
                <a:ea typeface="NanumGothic" panose="020D0604000000000000" pitchFamily="34" charset="-127"/>
                <a:cs typeface="Microsoft GothicNeo" panose="020B0500000101010101" pitchFamily="34" charset="-127"/>
              </a:rPr>
              <a:t>with DEEP dataset, SF100)</a:t>
            </a:r>
            <a:endParaRPr lang="en-US" altLang="ko-KR">
              <a:latin typeface="NanumGothic" panose="020D0604000000000000" pitchFamily="34" charset="-127"/>
              <a:ea typeface="NanumGothic" panose="020D0604000000000000" pitchFamily="34" charset="-127"/>
              <a:cs typeface="Microsoft GothicNeo" panose="020B0500000101010101" pitchFamily="34" charset="-127"/>
            </a:endParaRPr>
          </a:p>
        </p:txBody>
      </p:sp>
      <p:sp>
        <p:nvSpPr>
          <p:cNvPr id="17" name="TextBox 16">
            <a:extLst>
              <a:ext uri="{FF2B5EF4-FFF2-40B4-BE49-F238E27FC236}">
                <a16:creationId xmlns:a16="http://schemas.microsoft.com/office/drawing/2014/main" id="{194C6F08-E1ED-D297-9C9E-978D0FA49112}"/>
              </a:ext>
            </a:extLst>
          </p:cNvPr>
          <p:cNvSpPr txBox="1"/>
          <p:nvPr/>
        </p:nvSpPr>
        <p:spPr>
          <a:xfrm>
            <a:off x="6096000" y="6248026"/>
            <a:ext cx="5164810" cy="523220"/>
          </a:xfrm>
          <a:prstGeom prst="rect">
            <a:avLst/>
          </a:prstGeom>
          <a:noFill/>
        </p:spPr>
        <p:txBody>
          <a:bodyPr wrap="square">
            <a:spAutoFit/>
          </a:bodyPr>
          <a:lstStyle/>
          <a:p>
            <a:pPr>
              <a:buNone/>
            </a:pPr>
            <a:r>
              <a:rPr lang="en" altLang="ko-KR" sz="1400" b="1">
                <a:solidFill>
                  <a:srgbClr val="000000"/>
                </a:solidFill>
                <a:latin typeface="NanumGothic" panose="020D0604000000000000" pitchFamily="34" charset="-127"/>
                <a:ea typeface="NanumGothic" panose="020D0604000000000000" pitchFamily="34" charset="-127"/>
              </a:rPr>
              <a:t>*Experiment Setup</a:t>
            </a:r>
          </a:p>
          <a:p>
            <a:pPr>
              <a:buNone/>
            </a:pPr>
            <a:r>
              <a:rPr lang="en" altLang="ko-KR" sz="1400">
                <a:solidFill>
                  <a:srgbClr val="000000"/>
                </a:solidFill>
                <a:effectLst/>
                <a:latin typeface="NanumGothic" panose="020D0604000000000000" pitchFamily="34" charset="-127"/>
                <a:ea typeface="NanumGothic" panose="020D0604000000000000" pitchFamily="34" charset="-127"/>
              </a:rPr>
              <a:t>Intel Xeon Gold 6530 with 128 vCPUs and 1.0 TB of RAM.</a:t>
            </a:r>
          </a:p>
        </p:txBody>
      </p:sp>
    </p:spTree>
    <p:extLst>
      <p:ext uri="{BB962C8B-B14F-4D97-AF65-F5344CB8AC3E}">
        <p14:creationId xmlns:p14="http://schemas.microsoft.com/office/powerpoint/2010/main" val="1252706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F5CF1-67A1-4AFB-F1C9-5A0008A25EA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8499896-6463-252B-5B84-5377669CB25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400463A2-26BF-65C6-CB6A-075B82C831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075370F7-EFF9-E38E-0458-9639F050C841}"/>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Wrong VSS Cardinality </a:t>
            </a:r>
            <a:endParaRPr lang="ko-KR" altLang="en-US" sz="3200" err="1">
              <a:ea typeface="+mn-ea"/>
            </a:endParaRPr>
          </a:p>
        </p:txBody>
      </p:sp>
      <p:pic>
        <p:nvPicPr>
          <p:cNvPr id="56" name="그림 55" descr="텍스트, 스크린샷, 폰트, 대수학이(가) 표시된 사진&#10;&#10;AI가 생성한 콘텐츠는 부정확할 수 있습니다.">
            <a:extLst>
              <a:ext uri="{FF2B5EF4-FFF2-40B4-BE49-F238E27FC236}">
                <a16:creationId xmlns:a16="http://schemas.microsoft.com/office/drawing/2014/main" id="{083D4FF5-60FC-B99A-D224-28885BD22FB6}"/>
              </a:ext>
            </a:extLst>
          </p:cNvPr>
          <p:cNvPicPr>
            <a:picLocks noChangeAspect="1"/>
          </p:cNvPicPr>
          <p:nvPr/>
        </p:nvPicPr>
        <p:blipFill>
          <a:blip r:embed="rId5"/>
          <a:srcRect l="9515" t="19204" r="8675" b="14689"/>
          <a:stretch/>
        </p:blipFill>
        <p:spPr>
          <a:xfrm>
            <a:off x="396047" y="2656580"/>
            <a:ext cx="4444435" cy="2085711"/>
          </a:xfrm>
          <a:prstGeom prst="rect">
            <a:avLst/>
          </a:prstGeom>
          <a:ln w="19050">
            <a:solidFill>
              <a:schemeClr val="tx1"/>
            </a:solidFill>
          </a:ln>
        </p:spPr>
      </p:pic>
      <p:sp>
        <p:nvSpPr>
          <p:cNvPr id="57" name="TextBox 56">
            <a:extLst>
              <a:ext uri="{FF2B5EF4-FFF2-40B4-BE49-F238E27FC236}">
                <a16:creationId xmlns:a16="http://schemas.microsoft.com/office/drawing/2014/main" id="{1D671646-BFE8-F597-8902-5D4B7B1FA260}"/>
              </a:ext>
            </a:extLst>
          </p:cNvPr>
          <p:cNvSpPr txBox="1"/>
          <p:nvPr/>
        </p:nvSpPr>
        <p:spPr>
          <a:xfrm>
            <a:off x="470542" y="2243461"/>
            <a:ext cx="4263644"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VAQ</a:t>
            </a:r>
            <a:endParaRPr lang="ko-KR" altLang="en-US"/>
          </a:p>
        </p:txBody>
      </p:sp>
      <p:sp>
        <p:nvSpPr>
          <p:cNvPr id="58" name="TextBox 57">
            <a:extLst>
              <a:ext uri="{FF2B5EF4-FFF2-40B4-BE49-F238E27FC236}">
                <a16:creationId xmlns:a16="http://schemas.microsoft.com/office/drawing/2014/main" id="{4855FF11-1916-37BD-2073-40F3C44B140D}"/>
              </a:ext>
            </a:extLst>
          </p:cNvPr>
          <p:cNvSpPr txBox="1"/>
          <p:nvPr/>
        </p:nvSpPr>
        <p:spPr>
          <a:xfrm>
            <a:off x="216515" y="1521840"/>
            <a:ext cx="5879485" cy="369332"/>
          </a:xfrm>
          <a:prstGeom prst="rect">
            <a:avLst/>
          </a:prstGeom>
          <a:noFill/>
        </p:spPr>
        <p:txBody>
          <a:bodyPr wrap="square">
            <a:spAutoFit/>
          </a:bodyPr>
          <a:lstStyle/>
          <a:p>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Existing systems use fixed heuristic cardinality of VSS. </a:t>
            </a:r>
            <a:endParaRPr lang="ko-KR" altLang="en-US" i="1"/>
          </a:p>
        </p:txBody>
      </p:sp>
      <p:sp>
        <p:nvSpPr>
          <p:cNvPr id="64" name="모서리가 둥근 직사각형 63">
            <a:extLst>
              <a:ext uri="{FF2B5EF4-FFF2-40B4-BE49-F238E27FC236}">
                <a16:creationId xmlns:a16="http://schemas.microsoft.com/office/drawing/2014/main" id="{3709051C-9CCB-8A7B-6675-5A987C07907A}"/>
              </a:ext>
            </a:extLst>
          </p:cNvPr>
          <p:cNvSpPr/>
          <p:nvPr/>
        </p:nvSpPr>
        <p:spPr>
          <a:xfrm>
            <a:off x="466068" y="3995975"/>
            <a:ext cx="4268118" cy="673588"/>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5" name="모서리가 둥근 직사각형 64">
            <a:extLst>
              <a:ext uri="{FF2B5EF4-FFF2-40B4-BE49-F238E27FC236}">
                <a16:creationId xmlns:a16="http://schemas.microsoft.com/office/drawing/2014/main" id="{2C13FFD9-8CAF-9D31-1A38-0062FBEDBD14}"/>
              </a:ext>
            </a:extLst>
          </p:cNvPr>
          <p:cNvSpPr/>
          <p:nvPr/>
        </p:nvSpPr>
        <p:spPr>
          <a:xfrm>
            <a:off x="473816" y="2963700"/>
            <a:ext cx="1214285" cy="198166"/>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7" name="TextBox 66">
            <a:extLst>
              <a:ext uri="{FF2B5EF4-FFF2-40B4-BE49-F238E27FC236}">
                <a16:creationId xmlns:a16="http://schemas.microsoft.com/office/drawing/2014/main" id="{76822A4E-BB34-9C64-5DD6-C84FECA26D66}"/>
              </a:ext>
            </a:extLst>
          </p:cNvPr>
          <p:cNvSpPr txBox="1"/>
          <p:nvPr/>
        </p:nvSpPr>
        <p:spPr>
          <a:xfrm>
            <a:off x="6848921" y="5209945"/>
            <a:ext cx="4330302" cy="369332"/>
          </a:xfrm>
          <a:prstGeom prst="rect">
            <a:avLst/>
          </a:prstGeom>
          <a:noFill/>
        </p:spPr>
        <p:txBody>
          <a:bodyPr wrap="square">
            <a:spAutoFit/>
          </a:bodyPr>
          <a:lstStyle/>
          <a:p>
            <a:pPr algn="ctr"/>
            <a:r>
              <a:rPr lang="en-US" altLang="ko-KR" b="1" i="1">
                <a:latin typeface="NanumGothic" panose="020D0604000000000000" pitchFamily="34" charset="-127"/>
                <a:ea typeface="NanumGothic" panose="020D0604000000000000" pitchFamily="34" charset="-127"/>
                <a:cs typeface="Microsoft GothicNeo" panose="020B0500000101010101" pitchFamily="34" charset="-127"/>
              </a:rPr>
              <a:t>A small D implies</a:t>
            </a:r>
            <a:r>
              <a:rPr lang="ko-KR" altLang="en-US" b="1" i="1">
                <a:latin typeface="NanumGothic" panose="020D0604000000000000" pitchFamily="34" charset="-127"/>
                <a:ea typeface="NanumGothic" panose="020D0604000000000000" pitchFamily="34" charset="-127"/>
                <a:cs typeface="Microsoft GothicNeo" panose="020B0500000101010101" pitchFamily="34" charset="-127"/>
              </a:rPr>
              <a:t> </a:t>
            </a:r>
            <a:r>
              <a:rPr lang="en-US" altLang="ko-KR" b="1" i="1">
                <a:latin typeface="NanumGothic" panose="020D0604000000000000" pitchFamily="34" charset="-127"/>
                <a:ea typeface="NanumGothic" panose="020D0604000000000000" pitchFamily="34" charset="-127"/>
                <a:cs typeface="Microsoft GothicNeo" panose="020B0500000101010101" pitchFamily="34" charset="-127"/>
              </a:rPr>
              <a:t>high similarity</a:t>
            </a:r>
            <a:endParaRPr lang="ko-KR" altLang="en-US" i="1"/>
          </a:p>
        </p:txBody>
      </p:sp>
      <p:sp>
        <p:nvSpPr>
          <p:cNvPr id="68" name="직사각형 67">
            <a:extLst>
              <a:ext uri="{FF2B5EF4-FFF2-40B4-BE49-F238E27FC236}">
                <a16:creationId xmlns:a16="http://schemas.microsoft.com/office/drawing/2014/main" id="{5598F7C0-0D7B-A17D-8041-D0FCA01C40BE}"/>
              </a:ext>
            </a:extLst>
          </p:cNvPr>
          <p:cNvSpPr/>
          <p:nvPr/>
        </p:nvSpPr>
        <p:spPr>
          <a:xfrm>
            <a:off x="3732096" y="3995976"/>
            <a:ext cx="608590" cy="2072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2" name="그림 1">
            <a:extLst>
              <a:ext uri="{FF2B5EF4-FFF2-40B4-BE49-F238E27FC236}">
                <a16:creationId xmlns:a16="http://schemas.microsoft.com/office/drawing/2014/main" id="{52417D64-113F-80F9-C80E-B8DA7E960542}"/>
              </a:ext>
            </a:extLst>
          </p:cNvPr>
          <p:cNvPicPr>
            <a:picLocks noChangeAspect="1"/>
          </p:cNvPicPr>
          <p:nvPr/>
        </p:nvPicPr>
        <p:blipFill>
          <a:blip r:embed="rId6"/>
          <a:stretch>
            <a:fillRect/>
          </a:stretch>
        </p:blipFill>
        <p:spPr>
          <a:xfrm>
            <a:off x="5746672" y="2428127"/>
            <a:ext cx="5827490" cy="2597796"/>
          </a:xfrm>
          <a:prstGeom prst="rect">
            <a:avLst/>
          </a:prstGeom>
        </p:spPr>
      </p:pic>
      <p:sp>
        <p:nvSpPr>
          <p:cNvPr id="5" name="TextBox 4">
            <a:extLst>
              <a:ext uri="{FF2B5EF4-FFF2-40B4-BE49-F238E27FC236}">
                <a16:creationId xmlns:a16="http://schemas.microsoft.com/office/drawing/2014/main" id="{C0AE01DD-6FC1-0E30-9E4E-A7DC0FB2EA8A}"/>
              </a:ext>
            </a:extLst>
          </p:cNvPr>
          <p:cNvSpPr txBox="1"/>
          <p:nvPr/>
        </p:nvSpPr>
        <p:spPr>
          <a:xfrm>
            <a:off x="1927654" y="4871391"/>
            <a:ext cx="2973860" cy="338554"/>
          </a:xfrm>
          <a:prstGeom prst="rect">
            <a:avLst/>
          </a:prstGeom>
          <a:noFill/>
        </p:spPr>
        <p:txBody>
          <a:bodyPr wrap="square">
            <a:spAutoFit/>
          </a:bodyPr>
          <a:lstStyle/>
          <a:p>
            <a:pPr algn="r"/>
            <a:r>
              <a:rPr lang="en-US" altLang="ko-KR" sz="1600">
                <a:solidFill>
                  <a:srgbClr val="FF0000"/>
                </a:solidFill>
                <a:latin typeface="NanumGothic" panose="020D0604000000000000" pitchFamily="34" charset="-127"/>
                <a:ea typeface="NanumGothic" panose="020D0604000000000000" pitchFamily="34" charset="-127"/>
                <a:cs typeface="Microsoft GothicNeo" panose="020B0500000101010101" pitchFamily="34" charset="-127"/>
              </a:rPr>
              <a:t>${user-defined parameter}</a:t>
            </a:r>
            <a:endParaRPr lang="ko-KR" altLang="en-US" sz="1600"/>
          </a:p>
        </p:txBody>
      </p:sp>
    </p:spTree>
    <p:extLst>
      <p:ext uri="{BB962C8B-B14F-4D97-AF65-F5344CB8AC3E}">
        <p14:creationId xmlns:p14="http://schemas.microsoft.com/office/powerpoint/2010/main" val="3771907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F4AB6-EFD8-A6A8-7C95-6E62EF08C686}"/>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B3F6CFB-F17F-F484-BF8F-298EC057128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FEB08066-92B3-708A-0BA3-8FDFAA38A4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ABF0BC5A-3AB3-DFBD-8F73-681924CF8BAD}"/>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Wrong VSS Cardinality </a:t>
            </a:r>
            <a:endParaRPr lang="ko-KR" altLang="en-US" sz="3200" err="1">
              <a:ea typeface="+mn-ea"/>
            </a:endParaRPr>
          </a:p>
        </p:txBody>
      </p:sp>
      <p:pic>
        <p:nvPicPr>
          <p:cNvPr id="56" name="그림 55" descr="텍스트, 스크린샷, 폰트, 대수학이(가) 표시된 사진&#10;&#10;AI가 생성한 콘텐츠는 부정확할 수 있습니다.">
            <a:extLst>
              <a:ext uri="{FF2B5EF4-FFF2-40B4-BE49-F238E27FC236}">
                <a16:creationId xmlns:a16="http://schemas.microsoft.com/office/drawing/2014/main" id="{099D3D3E-33DE-30C7-8681-92D57BC866A1}"/>
              </a:ext>
            </a:extLst>
          </p:cNvPr>
          <p:cNvPicPr>
            <a:picLocks noChangeAspect="1"/>
          </p:cNvPicPr>
          <p:nvPr/>
        </p:nvPicPr>
        <p:blipFill>
          <a:blip r:embed="rId5"/>
          <a:srcRect l="9515" t="19204" r="8675" b="14689"/>
          <a:stretch/>
        </p:blipFill>
        <p:spPr>
          <a:xfrm>
            <a:off x="396047" y="2656580"/>
            <a:ext cx="4444435" cy="2085711"/>
          </a:xfrm>
          <a:prstGeom prst="rect">
            <a:avLst/>
          </a:prstGeom>
          <a:ln w="19050">
            <a:solidFill>
              <a:schemeClr val="tx1"/>
            </a:solidFill>
          </a:ln>
        </p:spPr>
      </p:pic>
      <p:sp>
        <p:nvSpPr>
          <p:cNvPr id="57" name="TextBox 56">
            <a:extLst>
              <a:ext uri="{FF2B5EF4-FFF2-40B4-BE49-F238E27FC236}">
                <a16:creationId xmlns:a16="http://schemas.microsoft.com/office/drawing/2014/main" id="{6A78607A-D7B2-8B17-ED67-98ABCE6EF8E9}"/>
              </a:ext>
            </a:extLst>
          </p:cNvPr>
          <p:cNvSpPr txBox="1"/>
          <p:nvPr/>
        </p:nvSpPr>
        <p:spPr>
          <a:xfrm>
            <a:off x="470542" y="2243461"/>
            <a:ext cx="4263644"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VAQ</a:t>
            </a:r>
            <a:endParaRPr lang="ko-KR" altLang="en-US"/>
          </a:p>
        </p:txBody>
      </p:sp>
      <p:sp>
        <p:nvSpPr>
          <p:cNvPr id="58" name="TextBox 57">
            <a:extLst>
              <a:ext uri="{FF2B5EF4-FFF2-40B4-BE49-F238E27FC236}">
                <a16:creationId xmlns:a16="http://schemas.microsoft.com/office/drawing/2014/main" id="{A3150A86-F16E-84E2-FB98-1CA6F76FDB4F}"/>
              </a:ext>
            </a:extLst>
          </p:cNvPr>
          <p:cNvSpPr txBox="1"/>
          <p:nvPr/>
        </p:nvSpPr>
        <p:spPr>
          <a:xfrm>
            <a:off x="216515" y="1521840"/>
            <a:ext cx="5879485" cy="369332"/>
          </a:xfrm>
          <a:prstGeom prst="rect">
            <a:avLst/>
          </a:prstGeom>
          <a:noFill/>
        </p:spPr>
        <p:txBody>
          <a:bodyPr wrap="square">
            <a:spAutoFit/>
          </a:bodyPr>
          <a:lstStyle/>
          <a:p>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Existing systems use fixed heuristic cardinality of VSS. </a:t>
            </a:r>
            <a:endParaRPr lang="ko-KR" altLang="en-US" i="1"/>
          </a:p>
        </p:txBody>
      </p:sp>
      <p:sp>
        <p:nvSpPr>
          <p:cNvPr id="64" name="모서리가 둥근 직사각형 63">
            <a:extLst>
              <a:ext uri="{FF2B5EF4-FFF2-40B4-BE49-F238E27FC236}">
                <a16:creationId xmlns:a16="http://schemas.microsoft.com/office/drawing/2014/main" id="{4B9C1129-A466-CC54-227E-735A92FDB734}"/>
              </a:ext>
            </a:extLst>
          </p:cNvPr>
          <p:cNvSpPr/>
          <p:nvPr/>
        </p:nvSpPr>
        <p:spPr>
          <a:xfrm>
            <a:off x="466068" y="3995975"/>
            <a:ext cx="4268118" cy="673588"/>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5" name="모서리가 둥근 직사각형 64">
            <a:extLst>
              <a:ext uri="{FF2B5EF4-FFF2-40B4-BE49-F238E27FC236}">
                <a16:creationId xmlns:a16="http://schemas.microsoft.com/office/drawing/2014/main" id="{52CC44B8-5B6B-7976-1F91-E1939F27DD3E}"/>
              </a:ext>
            </a:extLst>
          </p:cNvPr>
          <p:cNvSpPr/>
          <p:nvPr/>
        </p:nvSpPr>
        <p:spPr>
          <a:xfrm>
            <a:off x="473816" y="2963700"/>
            <a:ext cx="1214285" cy="198166"/>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7" name="TextBox 66">
            <a:extLst>
              <a:ext uri="{FF2B5EF4-FFF2-40B4-BE49-F238E27FC236}">
                <a16:creationId xmlns:a16="http://schemas.microsoft.com/office/drawing/2014/main" id="{0B5D66FE-4E81-9B6B-2A49-F03785214D7A}"/>
              </a:ext>
            </a:extLst>
          </p:cNvPr>
          <p:cNvSpPr txBox="1"/>
          <p:nvPr/>
        </p:nvSpPr>
        <p:spPr>
          <a:xfrm>
            <a:off x="6096000" y="5408704"/>
            <a:ext cx="4874469" cy="646331"/>
          </a:xfrm>
          <a:prstGeom prst="rect">
            <a:avLst/>
          </a:prstGeom>
          <a:noFill/>
        </p:spPr>
        <p:txBody>
          <a:bodyPr wrap="square">
            <a:spAutoFit/>
          </a:bodyPr>
          <a:lstStyle/>
          <a:p>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However, the cardinality of VSS can be changed by </a:t>
            </a:r>
            <a:r>
              <a:rPr lang="en-US" altLang="ko-KR" sz="1800" b="1" i="1">
                <a:latin typeface="NanumGothic" panose="020D0604000000000000" pitchFamily="34" charset="-127"/>
                <a:ea typeface="NanumGothic" panose="020D0604000000000000" pitchFamily="34" charset="-127"/>
                <a:cs typeface="Microsoft GothicNeo" panose="020B0500000101010101" pitchFamily="34" charset="-127"/>
              </a:rPr>
              <a:t>vector distance threshold </a:t>
            </a:r>
            <a:r>
              <a:rPr lang="en-US" altLang="ko-KR" sz="1800" b="1" i="1">
                <a:solidFill>
                  <a:srgbClr val="FF0000"/>
                </a:solidFill>
                <a:latin typeface="NanumGothic" panose="020D0604000000000000" pitchFamily="34" charset="-127"/>
                <a:ea typeface="NanumGothic" panose="020D0604000000000000" pitchFamily="34" charset="-127"/>
                <a:cs typeface="Microsoft GothicNeo" panose="020B0500000101010101" pitchFamily="34" charset="-127"/>
              </a:rPr>
              <a:t>D</a:t>
            </a:r>
            <a:endParaRPr lang="ko-KR" altLang="en-US" i="1">
              <a:solidFill>
                <a:srgbClr val="FF0000"/>
              </a:solidFill>
            </a:endParaRPr>
          </a:p>
        </p:txBody>
      </p:sp>
      <p:sp>
        <p:nvSpPr>
          <p:cNvPr id="68" name="직사각형 67">
            <a:extLst>
              <a:ext uri="{FF2B5EF4-FFF2-40B4-BE49-F238E27FC236}">
                <a16:creationId xmlns:a16="http://schemas.microsoft.com/office/drawing/2014/main" id="{01BE4A70-A0CF-3E57-7C93-D8D2F677B46D}"/>
              </a:ext>
            </a:extLst>
          </p:cNvPr>
          <p:cNvSpPr/>
          <p:nvPr/>
        </p:nvSpPr>
        <p:spPr>
          <a:xfrm>
            <a:off x="3732096" y="3995976"/>
            <a:ext cx="608590" cy="2072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2" name="그림 1">
            <a:extLst>
              <a:ext uri="{FF2B5EF4-FFF2-40B4-BE49-F238E27FC236}">
                <a16:creationId xmlns:a16="http://schemas.microsoft.com/office/drawing/2014/main" id="{C750B341-C43B-7AA4-30D8-7792BC26E89E}"/>
              </a:ext>
            </a:extLst>
          </p:cNvPr>
          <p:cNvPicPr>
            <a:picLocks noChangeAspect="1"/>
          </p:cNvPicPr>
          <p:nvPr/>
        </p:nvPicPr>
        <p:blipFill>
          <a:blip r:embed="rId6"/>
          <a:stretch>
            <a:fillRect/>
          </a:stretch>
        </p:blipFill>
        <p:spPr>
          <a:xfrm>
            <a:off x="5746672" y="2428127"/>
            <a:ext cx="5827490" cy="2597796"/>
          </a:xfrm>
          <a:prstGeom prst="rect">
            <a:avLst/>
          </a:prstGeom>
        </p:spPr>
      </p:pic>
      <p:pic>
        <p:nvPicPr>
          <p:cNvPr id="3" name="그림 2">
            <a:extLst>
              <a:ext uri="{FF2B5EF4-FFF2-40B4-BE49-F238E27FC236}">
                <a16:creationId xmlns:a16="http://schemas.microsoft.com/office/drawing/2014/main" id="{7AAD0F35-7062-C393-AF5C-88AFF04E0A0F}"/>
              </a:ext>
            </a:extLst>
          </p:cNvPr>
          <p:cNvPicPr>
            <a:picLocks noChangeAspect="1"/>
          </p:cNvPicPr>
          <p:nvPr/>
        </p:nvPicPr>
        <p:blipFill>
          <a:blip r:embed="rId7"/>
          <a:stretch>
            <a:fillRect/>
          </a:stretch>
        </p:blipFill>
        <p:spPr>
          <a:xfrm>
            <a:off x="5746672" y="2400537"/>
            <a:ext cx="5817008" cy="2597796"/>
          </a:xfrm>
          <a:prstGeom prst="rect">
            <a:avLst/>
          </a:prstGeom>
        </p:spPr>
      </p:pic>
      <p:pic>
        <p:nvPicPr>
          <p:cNvPr id="6" name="그림 5">
            <a:extLst>
              <a:ext uri="{FF2B5EF4-FFF2-40B4-BE49-F238E27FC236}">
                <a16:creationId xmlns:a16="http://schemas.microsoft.com/office/drawing/2014/main" id="{014FE057-E9F7-419F-B50C-254CCE23F66F}"/>
              </a:ext>
            </a:extLst>
          </p:cNvPr>
          <p:cNvPicPr>
            <a:picLocks noChangeAspect="1"/>
          </p:cNvPicPr>
          <p:nvPr/>
        </p:nvPicPr>
        <p:blipFill>
          <a:blip r:embed="rId6"/>
          <a:srcRect l="82583" r="1"/>
          <a:stretch/>
        </p:blipFill>
        <p:spPr>
          <a:xfrm>
            <a:off x="10553902" y="2428127"/>
            <a:ext cx="1015019" cy="2597796"/>
          </a:xfrm>
          <a:prstGeom prst="rect">
            <a:avLst/>
          </a:prstGeom>
        </p:spPr>
      </p:pic>
      <p:sp>
        <p:nvSpPr>
          <p:cNvPr id="5" name="TextBox 4">
            <a:extLst>
              <a:ext uri="{FF2B5EF4-FFF2-40B4-BE49-F238E27FC236}">
                <a16:creationId xmlns:a16="http://schemas.microsoft.com/office/drawing/2014/main" id="{EBC4422A-2669-6426-11E3-CF4F9FA843DF}"/>
              </a:ext>
            </a:extLst>
          </p:cNvPr>
          <p:cNvSpPr txBox="1"/>
          <p:nvPr/>
        </p:nvSpPr>
        <p:spPr>
          <a:xfrm>
            <a:off x="1927654" y="4871391"/>
            <a:ext cx="2973860" cy="338554"/>
          </a:xfrm>
          <a:prstGeom prst="rect">
            <a:avLst/>
          </a:prstGeom>
          <a:noFill/>
        </p:spPr>
        <p:txBody>
          <a:bodyPr wrap="square">
            <a:spAutoFit/>
          </a:bodyPr>
          <a:lstStyle/>
          <a:p>
            <a:pPr algn="r"/>
            <a:r>
              <a:rPr lang="en-US" altLang="ko-KR" sz="1600">
                <a:solidFill>
                  <a:srgbClr val="FF0000"/>
                </a:solidFill>
                <a:latin typeface="NanumGothic" panose="020D0604000000000000" pitchFamily="34" charset="-127"/>
                <a:ea typeface="NanumGothic" panose="020D0604000000000000" pitchFamily="34" charset="-127"/>
                <a:cs typeface="Microsoft GothicNeo" panose="020B0500000101010101" pitchFamily="34" charset="-127"/>
              </a:rPr>
              <a:t>${user-defined parameter}</a:t>
            </a:r>
            <a:endParaRPr lang="ko-KR" altLang="en-US" sz="1600"/>
          </a:p>
        </p:txBody>
      </p:sp>
    </p:spTree>
    <p:extLst>
      <p:ext uri="{BB962C8B-B14F-4D97-AF65-F5344CB8AC3E}">
        <p14:creationId xmlns:p14="http://schemas.microsoft.com/office/powerpoint/2010/main" val="3374227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682EA-0FC1-8230-E27B-9D6402D0635A}"/>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A5C5D08-D10A-BA9B-A193-25802A4502A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F55CC778-7904-546F-7077-903DA33EDE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B60A90EA-328F-0F0E-7EAA-F5A8FD809E36}"/>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Wrong VSS Cardinality </a:t>
            </a:r>
            <a:endParaRPr lang="ko-KR" altLang="en-US" sz="3200" err="1">
              <a:ea typeface="+mn-ea"/>
            </a:endParaRPr>
          </a:p>
        </p:txBody>
      </p:sp>
      <p:pic>
        <p:nvPicPr>
          <p:cNvPr id="56" name="그림 55" descr="텍스트, 스크린샷, 폰트, 대수학이(가) 표시된 사진&#10;&#10;AI가 생성한 콘텐츠는 부정확할 수 있습니다.">
            <a:extLst>
              <a:ext uri="{FF2B5EF4-FFF2-40B4-BE49-F238E27FC236}">
                <a16:creationId xmlns:a16="http://schemas.microsoft.com/office/drawing/2014/main" id="{4CF4F208-820F-5DF6-0709-E0DDDA419FE2}"/>
              </a:ext>
            </a:extLst>
          </p:cNvPr>
          <p:cNvPicPr>
            <a:picLocks noChangeAspect="1"/>
          </p:cNvPicPr>
          <p:nvPr/>
        </p:nvPicPr>
        <p:blipFill>
          <a:blip r:embed="rId5"/>
          <a:srcRect l="9515" t="19204" r="8675" b="14689"/>
          <a:stretch/>
        </p:blipFill>
        <p:spPr>
          <a:xfrm>
            <a:off x="428563" y="1878790"/>
            <a:ext cx="4444435" cy="2085711"/>
          </a:xfrm>
          <a:prstGeom prst="rect">
            <a:avLst/>
          </a:prstGeom>
          <a:ln w="19050">
            <a:solidFill>
              <a:schemeClr val="tx1"/>
            </a:solidFill>
          </a:ln>
        </p:spPr>
      </p:pic>
      <p:sp>
        <p:nvSpPr>
          <p:cNvPr id="57" name="TextBox 56">
            <a:extLst>
              <a:ext uri="{FF2B5EF4-FFF2-40B4-BE49-F238E27FC236}">
                <a16:creationId xmlns:a16="http://schemas.microsoft.com/office/drawing/2014/main" id="{05C843AF-AF07-32DA-4BF5-B77C8B684274}"/>
              </a:ext>
            </a:extLst>
          </p:cNvPr>
          <p:cNvSpPr txBox="1"/>
          <p:nvPr/>
        </p:nvSpPr>
        <p:spPr>
          <a:xfrm>
            <a:off x="503058" y="1465671"/>
            <a:ext cx="4263644"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VAQ</a:t>
            </a:r>
            <a:endParaRPr lang="ko-KR" altLang="en-US"/>
          </a:p>
        </p:txBody>
      </p:sp>
      <p:sp>
        <p:nvSpPr>
          <p:cNvPr id="64" name="모서리가 둥근 직사각형 63">
            <a:extLst>
              <a:ext uri="{FF2B5EF4-FFF2-40B4-BE49-F238E27FC236}">
                <a16:creationId xmlns:a16="http://schemas.microsoft.com/office/drawing/2014/main" id="{5E4AA271-E7DE-4022-EB75-164BA4011FAD}"/>
              </a:ext>
            </a:extLst>
          </p:cNvPr>
          <p:cNvSpPr/>
          <p:nvPr/>
        </p:nvSpPr>
        <p:spPr>
          <a:xfrm>
            <a:off x="498584" y="3218185"/>
            <a:ext cx="4268118" cy="673588"/>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5" name="모서리가 둥근 직사각형 64">
            <a:extLst>
              <a:ext uri="{FF2B5EF4-FFF2-40B4-BE49-F238E27FC236}">
                <a16:creationId xmlns:a16="http://schemas.microsoft.com/office/drawing/2014/main" id="{21755CC8-50CA-534D-CD0E-9406ED1E6026}"/>
              </a:ext>
            </a:extLst>
          </p:cNvPr>
          <p:cNvSpPr/>
          <p:nvPr/>
        </p:nvSpPr>
        <p:spPr>
          <a:xfrm>
            <a:off x="506332" y="2185910"/>
            <a:ext cx="1214285" cy="198166"/>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8" name="직사각형 67">
            <a:extLst>
              <a:ext uri="{FF2B5EF4-FFF2-40B4-BE49-F238E27FC236}">
                <a16:creationId xmlns:a16="http://schemas.microsoft.com/office/drawing/2014/main" id="{F6CE658E-B61D-048A-6CE3-B773EFB44232}"/>
              </a:ext>
            </a:extLst>
          </p:cNvPr>
          <p:cNvSpPr/>
          <p:nvPr/>
        </p:nvSpPr>
        <p:spPr>
          <a:xfrm>
            <a:off x="3764612" y="3218186"/>
            <a:ext cx="608590" cy="2072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7" name="TextBox 6">
            <a:extLst>
              <a:ext uri="{FF2B5EF4-FFF2-40B4-BE49-F238E27FC236}">
                <a16:creationId xmlns:a16="http://schemas.microsoft.com/office/drawing/2014/main" id="{031FD2D4-ED75-AC45-EEB5-F91FD23E61DC}"/>
              </a:ext>
            </a:extLst>
          </p:cNvPr>
          <p:cNvSpPr txBox="1"/>
          <p:nvPr/>
        </p:nvSpPr>
        <p:spPr>
          <a:xfrm>
            <a:off x="2562622" y="2437738"/>
            <a:ext cx="2973860" cy="338554"/>
          </a:xfrm>
          <a:prstGeom prst="rect">
            <a:avLst/>
          </a:prstGeom>
          <a:noFill/>
        </p:spPr>
        <p:txBody>
          <a:bodyPr wrap="square">
            <a:spAutoFit/>
          </a:bodyPr>
          <a:lstStyle/>
          <a:p>
            <a:r>
              <a:rPr lang="en-US" altLang="ko-KR" sz="1600" b="1">
                <a:solidFill>
                  <a:srgbClr val="FF0000"/>
                </a:solidFill>
              </a:rPr>
              <a:t>Set D to a small value</a:t>
            </a:r>
            <a:endParaRPr lang="ko-KR" altLang="en-US" sz="1600" b="1">
              <a:solidFill>
                <a:srgbClr val="FF0000"/>
              </a:solidFill>
            </a:endParaRPr>
          </a:p>
        </p:txBody>
      </p:sp>
      <p:sp>
        <p:nvSpPr>
          <p:cNvPr id="5" name="모서리가 둥근 직사각형 4">
            <a:extLst>
              <a:ext uri="{FF2B5EF4-FFF2-40B4-BE49-F238E27FC236}">
                <a16:creationId xmlns:a16="http://schemas.microsoft.com/office/drawing/2014/main" id="{9BA60B1A-F4C4-F49F-4CFB-66C7C44C23E4}"/>
              </a:ext>
            </a:extLst>
          </p:cNvPr>
          <p:cNvSpPr/>
          <p:nvPr/>
        </p:nvSpPr>
        <p:spPr>
          <a:xfrm>
            <a:off x="5589403" y="1806061"/>
            <a:ext cx="2835308" cy="2085711"/>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8" name="그림 7">
            <a:extLst>
              <a:ext uri="{FF2B5EF4-FFF2-40B4-BE49-F238E27FC236}">
                <a16:creationId xmlns:a16="http://schemas.microsoft.com/office/drawing/2014/main" id="{0290B84A-361A-307E-D711-64560F88CDFB}"/>
              </a:ext>
            </a:extLst>
          </p:cNvPr>
          <p:cNvPicPr>
            <a:picLocks noChangeAspect="1"/>
          </p:cNvPicPr>
          <p:nvPr/>
        </p:nvPicPr>
        <p:blipFill>
          <a:blip r:embed="rId6"/>
          <a:srcRect l="6536" t="11261" r="51429" b="13884"/>
          <a:stretch/>
        </p:blipFill>
        <p:spPr>
          <a:xfrm>
            <a:off x="5716685" y="1964877"/>
            <a:ext cx="2583072" cy="1832475"/>
          </a:xfrm>
          <a:prstGeom prst="rect">
            <a:avLst/>
          </a:prstGeom>
        </p:spPr>
      </p:pic>
      <p:sp>
        <p:nvSpPr>
          <p:cNvPr id="9" name="모서리가 둥근 직사각형 8">
            <a:extLst>
              <a:ext uri="{FF2B5EF4-FFF2-40B4-BE49-F238E27FC236}">
                <a16:creationId xmlns:a16="http://schemas.microsoft.com/office/drawing/2014/main" id="{63D2FDFD-30B1-18F4-BE0D-CBDBC1556AF7}"/>
              </a:ext>
            </a:extLst>
          </p:cNvPr>
          <p:cNvSpPr/>
          <p:nvPr/>
        </p:nvSpPr>
        <p:spPr bwMode="auto">
          <a:xfrm>
            <a:off x="428563" y="4558370"/>
            <a:ext cx="4444435" cy="1403518"/>
          </a:xfrm>
          <a:prstGeom prst="roundRect">
            <a:avLst>
              <a:gd name="adj" fmla="val 14311"/>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800" err="1">
              <a:solidFill>
                <a:schemeClr val="tx1"/>
              </a:solidFill>
              <a:ea typeface="Segoe UI" pitchFamily="34" charset="0"/>
              <a:cs typeface="Segoe UI" pitchFamily="34" charset="0"/>
            </a:endParaRPr>
          </a:p>
        </p:txBody>
      </p:sp>
      <p:pic>
        <p:nvPicPr>
          <p:cNvPr id="11" name="Picture 4" descr="PostgreSQL - 나무위키">
            <a:extLst>
              <a:ext uri="{FF2B5EF4-FFF2-40B4-BE49-F238E27FC236}">
                <a16:creationId xmlns:a16="http://schemas.microsoft.com/office/drawing/2014/main" id="{334AA71B-7D08-3AB1-8333-63144364649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900" r="65532"/>
          <a:stretch/>
        </p:blipFill>
        <p:spPr bwMode="auto">
          <a:xfrm>
            <a:off x="1323610" y="4696751"/>
            <a:ext cx="458569" cy="42285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0E37BFE-86A6-29AD-DA0A-671716484352}"/>
              </a:ext>
            </a:extLst>
          </p:cNvPr>
          <p:cNvSpPr txBox="1"/>
          <p:nvPr/>
        </p:nvSpPr>
        <p:spPr>
          <a:xfrm>
            <a:off x="965534" y="5137666"/>
            <a:ext cx="1174723" cy="338554"/>
          </a:xfrm>
          <a:prstGeom prst="rect">
            <a:avLst/>
          </a:prstGeom>
          <a:noFill/>
        </p:spPr>
        <p:txBody>
          <a:bodyPr wrap="square">
            <a:spAutoFit/>
          </a:bodyPr>
          <a:lstStyle/>
          <a:p>
            <a:pPr algn="ctr"/>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pgvector</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4" name="Picture 2" descr="GitHub - duckdb/duckdb-r: The duckdb R package · GitHub">
            <a:extLst>
              <a:ext uri="{FF2B5EF4-FFF2-40B4-BE49-F238E27FC236}">
                <a16:creationId xmlns:a16="http://schemas.microsoft.com/office/drawing/2014/main" id="{A9EDCAD3-3375-8219-4A9A-D1682A5FF89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385" r="70610"/>
          <a:stretch/>
        </p:blipFill>
        <p:spPr bwMode="auto">
          <a:xfrm>
            <a:off x="3509348" y="4677285"/>
            <a:ext cx="416060" cy="40506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7DCF08A-1512-F2AA-7DD5-58E3ADCC09EC}"/>
              </a:ext>
            </a:extLst>
          </p:cNvPr>
          <p:cNvSpPr txBox="1"/>
          <p:nvPr/>
        </p:nvSpPr>
        <p:spPr>
          <a:xfrm>
            <a:off x="3004373" y="5137666"/>
            <a:ext cx="2674644" cy="338554"/>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duckdb-vss</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extBox 15">
            <a:extLst>
              <a:ext uri="{FF2B5EF4-FFF2-40B4-BE49-F238E27FC236}">
                <a16:creationId xmlns:a16="http://schemas.microsoft.com/office/drawing/2014/main" id="{FFB3D7EE-34A9-1970-60D2-97267F10959D}"/>
              </a:ext>
            </a:extLst>
          </p:cNvPr>
          <p:cNvSpPr txBox="1"/>
          <p:nvPr/>
        </p:nvSpPr>
        <p:spPr>
          <a:xfrm>
            <a:off x="320214" y="4152923"/>
            <a:ext cx="1921012"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Existing systems </a:t>
            </a:r>
            <a:endParaRPr lang="ko-KR" altLang="en-US" i="1"/>
          </a:p>
        </p:txBody>
      </p:sp>
      <p:sp>
        <p:nvSpPr>
          <p:cNvPr id="17" name="타원 16">
            <a:extLst>
              <a:ext uri="{FF2B5EF4-FFF2-40B4-BE49-F238E27FC236}">
                <a16:creationId xmlns:a16="http://schemas.microsoft.com/office/drawing/2014/main" id="{BEED419E-A171-D407-A133-EE6012E878FE}"/>
              </a:ext>
            </a:extLst>
          </p:cNvPr>
          <p:cNvSpPr/>
          <p:nvPr/>
        </p:nvSpPr>
        <p:spPr>
          <a:xfrm>
            <a:off x="6978945" y="2428868"/>
            <a:ext cx="1285102" cy="764059"/>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9" name="TextBox 18">
            <a:extLst>
              <a:ext uri="{FF2B5EF4-FFF2-40B4-BE49-F238E27FC236}">
                <a16:creationId xmlns:a16="http://schemas.microsoft.com/office/drawing/2014/main" id="{961CB79A-CB07-B2BB-0C16-ED2954699C55}"/>
              </a:ext>
            </a:extLst>
          </p:cNvPr>
          <p:cNvSpPr txBox="1"/>
          <p:nvPr/>
        </p:nvSpPr>
        <p:spPr>
          <a:xfrm>
            <a:off x="7612715" y="1964877"/>
            <a:ext cx="78237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r>
              <a:rPr lang="en-US" altLang="ko-KR"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contains</a:t>
            </a:r>
          </a:p>
          <a:p>
            <a:r>
              <a:rPr lang="en-US" altLang="ko-KR"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vectors</a:t>
            </a:r>
            <a:endParaRPr lang="ko-KR" altLang="en-US"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endParaRPr>
          </a:p>
        </p:txBody>
      </p:sp>
      <p:pic>
        <p:nvPicPr>
          <p:cNvPr id="36" name="그림 35">
            <a:extLst>
              <a:ext uri="{FF2B5EF4-FFF2-40B4-BE49-F238E27FC236}">
                <a16:creationId xmlns:a16="http://schemas.microsoft.com/office/drawing/2014/main" id="{04986767-5DE1-614C-2210-1164054D95B1}"/>
              </a:ext>
            </a:extLst>
          </p:cNvPr>
          <p:cNvPicPr>
            <a:picLocks noChangeAspect="1"/>
          </p:cNvPicPr>
          <p:nvPr/>
        </p:nvPicPr>
        <p:blipFill>
          <a:blip r:embed="rId9"/>
          <a:stretch>
            <a:fillRect/>
          </a:stretch>
        </p:blipFill>
        <p:spPr>
          <a:xfrm>
            <a:off x="8802510" y="2284993"/>
            <a:ext cx="3146413" cy="3476890"/>
          </a:xfrm>
          <a:prstGeom prst="rect">
            <a:avLst/>
          </a:prstGeom>
        </p:spPr>
      </p:pic>
      <p:sp>
        <p:nvSpPr>
          <p:cNvPr id="39" name="TextBox 38">
            <a:extLst>
              <a:ext uri="{FF2B5EF4-FFF2-40B4-BE49-F238E27FC236}">
                <a16:creationId xmlns:a16="http://schemas.microsoft.com/office/drawing/2014/main" id="{6A2009D6-0B50-3769-3ABE-CDCFE8862768}"/>
              </a:ext>
            </a:extLst>
          </p:cNvPr>
          <p:cNvSpPr txBox="1"/>
          <p:nvPr/>
        </p:nvSpPr>
        <p:spPr>
          <a:xfrm>
            <a:off x="5308329" y="1455862"/>
            <a:ext cx="3397453" cy="307777"/>
          </a:xfrm>
          <a:prstGeom prst="rect">
            <a:avLst/>
          </a:prstGeom>
          <a:noFill/>
        </p:spPr>
        <p:txBody>
          <a:bodyPr wrap="square">
            <a:spAutoFit/>
          </a:bodyPr>
          <a:lstStyle/>
          <a:p>
            <a:pPr algn="ctr"/>
            <a:r>
              <a:rPr lang="en-US" altLang="ko-KR" sz="1400" b="1">
                <a:latin typeface="NanumGothic" panose="020D0604000000000000" pitchFamily="34" charset="-127"/>
                <a:ea typeface="NanumGothic" panose="020D0604000000000000" pitchFamily="34" charset="-127"/>
                <a:cs typeface="Microsoft GothicNeo" panose="020B0500000101010101" pitchFamily="34" charset="-127"/>
              </a:rPr>
              <a:t>query plan from pgvector</a:t>
            </a:r>
            <a:endParaRPr lang="ko-KR" altLang="en-US" sz="1400" b="1"/>
          </a:p>
        </p:txBody>
      </p:sp>
      <p:cxnSp>
        <p:nvCxnSpPr>
          <p:cNvPr id="41" name="꺾인 연결선[E] 40">
            <a:extLst>
              <a:ext uri="{FF2B5EF4-FFF2-40B4-BE49-F238E27FC236}">
                <a16:creationId xmlns:a16="http://schemas.microsoft.com/office/drawing/2014/main" id="{DB4D3208-8B08-2305-FEC9-D92BBC4B5334}"/>
              </a:ext>
            </a:extLst>
          </p:cNvPr>
          <p:cNvCxnSpPr>
            <a:cxnSpLocks/>
            <a:stCxn id="9" idx="3"/>
            <a:endCxn id="5" idx="1"/>
          </p:cNvCxnSpPr>
          <p:nvPr/>
        </p:nvCxnSpPr>
        <p:spPr>
          <a:xfrm flipV="1">
            <a:off x="4872998" y="2848917"/>
            <a:ext cx="716405" cy="2411212"/>
          </a:xfrm>
          <a:prstGeom prst="bentConnector3">
            <a:avLst/>
          </a:prstGeom>
          <a:ln w="44450">
            <a:tailEnd type="triangle" w="lg" len="lg"/>
          </a:ln>
        </p:spPr>
        <p:style>
          <a:lnRef idx="2">
            <a:schemeClr val="dk1"/>
          </a:lnRef>
          <a:fillRef idx="0">
            <a:schemeClr val="dk1"/>
          </a:fillRef>
          <a:effectRef idx="1">
            <a:schemeClr val="dk1"/>
          </a:effectRef>
          <a:fontRef idx="minor">
            <a:schemeClr val="tx1"/>
          </a:fontRef>
        </p:style>
      </p:cxnSp>
      <p:cxnSp>
        <p:nvCxnSpPr>
          <p:cNvPr id="43" name="직선 화살표 연결선 42">
            <a:extLst>
              <a:ext uri="{FF2B5EF4-FFF2-40B4-BE49-F238E27FC236}">
                <a16:creationId xmlns:a16="http://schemas.microsoft.com/office/drawing/2014/main" id="{C9CAF085-CB9A-98FF-1DB3-471227C9AD23}"/>
              </a:ext>
            </a:extLst>
          </p:cNvPr>
          <p:cNvCxnSpPr>
            <a:cxnSpLocks/>
            <a:stCxn id="56" idx="2"/>
            <a:endCxn id="9" idx="0"/>
          </p:cNvCxnSpPr>
          <p:nvPr/>
        </p:nvCxnSpPr>
        <p:spPr>
          <a:xfrm>
            <a:off x="2650781" y="3964501"/>
            <a:ext cx="0" cy="593869"/>
          </a:xfrm>
          <a:prstGeom prst="straightConnector1">
            <a:avLst/>
          </a:prstGeom>
          <a:ln w="444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56EC1A71-90D1-B668-50A7-69A983507264}"/>
              </a:ext>
            </a:extLst>
          </p:cNvPr>
          <p:cNvSpPr txBox="1"/>
          <p:nvPr/>
        </p:nvSpPr>
        <p:spPr>
          <a:xfrm>
            <a:off x="611886" y="5395176"/>
            <a:ext cx="1872411" cy="523220"/>
          </a:xfrm>
          <a:prstGeom prst="rect">
            <a:avLst/>
          </a:prstGeom>
          <a:noFill/>
        </p:spPr>
        <p:txBody>
          <a:bodyPr wrap="square">
            <a:spAutoFit/>
          </a:bodyPr>
          <a:lstStyle/>
          <a:p>
            <a:pPr algn="ctr"/>
            <a:r>
              <a:rPr kumimoji="1" lang="en-US" altLang="ko-KR" sz="1400">
                <a:latin typeface="Open Sans" panose="020B0606030504020204" pitchFamily="34" charset="0"/>
                <a:ea typeface="Open Sans" panose="020B0606030504020204" pitchFamily="34" charset="0"/>
                <a:cs typeface="Open Sans" panose="020B0606030504020204" pitchFamily="34" charset="0"/>
              </a:rPr>
              <a:t>Fixed VSS selectivity</a:t>
            </a:r>
            <a:br>
              <a:rPr kumimoji="1" lang="en-US" altLang="ko-KR" sz="1400">
                <a:latin typeface="Open Sans" panose="020B0606030504020204" pitchFamily="34" charset="0"/>
                <a:ea typeface="Open Sans" panose="020B0606030504020204" pitchFamily="34" charset="0"/>
                <a:cs typeface="Open Sans" panose="020B0606030504020204" pitchFamily="34" charset="0"/>
              </a:rPr>
            </a:br>
            <a:r>
              <a:rPr kumimoji="1" lang="en-US" altLang="ko-KR" sz="1400">
                <a:latin typeface="Open Sans" panose="020B0606030504020204" pitchFamily="34" charset="0"/>
                <a:ea typeface="Open Sans" panose="020B0606030504020204" pitchFamily="34" charset="0"/>
                <a:cs typeface="Open Sans" panose="020B0606030504020204" pitchFamily="34" charset="0"/>
              </a:rPr>
              <a:t>0.333</a:t>
            </a:r>
            <a:endParaRPr lang="ko-KR" altLang="en-US" sz="1400">
              <a:latin typeface="Open Sans" panose="020B0606030504020204" pitchFamily="34" charset="0"/>
              <a:cs typeface="Open Sans" panose="020B0606030504020204" pitchFamily="34" charset="0"/>
            </a:endParaRPr>
          </a:p>
        </p:txBody>
      </p:sp>
      <p:sp>
        <p:nvSpPr>
          <p:cNvPr id="46" name="TextBox 45">
            <a:extLst>
              <a:ext uri="{FF2B5EF4-FFF2-40B4-BE49-F238E27FC236}">
                <a16:creationId xmlns:a16="http://schemas.microsoft.com/office/drawing/2014/main" id="{14B88303-6827-BA47-B757-9D8982741DFA}"/>
              </a:ext>
            </a:extLst>
          </p:cNvPr>
          <p:cNvSpPr txBox="1"/>
          <p:nvPr/>
        </p:nvSpPr>
        <p:spPr>
          <a:xfrm>
            <a:off x="2742442" y="5392329"/>
            <a:ext cx="1872411" cy="523220"/>
          </a:xfrm>
          <a:prstGeom prst="rect">
            <a:avLst/>
          </a:prstGeom>
          <a:noFill/>
        </p:spPr>
        <p:txBody>
          <a:bodyPr wrap="square">
            <a:spAutoFit/>
          </a:bodyPr>
          <a:lstStyle/>
          <a:p>
            <a:pPr algn="ctr"/>
            <a:r>
              <a:rPr kumimoji="1" lang="en-US" altLang="ko-KR" sz="1400">
                <a:latin typeface="Open Sans" panose="020B0606030504020204" pitchFamily="34" charset="0"/>
                <a:ea typeface="Open Sans" panose="020B0606030504020204" pitchFamily="34" charset="0"/>
                <a:cs typeface="Open Sans" panose="020B0606030504020204" pitchFamily="34" charset="0"/>
              </a:rPr>
              <a:t>Fixed VSS selectivity</a:t>
            </a:r>
            <a:br>
              <a:rPr kumimoji="1" lang="en-US" altLang="ko-KR" sz="1400">
                <a:latin typeface="Open Sans" panose="020B0606030504020204" pitchFamily="34" charset="0"/>
                <a:ea typeface="Open Sans" panose="020B0606030504020204" pitchFamily="34" charset="0"/>
                <a:cs typeface="Open Sans" panose="020B0606030504020204" pitchFamily="34" charset="0"/>
              </a:rPr>
            </a:br>
            <a:r>
              <a:rPr kumimoji="1" lang="en-US" altLang="ko-KR" sz="1400">
                <a:latin typeface="Open Sans" panose="020B0606030504020204" pitchFamily="34" charset="0"/>
                <a:ea typeface="Open Sans" panose="020B0606030504020204" pitchFamily="34" charset="0"/>
                <a:cs typeface="Open Sans" panose="020B0606030504020204" pitchFamily="34" charset="0"/>
              </a:rPr>
              <a:t>1.0</a:t>
            </a:r>
            <a:endParaRPr lang="ko-KR" altLang="en-US" sz="1400">
              <a:latin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858187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9F5D3-1134-B26E-CAFC-0575DB723F80}"/>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C751215-C5FC-5054-C7CB-7E8F6DFF683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72B3F9DF-8AC1-C5E4-38AF-5AC0BBEFAB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87D428DB-6FD0-425F-5745-79C718D9B494}"/>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Wrong VSS Cardinality </a:t>
            </a:r>
            <a:endParaRPr lang="ko-KR" altLang="en-US" err="1">
              <a:ea typeface="+mn-ea"/>
            </a:endParaRPr>
          </a:p>
        </p:txBody>
      </p:sp>
      <p:pic>
        <p:nvPicPr>
          <p:cNvPr id="56" name="그림 55" descr="텍스트, 스크린샷, 폰트, 대수학이(가) 표시된 사진&#10;&#10;AI가 생성한 콘텐츠는 부정확할 수 있습니다.">
            <a:extLst>
              <a:ext uri="{FF2B5EF4-FFF2-40B4-BE49-F238E27FC236}">
                <a16:creationId xmlns:a16="http://schemas.microsoft.com/office/drawing/2014/main" id="{23A673E8-420C-CD13-9377-008D7D1971C3}"/>
              </a:ext>
            </a:extLst>
          </p:cNvPr>
          <p:cNvPicPr>
            <a:picLocks noChangeAspect="1"/>
          </p:cNvPicPr>
          <p:nvPr/>
        </p:nvPicPr>
        <p:blipFill>
          <a:blip r:embed="rId5"/>
          <a:srcRect l="9515" t="19204" r="8675" b="14689"/>
          <a:stretch/>
        </p:blipFill>
        <p:spPr>
          <a:xfrm>
            <a:off x="428563" y="1878790"/>
            <a:ext cx="4444435" cy="2085711"/>
          </a:xfrm>
          <a:prstGeom prst="rect">
            <a:avLst/>
          </a:prstGeom>
          <a:ln w="19050">
            <a:solidFill>
              <a:schemeClr val="tx1"/>
            </a:solidFill>
          </a:ln>
        </p:spPr>
      </p:pic>
      <p:sp>
        <p:nvSpPr>
          <p:cNvPr id="57" name="TextBox 56">
            <a:extLst>
              <a:ext uri="{FF2B5EF4-FFF2-40B4-BE49-F238E27FC236}">
                <a16:creationId xmlns:a16="http://schemas.microsoft.com/office/drawing/2014/main" id="{2FD3A6BB-4187-F592-F4E5-903457F285ED}"/>
              </a:ext>
            </a:extLst>
          </p:cNvPr>
          <p:cNvSpPr txBox="1"/>
          <p:nvPr/>
        </p:nvSpPr>
        <p:spPr>
          <a:xfrm>
            <a:off x="503058" y="1465671"/>
            <a:ext cx="4263644"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VAQ</a:t>
            </a:r>
            <a:endParaRPr lang="ko-KR" altLang="en-US"/>
          </a:p>
        </p:txBody>
      </p:sp>
      <p:sp>
        <p:nvSpPr>
          <p:cNvPr id="64" name="모서리가 둥근 직사각형 63">
            <a:extLst>
              <a:ext uri="{FF2B5EF4-FFF2-40B4-BE49-F238E27FC236}">
                <a16:creationId xmlns:a16="http://schemas.microsoft.com/office/drawing/2014/main" id="{F3135C5E-3F70-57F6-623A-F9E634BEDE13}"/>
              </a:ext>
            </a:extLst>
          </p:cNvPr>
          <p:cNvSpPr/>
          <p:nvPr/>
        </p:nvSpPr>
        <p:spPr>
          <a:xfrm>
            <a:off x="498584" y="3218185"/>
            <a:ext cx="4268118" cy="673588"/>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5" name="모서리가 둥근 직사각형 64">
            <a:extLst>
              <a:ext uri="{FF2B5EF4-FFF2-40B4-BE49-F238E27FC236}">
                <a16:creationId xmlns:a16="http://schemas.microsoft.com/office/drawing/2014/main" id="{A7F47EB1-0459-ACC5-52FC-20A77BF196CD}"/>
              </a:ext>
            </a:extLst>
          </p:cNvPr>
          <p:cNvSpPr/>
          <p:nvPr/>
        </p:nvSpPr>
        <p:spPr>
          <a:xfrm>
            <a:off x="506332" y="2185910"/>
            <a:ext cx="1214285" cy="198166"/>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8" name="직사각형 67">
            <a:extLst>
              <a:ext uri="{FF2B5EF4-FFF2-40B4-BE49-F238E27FC236}">
                <a16:creationId xmlns:a16="http://schemas.microsoft.com/office/drawing/2014/main" id="{64756866-3542-7A87-B8A7-98C63094DA2E}"/>
              </a:ext>
            </a:extLst>
          </p:cNvPr>
          <p:cNvSpPr/>
          <p:nvPr/>
        </p:nvSpPr>
        <p:spPr>
          <a:xfrm>
            <a:off x="3764612" y="3218186"/>
            <a:ext cx="608590" cy="2072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7" name="TextBox 6">
            <a:extLst>
              <a:ext uri="{FF2B5EF4-FFF2-40B4-BE49-F238E27FC236}">
                <a16:creationId xmlns:a16="http://schemas.microsoft.com/office/drawing/2014/main" id="{A8609576-140A-E745-4C70-C8067A8F9EC0}"/>
              </a:ext>
            </a:extLst>
          </p:cNvPr>
          <p:cNvSpPr txBox="1"/>
          <p:nvPr/>
        </p:nvSpPr>
        <p:spPr>
          <a:xfrm>
            <a:off x="2562622" y="2437738"/>
            <a:ext cx="2973860" cy="338554"/>
          </a:xfrm>
          <a:prstGeom prst="rect">
            <a:avLst/>
          </a:prstGeom>
          <a:noFill/>
        </p:spPr>
        <p:txBody>
          <a:bodyPr wrap="square">
            <a:spAutoFit/>
          </a:bodyPr>
          <a:lstStyle/>
          <a:p>
            <a:r>
              <a:rPr lang="en-US" altLang="ko-KR" sz="1600" b="1">
                <a:solidFill>
                  <a:srgbClr val="FF0000"/>
                </a:solidFill>
              </a:rPr>
              <a:t>Set D to a small value</a:t>
            </a:r>
            <a:endParaRPr lang="ko-KR" altLang="en-US" sz="1600" b="1">
              <a:solidFill>
                <a:srgbClr val="FF0000"/>
              </a:solidFill>
            </a:endParaRPr>
          </a:p>
        </p:txBody>
      </p:sp>
      <p:sp>
        <p:nvSpPr>
          <p:cNvPr id="5" name="모서리가 둥근 직사각형 4">
            <a:extLst>
              <a:ext uri="{FF2B5EF4-FFF2-40B4-BE49-F238E27FC236}">
                <a16:creationId xmlns:a16="http://schemas.microsoft.com/office/drawing/2014/main" id="{81B1E60F-0E10-07C8-A0FA-72893A0B6FE4}"/>
              </a:ext>
            </a:extLst>
          </p:cNvPr>
          <p:cNvSpPr/>
          <p:nvPr/>
        </p:nvSpPr>
        <p:spPr>
          <a:xfrm>
            <a:off x="5589403" y="1806061"/>
            <a:ext cx="2835308" cy="2085711"/>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8" name="그림 7">
            <a:extLst>
              <a:ext uri="{FF2B5EF4-FFF2-40B4-BE49-F238E27FC236}">
                <a16:creationId xmlns:a16="http://schemas.microsoft.com/office/drawing/2014/main" id="{F59E63A9-1CA1-4476-3F8E-12C79DC7E1BE}"/>
              </a:ext>
            </a:extLst>
          </p:cNvPr>
          <p:cNvPicPr>
            <a:picLocks noChangeAspect="1"/>
          </p:cNvPicPr>
          <p:nvPr/>
        </p:nvPicPr>
        <p:blipFill>
          <a:blip r:embed="rId6"/>
          <a:srcRect l="6536" t="11261" r="51429" b="13884"/>
          <a:stretch/>
        </p:blipFill>
        <p:spPr>
          <a:xfrm>
            <a:off x="5716685" y="1964877"/>
            <a:ext cx="2583072" cy="1832475"/>
          </a:xfrm>
          <a:prstGeom prst="rect">
            <a:avLst/>
          </a:prstGeom>
        </p:spPr>
      </p:pic>
      <p:sp>
        <p:nvSpPr>
          <p:cNvPr id="16" name="TextBox 15">
            <a:extLst>
              <a:ext uri="{FF2B5EF4-FFF2-40B4-BE49-F238E27FC236}">
                <a16:creationId xmlns:a16="http://schemas.microsoft.com/office/drawing/2014/main" id="{AA07D6FA-9B5B-9581-6358-90EE33D1815B}"/>
              </a:ext>
            </a:extLst>
          </p:cNvPr>
          <p:cNvSpPr txBox="1"/>
          <p:nvPr/>
        </p:nvSpPr>
        <p:spPr>
          <a:xfrm>
            <a:off x="320214" y="4152923"/>
            <a:ext cx="1921012"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Existing systems </a:t>
            </a:r>
            <a:endParaRPr lang="ko-KR" altLang="en-US" i="1"/>
          </a:p>
        </p:txBody>
      </p:sp>
      <p:sp>
        <p:nvSpPr>
          <p:cNvPr id="17" name="타원 16">
            <a:extLst>
              <a:ext uri="{FF2B5EF4-FFF2-40B4-BE49-F238E27FC236}">
                <a16:creationId xmlns:a16="http://schemas.microsoft.com/office/drawing/2014/main" id="{7979CE5F-846B-8342-8AA7-2FFFEDBC2452}"/>
              </a:ext>
            </a:extLst>
          </p:cNvPr>
          <p:cNvSpPr/>
          <p:nvPr/>
        </p:nvSpPr>
        <p:spPr>
          <a:xfrm>
            <a:off x="6978945" y="2428868"/>
            <a:ext cx="1285102" cy="764059"/>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9" name="TextBox 18">
            <a:extLst>
              <a:ext uri="{FF2B5EF4-FFF2-40B4-BE49-F238E27FC236}">
                <a16:creationId xmlns:a16="http://schemas.microsoft.com/office/drawing/2014/main" id="{C0E82A98-ACBA-8111-68E0-79DB16374737}"/>
              </a:ext>
            </a:extLst>
          </p:cNvPr>
          <p:cNvSpPr txBox="1"/>
          <p:nvPr/>
        </p:nvSpPr>
        <p:spPr>
          <a:xfrm>
            <a:off x="7612715" y="1964877"/>
            <a:ext cx="78237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r>
              <a:rPr lang="en-US" altLang="ko-KR"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contains</a:t>
            </a:r>
          </a:p>
          <a:p>
            <a:r>
              <a:rPr lang="en-US" altLang="ko-KR"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vectors</a:t>
            </a:r>
            <a:endParaRPr lang="ko-KR" altLang="en-US"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endParaRPr>
          </a:p>
        </p:txBody>
      </p:sp>
      <p:pic>
        <p:nvPicPr>
          <p:cNvPr id="27" name="그림 26">
            <a:extLst>
              <a:ext uri="{FF2B5EF4-FFF2-40B4-BE49-F238E27FC236}">
                <a16:creationId xmlns:a16="http://schemas.microsoft.com/office/drawing/2014/main" id="{8B790018-03A1-AC66-2B49-A967F403C06A}"/>
              </a:ext>
            </a:extLst>
          </p:cNvPr>
          <p:cNvPicPr>
            <a:picLocks noChangeAspect="1"/>
          </p:cNvPicPr>
          <p:nvPr/>
        </p:nvPicPr>
        <p:blipFill>
          <a:blip r:embed="rId6"/>
          <a:srcRect l="54669" t="-382" r="5364" b="382"/>
          <a:stretch/>
        </p:blipFill>
        <p:spPr>
          <a:xfrm>
            <a:off x="5779058" y="4261343"/>
            <a:ext cx="2455997" cy="2448022"/>
          </a:xfrm>
          <a:prstGeom prst="rect">
            <a:avLst/>
          </a:prstGeom>
        </p:spPr>
      </p:pic>
      <p:sp>
        <p:nvSpPr>
          <p:cNvPr id="28" name="타원 27">
            <a:extLst>
              <a:ext uri="{FF2B5EF4-FFF2-40B4-BE49-F238E27FC236}">
                <a16:creationId xmlns:a16="http://schemas.microsoft.com/office/drawing/2014/main" id="{065A2137-2151-A33C-72F6-9719ED34A845}"/>
              </a:ext>
            </a:extLst>
          </p:cNvPr>
          <p:cNvSpPr/>
          <p:nvPr/>
        </p:nvSpPr>
        <p:spPr>
          <a:xfrm>
            <a:off x="6604564" y="5670791"/>
            <a:ext cx="1285102" cy="764059"/>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3" name="모서리가 둥근 직사각형 32">
            <a:extLst>
              <a:ext uri="{FF2B5EF4-FFF2-40B4-BE49-F238E27FC236}">
                <a16:creationId xmlns:a16="http://schemas.microsoft.com/office/drawing/2014/main" id="{1AB8BCA8-A23A-4DD6-C24F-85DC0A63FD9A}"/>
              </a:ext>
            </a:extLst>
          </p:cNvPr>
          <p:cNvSpPr/>
          <p:nvPr/>
        </p:nvSpPr>
        <p:spPr>
          <a:xfrm>
            <a:off x="5589403" y="4433340"/>
            <a:ext cx="2835308" cy="2085711"/>
          </a:xfrm>
          <a:prstGeom prst="roundRect">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36" name="그림 35">
            <a:extLst>
              <a:ext uri="{FF2B5EF4-FFF2-40B4-BE49-F238E27FC236}">
                <a16:creationId xmlns:a16="http://schemas.microsoft.com/office/drawing/2014/main" id="{F5CF2747-C813-257E-D58A-73ADCB77F461}"/>
              </a:ext>
            </a:extLst>
          </p:cNvPr>
          <p:cNvPicPr>
            <a:picLocks noChangeAspect="1"/>
          </p:cNvPicPr>
          <p:nvPr/>
        </p:nvPicPr>
        <p:blipFill>
          <a:blip r:embed="rId7"/>
          <a:stretch>
            <a:fillRect/>
          </a:stretch>
        </p:blipFill>
        <p:spPr>
          <a:xfrm>
            <a:off x="8802510" y="2284993"/>
            <a:ext cx="3146413" cy="3476890"/>
          </a:xfrm>
          <a:prstGeom prst="rect">
            <a:avLst/>
          </a:prstGeom>
        </p:spPr>
      </p:pic>
      <p:sp>
        <p:nvSpPr>
          <p:cNvPr id="38" name="TextBox 37">
            <a:extLst>
              <a:ext uri="{FF2B5EF4-FFF2-40B4-BE49-F238E27FC236}">
                <a16:creationId xmlns:a16="http://schemas.microsoft.com/office/drawing/2014/main" id="{39AA99FF-2F9F-66B9-3427-1E8BA5831E99}"/>
              </a:ext>
            </a:extLst>
          </p:cNvPr>
          <p:cNvSpPr txBox="1"/>
          <p:nvPr/>
        </p:nvSpPr>
        <p:spPr>
          <a:xfrm>
            <a:off x="5308329" y="4107454"/>
            <a:ext cx="3397453" cy="307777"/>
          </a:xfrm>
          <a:prstGeom prst="rect">
            <a:avLst/>
          </a:prstGeom>
          <a:noFill/>
        </p:spPr>
        <p:txBody>
          <a:bodyPr wrap="square">
            <a:spAutoFit/>
          </a:bodyPr>
          <a:lstStyle/>
          <a:p>
            <a:pPr algn="ctr"/>
            <a:r>
              <a:rPr lang="en-US" altLang="ko-KR" sz="1400" b="1">
                <a:latin typeface="NanumGothic" panose="020D0604000000000000" pitchFamily="34" charset="-127"/>
                <a:ea typeface="NanumGothic" panose="020D0604000000000000" pitchFamily="34" charset="-127"/>
                <a:cs typeface="Microsoft GothicNeo" panose="020B0500000101010101" pitchFamily="34" charset="-127"/>
              </a:rPr>
              <a:t>query plan from pgvector with Exqutor</a:t>
            </a:r>
            <a:endParaRPr lang="ko-KR" altLang="en-US" sz="1400" b="1"/>
          </a:p>
        </p:txBody>
      </p:sp>
      <p:sp>
        <p:nvSpPr>
          <p:cNvPr id="39" name="TextBox 38">
            <a:extLst>
              <a:ext uri="{FF2B5EF4-FFF2-40B4-BE49-F238E27FC236}">
                <a16:creationId xmlns:a16="http://schemas.microsoft.com/office/drawing/2014/main" id="{B2B754F1-E220-AA8A-FFB1-6D95100D29F5}"/>
              </a:ext>
            </a:extLst>
          </p:cNvPr>
          <p:cNvSpPr txBox="1"/>
          <p:nvPr/>
        </p:nvSpPr>
        <p:spPr>
          <a:xfrm>
            <a:off x="5308329" y="1455862"/>
            <a:ext cx="3397453" cy="307777"/>
          </a:xfrm>
          <a:prstGeom prst="rect">
            <a:avLst/>
          </a:prstGeom>
          <a:noFill/>
        </p:spPr>
        <p:txBody>
          <a:bodyPr wrap="square">
            <a:spAutoFit/>
          </a:bodyPr>
          <a:lstStyle/>
          <a:p>
            <a:pPr algn="ctr"/>
            <a:r>
              <a:rPr lang="en-US" altLang="ko-KR" sz="1400" b="1">
                <a:latin typeface="NanumGothic" panose="020D0604000000000000" pitchFamily="34" charset="-127"/>
                <a:ea typeface="NanumGothic" panose="020D0604000000000000" pitchFamily="34" charset="-127"/>
                <a:cs typeface="Microsoft GothicNeo" panose="020B0500000101010101" pitchFamily="34" charset="-127"/>
              </a:rPr>
              <a:t>query plan from pgvector</a:t>
            </a:r>
            <a:endParaRPr lang="ko-KR" altLang="en-US" sz="1400" b="1"/>
          </a:p>
        </p:txBody>
      </p:sp>
      <p:cxnSp>
        <p:nvCxnSpPr>
          <p:cNvPr id="41" name="꺾인 연결선[E] 40">
            <a:extLst>
              <a:ext uri="{FF2B5EF4-FFF2-40B4-BE49-F238E27FC236}">
                <a16:creationId xmlns:a16="http://schemas.microsoft.com/office/drawing/2014/main" id="{4490E357-5159-D1D9-CAFF-22BBA5A8F583}"/>
              </a:ext>
            </a:extLst>
          </p:cNvPr>
          <p:cNvCxnSpPr>
            <a:cxnSpLocks/>
            <a:endCxn id="33" idx="1"/>
          </p:cNvCxnSpPr>
          <p:nvPr/>
        </p:nvCxnSpPr>
        <p:spPr>
          <a:xfrm>
            <a:off x="4872998" y="5198211"/>
            <a:ext cx="716405" cy="277985"/>
          </a:xfrm>
          <a:prstGeom prst="bentConnector3">
            <a:avLst/>
          </a:prstGeom>
          <a:ln w="44450">
            <a:tailEnd type="triangle" w="lg" len="lg"/>
          </a:ln>
        </p:spPr>
        <p:style>
          <a:lnRef idx="2">
            <a:schemeClr val="dk1"/>
          </a:lnRef>
          <a:fillRef idx="0">
            <a:schemeClr val="dk1"/>
          </a:fillRef>
          <a:effectRef idx="1">
            <a:schemeClr val="dk1"/>
          </a:effectRef>
          <a:fontRef idx="minor">
            <a:schemeClr val="tx1"/>
          </a:fontRef>
        </p:style>
      </p:cxnSp>
      <p:cxnSp>
        <p:nvCxnSpPr>
          <p:cNvPr id="43" name="직선 화살표 연결선 42">
            <a:extLst>
              <a:ext uri="{FF2B5EF4-FFF2-40B4-BE49-F238E27FC236}">
                <a16:creationId xmlns:a16="http://schemas.microsoft.com/office/drawing/2014/main" id="{9C47A687-C4B7-E717-735B-E49D0BAB7C64}"/>
              </a:ext>
            </a:extLst>
          </p:cNvPr>
          <p:cNvCxnSpPr>
            <a:stCxn id="56" idx="2"/>
          </p:cNvCxnSpPr>
          <p:nvPr/>
        </p:nvCxnSpPr>
        <p:spPr>
          <a:xfrm>
            <a:off x="2650781" y="3964501"/>
            <a:ext cx="0" cy="593868"/>
          </a:xfrm>
          <a:prstGeom prst="straightConnector1">
            <a:avLst/>
          </a:prstGeom>
          <a:ln w="444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모서리가 둥근 직사각형 33">
            <a:extLst>
              <a:ext uri="{FF2B5EF4-FFF2-40B4-BE49-F238E27FC236}">
                <a16:creationId xmlns:a16="http://schemas.microsoft.com/office/drawing/2014/main" id="{3AC2A9FE-D815-8DD1-2BBD-C3F4FD76E1BB}"/>
              </a:ext>
            </a:extLst>
          </p:cNvPr>
          <p:cNvSpPr/>
          <p:nvPr/>
        </p:nvSpPr>
        <p:spPr bwMode="auto">
          <a:xfrm>
            <a:off x="428563" y="4558371"/>
            <a:ext cx="4444435" cy="973164"/>
          </a:xfrm>
          <a:prstGeom prst="roundRect">
            <a:avLst>
              <a:gd name="adj" fmla="val 14311"/>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800" err="1">
              <a:solidFill>
                <a:schemeClr val="tx1"/>
              </a:solidFill>
              <a:ea typeface="Segoe UI" pitchFamily="34" charset="0"/>
              <a:cs typeface="Segoe UI" pitchFamily="34" charset="0"/>
            </a:endParaRPr>
          </a:p>
        </p:txBody>
      </p:sp>
      <p:pic>
        <p:nvPicPr>
          <p:cNvPr id="35" name="Picture 4" descr="PostgreSQL - 나무위키">
            <a:extLst>
              <a:ext uri="{FF2B5EF4-FFF2-40B4-BE49-F238E27FC236}">
                <a16:creationId xmlns:a16="http://schemas.microsoft.com/office/drawing/2014/main" id="{35CF5D53-49C6-BAEA-BD8F-AE6E5EA5310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900" r="65532"/>
          <a:stretch/>
        </p:blipFill>
        <p:spPr bwMode="auto">
          <a:xfrm>
            <a:off x="1323610" y="4696751"/>
            <a:ext cx="458569" cy="422858"/>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B32DE475-3647-6994-F727-FEA4D14160F8}"/>
              </a:ext>
            </a:extLst>
          </p:cNvPr>
          <p:cNvSpPr txBox="1"/>
          <p:nvPr/>
        </p:nvSpPr>
        <p:spPr>
          <a:xfrm>
            <a:off x="965534" y="5137666"/>
            <a:ext cx="1174723" cy="338554"/>
          </a:xfrm>
          <a:prstGeom prst="rect">
            <a:avLst/>
          </a:prstGeom>
          <a:noFill/>
        </p:spPr>
        <p:txBody>
          <a:bodyPr wrap="square">
            <a:spAutoFit/>
          </a:bodyPr>
          <a:lstStyle/>
          <a:p>
            <a:pPr algn="ctr"/>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pgvector</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0" name="Picture 2" descr="GitHub - duckdb/duckdb-r: The duckdb R package · GitHub">
            <a:extLst>
              <a:ext uri="{FF2B5EF4-FFF2-40B4-BE49-F238E27FC236}">
                <a16:creationId xmlns:a16="http://schemas.microsoft.com/office/drawing/2014/main" id="{A55B3C23-8DDB-6101-24E0-00A50D57A459}"/>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85" r="70610"/>
          <a:stretch/>
        </p:blipFill>
        <p:spPr bwMode="auto">
          <a:xfrm>
            <a:off x="3509348" y="4677285"/>
            <a:ext cx="416060" cy="405067"/>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8B980D23-5246-BBEB-AFFF-2856E85B9695}"/>
              </a:ext>
            </a:extLst>
          </p:cNvPr>
          <p:cNvSpPr txBox="1"/>
          <p:nvPr/>
        </p:nvSpPr>
        <p:spPr>
          <a:xfrm>
            <a:off x="3004373" y="5137666"/>
            <a:ext cx="1397898" cy="338554"/>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duckdb-vss</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모서리가 둥근 직사각형 2">
            <a:extLst>
              <a:ext uri="{FF2B5EF4-FFF2-40B4-BE49-F238E27FC236}">
                <a16:creationId xmlns:a16="http://schemas.microsoft.com/office/drawing/2014/main" id="{6FD705F4-06A1-C3BA-9941-F343F24A8819}"/>
              </a:ext>
            </a:extLst>
          </p:cNvPr>
          <p:cNvSpPr/>
          <p:nvPr/>
        </p:nvSpPr>
        <p:spPr bwMode="auto">
          <a:xfrm>
            <a:off x="465162" y="5920012"/>
            <a:ext cx="4415798" cy="512943"/>
          </a:xfrm>
          <a:prstGeom prst="roundRect">
            <a:avLst>
              <a:gd name="adj" fmla="val 23947"/>
            </a:avLst>
          </a:prstGeom>
          <a:solidFill>
            <a:srgbClr val="FFDF7F"/>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800" err="1">
              <a:solidFill>
                <a:srgbClr val="FFDF7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7C8A016A-30BD-983C-5D39-5E39CC670593}"/>
              </a:ext>
            </a:extLst>
          </p:cNvPr>
          <p:cNvSpPr txBox="1"/>
          <p:nvPr/>
        </p:nvSpPr>
        <p:spPr>
          <a:xfrm>
            <a:off x="1726872" y="5978551"/>
            <a:ext cx="1921012"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Exqutor</a:t>
            </a:r>
            <a:endParaRPr lang="ko-KR" altLang="en-US" i="1"/>
          </a:p>
        </p:txBody>
      </p:sp>
      <p:pic>
        <p:nvPicPr>
          <p:cNvPr id="24" name="그림 23" descr="상징, 클립아트, 디자인이(가) 표시된 사진&#10;&#10;AI가 생성한 콘텐츠는 부정확할 수 있습니다.">
            <a:extLst>
              <a:ext uri="{FF2B5EF4-FFF2-40B4-BE49-F238E27FC236}">
                <a16:creationId xmlns:a16="http://schemas.microsoft.com/office/drawing/2014/main" id="{3F249AE3-7E13-C475-DBBF-84A66E8C333A}"/>
              </a:ext>
            </a:extLst>
          </p:cNvPr>
          <p:cNvPicPr>
            <a:picLocks noChangeAspect="1"/>
          </p:cNvPicPr>
          <p:nvPr/>
        </p:nvPicPr>
        <p:blipFill>
          <a:blip r:embed="rId10"/>
          <a:stretch>
            <a:fillRect/>
          </a:stretch>
        </p:blipFill>
        <p:spPr>
          <a:xfrm>
            <a:off x="2429735" y="5441261"/>
            <a:ext cx="515285" cy="515285"/>
          </a:xfrm>
          <a:prstGeom prst="rect">
            <a:avLst/>
          </a:prstGeom>
        </p:spPr>
      </p:pic>
      <p:pic>
        <p:nvPicPr>
          <p:cNvPr id="2" name="그림 1" descr="패턴, 사각형, 픽셀, 낱말맞추기 퍼즐이(가) 표시된 사진&#10;&#10;AI가 생성한 콘텐츠는 부정확할 수 있습니다.">
            <a:extLst>
              <a:ext uri="{FF2B5EF4-FFF2-40B4-BE49-F238E27FC236}">
                <a16:creationId xmlns:a16="http://schemas.microsoft.com/office/drawing/2014/main" id="{2112064F-EB68-DAB1-CE27-E508A4812FEC}"/>
              </a:ext>
            </a:extLst>
          </p:cNvPr>
          <p:cNvPicPr>
            <a:picLocks noChangeAspect="1"/>
          </p:cNvPicPr>
          <p:nvPr/>
        </p:nvPicPr>
        <p:blipFill>
          <a:blip r:embed="rId11"/>
          <a:stretch>
            <a:fillRect/>
          </a:stretch>
        </p:blipFill>
        <p:spPr>
          <a:xfrm>
            <a:off x="9565577" y="5761883"/>
            <a:ext cx="899551" cy="899551"/>
          </a:xfrm>
          <a:prstGeom prst="rect">
            <a:avLst/>
          </a:prstGeom>
        </p:spPr>
      </p:pic>
      <p:sp>
        <p:nvSpPr>
          <p:cNvPr id="6" name="TextBox 5">
            <a:extLst>
              <a:ext uri="{FF2B5EF4-FFF2-40B4-BE49-F238E27FC236}">
                <a16:creationId xmlns:a16="http://schemas.microsoft.com/office/drawing/2014/main" id="{E84683CF-D5F5-6F60-1FDD-444C1566F2AA}"/>
              </a:ext>
            </a:extLst>
          </p:cNvPr>
          <p:cNvSpPr txBox="1"/>
          <p:nvPr/>
        </p:nvSpPr>
        <p:spPr>
          <a:xfrm>
            <a:off x="10087166" y="5978551"/>
            <a:ext cx="210483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Exqutor</a:t>
            </a:r>
          </a:p>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on our GitHub!</a:t>
            </a:r>
          </a:p>
        </p:txBody>
      </p:sp>
    </p:spTree>
    <p:extLst>
      <p:ext uri="{BB962C8B-B14F-4D97-AF65-F5344CB8AC3E}">
        <p14:creationId xmlns:p14="http://schemas.microsoft.com/office/powerpoint/2010/main" val="18299601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9EE3D-04E1-A2D6-2D79-AB3334B99973}"/>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DFFA37C-4BC3-B1AC-70AC-F093D1E3E68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8C764B91-D65F-EC31-A23A-E498F996B1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C640E281-BB0A-BF12-1219-1ECAA8AE8CD8}"/>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a:lnSpc>
                <a:spcPct val="90000"/>
              </a:lnSpc>
              <a:spcBef>
                <a:spcPct val="0"/>
              </a:spcBef>
              <a:spcAft>
                <a:spcPts val="0"/>
              </a:spcAft>
              <a:buNone/>
              <a:tabLst/>
              <a:defRPr/>
            </a:pPr>
            <a:r>
              <a:rPr lang="ko-KR" altLang="en-US" sz="4400" err="1">
                <a:solidFill>
                  <a:srgbClr val="FFFFFF"/>
                </a:solidFill>
                <a:latin typeface="Calibri"/>
                <a:cs typeface="Calibri"/>
              </a:rPr>
              <a:t> </a:t>
            </a:r>
            <a:r>
              <a:rPr lang="en-US" altLang="ko-KR" sz="4400" err="1">
                <a:solidFill>
                  <a:srgbClr val="FFFFFF"/>
                </a:solidFill>
                <a:latin typeface="Calibri"/>
                <a:cs typeface="Calibri"/>
              </a:rPr>
              <a:t>Wrong VSS Cardinality </a:t>
            </a:r>
            <a:endParaRPr lang="ko-KR" altLang="en-US" sz="3200" err="1">
              <a:ea typeface="+mn-ea"/>
            </a:endParaRPr>
          </a:p>
        </p:txBody>
      </p:sp>
      <p:pic>
        <p:nvPicPr>
          <p:cNvPr id="56" name="그림 55" descr="텍스트, 스크린샷, 폰트, 대수학이(가) 표시된 사진&#10;&#10;AI가 생성한 콘텐츠는 부정확할 수 있습니다.">
            <a:extLst>
              <a:ext uri="{FF2B5EF4-FFF2-40B4-BE49-F238E27FC236}">
                <a16:creationId xmlns:a16="http://schemas.microsoft.com/office/drawing/2014/main" id="{A45F61A0-3EB9-FEA6-9F25-D8F39C00D9D6}"/>
              </a:ext>
            </a:extLst>
          </p:cNvPr>
          <p:cNvPicPr>
            <a:picLocks noChangeAspect="1"/>
          </p:cNvPicPr>
          <p:nvPr/>
        </p:nvPicPr>
        <p:blipFill>
          <a:blip r:embed="rId5"/>
          <a:srcRect l="9515" t="19204" r="8675" b="14689"/>
          <a:stretch/>
        </p:blipFill>
        <p:spPr>
          <a:xfrm>
            <a:off x="428563" y="1878790"/>
            <a:ext cx="4444435" cy="2085711"/>
          </a:xfrm>
          <a:prstGeom prst="rect">
            <a:avLst/>
          </a:prstGeom>
          <a:ln w="19050">
            <a:solidFill>
              <a:schemeClr val="tx1"/>
            </a:solidFill>
          </a:ln>
        </p:spPr>
      </p:pic>
      <p:sp>
        <p:nvSpPr>
          <p:cNvPr id="57" name="TextBox 56">
            <a:extLst>
              <a:ext uri="{FF2B5EF4-FFF2-40B4-BE49-F238E27FC236}">
                <a16:creationId xmlns:a16="http://schemas.microsoft.com/office/drawing/2014/main" id="{F1EB454B-8A33-2CBB-20B6-D0EF7C78C963}"/>
              </a:ext>
            </a:extLst>
          </p:cNvPr>
          <p:cNvSpPr txBox="1"/>
          <p:nvPr/>
        </p:nvSpPr>
        <p:spPr>
          <a:xfrm>
            <a:off x="503058" y="1465671"/>
            <a:ext cx="4263644"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VAQ</a:t>
            </a:r>
            <a:endParaRPr lang="ko-KR" altLang="en-US"/>
          </a:p>
        </p:txBody>
      </p:sp>
      <p:sp>
        <p:nvSpPr>
          <p:cNvPr id="64" name="모서리가 둥근 직사각형 63">
            <a:extLst>
              <a:ext uri="{FF2B5EF4-FFF2-40B4-BE49-F238E27FC236}">
                <a16:creationId xmlns:a16="http://schemas.microsoft.com/office/drawing/2014/main" id="{858E5F39-1671-5480-8E1D-F452269B54E8}"/>
              </a:ext>
            </a:extLst>
          </p:cNvPr>
          <p:cNvSpPr/>
          <p:nvPr/>
        </p:nvSpPr>
        <p:spPr>
          <a:xfrm>
            <a:off x="498584" y="3218185"/>
            <a:ext cx="4268118" cy="673588"/>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5" name="모서리가 둥근 직사각형 64">
            <a:extLst>
              <a:ext uri="{FF2B5EF4-FFF2-40B4-BE49-F238E27FC236}">
                <a16:creationId xmlns:a16="http://schemas.microsoft.com/office/drawing/2014/main" id="{18183CD8-57ED-8C75-7533-8A3D378939D0}"/>
              </a:ext>
            </a:extLst>
          </p:cNvPr>
          <p:cNvSpPr/>
          <p:nvPr/>
        </p:nvSpPr>
        <p:spPr>
          <a:xfrm>
            <a:off x="506332" y="2185910"/>
            <a:ext cx="1214285" cy="198166"/>
          </a:xfrm>
          <a:prstGeom prst="roundRect">
            <a:avLst>
              <a:gd name="adj" fmla="val 20967"/>
            </a:avLst>
          </a:prstGeom>
          <a:solidFill>
            <a:srgbClr val="00B0F0">
              <a:alpha val="1721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8" name="직사각형 67">
            <a:extLst>
              <a:ext uri="{FF2B5EF4-FFF2-40B4-BE49-F238E27FC236}">
                <a16:creationId xmlns:a16="http://schemas.microsoft.com/office/drawing/2014/main" id="{358B19AF-BC54-5DFB-849D-7CD0F58ADD47}"/>
              </a:ext>
            </a:extLst>
          </p:cNvPr>
          <p:cNvSpPr/>
          <p:nvPr/>
        </p:nvSpPr>
        <p:spPr>
          <a:xfrm>
            <a:off x="3764612" y="3218186"/>
            <a:ext cx="608590" cy="20726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7" name="TextBox 6">
            <a:extLst>
              <a:ext uri="{FF2B5EF4-FFF2-40B4-BE49-F238E27FC236}">
                <a16:creationId xmlns:a16="http://schemas.microsoft.com/office/drawing/2014/main" id="{4CCDE67D-743E-9918-4B3F-62DA7536E918}"/>
              </a:ext>
            </a:extLst>
          </p:cNvPr>
          <p:cNvSpPr txBox="1"/>
          <p:nvPr/>
        </p:nvSpPr>
        <p:spPr>
          <a:xfrm>
            <a:off x="2562622" y="2437738"/>
            <a:ext cx="2973860" cy="338554"/>
          </a:xfrm>
          <a:prstGeom prst="rect">
            <a:avLst/>
          </a:prstGeom>
          <a:noFill/>
        </p:spPr>
        <p:txBody>
          <a:bodyPr wrap="square">
            <a:spAutoFit/>
          </a:bodyPr>
          <a:lstStyle/>
          <a:p>
            <a:r>
              <a:rPr lang="en-US" altLang="ko-KR" sz="1600" b="1">
                <a:solidFill>
                  <a:srgbClr val="FF0000"/>
                </a:solidFill>
              </a:rPr>
              <a:t>Set D to a small value</a:t>
            </a:r>
            <a:endParaRPr lang="ko-KR" altLang="en-US" sz="1600" b="1">
              <a:solidFill>
                <a:srgbClr val="FF0000"/>
              </a:solidFill>
            </a:endParaRPr>
          </a:p>
        </p:txBody>
      </p:sp>
      <p:sp>
        <p:nvSpPr>
          <p:cNvPr id="5" name="모서리가 둥근 직사각형 4">
            <a:extLst>
              <a:ext uri="{FF2B5EF4-FFF2-40B4-BE49-F238E27FC236}">
                <a16:creationId xmlns:a16="http://schemas.microsoft.com/office/drawing/2014/main" id="{555A9C40-A415-61E0-9BCF-DF8EF44DD264}"/>
              </a:ext>
            </a:extLst>
          </p:cNvPr>
          <p:cNvSpPr/>
          <p:nvPr/>
        </p:nvSpPr>
        <p:spPr>
          <a:xfrm>
            <a:off x="5589403" y="1806061"/>
            <a:ext cx="2835308" cy="2085711"/>
          </a:xfrm>
          <a:prstGeom prst="round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8" name="그림 7">
            <a:extLst>
              <a:ext uri="{FF2B5EF4-FFF2-40B4-BE49-F238E27FC236}">
                <a16:creationId xmlns:a16="http://schemas.microsoft.com/office/drawing/2014/main" id="{B49509EA-FDF4-04EB-7404-EFDED9E4A922}"/>
              </a:ext>
            </a:extLst>
          </p:cNvPr>
          <p:cNvPicPr>
            <a:picLocks noChangeAspect="1"/>
          </p:cNvPicPr>
          <p:nvPr/>
        </p:nvPicPr>
        <p:blipFill>
          <a:blip r:embed="rId6"/>
          <a:srcRect l="6536" t="11261" r="51429" b="13884"/>
          <a:stretch/>
        </p:blipFill>
        <p:spPr>
          <a:xfrm>
            <a:off x="5716685" y="1964877"/>
            <a:ext cx="2583072" cy="1832475"/>
          </a:xfrm>
          <a:prstGeom prst="rect">
            <a:avLst/>
          </a:prstGeom>
        </p:spPr>
      </p:pic>
      <p:sp>
        <p:nvSpPr>
          <p:cNvPr id="16" name="TextBox 15">
            <a:extLst>
              <a:ext uri="{FF2B5EF4-FFF2-40B4-BE49-F238E27FC236}">
                <a16:creationId xmlns:a16="http://schemas.microsoft.com/office/drawing/2014/main" id="{1A420C2E-74A4-3EAD-7CBF-AD32F66841D4}"/>
              </a:ext>
            </a:extLst>
          </p:cNvPr>
          <p:cNvSpPr txBox="1"/>
          <p:nvPr/>
        </p:nvSpPr>
        <p:spPr>
          <a:xfrm>
            <a:off x="320214" y="4152923"/>
            <a:ext cx="1921012"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Existing systems </a:t>
            </a:r>
            <a:endParaRPr lang="ko-KR" altLang="en-US" i="1"/>
          </a:p>
        </p:txBody>
      </p:sp>
      <p:sp>
        <p:nvSpPr>
          <p:cNvPr id="17" name="타원 16">
            <a:extLst>
              <a:ext uri="{FF2B5EF4-FFF2-40B4-BE49-F238E27FC236}">
                <a16:creationId xmlns:a16="http://schemas.microsoft.com/office/drawing/2014/main" id="{21D0AAAC-CA4C-B396-C7E8-25B071409164}"/>
              </a:ext>
            </a:extLst>
          </p:cNvPr>
          <p:cNvSpPr/>
          <p:nvPr/>
        </p:nvSpPr>
        <p:spPr>
          <a:xfrm>
            <a:off x="6978945" y="2428868"/>
            <a:ext cx="1285102" cy="764059"/>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9" name="TextBox 18">
            <a:extLst>
              <a:ext uri="{FF2B5EF4-FFF2-40B4-BE49-F238E27FC236}">
                <a16:creationId xmlns:a16="http://schemas.microsoft.com/office/drawing/2014/main" id="{6EDED11D-C14C-5ECD-893B-E98E34BD99D9}"/>
              </a:ext>
            </a:extLst>
          </p:cNvPr>
          <p:cNvSpPr txBox="1"/>
          <p:nvPr/>
        </p:nvSpPr>
        <p:spPr>
          <a:xfrm>
            <a:off x="7612715" y="1964877"/>
            <a:ext cx="78237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r>
              <a:rPr lang="en-US" altLang="ko-KR"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contains</a:t>
            </a:r>
          </a:p>
          <a:p>
            <a:r>
              <a:rPr lang="en-US" altLang="ko-KR"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vectors</a:t>
            </a:r>
            <a:endParaRPr lang="ko-KR" altLang="en-US" sz="1200" b="1" i="1">
              <a:solidFill>
                <a:srgbClr val="00B0F0"/>
              </a:solidFill>
              <a:latin typeface="NanumGothic" panose="020D0604000000000000" pitchFamily="34" charset="-127"/>
              <a:ea typeface="NanumGothic" panose="020D0604000000000000" pitchFamily="34" charset="-127"/>
              <a:cs typeface="Open Sans" panose="020B0606030504020204" pitchFamily="34" charset="0"/>
            </a:endParaRPr>
          </a:p>
        </p:txBody>
      </p:sp>
      <p:pic>
        <p:nvPicPr>
          <p:cNvPr id="27" name="그림 26">
            <a:extLst>
              <a:ext uri="{FF2B5EF4-FFF2-40B4-BE49-F238E27FC236}">
                <a16:creationId xmlns:a16="http://schemas.microsoft.com/office/drawing/2014/main" id="{BEA98269-2FEE-50FA-3E03-D747C546DCF4}"/>
              </a:ext>
            </a:extLst>
          </p:cNvPr>
          <p:cNvPicPr>
            <a:picLocks noChangeAspect="1"/>
          </p:cNvPicPr>
          <p:nvPr/>
        </p:nvPicPr>
        <p:blipFill>
          <a:blip r:embed="rId6"/>
          <a:srcRect l="54669" t="-382" r="5364" b="382"/>
          <a:stretch/>
        </p:blipFill>
        <p:spPr>
          <a:xfrm>
            <a:off x="5779058" y="4261343"/>
            <a:ext cx="2455997" cy="2448022"/>
          </a:xfrm>
          <a:prstGeom prst="rect">
            <a:avLst/>
          </a:prstGeom>
        </p:spPr>
      </p:pic>
      <p:sp>
        <p:nvSpPr>
          <p:cNvPr id="28" name="타원 27">
            <a:extLst>
              <a:ext uri="{FF2B5EF4-FFF2-40B4-BE49-F238E27FC236}">
                <a16:creationId xmlns:a16="http://schemas.microsoft.com/office/drawing/2014/main" id="{07853DF1-58A8-F0D6-45C5-4710AEC86495}"/>
              </a:ext>
            </a:extLst>
          </p:cNvPr>
          <p:cNvSpPr/>
          <p:nvPr/>
        </p:nvSpPr>
        <p:spPr>
          <a:xfrm>
            <a:off x="6604564" y="5670791"/>
            <a:ext cx="1285102" cy="764059"/>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3" name="모서리가 둥근 직사각형 32">
            <a:extLst>
              <a:ext uri="{FF2B5EF4-FFF2-40B4-BE49-F238E27FC236}">
                <a16:creationId xmlns:a16="http://schemas.microsoft.com/office/drawing/2014/main" id="{561AE1BA-BD08-C0C2-70D7-993D74CD6F53}"/>
              </a:ext>
            </a:extLst>
          </p:cNvPr>
          <p:cNvSpPr/>
          <p:nvPr/>
        </p:nvSpPr>
        <p:spPr>
          <a:xfrm>
            <a:off x="5589403" y="4433340"/>
            <a:ext cx="2835308" cy="2085711"/>
          </a:xfrm>
          <a:prstGeom prst="roundRect">
            <a:avLst/>
          </a:prstGeom>
          <a:noFill/>
          <a:ln w="190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36" name="그림 35">
            <a:extLst>
              <a:ext uri="{FF2B5EF4-FFF2-40B4-BE49-F238E27FC236}">
                <a16:creationId xmlns:a16="http://schemas.microsoft.com/office/drawing/2014/main" id="{27E0FEF2-1AEF-0087-B1BC-B02E6781029C}"/>
              </a:ext>
            </a:extLst>
          </p:cNvPr>
          <p:cNvPicPr>
            <a:picLocks noChangeAspect="1"/>
          </p:cNvPicPr>
          <p:nvPr/>
        </p:nvPicPr>
        <p:blipFill>
          <a:blip r:embed="rId7"/>
          <a:stretch>
            <a:fillRect/>
          </a:stretch>
        </p:blipFill>
        <p:spPr>
          <a:xfrm>
            <a:off x="8802510" y="2284993"/>
            <a:ext cx="3146413" cy="3476890"/>
          </a:xfrm>
          <a:prstGeom prst="rect">
            <a:avLst/>
          </a:prstGeom>
        </p:spPr>
      </p:pic>
      <p:sp>
        <p:nvSpPr>
          <p:cNvPr id="38" name="TextBox 37">
            <a:extLst>
              <a:ext uri="{FF2B5EF4-FFF2-40B4-BE49-F238E27FC236}">
                <a16:creationId xmlns:a16="http://schemas.microsoft.com/office/drawing/2014/main" id="{48D4976C-C8E4-5BBC-37A6-7979378A20F6}"/>
              </a:ext>
            </a:extLst>
          </p:cNvPr>
          <p:cNvSpPr txBox="1"/>
          <p:nvPr/>
        </p:nvSpPr>
        <p:spPr>
          <a:xfrm>
            <a:off x="5308329" y="4107454"/>
            <a:ext cx="3397453" cy="307777"/>
          </a:xfrm>
          <a:prstGeom prst="rect">
            <a:avLst/>
          </a:prstGeom>
          <a:noFill/>
        </p:spPr>
        <p:txBody>
          <a:bodyPr wrap="square">
            <a:spAutoFit/>
          </a:bodyPr>
          <a:lstStyle/>
          <a:p>
            <a:pPr algn="ctr"/>
            <a:r>
              <a:rPr lang="en-US" altLang="ko-KR" sz="1400" b="1">
                <a:latin typeface="NanumGothic" panose="020D0604000000000000" pitchFamily="34" charset="-127"/>
                <a:ea typeface="NanumGothic" panose="020D0604000000000000" pitchFamily="34" charset="-127"/>
                <a:cs typeface="Microsoft GothicNeo" panose="020B0500000101010101" pitchFamily="34" charset="-127"/>
              </a:rPr>
              <a:t>query plan from pgvector with Exqutor</a:t>
            </a:r>
            <a:endParaRPr lang="ko-KR" altLang="en-US" sz="1400" b="1"/>
          </a:p>
        </p:txBody>
      </p:sp>
      <p:sp>
        <p:nvSpPr>
          <p:cNvPr id="39" name="TextBox 38">
            <a:extLst>
              <a:ext uri="{FF2B5EF4-FFF2-40B4-BE49-F238E27FC236}">
                <a16:creationId xmlns:a16="http://schemas.microsoft.com/office/drawing/2014/main" id="{D320B719-A6F6-F146-C8B1-A1ABD1FA57C9}"/>
              </a:ext>
            </a:extLst>
          </p:cNvPr>
          <p:cNvSpPr txBox="1"/>
          <p:nvPr/>
        </p:nvSpPr>
        <p:spPr>
          <a:xfrm>
            <a:off x="5308329" y="1455862"/>
            <a:ext cx="3397453" cy="307777"/>
          </a:xfrm>
          <a:prstGeom prst="rect">
            <a:avLst/>
          </a:prstGeom>
          <a:noFill/>
        </p:spPr>
        <p:txBody>
          <a:bodyPr wrap="square">
            <a:spAutoFit/>
          </a:bodyPr>
          <a:lstStyle/>
          <a:p>
            <a:pPr algn="ctr"/>
            <a:r>
              <a:rPr lang="en-US" altLang="ko-KR" sz="1400" b="1">
                <a:latin typeface="NanumGothic" panose="020D0604000000000000" pitchFamily="34" charset="-127"/>
                <a:ea typeface="NanumGothic" panose="020D0604000000000000" pitchFamily="34" charset="-127"/>
                <a:cs typeface="Microsoft GothicNeo" panose="020B0500000101010101" pitchFamily="34" charset="-127"/>
              </a:rPr>
              <a:t>query plan from pgvector</a:t>
            </a:r>
            <a:endParaRPr lang="ko-KR" altLang="en-US" sz="1400" b="1"/>
          </a:p>
        </p:txBody>
      </p:sp>
      <p:cxnSp>
        <p:nvCxnSpPr>
          <p:cNvPr id="41" name="꺾인 연결선[E] 40">
            <a:extLst>
              <a:ext uri="{FF2B5EF4-FFF2-40B4-BE49-F238E27FC236}">
                <a16:creationId xmlns:a16="http://schemas.microsoft.com/office/drawing/2014/main" id="{65ED9C4C-F1B6-0EE9-B490-D7D60A2470DA}"/>
              </a:ext>
            </a:extLst>
          </p:cNvPr>
          <p:cNvCxnSpPr>
            <a:cxnSpLocks/>
            <a:endCxn id="33" idx="1"/>
          </p:cNvCxnSpPr>
          <p:nvPr/>
        </p:nvCxnSpPr>
        <p:spPr>
          <a:xfrm>
            <a:off x="4872998" y="5198211"/>
            <a:ext cx="716405" cy="277985"/>
          </a:xfrm>
          <a:prstGeom prst="bentConnector3">
            <a:avLst/>
          </a:prstGeom>
          <a:ln w="44450">
            <a:tailEnd type="triangle" w="lg" len="lg"/>
          </a:ln>
        </p:spPr>
        <p:style>
          <a:lnRef idx="2">
            <a:schemeClr val="dk1"/>
          </a:lnRef>
          <a:fillRef idx="0">
            <a:schemeClr val="dk1"/>
          </a:fillRef>
          <a:effectRef idx="1">
            <a:schemeClr val="dk1"/>
          </a:effectRef>
          <a:fontRef idx="minor">
            <a:schemeClr val="tx1"/>
          </a:fontRef>
        </p:style>
      </p:cxnSp>
      <p:cxnSp>
        <p:nvCxnSpPr>
          <p:cNvPr id="43" name="직선 화살표 연결선 42">
            <a:extLst>
              <a:ext uri="{FF2B5EF4-FFF2-40B4-BE49-F238E27FC236}">
                <a16:creationId xmlns:a16="http://schemas.microsoft.com/office/drawing/2014/main" id="{97CB901D-214E-1948-2B60-F0E5B4BD3681}"/>
              </a:ext>
            </a:extLst>
          </p:cNvPr>
          <p:cNvCxnSpPr>
            <a:stCxn id="56" idx="2"/>
          </p:cNvCxnSpPr>
          <p:nvPr/>
        </p:nvCxnSpPr>
        <p:spPr>
          <a:xfrm>
            <a:off x="2650781" y="3964501"/>
            <a:ext cx="0" cy="593868"/>
          </a:xfrm>
          <a:prstGeom prst="straightConnector1">
            <a:avLst/>
          </a:prstGeom>
          <a:ln w="44450">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34" name="모서리가 둥근 직사각형 33">
            <a:extLst>
              <a:ext uri="{FF2B5EF4-FFF2-40B4-BE49-F238E27FC236}">
                <a16:creationId xmlns:a16="http://schemas.microsoft.com/office/drawing/2014/main" id="{AA10E7F3-8505-DD88-4AC5-22B4AF6D9ECA}"/>
              </a:ext>
            </a:extLst>
          </p:cNvPr>
          <p:cNvSpPr/>
          <p:nvPr/>
        </p:nvSpPr>
        <p:spPr bwMode="auto">
          <a:xfrm>
            <a:off x="428563" y="4558371"/>
            <a:ext cx="4444435" cy="973164"/>
          </a:xfrm>
          <a:prstGeom prst="roundRect">
            <a:avLst>
              <a:gd name="adj" fmla="val 14311"/>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800" err="1">
              <a:solidFill>
                <a:schemeClr val="tx1"/>
              </a:solidFill>
              <a:ea typeface="Segoe UI" pitchFamily="34" charset="0"/>
              <a:cs typeface="Segoe UI" pitchFamily="34" charset="0"/>
            </a:endParaRPr>
          </a:p>
        </p:txBody>
      </p:sp>
      <p:pic>
        <p:nvPicPr>
          <p:cNvPr id="35" name="Picture 4" descr="PostgreSQL - 나무위키">
            <a:extLst>
              <a:ext uri="{FF2B5EF4-FFF2-40B4-BE49-F238E27FC236}">
                <a16:creationId xmlns:a16="http://schemas.microsoft.com/office/drawing/2014/main" id="{A9823148-A62D-A433-F633-9E084C1A0770}"/>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900" r="65532"/>
          <a:stretch/>
        </p:blipFill>
        <p:spPr bwMode="auto">
          <a:xfrm>
            <a:off x="1323610" y="4696751"/>
            <a:ext cx="458569" cy="422858"/>
          </a:xfrm>
          <a:prstGeom prst="rect">
            <a:avLst/>
          </a:prstGeom>
          <a:noFill/>
          <a:extLst>
            <a:ext uri="{909E8E84-426E-40DD-AFC4-6F175D3DCCD1}">
              <a14:hiddenFill xmlns:a14="http://schemas.microsoft.com/office/drawing/2010/main">
                <a:solidFill>
                  <a:srgbClr val="FFFFFF"/>
                </a:solidFill>
              </a14:hiddenFill>
            </a:ext>
          </a:extLst>
        </p:spPr>
      </p:pic>
      <p:sp>
        <p:nvSpPr>
          <p:cNvPr id="37" name="TextBox 36">
            <a:extLst>
              <a:ext uri="{FF2B5EF4-FFF2-40B4-BE49-F238E27FC236}">
                <a16:creationId xmlns:a16="http://schemas.microsoft.com/office/drawing/2014/main" id="{96C3A9A0-B2EB-04C5-6A66-8F689955735A}"/>
              </a:ext>
            </a:extLst>
          </p:cNvPr>
          <p:cNvSpPr txBox="1"/>
          <p:nvPr/>
        </p:nvSpPr>
        <p:spPr>
          <a:xfrm>
            <a:off x="965534" y="5137666"/>
            <a:ext cx="1174723" cy="338554"/>
          </a:xfrm>
          <a:prstGeom prst="rect">
            <a:avLst/>
          </a:prstGeom>
          <a:noFill/>
        </p:spPr>
        <p:txBody>
          <a:bodyPr wrap="square">
            <a:spAutoFit/>
          </a:bodyPr>
          <a:lstStyle/>
          <a:p>
            <a:pPr algn="ctr"/>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pgvector</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40" name="Picture 2" descr="GitHub - duckdb/duckdb-r: The duckdb R package · GitHub">
            <a:extLst>
              <a:ext uri="{FF2B5EF4-FFF2-40B4-BE49-F238E27FC236}">
                <a16:creationId xmlns:a16="http://schemas.microsoft.com/office/drawing/2014/main" id="{B6BDDC5E-6388-FE0E-5276-148FE2E1F5F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385" r="70610"/>
          <a:stretch/>
        </p:blipFill>
        <p:spPr bwMode="auto">
          <a:xfrm>
            <a:off x="3509348" y="4677285"/>
            <a:ext cx="416060" cy="405067"/>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BDF5DBF9-1622-30C5-0803-9FA5F18FB5FB}"/>
              </a:ext>
            </a:extLst>
          </p:cNvPr>
          <p:cNvSpPr txBox="1"/>
          <p:nvPr/>
        </p:nvSpPr>
        <p:spPr>
          <a:xfrm>
            <a:off x="3004373" y="5137666"/>
            <a:ext cx="1397898" cy="338554"/>
          </a:xfrm>
          <a:prstGeom prst="rect">
            <a:avLst/>
          </a:prstGeom>
          <a:noFill/>
        </p:spPr>
        <p:txBody>
          <a:bodyPr wrap="square">
            <a:spAutoFit/>
          </a:bodyPr>
          <a:lstStyle/>
          <a:p>
            <a:r>
              <a:rPr kumimoji="1" lang="en-US" altLang="ko-KR" sz="1600" b="1" err="1">
                <a:solidFill>
                  <a:schemeClr val="tx1"/>
                </a:solidFill>
                <a:latin typeface="Open Sans" panose="020B0606030504020204" pitchFamily="34" charset="0"/>
                <a:ea typeface="Open Sans" panose="020B0606030504020204" pitchFamily="34" charset="0"/>
                <a:cs typeface="Open Sans" panose="020B0606030504020204" pitchFamily="34" charset="0"/>
              </a:rPr>
              <a:t>duckdb-vss</a:t>
            </a:r>
            <a:endParaRPr kumimoji="1" lang="en-US" altLang="ko-KR" sz="1600" b="1">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모서리가 둥근 직사각형 2">
            <a:extLst>
              <a:ext uri="{FF2B5EF4-FFF2-40B4-BE49-F238E27FC236}">
                <a16:creationId xmlns:a16="http://schemas.microsoft.com/office/drawing/2014/main" id="{0C1335D0-2726-048A-27BF-6BFBC555EDF0}"/>
              </a:ext>
            </a:extLst>
          </p:cNvPr>
          <p:cNvSpPr/>
          <p:nvPr/>
        </p:nvSpPr>
        <p:spPr bwMode="auto">
          <a:xfrm>
            <a:off x="465162" y="5920012"/>
            <a:ext cx="4415798" cy="512943"/>
          </a:xfrm>
          <a:prstGeom prst="roundRect">
            <a:avLst>
              <a:gd name="adj" fmla="val 23947"/>
            </a:avLst>
          </a:prstGeom>
          <a:solidFill>
            <a:srgbClr val="FFDF7F"/>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lnSpc>
                <a:spcPct val="90000"/>
              </a:lnSpc>
              <a:spcBef>
                <a:spcPct val="0"/>
              </a:spcBef>
              <a:spcAft>
                <a:spcPct val="0"/>
              </a:spcAft>
            </a:pPr>
            <a:endParaRPr kumimoji="1" lang="ko-KR" altLang="en-US" sz="2800" err="1">
              <a:solidFill>
                <a:srgbClr val="FFDF7F"/>
              </a:solidFill>
              <a:ea typeface="Segoe UI" pitchFamily="34" charset="0"/>
              <a:cs typeface="Segoe UI" pitchFamily="34" charset="0"/>
            </a:endParaRPr>
          </a:p>
        </p:txBody>
      </p:sp>
      <p:sp>
        <p:nvSpPr>
          <p:cNvPr id="18" name="TextBox 17">
            <a:extLst>
              <a:ext uri="{FF2B5EF4-FFF2-40B4-BE49-F238E27FC236}">
                <a16:creationId xmlns:a16="http://schemas.microsoft.com/office/drawing/2014/main" id="{6AF0AB46-2CE7-CB02-6C09-4C6DF5D58A1A}"/>
              </a:ext>
            </a:extLst>
          </p:cNvPr>
          <p:cNvSpPr txBox="1"/>
          <p:nvPr/>
        </p:nvSpPr>
        <p:spPr>
          <a:xfrm>
            <a:off x="1726872" y="5978551"/>
            <a:ext cx="1921012" cy="369332"/>
          </a:xfrm>
          <a:prstGeom prst="rect">
            <a:avLst/>
          </a:prstGeom>
          <a:noFill/>
        </p:spPr>
        <p:txBody>
          <a:bodyPr wrap="square">
            <a:spAutoFit/>
          </a:bodyPr>
          <a:lstStyle/>
          <a:p>
            <a:pPr algn="ctr"/>
            <a:r>
              <a:rPr lang="en-US" altLang="ko-KR" sz="1800" b="1">
                <a:latin typeface="NanumGothic" panose="020D0604000000000000" pitchFamily="34" charset="-127"/>
                <a:ea typeface="NanumGothic" panose="020D0604000000000000" pitchFamily="34" charset="-127"/>
                <a:cs typeface="Microsoft GothicNeo" panose="020B0500000101010101" pitchFamily="34" charset="-127"/>
              </a:rPr>
              <a:t>Exqutor</a:t>
            </a:r>
            <a:endParaRPr lang="ko-KR" altLang="en-US" i="1"/>
          </a:p>
        </p:txBody>
      </p:sp>
      <p:pic>
        <p:nvPicPr>
          <p:cNvPr id="24" name="그림 23" descr="상징, 클립아트, 디자인이(가) 표시된 사진&#10;&#10;AI가 생성한 콘텐츠는 부정확할 수 있습니다.">
            <a:extLst>
              <a:ext uri="{FF2B5EF4-FFF2-40B4-BE49-F238E27FC236}">
                <a16:creationId xmlns:a16="http://schemas.microsoft.com/office/drawing/2014/main" id="{1D9D2716-EE36-A92A-82DD-F07BD7FCE3C5}"/>
              </a:ext>
            </a:extLst>
          </p:cNvPr>
          <p:cNvPicPr>
            <a:picLocks noChangeAspect="1"/>
          </p:cNvPicPr>
          <p:nvPr/>
        </p:nvPicPr>
        <p:blipFill>
          <a:blip r:embed="rId10"/>
          <a:stretch>
            <a:fillRect/>
          </a:stretch>
        </p:blipFill>
        <p:spPr>
          <a:xfrm>
            <a:off x="2429735" y="5441261"/>
            <a:ext cx="515285" cy="515285"/>
          </a:xfrm>
          <a:prstGeom prst="rect">
            <a:avLst/>
          </a:prstGeom>
        </p:spPr>
      </p:pic>
      <p:sp>
        <p:nvSpPr>
          <p:cNvPr id="2" name="직사각형 1">
            <a:extLst>
              <a:ext uri="{FF2B5EF4-FFF2-40B4-BE49-F238E27FC236}">
                <a16:creationId xmlns:a16="http://schemas.microsoft.com/office/drawing/2014/main" id="{F7F33D32-582F-8B9A-8E42-2C41202F2329}"/>
              </a:ext>
            </a:extLst>
          </p:cNvPr>
          <p:cNvSpPr/>
          <p:nvPr/>
        </p:nvSpPr>
        <p:spPr>
          <a:xfrm>
            <a:off x="0" y="1325563"/>
            <a:ext cx="12192000" cy="5532437"/>
          </a:xfrm>
          <a:prstGeom prst="rect">
            <a:avLst/>
          </a:prstGeom>
          <a:solidFill>
            <a:srgbClr val="000000">
              <a:alpha val="5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6" name="모서리가 둥근 직사각형 5">
            <a:extLst>
              <a:ext uri="{FF2B5EF4-FFF2-40B4-BE49-F238E27FC236}">
                <a16:creationId xmlns:a16="http://schemas.microsoft.com/office/drawing/2014/main" id="{85938831-B76B-37E0-934B-1A885736A6B7}"/>
              </a:ext>
            </a:extLst>
          </p:cNvPr>
          <p:cNvSpPr/>
          <p:nvPr/>
        </p:nvSpPr>
        <p:spPr>
          <a:xfrm>
            <a:off x="454354" y="2957777"/>
            <a:ext cx="11104536" cy="1746008"/>
          </a:xfrm>
          <a:prstGeom prst="roundRect">
            <a:avLst>
              <a:gd name="adj" fmla="val 10269"/>
            </a:avLst>
          </a:prstGeom>
          <a:solidFill>
            <a:srgbClr val="FFFFE8"/>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altLang="ko-KR" sz="2000" b="1">
                <a:solidFill>
                  <a:srgbClr val="FF0000"/>
                </a:solidFill>
                <a:latin typeface="NanumGothic" panose="020D0604000000000000" pitchFamily="34" charset="-127"/>
                <a:ea typeface="NanumGothic" panose="020D0604000000000000" pitchFamily="34" charset="-127"/>
                <a:cs typeface="Microsoft GothicNeo" panose="020B0500000101010101" pitchFamily="34" charset="-127"/>
              </a:rPr>
              <a:t>Accurate VSS cardinality estimation </a:t>
            </a:r>
            <a:r>
              <a:rPr lang="en-US" altLang="ko-KR" sz="2000" b="1">
                <a:solidFill>
                  <a:schemeClr val="tx1"/>
                </a:solidFill>
                <a:latin typeface="NanumGothic" panose="020D0604000000000000" pitchFamily="34" charset="-127"/>
                <a:ea typeface="NanumGothic" panose="020D0604000000000000" pitchFamily="34" charset="-127"/>
                <a:cs typeface="Microsoft GothicNeo" panose="020B0500000101010101" pitchFamily="34" charset="-127"/>
              </a:rPr>
              <a:t>is the key of the performance VAQ</a:t>
            </a:r>
            <a:r>
              <a:rPr lang="en-US" altLang="ko-KR" sz="2000" b="1" i="1">
                <a:solidFill>
                  <a:schemeClr val="tx1"/>
                </a:solidFill>
                <a:latin typeface="NanumGothic" panose="020D0604000000000000" pitchFamily="34" charset="-127"/>
                <a:ea typeface="NanumGothic" panose="020D0604000000000000" pitchFamily="34" charset="-127"/>
                <a:cs typeface="Microsoft GothicNeo" panose="020B0500000101010101" pitchFamily="34" charset="-127"/>
              </a:rPr>
              <a:t>!!</a:t>
            </a:r>
            <a:endParaRPr lang="ko-KR" altLang="en-US" sz="2000" i="1">
              <a:solidFill>
                <a:schemeClr val="tx1"/>
              </a:solidFill>
            </a:endParaRPr>
          </a:p>
        </p:txBody>
      </p:sp>
    </p:spTree>
    <p:extLst>
      <p:ext uri="{BB962C8B-B14F-4D97-AF65-F5344CB8AC3E}">
        <p14:creationId xmlns:p14="http://schemas.microsoft.com/office/powerpoint/2010/main" val="3529702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304BF-3508-BD95-B1AC-A5C6A7DB9DCB}"/>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8611F09-3FC3-B80D-6B9F-25DD47A6812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3C71027A-6D5C-C6BD-1A4B-78C34F8C82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D2727EE9-E129-3E79-95A1-6F593A93EA87}"/>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ko-KR" altLang="en-US" sz="4400" err="1">
                <a:solidFill>
                  <a:srgbClr val="FFFFFF"/>
                </a:solidFill>
                <a:latin typeface="Calibri"/>
                <a:ea typeface="Calibri"/>
                <a:cs typeface="Calibri"/>
              </a:rPr>
              <a:t> </a:t>
            </a:r>
            <a:r>
              <a:rPr lang="en-US" sz="4400" err="1">
                <a:solidFill>
                  <a:srgbClr val="FFFFFF"/>
                </a:solidFill>
                <a:latin typeface="Calibri"/>
                <a:ea typeface="Calibri"/>
                <a:cs typeface="Calibri"/>
              </a:rPr>
              <a:t>Exqutor</a:t>
            </a:r>
            <a:endParaRPr kumimoji="0" lang="en-US" sz="44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sp>
        <p:nvSpPr>
          <p:cNvPr id="2" name="TextBox 1">
            <a:extLst>
              <a:ext uri="{FF2B5EF4-FFF2-40B4-BE49-F238E27FC236}">
                <a16:creationId xmlns:a16="http://schemas.microsoft.com/office/drawing/2014/main" id="{378A5B9D-7B7D-97F6-2628-01D039E00E2C}"/>
              </a:ext>
            </a:extLst>
          </p:cNvPr>
          <p:cNvSpPr txBox="1"/>
          <p:nvPr/>
        </p:nvSpPr>
        <p:spPr>
          <a:xfrm>
            <a:off x="438467" y="1464501"/>
            <a:ext cx="11315065" cy="463588"/>
          </a:xfrm>
          <a:prstGeom prst="rect">
            <a:avLst/>
          </a:prstGeom>
          <a:noFill/>
        </p:spPr>
        <p:txBody>
          <a:bodyPr wrap="square">
            <a:spAutoFit/>
          </a:bodyPr>
          <a:lstStyle/>
          <a:p>
            <a:pPr algn="ctr">
              <a:lnSpc>
                <a:spcPct val="150000"/>
              </a:lnSpc>
            </a:pPr>
            <a:r>
              <a:rPr kumimoji="1" lang="en" altLang="ko-KR" b="1" i="1">
                <a:latin typeface="Open Sans" panose="020B0606030504020204" pitchFamily="34" charset="0"/>
                <a:ea typeface="Open Sans" panose="020B0606030504020204" pitchFamily="34" charset="0"/>
                <a:cs typeface="Open Sans" panose="020B0606030504020204" pitchFamily="34" charset="0"/>
              </a:rPr>
              <a:t>An open-source, pluggable framework for improving VSS cardinality estimation in existing DBMSs</a:t>
            </a:r>
            <a:endParaRPr kumimoji="1" lang="en-US" altLang="ko-KR" b="1" i="1">
              <a:latin typeface="Open Sans" panose="020B0606030504020204" pitchFamily="34" charset="0"/>
              <a:ea typeface="Open Sans" panose="020B0606030504020204" pitchFamily="34" charset="0"/>
              <a:cs typeface="Open Sans" panose="020B0606030504020204" pitchFamily="34" charset="0"/>
            </a:endParaRPr>
          </a:p>
        </p:txBody>
      </p:sp>
      <p:pic>
        <p:nvPicPr>
          <p:cNvPr id="9" name="그림 8">
            <a:extLst>
              <a:ext uri="{FF2B5EF4-FFF2-40B4-BE49-F238E27FC236}">
                <a16:creationId xmlns:a16="http://schemas.microsoft.com/office/drawing/2014/main" id="{2C038653-E49F-0732-85E9-7C5AA825F9FB}"/>
              </a:ext>
            </a:extLst>
          </p:cNvPr>
          <p:cNvPicPr>
            <a:picLocks noChangeAspect="1"/>
          </p:cNvPicPr>
          <p:nvPr/>
        </p:nvPicPr>
        <p:blipFill>
          <a:blip r:embed="rId5"/>
          <a:srcRect/>
          <a:stretch/>
        </p:blipFill>
        <p:spPr>
          <a:xfrm>
            <a:off x="2119784" y="2382380"/>
            <a:ext cx="7952432" cy="3967200"/>
          </a:xfrm>
          <a:prstGeom prst="rect">
            <a:avLst/>
          </a:prstGeom>
        </p:spPr>
      </p:pic>
      <p:sp>
        <p:nvSpPr>
          <p:cNvPr id="14" name="직사각형 13">
            <a:extLst>
              <a:ext uri="{FF2B5EF4-FFF2-40B4-BE49-F238E27FC236}">
                <a16:creationId xmlns:a16="http://schemas.microsoft.com/office/drawing/2014/main" id="{87E1E3BC-5939-EFE4-0A74-54580897BA1F}"/>
              </a:ext>
            </a:extLst>
          </p:cNvPr>
          <p:cNvSpPr/>
          <p:nvPr/>
        </p:nvSpPr>
        <p:spPr>
          <a:xfrm>
            <a:off x="3044392" y="2382380"/>
            <a:ext cx="3733800" cy="3831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6" name="Picture 4" descr="PostgreSQL - 나무위키">
            <a:extLst>
              <a:ext uri="{FF2B5EF4-FFF2-40B4-BE49-F238E27FC236}">
                <a16:creationId xmlns:a16="http://schemas.microsoft.com/office/drawing/2014/main" id="{ED35C458-D122-EF94-04BD-6D9EDC950579}"/>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00" r="65532"/>
          <a:stretch/>
        </p:blipFill>
        <p:spPr bwMode="auto">
          <a:xfrm>
            <a:off x="4126818" y="2226418"/>
            <a:ext cx="516446" cy="4762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GitHub - duckdb/duckdb-r: The duckdb R package · GitHub">
            <a:extLst>
              <a:ext uri="{FF2B5EF4-FFF2-40B4-BE49-F238E27FC236}">
                <a16:creationId xmlns:a16="http://schemas.microsoft.com/office/drawing/2014/main" id="{B84CF582-E411-A08A-E6E2-BCB58064F41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5" r="70610"/>
          <a:stretch/>
        </p:blipFill>
        <p:spPr bwMode="auto">
          <a:xfrm>
            <a:off x="4794708" y="2226418"/>
            <a:ext cx="438531" cy="426944"/>
          </a:xfrm>
          <a:prstGeom prst="rect">
            <a:avLst/>
          </a:prstGeom>
          <a:noFill/>
          <a:extLst>
            <a:ext uri="{909E8E84-426E-40DD-AFC4-6F175D3DCCD1}">
              <a14:hiddenFill xmlns:a14="http://schemas.microsoft.com/office/drawing/2010/main">
                <a:solidFill>
                  <a:srgbClr val="FFFFFF"/>
                </a:solidFill>
              </a14:hiddenFill>
            </a:ext>
          </a:extLst>
        </p:spPr>
      </p:pic>
      <p:pic>
        <p:nvPicPr>
          <p:cNvPr id="11" name="그림 10" descr="그래픽, 폰트, 그래픽 디자인, 로고이(가) 표시된 사진&#10;&#10;AI가 생성한 콘텐츠는 부정확할 수 있습니다.">
            <a:extLst>
              <a:ext uri="{FF2B5EF4-FFF2-40B4-BE49-F238E27FC236}">
                <a16:creationId xmlns:a16="http://schemas.microsoft.com/office/drawing/2014/main" id="{81878E46-F309-1955-60D6-CEFC145DAE6D}"/>
              </a:ext>
            </a:extLst>
          </p:cNvPr>
          <p:cNvPicPr>
            <a:picLocks noChangeAspect="1"/>
          </p:cNvPicPr>
          <p:nvPr/>
        </p:nvPicPr>
        <p:blipFill>
          <a:blip r:embed="rId8"/>
          <a:stretch>
            <a:fillRect/>
          </a:stretch>
        </p:blipFill>
        <p:spPr>
          <a:xfrm>
            <a:off x="5487777" y="2239382"/>
            <a:ext cx="1724929" cy="435588"/>
          </a:xfrm>
          <a:prstGeom prst="rect">
            <a:avLst/>
          </a:prstGeom>
        </p:spPr>
      </p:pic>
      <p:pic>
        <p:nvPicPr>
          <p:cNvPr id="13" name="Picture 4">
            <a:extLst>
              <a:ext uri="{FF2B5EF4-FFF2-40B4-BE49-F238E27FC236}">
                <a16:creationId xmlns:a16="http://schemas.microsoft.com/office/drawing/2014/main" id="{0CAB205C-379D-33FE-1D32-769B2C2D500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5637" b="15821"/>
          <a:stretch/>
        </p:blipFill>
        <p:spPr bwMode="auto">
          <a:xfrm>
            <a:off x="7324310" y="2189871"/>
            <a:ext cx="1042691" cy="47645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CB27ACF-5DC6-E9F6-2C3E-7270BD291AD5}"/>
              </a:ext>
            </a:extLst>
          </p:cNvPr>
          <p:cNvSpPr txBox="1"/>
          <p:nvPr/>
        </p:nvSpPr>
        <p:spPr>
          <a:xfrm>
            <a:off x="2912500" y="2301980"/>
            <a:ext cx="1214318" cy="463588"/>
          </a:xfrm>
          <a:prstGeom prst="rect">
            <a:avLst/>
          </a:prstGeom>
          <a:noFill/>
        </p:spPr>
        <p:txBody>
          <a:bodyPr wrap="square">
            <a:spAutoFit/>
          </a:bodyPr>
          <a:lstStyle/>
          <a:p>
            <a:pPr algn="ctr">
              <a:lnSpc>
                <a:spcPct val="150000"/>
              </a:lnSpc>
            </a:pPr>
            <a:r>
              <a:rPr kumimoji="1" lang="en-US" altLang="ko-KR" b="1" i="1">
                <a:latin typeface="Open Sans" panose="020B0606030504020204" pitchFamily="34" charset="0"/>
                <a:ea typeface="Open Sans" panose="020B0606030504020204" pitchFamily="34" charset="0"/>
                <a:cs typeface="Open Sans" panose="020B0606030504020204" pitchFamily="34" charset="0"/>
              </a:rPr>
              <a:t>DBMS</a:t>
            </a:r>
          </a:p>
        </p:txBody>
      </p:sp>
      <p:sp>
        <p:nvSpPr>
          <p:cNvPr id="5" name="TextBox 4">
            <a:extLst>
              <a:ext uri="{FF2B5EF4-FFF2-40B4-BE49-F238E27FC236}">
                <a16:creationId xmlns:a16="http://schemas.microsoft.com/office/drawing/2014/main" id="{DF7E2DA2-CD68-94E9-4569-311E59F3BB0C}"/>
              </a:ext>
            </a:extLst>
          </p:cNvPr>
          <p:cNvSpPr txBox="1"/>
          <p:nvPr/>
        </p:nvSpPr>
        <p:spPr>
          <a:xfrm>
            <a:off x="8261086" y="2348741"/>
            <a:ext cx="1042691" cy="400110"/>
          </a:xfrm>
          <a:prstGeom prst="rect">
            <a:avLst/>
          </a:prstGeom>
          <a:noFill/>
        </p:spPr>
        <p:txBody>
          <a:bodyPr wrap="square">
            <a:spAutoFit/>
          </a:bodyPr>
          <a:lstStyle/>
          <a:p>
            <a:r>
              <a:rPr lang="en-US" altLang="ko-KR" sz="2000" b="1"/>
              <a:t>, etc.</a:t>
            </a:r>
            <a:endParaRPr lang="ko-KR" altLang="en-US" sz="2000" b="1"/>
          </a:p>
        </p:txBody>
      </p:sp>
      <p:sp>
        <p:nvSpPr>
          <p:cNvPr id="8" name="TextBox 7">
            <a:extLst>
              <a:ext uri="{FF2B5EF4-FFF2-40B4-BE49-F238E27FC236}">
                <a16:creationId xmlns:a16="http://schemas.microsoft.com/office/drawing/2014/main" id="{3EF3DD11-37AD-3233-D037-6004C213CE28}"/>
              </a:ext>
            </a:extLst>
          </p:cNvPr>
          <p:cNvSpPr txBox="1"/>
          <p:nvPr/>
        </p:nvSpPr>
        <p:spPr>
          <a:xfrm>
            <a:off x="7162593" y="2365458"/>
            <a:ext cx="1042691" cy="400110"/>
          </a:xfrm>
          <a:prstGeom prst="rect">
            <a:avLst/>
          </a:prstGeom>
          <a:noFill/>
        </p:spPr>
        <p:txBody>
          <a:bodyPr wrap="square">
            <a:spAutoFit/>
          </a:bodyPr>
          <a:lstStyle/>
          <a:p>
            <a:r>
              <a:rPr lang="en-US" altLang="ko-KR" sz="2000" b="1"/>
              <a:t>, </a:t>
            </a:r>
            <a:endParaRPr lang="ko-KR" altLang="en-US" sz="2000" b="1"/>
          </a:p>
        </p:txBody>
      </p:sp>
      <p:sp>
        <p:nvSpPr>
          <p:cNvPr id="16" name="TextBox 15">
            <a:extLst>
              <a:ext uri="{FF2B5EF4-FFF2-40B4-BE49-F238E27FC236}">
                <a16:creationId xmlns:a16="http://schemas.microsoft.com/office/drawing/2014/main" id="{B669DF43-14EA-C7CB-9E54-AB7BE9BE6929}"/>
              </a:ext>
            </a:extLst>
          </p:cNvPr>
          <p:cNvSpPr txBox="1"/>
          <p:nvPr/>
        </p:nvSpPr>
        <p:spPr>
          <a:xfrm>
            <a:off x="5208183" y="2372679"/>
            <a:ext cx="1042691" cy="400110"/>
          </a:xfrm>
          <a:prstGeom prst="rect">
            <a:avLst/>
          </a:prstGeom>
          <a:noFill/>
        </p:spPr>
        <p:txBody>
          <a:bodyPr wrap="square">
            <a:spAutoFit/>
          </a:bodyPr>
          <a:lstStyle/>
          <a:p>
            <a:r>
              <a:rPr lang="en-US" altLang="ko-KR" sz="2000" b="1"/>
              <a:t>, </a:t>
            </a:r>
            <a:endParaRPr lang="ko-KR" altLang="en-US" sz="2000" b="1"/>
          </a:p>
        </p:txBody>
      </p:sp>
      <p:sp>
        <p:nvSpPr>
          <p:cNvPr id="17" name="TextBox 16">
            <a:extLst>
              <a:ext uri="{FF2B5EF4-FFF2-40B4-BE49-F238E27FC236}">
                <a16:creationId xmlns:a16="http://schemas.microsoft.com/office/drawing/2014/main" id="{DC55F69E-9959-B4CA-4183-E041D80A29E0}"/>
              </a:ext>
            </a:extLst>
          </p:cNvPr>
          <p:cNvSpPr txBox="1"/>
          <p:nvPr/>
        </p:nvSpPr>
        <p:spPr>
          <a:xfrm>
            <a:off x="4547041" y="2372679"/>
            <a:ext cx="1042691" cy="400110"/>
          </a:xfrm>
          <a:prstGeom prst="rect">
            <a:avLst/>
          </a:prstGeom>
          <a:noFill/>
        </p:spPr>
        <p:txBody>
          <a:bodyPr wrap="square">
            <a:spAutoFit/>
          </a:bodyPr>
          <a:lstStyle/>
          <a:p>
            <a:r>
              <a:rPr lang="en-US" altLang="ko-KR" sz="2000" b="1"/>
              <a:t>, </a:t>
            </a:r>
            <a:endParaRPr lang="ko-KR" altLang="en-US" sz="2000" b="1"/>
          </a:p>
        </p:txBody>
      </p:sp>
      <p:pic>
        <p:nvPicPr>
          <p:cNvPr id="18" name="그림 17" descr="패턴, 사각형, 픽셀, 낱말맞추기 퍼즐이(가) 표시된 사진&#10;&#10;AI가 생성한 콘텐츠는 부정확할 수 있습니다.">
            <a:extLst>
              <a:ext uri="{FF2B5EF4-FFF2-40B4-BE49-F238E27FC236}">
                <a16:creationId xmlns:a16="http://schemas.microsoft.com/office/drawing/2014/main" id="{A23130B1-6266-C8E7-59DF-1DA7D0383863}"/>
              </a:ext>
            </a:extLst>
          </p:cNvPr>
          <p:cNvPicPr>
            <a:picLocks noChangeAspect="1"/>
          </p:cNvPicPr>
          <p:nvPr/>
        </p:nvPicPr>
        <p:blipFill>
          <a:blip r:embed="rId10"/>
          <a:stretch>
            <a:fillRect/>
          </a:stretch>
        </p:blipFill>
        <p:spPr>
          <a:xfrm>
            <a:off x="9565577" y="5761883"/>
            <a:ext cx="899551" cy="899551"/>
          </a:xfrm>
          <a:prstGeom prst="rect">
            <a:avLst/>
          </a:prstGeom>
        </p:spPr>
      </p:pic>
      <p:sp>
        <p:nvSpPr>
          <p:cNvPr id="19" name="TextBox 18">
            <a:extLst>
              <a:ext uri="{FF2B5EF4-FFF2-40B4-BE49-F238E27FC236}">
                <a16:creationId xmlns:a16="http://schemas.microsoft.com/office/drawing/2014/main" id="{B8D0B51F-95F5-CF67-0608-CB9706E6CB90}"/>
              </a:ext>
            </a:extLst>
          </p:cNvPr>
          <p:cNvSpPr txBox="1"/>
          <p:nvPr/>
        </p:nvSpPr>
        <p:spPr>
          <a:xfrm>
            <a:off x="10087166" y="5978551"/>
            <a:ext cx="210483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Exqutor</a:t>
            </a:r>
          </a:p>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on our GitHub!</a:t>
            </a:r>
          </a:p>
        </p:txBody>
      </p:sp>
    </p:spTree>
    <p:extLst>
      <p:ext uri="{BB962C8B-B14F-4D97-AF65-F5344CB8AC3E}">
        <p14:creationId xmlns:p14="http://schemas.microsoft.com/office/powerpoint/2010/main" val="12292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F369-EFD2-4711-0FEA-E0E77BCE4559}"/>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E3ACAF81-5F07-96C0-5BFA-842596B0ACB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CA8117BB-064E-FC83-CF3E-08789BBA71F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1A6BDDC8-4663-72B0-5D95-7322177FEA11}"/>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ko-KR" altLang="en-US" sz="4400" err="1">
                <a:solidFill>
                  <a:srgbClr val="FFFFFF"/>
                </a:solidFill>
                <a:latin typeface="Calibri"/>
                <a:ea typeface="Calibri"/>
                <a:cs typeface="Calibri"/>
              </a:rPr>
              <a:t> </a:t>
            </a:r>
            <a:r>
              <a:rPr lang="en-US" sz="4400" err="1">
                <a:solidFill>
                  <a:srgbClr val="FFFFFF"/>
                </a:solidFill>
                <a:latin typeface="Calibri"/>
                <a:ea typeface="Calibri"/>
                <a:cs typeface="Calibri"/>
              </a:rPr>
              <a:t>Exqutor</a:t>
            </a:r>
            <a:endParaRPr kumimoji="0" lang="en-US" sz="44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sp>
        <p:nvSpPr>
          <p:cNvPr id="2" name="TextBox 1">
            <a:extLst>
              <a:ext uri="{FF2B5EF4-FFF2-40B4-BE49-F238E27FC236}">
                <a16:creationId xmlns:a16="http://schemas.microsoft.com/office/drawing/2014/main" id="{7A4D918C-25AC-3CDD-5B96-4A5EB5A5436C}"/>
              </a:ext>
            </a:extLst>
          </p:cNvPr>
          <p:cNvSpPr txBox="1"/>
          <p:nvPr/>
        </p:nvSpPr>
        <p:spPr>
          <a:xfrm>
            <a:off x="438467" y="1464501"/>
            <a:ext cx="11315065" cy="463588"/>
          </a:xfrm>
          <a:prstGeom prst="rect">
            <a:avLst/>
          </a:prstGeom>
          <a:noFill/>
        </p:spPr>
        <p:txBody>
          <a:bodyPr wrap="square">
            <a:spAutoFit/>
          </a:bodyPr>
          <a:lstStyle/>
          <a:p>
            <a:pPr algn="ctr">
              <a:lnSpc>
                <a:spcPct val="150000"/>
              </a:lnSpc>
            </a:pPr>
            <a:r>
              <a:rPr kumimoji="1" lang="en" altLang="ko-KR" b="1" i="1">
                <a:latin typeface="Open Sans" panose="020B0606030504020204" pitchFamily="34" charset="0"/>
                <a:ea typeface="Open Sans" panose="020B0606030504020204" pitchFamily="34" charset="0"/>
                <a:cs typeface="Open Sans" panose="020B0606030504020204" pitchFamily="34" charset="0"/>
              </a:rPr>
              <a:t>An open-source, pluggable framework for improving VSS cardinality estimation in existing DBMSs</a:t>
            </a:r>
            <a:endParaRPr kumimoji="1" lang="en-US" altLang="ko-KR" b="1" i="1">
              <a:latin typeface="Open Sans" panose="020B0606030504020204" pitchFamily="34" charset="0"/>
              <a:ea typeface="Open Sans" panose="020B0606030504020204" pitchFamily="34" charset="0"/>
              <a:cs typeface="Open Sans" panose="020B0606030504020204" pitchFamily="34" charset="0"/>
            </a:endParaRPr>
          </a:p>
        </p:txBody>
      </p:sp>
      <p:pic>
        <p:nvPicPr>
          <p:cNvPr id="9" name="그림 8">
            <a:extLst>
              <a:ext uri="{FF2B5EF4-FFF2-40B4-BE49-F238E27FC236}">
                <a16:creationId xmlns:a16="http://schemas.microsoft.com/office/drawing/2014/main" id="{4BE85A7F-B7BA-0D82-9BFF-D5871855B40C}"/>
              </a:ext>
            </a:extLst>
          </p:cNvPr>
          <p:cNvPicPr>
            <a:picLocks noChangeAspect="1"/>
          </p:cNvPicPr>
          <p:nvPr/>
        </p:nvPicPr>
        <p:blipFill>
          <a:blip r:embed="rId5"/>
          <a:srcRect/>
          <a:stretch/>
        </p:blipFill>
        <p:spPr>
          <a:xfrm>
            <a:off x="2119784" y="2382380"/>
            <a:ext cx="7952432" cy="3967200"/>
          </a:xfrm>
          <a:prstGeom prst="rect">
            <a:avLst/>
          </a:prstGeom>
        </p:spPr>
      </p:pic>
      <p:sp>
        <p:nvSpPr>
          <p:cNvPr id="14" name="직사각형 13">
            <a:extLst>
              <a:ext uri="{FF2B5EF4-FFF2-40B4-BE49-F238E27FC236}">
                <a16:creationId xmlns:a16="http://schemas.microsoft.com/office/drawing/2014/main" id="{E426A50D-D0A0-A7CB-B7BA-D66ABEE2A61C}"/>
              </a:ext>
            </a:extLst>
          </p:cNvPr>
          <p:cNvSpPr/>
          <p:nvPr/>
        </p:nvSpPr>
        <p:spPr>
          <a:xfrm>
            <a:off x="3044392" y="2382380"/>
            <a:ext cx="3733800" cy="3831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pic>
        <p:nvPicPr>
          <p:cNvPr id="6" name="Picture 4" descr="PostgreSQL - 나무위키">
            <a:extLst>
              <a:ext uri="{FF2B5EF4-FFF2-40B4-BE49-F238E27FC236}">
                <a16:creationId xmlns:a16="http://schemas.microsoft.com/office/drawing/2014/main" id="{4377393A-25C8-5D0D-BC88-2D927DC8377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00" r="65532"/>
          <a:stretch/>
        </p:blipFill>
        <p:spPr bwMode="auto">
          <a:xfrm>
            <a:off x="4126818" y="2226418"/>
            <a:ext cx="516446" cy="4762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GitHub - duckdb/duckdb-r: The duckdb R package · GitHub">
            <a:extLst>
              <a:ext uri="{FF2B5EF4-FFF2-40B4-BE49-F238E27FC236}">
                <a16:creationId xmlns:a16="http://schemas.microsoft.com/office/drawing/2014/main" id="{AD393529-900B-A59E-9C24-1C8761F4574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5" r="70610"/>
          <a:stretch/>
        </p:blipFill>
        <p:spPr bwMode="auto">
          <a:xfrm>
            <a:off x="4794708" y="2226418"/>
            <a:ext cx="438531" cy="426944"/>
          </a:xfrm>
          <a:prstGeom prst="rect">
            <a:avLst/>
          </a:prstGeom>
          <a:noFill/>
          <a:extLst>
            <a:ext uri="{909E8E84-426E-40DD-AFC4-6F175D3DCCD1}">
              <a14:hiddenFill xmlns:a14="http://schemas.microsoft.com/office/drawing/2010/main">
                <a:solidFill>
                  <a:srgbClr val="FFFFFF"/>
                </a:solidFill>
              </a14:hiddenFill>
            </a:ext>
          </a:extLst>
        </p:spPr>
      </p:pic>
      <p:pic>
        <p:nvPicPr>
          <p:cNvPr id="11" name="그림 10" descr="그래픽, 폰트, 그래픽 디자인, 로고이(가) 표시된 사진&#10;&#10;AI가 생성한 콘텐츠는 부정확할 수 있습니다.">
            <a:extLst>
              <a:ext uri="{FF2B5EF4-FFF2-40B4-BE49-F238E27FC236}">
                <a16:creationId xmlns:a16="http://schemas.microsoft.com/office/drawing/2014/main" id="{A0E72E76-080E-5E8B-3055-923103B6677D}"/>
              </a:ext>
            </a:extLst>
          </p:cNvPr>
          <p:cNvPicPr>
            <a:picLocks noChangeAspect="1"/>
          </p:cNvPicPr>
          <p:nvPr/>
        </p:nvPicPr>
        <p:blipFill>
          <a:blip r:embed="rId8"/>
          <a:stretch>
            <a:fillRect/>
          </a:stretch>
        </p:blipFill>
        <p:spPr>
          <a:xfrm>
            <a:off x="5487777" y="2239382"/>
            <a:ext cx="1724929" cy="435588"/>
          </a:xfrm>
          <a:prstGeom prst="rect">
            <a:avLst/>
          </a:prstGeom>
        </p:spPr>
      </p:pic>
      <p:pic>
        <p:nvPicPr>
          <p:cNvPr id="13" name="Picture 4">
            <a:extLst>
              <a:ext uri="{FF2B5EF4-FFF2-40B4-BE49-F238E27FC236}">
                <a16:creationId xmlns:a16="http://schemas.microsoft.com/office/drawing/2014/main" id="{27940C43-D3D5-0C9A-E8C4-E214FF2ACDB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5637" b="15821"/>
          <a:stretch/>
        </p:blipFill>
        <p:spPr bwMode="auto">
          <a:xfrm>
            <a:off x="7324310" y="2189871"/>
            <a:ext cx="1042691" cy="47645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07565979-A33A-F411-9C74-BD9ED15D89AB}"/>
              </a:ext>
            </a:extLst>
          </p:cNvPr>
          <p:cNvSpPr txBox="1"/>
          <p:nvPr/>
        </p:nvSpPr>
        <p:spPr>
          <a:xfrm>
            <a:off x="2912500" y="2301980"/>
            <a:ext cx="1214318" cy="463588"/>
          </a:xfrm>
          <a:prstGeom prst="rect">
            <a:avLst/>
          </a:prstGeom>
          <a:noFill/>
        </p:spPr>
        <p:txBody>
          <a:bodyPr wrap="square">
            <a:spAutoFit/>
          </a:bodyPr>
          <a:lstStyle/>
          <a:p>
            <a:pPr algn="ctr">
              <a:lnSpc>
                <a:spcPct val="150000"/>
              </a:lnSpc>
            </a:pPr>
            <a:r>
              <a:rPr kumimoji="1" lang="en-US" altLang="ko-KR" b="1" i="1">
                <a:latin typeface="Open Sans" panose="020B0606030504020204" pitchFamily="34" charset="0"/>
                <a:ea typeface="Open Sans" panose="020B0606030504020204" pitchFamily="34" charset="0"/>
                <a:cs typeface="Open Sans" panose="020B0606030504020204" pitchFamily="34" charset="0"/>
              </a:rPr>
              <a:t>DBMS</a:t>
            </a:r>
          </a:p>
        </p:txBody>
      </p:sp>
      <p:sp>
        <p:nvSpPr>
          <p:cNvPr id="3" name="직사각형 2">
            <a:extLst>
              <a:ext uri="{FF2B5EF4-FFF2-40B4-BE49-F238E27FC236}">
                <a16:creationId xmlns:a16="http://schemas.microsoft.com/office/drawing/2014/main" id="{AE949E69-89DD-55F5-60C5-FF078A79ECBB}"/>
              </a:ext>
            </a:extLst>
          </p:cNvPr>
          <p:cNvSpPr/>
          <p:nvPr/>
        </p:nvSpPr>
        <p:spPr>
          <a:xfrm>
            <a:off x="4765212" y="4256771"/>
            <a:ext cx="2340694" cy="71367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5" name="직사각형 4">
            <a:extLst>
              <a:ext uri="{FF2B5EF4-FFF2-40B4-BE49-F238E27FC236}">
                <a16:creationId xmlns:a16="http://schemas.microsoft.com/office/drawing/2014/main" id="{C73B4E5C-BC47-A987-BF7C-D49723950400}"/>
              </a:ext>
            </a:extLst>
          </p:cNvPr>
          <p:cNvSpPr/>
          <p:nvPr/>
        </p:nvSpPr>
        <p:spPr>
          <a:xfrm>
            <a:off x="4763110" y="5145329"/>
            <a:ext cx="2340694" cy="71367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8" name="TextBox 7">
            <a:extLst>
              <a:ext uri="{FF2B5EF4-FFF2-40B4-BE49-F238E27FC236}">
                <a16:creationId xmlns:a16="http://schemas.microsoft.com/office/drawing/2014/main" id="{A451FDA5-0AE5-0B86-D9E0-90D731B70761}"/>
              </a:ext>
            </a:extLst>
          </p:cNvPr>
          <p:cNvSpPr txBox="1"/>
          <p:nvPr/>
        </p:nvSpPr>
        <p:spPr>
          <a:xfrm>
            <a:off x="9316091" y="4678061"/>
            <a:ext cx="2239279" cy="584775"/>
          </a:xfrm>
          <a:prstGeom prst="rect">
            <a:avLst/>
          </a:prstGeom>
          <a:noFill/>
        </p:spPr>
        <p:txBody>
          <a:bodyPr wrap="square">
            <a:spAutoFit/>
          </a:bodyPr>
          <a:lstStyle/>
          <a:p>
            <a:r>
              <a:rPr kumimoji="1" lang="en" altLang="ko-KR" sz="1600" b="1" i="1">
                <a:solidFill>
                  <a:srgbClr val="FF0000"/>
                </a:solidFill>
                <a:latin typeface="NanumGothic" panose="020D0604000000000000" pitchFamily="34" charset="-127"/>
                <a:ea typeface="NanumGothic" panose="020D0604000000000000" pitchFamily="34" charset="-127"/>
                <a:cs typeface="Open Sans" panose="020B0606030504020204" pitchFamily="34" charset="0"/>
              </a:rPr>
              <a:t>Two </a:t>
            </a:r>
            <a:r>
              <a:rPr lang="en" altLang="ko-KR" sz="1600" b="1" i="1">
                <a:solidFill>
                  <a:srgbClr val="FF0000"/>
                </a:solidFill>
                <a:latin typeface="NanumGothic" panose="020D0604000000000000" pitchFamily="34" charset="-127"/>
                <a:ea typeface="NanumGothic" panose="020D0604000000000000" pitchFamily="34" charset="-127"/>
              </a:rPr>
              <a:t>complementary</a:t>
            </a:r>
            <a:r>
              <a:rPr lang="ko-KR" altLang="en-US" sz="1600" b="1" i="1">
                <a:solidFill>
                  <a:srgbClr val="FF0000"/>
                </a:solidFill>
                <a:latin typeface="NanumGothic" panose="020D0604000000000000" pitchFamily="34" charset="-127"/>
                <a:ea typeface="NanumGothic" panose="020D0604000000000000" pitchFamily="34" charset="-127"/>
              </a:rPr>
              <a:t> </a:t>
            </a:r>
            <a:r>
              <a:rPr kumimoji="1" lang="en" altLang="ko-KR" sz="1600" b="1" i="1">
                <a:solidFill>
                  <a:srgbClr val="FF0000"/>
                </a:solidFill>
                <a:latin typeface="NanumGothic" panose="020D0604000000000000" pitchFamily="34" charset="-127"/>
                <a:ea typeface="NanumGothic" panose="020D0604000000000000" pitchFamily="34" charset="-127"/>
                <a:cs typeface="Open Sans" panose="020B0606030504020204" pitchFamily="34" charset="0"/>
              </a:rPr>
              <a:t>mechanisms</a:t>
            </a:r>
            <a:endParaRPr lang="ko-KR" altLang="en-US" sz="1600" b="1" i="1">
              <a:solidFill>
                <a:srgbClr val="FF0000"/>
              </a:solidFill>
              <a:latin typeface="NanumGothic" panose="020D0604000000000000" pitchFamily="34" charset="-127"/>
              <a:ea typeface="NanumGothic" panose="020D0604000000000000" pitchFamily="34" charset="-127"/>
            </a:endParaRPr>
          </a:p>
        </p:txBody>
      </p:sp>
      <p:pic>
        <p:nvPicPr>
          <p:cNvPr id="16" name="Picture 4" descr="PostgreSQL - 나무위키">
            <a:extLst>
              <a:ext uri="{FF2B5EF4-FFF2-40B4-BE49-F238E27FC236}">
                <a16:creationId xmlns:a16="http://schemas.microsoft.com/office/drawing/2014/main" id="{27EC11C8-AACD-071F-41B4-69FB9E4BFAA6}"/>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900" r="65532"/>
          <a:stretch/>
        </p:blipFill>
        <p:spPr bwMode="auto">
          <a:xfrm>
            <a:off x="4126818" y="2226418"/>
            <a:ext cx="516446" cy="47622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GitHub - duckdb/duckdb-r: The duckdb R package · GitHub">
            <a:extLst>
              <a:ext uri="{FF2B5EF4-FFF2-40B4-BE49-F238E27FC236}">
                <a16:creationId xmlns:a16="http://schemas.microsoft.com/office/drawing/2014/main" id="{095C6BB0-83C6-48FE-C4E7-7C1AF3E6C814}"/>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385" r="70610"/>
          <a:stretch/>
        </p:blipFill>
        <p:spPr bwMode="auto">
          <a:xfrm>
            <a:off x="4794708" y="2226418"/>
            <a:ext cx="438531" cy="426944"/>
          </a:xfrm>
          <a:prstGeom prst="rect">
            <a:avLst/>
          </a:prstGeom>
          <a:noFill/>
          <a:extLst>
            <a:ext uri="{909E8E84-426E-40DD-AFC4-6F175D3DCCD1}">
              <a14:hiddenFill xmlns:a14="http://schemas.microsoft.com/office/drawing/2010/main">
                <a:solidFill>
                  <a:srgbClr val="FFFFFF"/>
                </a:solidFill>
              </a14:hiddenFill>
            </a:ext>
          </a:extLst>
        </p:spPr>
      </p:pic>
      <p:pic>
        <p:nvPicPr>
          <p:cNvPr id="18" name="그림 17" descr="그래픽, 폰트, 그래픽 디자인, 로고이(가) 표시된 사진&#10;&#10;AI가 생성한 콘텐츠는 부정확할 수 있습니다.">
            <a:extLst>
              <a:ext uri="{FF2B5EF4-FFF2-40B4-BE49-F238E27FC236}">
                <a16:creationId xmlns:a16="http://schemas.microsoft.com/office/drawing/2014/main" id="{3FEF35CB-8C0D-5B1B-9123-3C79427F1948}"/>
              </a:ext>
            </a:extLst>
          </p:cNvPr>
          <p:cNvPicPr>
            <a:picLocks noChangeAspect="1"/>
          </p:cNvPicPr>
          <p:nvPr/>
        </p:nvPicPr>
        <p:blipFill>
          <a:blip r:embed="rId8"/>
          <a:stretch>
            <a:fillRect/>
          </a:stretch>
        </p:blipFill>
        <p:spPr>
          <a:xfrm>
            <a:off x="5487777" y="2239382"/>
            <a:ext cx="1724929" cy="435588"/>
          </a:xfrm>
          <a:prstGeom prst="rect">
            <a:avLst/>
          </a:prstGeom>
        </p:spPr>
      </p:pic>
      <p:pic>
        <p:nvPicPr>
          <p:cNvPr id="19" name="Picture 4">
            <a:extLst>
              <a:ext uri="{FF2B5EF4-FFF2-40B4-BE49-F238E27FC236}">
                <a16:creationId xmlns:a16="http://schemas.microsoft.com/office/drawing/2014/main" id="{1BC22ED6-8B0E-F8AD-C55B-041C70CEC93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15637" b="15821"/>
          <a:stretch/>
        </p:blipFill>
        <p:spPr bwMode="auto">
          <a:xfrm>
            <a:off x="7324310" y="2189871"/>
            <a:ext cx="1042691" cy="476455"/>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FD2B1E97-29B7-4323-FA14-0F353141FFF8}"/>
              </a:ext>
            </a:extLst>
          </p:cNvPr>
          <p:cNvSpPr txBox="1"/>
          <p:nvPr/>
        </p:nvSpPr>
        <p:spPr>
          <a:xfrm>
            <a:off x="8261086" y="2348741"/>
            <a:ext cx="1042691" cy="400110"/>
          </a:xfrm>
          <a:prstGeom prst="rect">
            <a:avLst/>
          </a:prstGeom>
          <a:noFill/>
        </p:spPr>
        <p:txBody>
          <a:bodyPr wrap="square">
            <a:spAutoFit/>
          </a:bodyPr>
          <a:lstStyle/>
          <a:p>
            <a:r>
              <a:rPr lang="en-US" altLang="ko-KR" sz="2000" b="1"/>
              <a:t>, etc.</a:t>
            </a:r>
            <a:endParaRPr lang="ko-KR" altLang="en-US" sz="2000" b="1"/>
          </a:p>
        </p:txBody>
      </p:sp>
      <p:sp>
        <p:nvSpPr>
          <p:cNvPr id="21" name="TextBox 20">
            <a:extLst>
              <a:ext uri="{FF2B5EF4-FFF2-40B4-BE49-F238E27FC236}">
                <a16:creationId xmlns:a16="http://schemas.microsoft.com/office/drawing/2014/main" id="{7491121F-730C-46FB-B47E-ECA3F6EA7103}"/>
              </a:ext>
            </a:extLst>
          </p:cNvPr>
          <p:cNvSpPr txBox="1"/>
          <p:nvPr/>
        </p:nvSpPr>
        <p:spPr>
          <a:xfrm>
            <a:off x="7162593" y="2365458"/>
            <a:ext cx="1042691" cy="400110"/>
          </a:xfrm>
          <a:prstGeom prst="rect">
            <a:avLst/>
          </a:prstGeom>
          <a:noFill/>
        </p:spPr>
        <p:txBody>
          <a:bodyPr wrap="square">
            <a:spAutoFit/>
          </a:bodyPr>
          <a:lstStyle/>
          <a:p>
            <a:r>
              <a:rPr lang="en-US" altLang="ko-KR" sz="2000" b="1"/>
              <a:t>, </a:t>
            </a:r>
            <a:endParaRPr lang="ko-KR" altLang="en-US" sz="2000" b="1"/>
          </a:p>
        </p:txBody>
      </p:sp>
      <p:sp>
        <p:nvSpPr>
          <p:cNvPr id="22" name="TextBox 21">
            <a:extLst>
              <a:ext uri="{FF2B5EF4-FFF2-40B4-BE49-F238E27FC236}">
                <a16:creationId xmlns:a16="http://schemas.microsoft.com/office/drawing/2014/main" id="{AA15FADB-A5E9-1409-51B7-1339A696434D}"/>
              </a:ext>
            </a:extLst>
          </p:cNvPr>
          <p:cNvSpPr txBox="1"/>
          <p:nvPr/>
        </p:nvSpPr>
        <p:spPr>
          <a:xfrm>
            <a:off x="5208183" y="2372679"/>
            <a:ext cx="1042691" cy="400110"/>
          </a:xfrm>
          <a:prstGeom prst="rect">
            <a:avLst/>
          </a:prstGeom>
          <a:noFill/>
        </p:spPr>
        <p:txBody>
          <a:bodyPr wrap="square">
            <a:spAutoFit/>
          </a:bodyPr>
          <a:lstStyle/>
          <a:p>
            <a:r>
              <a:rPr lang="en-US" altLang="ko-KR" sz="2000" b="1"/>
              <a:t>, </a:t>
            </a:r>
            <a:endParaRPr lang="ko-KR" altLang="en-US" sz="2000" b="1"/>
          </a:p>
        </p:txBody>
      </p:sp>
      <p:sp>
        <p:nvSpPr>
          <p:cNvPr id="23" name="TextBox 22">
            <a:extLst>
              <a:ext uri="{FF2B5EF4-FFF2-40B4-BE49-F238E27FC236}">
                <a16:creationId xmlns:a16="http://schemas.microsoft.com/office/drawing/2014/main" id="{F3949608-8D0A-45B7-1041-9800DF5CDEF7}"/>
              </a:ext>
            </a:extLst>
          </p:cNvPr>
          <p:cNvSpPr txBox="1"/>
          <p:nvPr/>
        </p:nvSpPr>
        <p:spPr>
          <a:xfrm>
            <a:off x="4547041" y="2372679"/>
            <a:ext cx="1042691" cy="400110"/>
          </a:xfrm>
          <a:prstGeom prst="rect">
            <a:avLst/>
          </a:prstGeom>
          <a:noFill/>
        </p:spPr>
        <p:txBody>
          <a:bodyPr wrap="square">
            <a:spAutoFit/>
          </a:bodyPr>
          <a:lstStyle/>
          <a:p>
            <a:r>
              <a:rPr lang="en-US" altLang="ko-KR" sz="2000" b="1"/>
              <a:t>, </a:t>
            </a:r>
            <a:endParaRPr lang="ko-KR" altLang="en-US" sz="2000" b="1"/>
          </a:p>
        </p:txBody>
      </p:sp>
      <p:pic>
        <p:nvPicPr>
          <p:cNvPr id="24" name="그림 23" descr="패턴, 사각형, 픽셀, 낱말맞추기 퍼즐이(가) 표시된 사진&#10;&#10;AI가 생성한 콘텐츠는 부정확할 수 있습니다.">
            <a:extLst>
              <a:ext uri="{FF2B5EF4-FFF2-40B4-BE49-F238E27FC236}">
                <a16:creationId xmlns:a16="http://schemas.microsoft.com/office/drawing/2014/main" id="{08418189-CD72-6CB7-C6F5-95120401DB87}"/>
              </a:ext>
            </a:extLst>
          </p:cNvPr>
          <p:cNvPicPr>
            <a:picLocks noChangeAspect="1"/>
          </p:cNvPicPr>
          <p:nvPr/>
        </p:nvPicPr>
        <p:blipFill>
          <a:blip r:embed="rId10"/>
          <a:stretch>
            <a:fillRect/>
          </a:stretch>
        </p:blipFill>
        <p:spPr>
          <a:xfrm>
            <a:off x="9565577" y="5761883"/>
            <a:ext cx="899551" cy="899551"/>
          </a:xfrm>
          <a:prstGeom prst="rect">
            <a:avLst/>
          </a:prstGeom>
        </p:spPr>
      </p:pic>
      <p:sp>
        <p:nvSpPr>
          <p:cNvPr id="25" name="TextBox 24">
            <a:extLst>
              <a:ext uri="{FF2B5EF4-FFF2-40B4-BE49-F238E27FC236}">
                <a16:creationId xmlns:a16="http://schemas.microsoft.com/office/drawing/2014/main" id="{3ABBE203-EB4B-8171-9EA7-E643AF6D0581}"/>
              </a:ext>
            </a:extLst>
          </p:cNvPr>
          <p:cNvSpPr txBox="1"/>
          <p:nvPr/>
        </p:nvSpPr>
        <p:spPr>
          <a:xfrm>
            <a:off x="10087166" y="5978551"/>
            <a:ext cx="210483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Exqutor</a:t>
            </a:r>
          </a:p>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on our GitHub!</a:t>
            </a:r>
          </a:p>
        </p:txBody>
      </p:sp>
    </p:spTree>
    <p:extLst>
      <p:ext uri="{BB962C8B-B14F-4D97-AF65-F5344CB8AC3E}">
        <p14:creationId xmlns:p14="http://schemas.microsoft.com/office/powerpoint/2010/main" val="3905547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88720-F8CE-0380-AC66-CBA337299446}"/>
            </a:ext>
          </a:extLst>
        </p:cNvPr>
        <p:cNvGrpSpPr/>
        <p:nvPr/>
      </p:nvGrpSpPr>
      <p:grpSpPr>
        <a:xfrm>
          <a:off x="0" y="0"/>
          <a:ext cx="0" cy="0"/>
          <a:chOff x="0" y="0"/>
          <a:chExt cx="0" cy="0"/>
        </a:xfrm>
      </p:grpSpPr>
      <p:sp>
        <p:nvSpPr>
          <p:cNvPr id="21" name="직사각형 20">
            <a:extLst>
              <a:ext uri="{FF2B5EF4-FFF2-40B4-BE49-F238E27FC236}">
                <a16:creationId xmlns:a16="http://schemas.microsoft.com/office/drawing/2014/main" id="{7C045DD3-468A-9136-F946-4CE07A9F422F}"/>
              </a:ext>
            </a:extLst>
          </p:cNvPr>
          <p:cNvSpPr/>
          <p:nvPr/>
        </p:nvSpPr>
        <p:spPr>
          <a:xfrm>
            <a:off x="0" y="1325563"/>
            <a:ext cx="12192000" cy="7319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1F3B392B-F920-EEA4-34CB-95D3615912D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065C3460-4480-0E20-548C-28AAE943C43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CE76A343-BF43-4E02-7BDC-4AA6F7E55F45}"/>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ko-KR" altLang="en-US" sz="4400" err="1">
                <a:solidFill>
                  <a:srgbClr val="FFFFFF"/>
                </a:solidFill>
                <a:latin typeface="Calibri"/>
                <a:ea typeface="+mn-ea"/>
                <a:cs typeface="Calibri"/>
                <a:sym typeface="Arial"/>
              </a:rPr>
              <a:t> </a:t>
            </a:r>
            <a:r>
              <a:rPr lang="en-US" sz="4400" err="1">
                <a:solidFill>
                  <a:srgbClr val="FFFFFF"/>
                </a:solidFill>
                <a:latin typeface="Calibri"/>
                <a:ea typeface="+mn-ea"/>
                <a:cs typeface="Calibri"/>
                <a:sym typeface="Arial"/>
              </a:rPr>
              <a:t>Exqutor</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ko-KR" altLang="en-US" sz="2800" b="0" i="0" u="none" strike="noStrike" kern="1200" cap="none" spc="-49" normalizeH="0" baseline="0" noProof="0" err="1">
                <a:ln w="3175">
                  <a:noFill/>
                </a:ln>
                <a:solidFill>
                  <a:srgbClr val="FFFFFF"/>
                </a:solidFill>
                <a:effectLst/>
                <a:uLnTx/>
                <a:uFillTx/>
                <a:latin typeface="Calibri"/>
                <a:cs typeface="Calibri"/>
                <a:sym typeface="Arial"/>
              </a:rPr>
              <a:t> </a:t>
            </a:r>
            <a:r>
              <a:rPr kumimoji="0" lang="en-US" altLang="ko-KR" sz="2800" b="0" i="0" u="none" strike="noStrike" kern="1200" cap="none" spc="-49" normalizeH="0" baseline="0" noProof="0" err="1">
                <a:ln w="3175">
                  <a:noFill/>
                </a:ln>
                <a:solidFill>
                  <a:srgbClr val="FFFFFF"/>
                </a:solidFill>
                <a:effectLst/>
                <a:uLnTx/>
                <a:uFillTx/>
                <a:latin typeface="Calibri"/>
                <a:cs typeface="Calibri"/>
                <a:sym typeface="Arial"/>
              </a:rPr>
              <a:t>(1) Vector Index-based Exact Cardinality Query Optimization (ECQO)</a:t>
            </a:r>
            <a:endParaRPr kumimoji="0" lang="en-US" altLang="ko-KR"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pic>
        <p:nvPicPr>
          <p:cNvPr id="5" name="그림 4">
            <a:extLst>
              <a:ext uri="{FF2B5EF4-FFF2-40B4-BE49-F238E27FC236}">
                <a16:creationId xmlns:a16="http://schemas.microsoft.com/office/drawing/2014/main" id="{180BC226-D53D-70CA-353A-5B9A1CE68285}"/>
              </a:ext>
            </a:extLst>
          </p:cNvPr>
          <p:cNvPicPr>
            <a:picLocks noChangeAspect="1"/>
          </p:cNvPicPr>
          <p:nvPr/>
        </p:nvPicPr>
        <p:blipFill>
          <a:blip r:embed="rId5"/>
          <a:srcRect l="6536" t="7443" r="51429" b="13883"/>
          <a:stretch/>
        </p:blipFill>
        <p:spPr>
          <a:xfrm>
            <a:off x="1225868" y="2803560"/>
            <a:ext cx="3304813" cy="2464092"/>
          </a:xfrm>
          <a:prstGeom prst="rect">
            <a:avLst/>
          </a:prstGeom>
        </p:spPr>
      </p:pic>
      <p:sp>
        <p:nvSpPr>
          <p:cNvPr id="6" name="TextBox 5">
            <a:extLst>
              <a:ext uri="{FF2B5EF4-FFF2-40B4-BE49-F238E27FC236}">
                <a16:creationId xmlns:a16="http://schemas.microsoft.com/office/drawing/2014/main" id="{68B9F9DF-DD0D-B1C4-57FC-DA264ECFD4FD}"/>
              </a:ext>
            </a:extLst>
          </p:cNvPr>
          <p:cNvSpPr txBox="1"/>
          <p:nvPr/>
        </p:nvSpPr>
        <p:spPr>
          <a:xfrm>
            <a:off x="3823975" y="2920692"/>
            <a:ext cx="3774709"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1. Identify the VSS part</a:t>
            </a:r>
          </a:p>
        </p:txBody>
      </p:sp>
      <p:sp>
        <p:nvSpPr>
          <p:cNvPr id="8" name="직사각형 7">
            <a:extLst>
              <a:ext uri="{FF2B5EF4-FFF2-40B4-BE49-F238E27FC236}">
                <a16:creationId xmlns:a16="http://schemas.microsoft.com/office/drawing/2014/main" id="{6901FD1A-F4F5-A48F-5DE1-713CBE5E8B72}"/>
              </a:ext>
            </a:extLst>
          </p:cNvPr>
          <p:cNvSpPr/>
          <p:nvPr/>
        </p:nvSpPr>
        <p:spPr>
          <a:xfrm>
            <a:off x="3016167" y="3473345"/>
            <a:ext cx="1414913" cy="94327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rgbClr val="00B050"/>
              </a:solidFill>
            </a:endParaRPr>
          </a:p>
        </p:txBody>
      </p:sp>
      <p:sp>
        <p:nvSpPr>
          <p:cNvPr id="18" name="모서리가 둥근 직사각형 17">
            <a:extLst>
              <a:ext uri="{FF2B5EF4-FFF2-40B4-BE49-F238E27FC236}">
                <a16:creationId xmlns:a16="http://schemas.microsoft.com/office/drawing/2014/main" id="{A026C202-E26C-1B13-4089-4D465CC3A72A}"/>
              </a:ext>
            </a:extLst>
          </p:cNvPr>
          <p:cNvSpPr/>
          <p:nvPr/>
        </p:nvSpPr>
        <p:spPr>
          <a:xfrm>
            <a:off x="1225868" y="2320873"/>
            <a:ext cx="4419600" cy="430615"/>
          </a:xfrm>
          <a:prstGeom prst="roundRect">
            <a:avLst/>
          </a:prstGeom>
          <a:solidFill>
            <a:srgbClr val="FFDF7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Query planning phase</a:t>
            </a:r>
            <a:endParaRPr kumimoji="1" lang="ko-KR" altLang="en-US">
              <a:solidFill>
                <a:sysClr val="windowText" lastClr="000000"/>
              </a:solidFill>
            </a:endParaRPr>
          </a:p>
        </p:txBody>
      </p:sp>
      <p:sp>
        <p:nvSpPr>
          <p:cNvPr id="19" name="모서리가 둥근 직사각형 18">
            <a:extLst>
              <a:ext uri="{FF2B5EF4-FFF2-40B4-BE49-F238E27FC236}">
                <a16:creationId xmlns:a16="http://schemas.microsoft.com/office/drawing/2014/main" id="{AEC1A1BE-94D2-787E-AEE1-72656E457AE2}"/>
              </a:ext>
            </a:extLst>
          </p:cNvPr>
          <p:cNvSpPr/>
          <p:nvPr/>
        </p:nvSpPr>
        <p:spPr>
          <a:xfrm>
            <a:off x="6443382" y="2320873"/>
            <a:ext cx="4419600" cy="43061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Execution phase</a:t>
            </a:r>
            <a:endParaRPr kumimoji="1" lang="ko-KR" altLang="en-US">
              <a:solidFill>
                <a:sysClr val="windowText" lastClr="000000"/>
              </a:solidFill>
            </a:endParaRPr>
          </a:p>
        </p:txBody>
      </p:sp>
      <p:cxnSp>
        <p:nvCxnSpPr>
          <p:cNvPr id="25" name="직선 화살표 연결선 24">
            <a:extLst>
              <a:ext uri="{FF2B5EF4-FFF2-40B4-BE49-F238E27FC236}">
                <a16:creationId xmlns:a16="http://schemas.microsoft.com/office/drawing/2014/main" id="{53FC6BB1-1156-1975-F7D6-62B6AA9DD60A}"/>
              </a:ext>
            </a:extLst>
          </p:cNvPr>
          <p:cNvCxnSpPr>
            <a:stCxn id="18" idx="3"/>
            <a:endCxn id="19" idx="1"/>
          </p:cNvCxnSpPr>
          <p:nvPr/>
        </p:nvCxnSpPr>
        <p:spPr>
          <a:xfrm>
            <a:off x="5645468"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6" name="직선 화살표 연결선 25">
            <a:extLst>
              <a:ext uri="{FF2B5EF4-FFF2-40B4-BE49-F238E27FC236}">
                <a16:creationId xmlns:a16="http://schemas.microsoft.com/office/drawing/2014/main" id="{94B66073-FED2-4D40-A7F0-67AF62DCACEB}"/>
              </a:ext>
            </a:extLst>
          </p:cNvPr>
          <p:cNvCxnSpPr/>
          <p:nvPr/>
        </p:nvCxnSpPr>
        <p:spPr>
          <a:xfrm>
            <a:off x="10862982"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7" name="직선 화살표 연결선 26">
            <a:extLst>
              <a:ext uri="{FF2B5EF4-FFF2-40B4-BE49-F238E27FC236}">
                <a16:creationId xmlns:a16="http://schemas.microsoft.com/office/drawing/2014/main" id="{1A34C1D4-0DB0-F015-A26A-A85F882BCD6D}"/>
              </a:ext>
            </a:extLst>
          </p:cNvPr>
          <p:cNvCxnSpPr/>
          <p:nvPr/>
        </p:nvCxnSpPr>
        <p:spPr>
          <a:xfrm>
            <a:off x="427954"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904DAA74-B008-2E80-63EF-B35E257061D6}"/>
              </a:ext>
            </a:extLst>
          </p:cNvPr>
          <p:cNvSpPr txBox="1"/>
          <p:nvPr/>
        </p:nvSpPr>
        <p:spPr>
          <a:xfrm>
            <a:off x="267638" y="1446573"/>
            <a:ext cx="11695008" cy="459357"/>
          </a:xfrm>
          <a:prstGeom prst="rect">
            <a:avLst/>
          </a:prstGeom>
          <a:noFill/>
        </p:spPr>
        <p:txBody>
          <a:bodyPr wrap="square">
            <a:spAutoFit/>
          </a:bodyPr>
          <a:lstStyle/>
          <a:p>
            <a:pPr algn="ctr">
              <a:lnSpc>
                <a:spcPct val="150000"/>
              </a:lnSpc>
            </a:pPr>
            <a:r>
              <a:rPr lang="en-US" altLang="ko-KR">
                <a:latin typeface="NanumGothic" panose="020D0604000000000000" pitchFamily="34" charset="-127"/>
                <a:ea typeface="NanumGothic" panose="020D0604000000000000" pitchFamily="34" charset="-127"/>
              </a:rPr>
              <a:t>Exqutor runs only the vector index portion of the query during the</a:t>
            </a:r>
            <a:r>
              <a:rPr lang="ko-KR" altLang="en-US">
                <a:latin typeface="NanumGothic" panose="020D0604000000000000" pitchFamily="34" charset="-127"/>
                <a:ea typeface="NanumGothic" panose="020D0604000000000000" pitchFamily="34" charset="-127"/>
              </a:rPr>
              <a:t> </a:t>
            </a:r>
            <a:r>
              <a:rPr lang="en-US" altLang="ko-KR">
                <a:latin typeface="NanumGothic" panose="020D0604000000000000" pitchFamily="34" charset="-127"/>
                <a:ea typeface="NanumGothic" panose="020D0604000000000000" pitchFamily="34" charset="-127"/>
              </a:rPr>
              <a:t>query planning phase</a:t>
            </a:r>
            <a:endParaRPr lang="en-US" altLang="ko-KR" u="sng">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808871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B49B1-89FC-4418-38F0-679A4505AE6F}"/>
            </a:ext>
          </a:extLst>
        </p:cNvPr>
        <p:cNvGrpSpPr/>
        <p:nvPr/>
      </p:nvGrpSpPr>
      <p:grpSpPr>
        <a:xfrm>
          <a:off x="0" y="0"/>
          <a:ext cx="0" cy="0"/>
          <a:chOff x="0" y="0"/>
          <a:chExt cx="0" cy="0"/>
        </a:xfrm>
      </p:grpSpPr>
      <p:sp>
        <p:nvSpPr>
          <p:cNvPr id="21" name="직사각형 20">
            <a:extLst>
              <a:ext uri="{FF2B5EF4-FFF2-40B4-BE49-F238E27FC236}">
                <a16:creationId xmlns:a16="http://schemas.microsoft.com/office/drawing/2014/main" id="{595CE263-C15A-E50C-197D-3D39CA1C5AE7}"/>
              </a:ext>
            </a:extLst>
          </p:cNvPr>
          <p:cNvSpPr/>
          <p:nvPr/>
        </p:nvSpPr>
        <p:spPr>
          <a:xfrm>
            <a:off x="0" y="1325563"/>
            <a:ext cx="12192000" cy="7319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E6213720-B3B7-F2FE-62AA-B21DC96B535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4913C899-D158-F3B0-040D-5A195D02BA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963B5C0F-2111-6E50-180D-956FCF94AA58}"/>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ko-KR" altLang="en-US" sz="4400" err="1">
                <a:solidFill>
                  <a:srgbClr val="FFFFFF"/>
                </a:solidFill>
                <a:latin typeface="Calibri"/>
                <a:ea typeface="+mn-ea"/>
                <a:cs typeface="Calibri"/>
                <a:sym typeface="Arial"/>
              </a:rPr>
              <a:t> </a:t>
            </a:r>
            <a:r>
              <a:rPr lang="en-US" sz="4400" err="1">
                <a:solidFill>
                  <a:srgbClr val="FFFFFF"/>
                </a:solidFill>
                <a:latin typeface="Calibri"/>
                <a:ea typeface="+mn-ea"/>
                <a:cs typeface="Calibri"/>
                <a:sym typeface="Arial"/>
              </a:rPr>
              <a:t>Exqutor</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ko-KR" altLang="en-US" sz="2800" b="0" i="0" u="none" strike="noStrike" kern="1200" cap="none" spc="-49" normalizeH="0" baseline="0" noProof="0" err="1">
                <a:ln w="3175">
                  <a:noFill/>
                </a:ln>
                <a:solidFill>
                  <a:srgbClr val="FFFFFF"/>
                </a:solidFill>
                <a:effectLst/>
                <a:uLnTx/>
                <a:uFillTx/>
                <a:latin typeface="Calibri"/>
                <a:cs typeface="Calibri"/>
                <a:sym typeface="Arial"/>
              </a:rPr>
              <a:t> </a:t>
            </a:r>
            <a:r>
              <a:rPr kumimoji="0" lang="en-US" altLang="ko-KR" sz="2800" b="0" i="0" u="none" strike="noStrike" kern="1200" cap="none" spc="-49" normalizeH="0" baseline="0" noProof="0" err="1">
                <a:ln w="3175">
                  <a:noFill/>
                </a:ln>
                <a:solidFill>
                  <a:srgbClr val="FFFFFF"/>
                </a:solidFill>
                <a:effectLst/>
                <a:uLnTx/>
                <a:uFillTx/>
                <a:latin typeface="Calibri"/>
                <a:cs typeface="Calibri"/>
                <a:sym typeface="Arial"/>
              </a:rPr>
              <a:t>(1) Vector Index-based Exact Cardinality Query Optimization (ECQO)</a:t>
            </a:r>
            <a:endParaRPr kumimoji="0" lang="en-US" altLang="ko-KR"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pic>
        <p:nvPicPr>
          <p:cNvPr id="5" name="그림 4">
            <a:extLst>
              <a:ext uri="{FF2B5EF4-FFF2-40B4-BE49-F238E27FC236}">
                <a16:creationId xmlns:a16="http://schemas.microsoft.com/office/drawing/2014/main" id="{580F459B-BE9E-F9E9-B932-F53772517766}"/>
              </a:ext>
            </a:extLst>
          </p:cNvPr>
          <p:cNvPicPr>
            <a:picLocks noChangeAspect="1"/>
          </p:cNvPicPr>
          <p:nvPr/>
        </p:nvPicPr>
        <p:blipFill>
          <a:blip r:embed="rId5"/>
          <a:srcRect l="6536" t="7443" r="51429" b="13883"/>
          <a:stretch/>
        </p:blipFill>
        <p:spPr>
          <a:xfrm>
            <a:off x="1225868" y="2803560"/>
            <a:ext cx="3304813" cy="2464092"/>
          </a:xfrm>
          <a:prstGeom prst="rect">
            <a:avLst/>
          </a:prstGeom>
        </p:spPr>
      </p:pic>
      <p:sp>
        <p:nvSpPr>
          <p:cNvPr id="6" name="TextBox 5">
            <a:extLst>
              <a:ext uri="{FF2B5EF4-FFF2-40B4-BE49-F238E27FC236}">
                <a16:creationId xmlns:a16="http://schemas.microsoft.com/office/drawing/2014/main" id="{5EE999F7-69CA-4202-E234-9C466D4FC0A8}"/>
              </a:ext>
            </a:extLst>
          </p:cNvPr>
          <p:cNvSpPr txBox="1"/>
          <p:nvPr/>
        </p:nvSpPr>
        <p:spPr>
          <a:xfrm>
            <a:off x="3823975" y="2920692"/>
            <a:ext cx="3774709"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1. Identify the VSS part</a:t>
            </a:r>
          </a:p>
        </p:txBody>
      </p:sp>
      <p:sp>
        <p:nvSpPr>
          <p:cNvPr id="8" name="직사각형 7">
            <a:extLst>
              <a:ext uri="{FF2B5EF4-FFF2-40B4-BE49-F238E27FC236}">
                <a16:creationId xmlns:a16="http://schemas.microsoft.com/office/drawing/2014/main" id="{AD9C8E80-C62C-5CA6-0FAB-4D72EA6EF84D}"/>
              </a:ext>
            </a:extLst>
          </p:cNvPr>
          <p:cNvSpPr/>
          <p:nvPr/>
        </p:nvSpPr>
        <p:spPr>
          <a:xfrm>
            <a:off x="3016167" y="3473345"/>
            <a:ext cx="1414913" cy="94327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rgbClr val="00B050"/>
              </a:solidFill>
            </a:endParaRPr>
          </a:p>
        </p:txBody>
      </p:sp>
      <p:cxnSp>
        <p:nvCxnSpPr>
          <p:cNvPr id="14" name="직선 화살표 연결선 13">
            <a:extLst>
              <a:ext uri="{FF2B5EF4-FFF2-40B4-BE49-F238E27FC236}">
                <a16:creationId xmlns:a16="http://schemas.microsoft.com/office/drawing/2014/main" id="{0C6EC92B-D0C8-06D8-A3CA-60B54BE756C8}"/>
              </a:ext>
            </a:extLst>
          </p:cNvPr>
          <p:cNvCxnSpPr>
            <a:cxnSpLocks/>
          </p:cNvCxnSpPr>
          <p:nvPr/>
        </p:nvCxnSpPr>
        <p:spPr>
          <a:xfrm>
            <a:off x="4452414" y="3812321"/>
            <a:ext cx="3469835" cy="0"/>
          </a:xfrm>
          <a:prstGeom prst="straightConnector1">
            <a:avLst/>
          </a:prstGeom>
          <a:ln w="25400">
            <a:solidFill>
              <a:srgbClr val="00B050"/>
            </a:solidFill>
            <a:tailEnd type="triangle" w="lg" len="lg"/>
          </a:ln>
        </p:spPr>
        <p:style>
          <a:lnRef idx="2">
            <a:schemeClr val="accent1"/>
          </a:lnRef>
          <a:fillRef idx="0">
            <a:schemeClr val="accent1"/>
          </a:fillRef>
          <a:effectRef idx="1">
            <a:schemeClr val="accent1"/>
          </a:effectRef>
          <a:fontRef idx="minor">
            <a:schemeClr val="tx1"/>
          </a:fontRef>
        </p:style>
      </p:cxnSp>
      <p:sp>
        <p:nvSpPr>
          <p:cNvPr id="18" name="모서리가 둥근 직사각형 17">
            <a:extLst>
              <a:ext uri="{FF2B5EF4-FFF2-40B4-BE49-F238E27FC236}">
                <a16:creationId xmlns:a16="http://schemas.microsoft.com/office/drawing/2014/main" id="{52AB088C-B152-3803-267B-5731BDA9EF61}"/>
              </a:ext>
            </a:extLst>
          </p:cNvPr>
          <p:cNvSpPr/>
          <p:nvPr/>
        </p:nvSpPr>
        <p:spPr>
          <a:xfrm>
            <a:off x="1225868" y="2320873"/>
            <a:ext cx="4419600" cy="430615"/>
          </a:xfrm>
          <a:prstGeom prst="roundRect">
            <a:avLst/>
          </a:prstGeom>
          <a:solidFill>
            <a:srgbClr val="FFDF7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Query planning phase</a:t>
            </a:r>
            <a:endParaRPr kumimoji="1" lang="ko-KR" altLang="en-US">
              <a:solidFill>
                <a:sysClr val="windowText" lastClr="000000"/>
              </a:solidFill>
            </a:endParaRPr>
          </a:p>
        </p:txBody>
      </p:sp>
      <p:sp>
        <p:nvSpPr>
          <p:cNvPr id="19" name="모서리가 둥근 직사각형 18">
            <a:extLst>
              <a:ext uri="{FF2B5EF4-FFF2-40B4-BE49-F238E27FC236}">
                <a16:creationId xmlns:a16="http://schemas.microsoft.com/office/drawing/2014/main" id="{B82C54BB-A16C-2592-6F06-272BFACD613A}"/>
              </a:ext>
            </a:extLst>
          </p:cNvPr>
          <p:cNvSpPr/>
          <p:nvPr/>
        </p:nvSpPr>
        <p:spPr>
          <a:xfrm>
            <a:off x="6443382" y="2320873"/>
            <a:ext cx="4419600" cy="43061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Execution phase</a:t>
            </a:r>
            <a:endParaRPr kumimoji="1" lang="ko-KR" altLang="en-US">
              <a:solidFill>
                <a:sysClr val="windowText" lastClr="000000"/>
              </a:solidFill>
            </a:endParaRPr>
          </a:p>
        </p:txBody>
      </p:sp>
      <p:sp>
        <p:nvSpPr>
          <p:cNvPr id="22" name="TextBox 21">
            <a:extLst>
              <a:ext uri="{FF2B5EF4-FFF2-40B4-BE49-F238E27FC236}">
                <a16:creationId xmlns:a16="http://schemas.microsoft.com/office/drawing/2014/main" id="{35D20569-1789-DBAC-44D8-62F5EA9AB1EA}"/>
              </a:ext>
            </a:extLst>
          </p:cNvPr>
          <p:cNvSpPr txBox="1"/>
          <p:nvPr/>
        </p:nvSpPr>
        <p:spPr>
          <a:xfrm>
            <a:off x="7128788" y="2868620"/>
            <a:ext cx="4636044"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2. Execute with the vector index</a:t>
            </a:r>
            <a:r>
              <a:rPr lang="ko-KR" altLang="en-US"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 </a:t>
            </a: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(e.g., HNSW)</a:t>
            </a:r>
          </a:p>
        </p:txBody>
      </p:sp>
      <p:pic>
        <p:nvPicPr>
          <p:cNvPr id="7170" name="Picture 2">
            <a:extLst>
              <a:ext uri="{FF2B5EF4-FFF2-40B4-BE49-F238E27FC236}">
                <a16:creationId xmlns:a16="http://schemas.microsoft.com/office/drawing/2014/main" id="{3ED3BB8A-3AAB-6B1E-9284-8D31CDC533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6886" y="3522418"/>
            <a:ext cx="1576793" cy="1705922"/>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직선 화살표 연결선 24">
            <a:extLst>
              <a:ext uri="{FF2B5EF4-FFF2-40B4-BE49-F238E27FC236}">
                <a16:creationId xmlns:a16="http://schemas.microsoft.com/office/drawing/2014/main" id="{B3047D96-329D-6974-7170-51CF5B6C9865}"/>
              </a:ext>
            </a:extLst>
          </p:cNvPr>
          <p:cNvCxnSpPr>
            <a:stCxn id="18" idx="3"/>
            <a:endCxn id="19" idx="1"/>
          </p:cNvCxnSpPr>
          <p:nvPr/>
        </p:nvCxnSpPr>
        <p:spPr>
          <a:xfrm>
            <a:off x="5645468"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6" name="직선 화살표 연결선 25">
            <a:extLst>
              <a:ext uri="{FF2B5EF4-FFF2-40B4-BE49-F238E27FC236}">
                <a16:creationId xmlns:a16="http://schemas.microsoft.com/office/drawing/2014/main" id="{B9E3D0F7-FAF4-F793-3DA6-77AE18EA12EB}"/>
              </a:ext>
            </a:extLst>
          </p:cNvPr>
          <p:cNvCxnSpPr/>
          <p:nvPr/>
        </p:nvCxnSpPr>
        <p:spPr>
          <a:xfrm>
            <a:off x="10862982"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7" name="직선 화살표 연결선 26">
            <a:extLst>
              <a:ext uri="{FF2B5EF4-FFF2-40B4-BE49-F238E27FC236}">
                <a16:creationId xmlns:a16="http://schemas.microsoft.com/office/drawing/2014/main" id="{9CB422DB-7F0B-1388-52D5-675BF2DDE50F}"/>
              </a:ext>
            </a:extLst>
          </p:cNvPr>
          <p:cNvCxnSpPr/>
          <p:nvPr/>
        </p:nvCxnSpPr>
        <p:spPr>
          <a:xfrm>
            <a:off x="427954"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3" name="TextBox 2">
            <a:extLst>
              <a:ext uri="{FF2B5EF4-FFF2-40B4-BE49-F238E27FC236}">
                <a16:creationId xmlns:a16="http://schemas.microsoft.com/office/drawing/2014/main" id="{3D48369E-4CA1-8BA9-706F-424209A28B25}"/>
              </a:ext>
            </a:extLst>
          </p:cNvPr>
          <p:cNvSpPr txBox="1"/>
          <p:nvPr/>
        </p:nvSpPr>
        <p:spPr>
          <a:xfrm>
            <a:off x="267638" y="1446573"/>
            <a:ext cx="11695008" cy="459357"/>
          </a:xfrm>
          <a:prstGeom prst="rect">
            <a:avLst/>
          </a:prstGeom>
          <a:noFill/>
        </p:spPr>
        <p:txBody>
          <a:bodyPr wrap="square">
            <a:spAutoFit/>
          </a:bodyPr>
          <a:lstStyle/>
          <a:p>
            <a:pPr algn="ctr">
              <a:lnSpc>
                <a:spcPct val="150000"/>
              </a:lnSpc>
            </a:pPr>
            <a:r>
              <a:rPr lang="en-US" altLang="ko-KR">
                <a:latin typeface="NanumGothic" panose="020D0604000000000000" pitchFamily="34" charset="-127"/>
                <a:ea typeface="NanumGothic" panose="020D0604000000000000" pitchFamily="34" charset="-127"/>
              </a:rPr>
              <a:t>Exqutor runs only the vector index portion of the query during the</a:t>
            </a:r>
            <a:r>
              <a:rPr lang="ko-KR" altLang="en-US">
                <a:latin typeface="NanumGothic" panose="020D0604000000000000" pitchFamily="34" charset="-127"/>
                <a:ea typeface="NanumGothic" panose="020D0604000000000000" pitchFamily="34" charset="-127"/>
              </a:rPr>
              <a:t> </a:t>
            </a:r>
            <a:r>
              <a:rPr lang="en-US" altLang="ko-KR">
                <a:latin typeface="NanumGothic" panose="020D0604000000000000" pitchFamily="34" charset="-127"/>
                <a:ea typeface="NanumGothic" panose="020D0604000000000000" pitchFamily="34" charset="-127"/>
              </a:rPr>
              <a:t>query planning phase</a:t>
            </a:r>
            <a:endParaRPr lang="en-US" altLang="ko-KR" u="sng">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378659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8D48C-95AA-91FB-5A8E-C085DE2E18B3}"/>
            </a:ext>
          </a:extLst>
        </p:cNvPr>
        <p:cNvGrpSpPr/>
        <p:nvPr/>
      </p:nvGrpSpPr>
      <p:grpSpPr>
        <a:xfrm>
          <a:off x="0" y="0"/>
          <a:ext cx="0" cy="0"/>
          <a:chOff x="0" y="0"/>
          <a:chExt cx="0" cy="0"/>
        </a:xfrm>
      </p:grpSpPr>
      <p:sp>
        <p:nvSpPr>
          <p:cNvPr id="21" name="직사각형 20">
            <a:extLst>
              <a:ext uri="{FF2B5EF4-FFF2-40B4-BE49-F238E27FC236}">
                <a16:creationId xmlns:a16="http://schemas.microsoft.com/office/drawing/2014/main" id="{A8C44C9C-9CD2-C3D4-25EE-CE5FDB97523B}"/>
              </a:ext>
            </a:extLst>
          </p:cNvPr>
          <p:cNvSpPr/>
          <p:nvPr/>
        </p:nvSpPr>
        <p:spPr>
          <a:xfrm>
            <a:off x="0" y="1325563"/>
            <a:ext cx="12192000" cy="7319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0E6D3AA8-BAD4-D0BF-7047-E4F48128351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4D9BE8B3-CE66-B9B0-7AA8-6D0FD120949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A1965936-D615-5468-0EE4-8B50DD5AD3D3}"/>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en-US" sz="4400" err="1">
                <a:solidFill>
                  <a:srgbClr val="FFFFFF"/>
                </a:solidFill>
                <a:latin typeface="Calibri"/>
                <a:ea typeface="+mn-ea"/>
                <a:cs typeface="Calibri"/>
                <a:sym typeface="Arial"/>
              </a:rPr>
              <a:t> Exqutor</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en-US" altLang="ko-KR" sz="2800" b="0" i="0" u="none" strike="noStrike" kern="1200" cap="none" spc="-49" normalizeH="0" baseline="0" noProof="0" err="1">
                <a:ln w="3175">
                  <a:noFill/>
                </a:ln>
                <a:solidFill>
                  <a:srgbClr val="FFFFFF"/>
                </a:solidFill>
                <a:effectLst/>
                <a:uLnTx/>
                <a:uFillTx/>
                <a:latin typeface="Calibri"/>
                <a:cs typeface="Calibri"/>
                <a:sym typeface="Arial"/>
              </a:rPr>
              <a:t> (1) Vector Index-based Exact Cardinality Query Optimization (ECQO)</a:t>
            </a:r>
            <a:endParaRPr kumimoji="0" lang="en-US" altLang="ko-KR"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sp>
        <p:nvSpPr>
          <p:cNvPr id="2" name="TextBox 1">
            <a:extLst>
              <a:ext uri="{FF2B5EF4-FFF2-40B4-BE49-F238E27FC236}">
                <a16:creationId xmlns:a16="http://schemas.microsoft.com/office/drawing/2014/main" id="{02797616-064C-A487-24EB-86B08519A759}"/>
              </a:ext>
            </a:extLst>
          </p:cNvPr>
          <p:cNvSpPr txBox="1"/>
          <p:nvPr/>
        </p:nvSpPr>
        <p:spPr>
          <a:xfrm>
            <a:off x="267638" y="1446573"/>
            <a:ext cx="11695008" cy="459357"/>
          </a:xfrm>
          <a:prstGeom prst="rect">
            <a:avLst/>
          </a:prstGeom>
          <a:noFill/>
        </p:spPr>
        <p:txBody>
          <a:bodyPr wrap="square">
            <a:spAutoFit/>
          </a:bodyPr>
          <a:lstStyle/>
          <a:p>
            <a:pPr>
              <a:lnSpc>
                <a:spcPct val="150000"/>
              </a:lnSpc>
            </a:pPr>
            <a:r>
              <a:rPr lang="en-US" altLang="ko-KR">
                <a:latin typeface="NanumGothic" panose="020D0604000000000000" pitchFamily="34" charset="-127"/>
                <a:ea typeface="NanumGothic" panose="020D0604000000000000" pitchFamily="34" charset="-127"/>
              </a:rPr>
              <a:t>Exqutor runs only the vector index portion of the query during the</a:t>
            </a:r>
            <a:r>
              <a:rPr lang="ko-KR" altLang="en-US">
                <a:latin typeface="NanumGothic" panose="020D0604000000000000" pitchFamily="34" charset="-127"/>
                <a:ea typeface="NanumGothic" panose="020D0604000000000000" pitchFamily="34" charset="-127"/>
              </a:rPr>
              <a:t> </a:t>
            </a:r>
            <a:r>
              <a:rPr lang="en-US" altLang="ko-KR">
                <a:latin typeface="NanumGothic" panose="020D0604000000000000" pitchFamily="34" charset="-127"/>
                <a:ea typeface="NanumGothic" panose="020D0604000000000000" pitchFamily="34" charset="-127"/>
              </a:rPr>
              <a:t>query planning phase</a:t>
            </a:r>
            <a:endParaRPr lang="en-US" altLang="ko-KR" u="sng">
              <a:latin typeface="NanumGothic" panose="020D0604000000000000" pitchFamily="34" charset="-127"/>
              <a:ea typeface="NanumGothic" panose="020D0604000000000000" pitchFamily="34" charset="-127"/>
            </a:endParaRPr>
          </a:p>
        </p:txBody>
      </p:sp>
      <p:pic>
        <p:nvPicPr>
          <p:cNvPr id="5" name="그림 4">
            <a:extLst>
              <a:ext uri="{FF2B5EF4-FFF2-40B4-BE49-F238E27FC236}">
                <a16:creationId xmlns:a16="http://schemas.microsoft.com/office/drawing/2014/main" id="{C524E9E7-693D-5E17-BE1D-CADC5A002D4B}"/>
              </a:ext>
            </a:extLst>
          </p:cNvPr>
          <p:cNvPicPr>
            <a:picLocks noChangeAspect="1"/>
          </p:cNvPicPr>
          <p:nvPr/>
        </p:nvPicPr>
        <p:blipFill>
          <a:blip r:embed="rId5"/>
          <a:srcRect l="6536" t="7443" r="51429" b="13883"/>
          <a:stretch/>
        </p:blipFill>
        <p:spPr>
          <a:xfrm>
            <a:off x="1225868" y="2803560"/>
            <a:ext cx="3304813" cy="2464092"/>
          </a:xfrm>
          <a:prstGeom prst="rect">
            <a:avLst/>
          </a:prstGeom>
        </p:spPr>
      </p:pic>
      <p:sp>
        <p:nvSpPr>
          <p:cNvPr id="6" name="TextBox 5">
            <a:extLst>
              <a:ext uri="{FF2B5EF4-FFF2-40B4-BE49-F238E27FC236}">
                <a16:creationId xmlns:a16="http://schemas.microsoft.com/office/drawing/2014/main" id="{42B4E953-6206-350E-3743-C96545EF0F96}"/>
              </a:ext>
            </a:extLst>
          </p:cNvPr>
          <p:cNvSpPr txBox="1"/>
          <p:nvPr/>
        </p:nvSpPr>
        <p:spPr>
          <a:xfrm>
            <a:off x="3823975" y="2920692"/>
            <a:ext cx="3774709"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1. Identify the VSS part</a:t>
            </a:r>
          </a:p>
        </p:txBody>
      </p:sp>
      <p:sp>
        <p:nvSpPr>
          <p:cNvPr id="8" name="직사각형 7">
            <a:extLst>
              <a:ext uri="{FF2B5EF4-FFF2-40B4-BE49-F238E27FC236}">
                <a16:creationId xmlns:a16="http://schemas.microsoft.com/office/drawing/2014/main" id="{1F820ECF-5052-49E6-C092-1BA2906AF664}"/>
              </a:ext>
            </a:extLst>
          </p:cNvPr>
          <p:cNvSpPr/>
          <p:nvPr/>
        </p:nvSpPr>
        <p:spPr>
          <a:xfrm>
            <a:off x="3016167" y="3473345"/>
            <a:ext cx="1414913" cy="94327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rgbClr val="00B050"/>
              </a:solidFill>
            </a:endParaRPr>
          </a:p>
        </p:txBody>
      </p:sp>
      <p:cxnSp>
        <p:nvCxnSpPr>
          <p:cNvPr id="14" name="직선 화살표 연결선 13">
            <a:extLst>
              <a:ext uri="{FF2B5EF4-FFF2-40B4-BE49-F238E27FC236}">
                <a16:creationId xmlns:a16="http://schemas.microsoft.com/office/drawing/2014/main" id="{14BABFFC-A181-AE1D-F90F-6705E5B9C004}"/>
              </a:ext>
            </a:extLst>
          </p:cNvPr>
          <p:cNvCxnSpPr>
            <a:cxnSpLocks/>
          </p:cNvCxnSpPr>
          <p:nvPr/>
        </p:nvCxnSpPr>
        <p:spPr>
          <a:xfrm>
            <a:off x="4452414" y="3812321"/>
            <a:ext cx="3469835" cy="0"/>
          </a:xfrm>
          <a:prstGeom prst="straightConnector1">
            <a:avLst/>
          </a:prstGeom>
          <a:ln w="25400">
            <a:solidFill>
              <a:srgbClr val="00B05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직선 화살표 연결선 14">
            <a:extLst>
              <a:ext uri="{FF2B5EF4-FFF2-40B4-BE49-F238E27FC236}">
                <a16:creationId xmlns:a16="http://schemas.microsoft.com/office/drawing/2014/main" id="{49C71E3F-675F-ECA8-7F73-103333B2BF8B}"/>
              </a:ext>
            </a:extLst>
          </p:cNvPr>
          <p:cNvCxnSpPr>
            <a:cxnSpLocks/>
          </p:cNvCxnSpPr>
          <p:nvPr/>
        </p:nvCxnSpPr>
        <p:spPr>
          <a:xfrm flipH="1" flipV="1">
            <a:off x="4452414" y="4081451"/>
            <a:ext cx="3469835" cy="2147"/>
          </a:xfrm>
          <a:prstGeom prst="straightConnector1">
            <a:avLst/>
          </a:prstGeom>
          <a:ln w="25400">
            <a:solidFill>
              <a:srgbClr val="00B050"/>
            </a:solidFill>
            <a:tailEnd type="triangle" w="lg" len="lg"/>
          </a:ln>
        </p:spPr>
        <p:style>
          <a:lnRef idx="2">
            <a:schemeClr val="accent1"/>
          </a:lnRef>
          <a:fillRef idx="0">
            <a:schemeClr val="accent1"/>
          </a:fillRef>
          <a:effectRef idx="1">
            <a:schemeClr val="accent1"/>
          </a:effectRef>
          <a:fontRef idx="minor">
            <a:schemeClr val="tx1"/>
          </a:fontRef>
        </p:style>
      </p:cxnSp>
      <p:sp>
        <p:nvSpPr>
          <p:cNvPr id="18" name="모서리가 둥근 직사각형 17">
            <a:extLst>
              <a:ext uri="{FF2B5EF4-FFF2-40B4-BE49-F238E27FC236}">
                <a16:creationId xmlns:a16="http://schemas.microsoft.com/office/drawing/2014/main" id="{3F2A8BC4-438D-F91C-A4E1-3146474E1B49}"/>
              </a:ext>
            </a:extLst>
          </p:cNvPr>
          <p:cNvSpPr/>
          <p:nvPr/>
        </p:nvSpPr>
        <p:spPr>
          <a:xfrm>
            <a:off x="1225868" y="2320873"/>
            <a:ext cx="4419600" cy="430615"/>
          </a:xfrm>
          <a:prstGeom prst="roundRect">
            <a:avLst/>
          </a:prstGeom>
          <a:solidFill>
            <a:srgbClr val="FFDF7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Query planning phase</a:t>
            </a:r>
            <a:endParaRPr kumimoji="1" lang="ko-KR" altLang="en-US">
              <a:solidFill>
                <a:sysClr val="windowText" lastClr="000000"/>
              </a:solidFill>
            </a:endParaRPr>
          </a:p>
        </p:txBody>
      </p:sp>
      <p:sp>
        <p:nvSpPr>
          <p:cNvPr id="19" name="모서리가 둥근 직사각형 18">
            <a:extLst>
              <a:ext uri="{FF2B5EF4-FFF2-40B4-BE49-F238E27FC236}">
                <a16:creationId xmlns:a16="http://schemas.microsoft.com/office/drawing/2014/main" id="{6883DF88-1D97-2928-3293-E91FFD36D224}"/>
              </a:ext>
            </a:extLst>
          </p:cNvPr>
          <p:cNvSpPr/>
          <p:nvPr/>
        </p:nvSpPr>
        <p:spPr>
          <a:xfrm>
            <a:off x="6443382" y="2320873"/>
            <a:ext cx="4419600" cy="43061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Execution phase</a:t>
            </a:r>
            <a:endParaRPr kumimoji="1" lang="ko-KR" altLang="en-US">
              <a:solidFill>
                <a:sysClr val="windowText" lastClr="000000"/>
              </a:solidFill>
            </a:endParaRPr>
          </a:p>
        </p:txBody>
      </p:sp>
      <p:sp>
        <p:nvSpPr>
          <p:cNvPr id="23" name="TextBox 22">
            <a:extLst>
              <a:ext uri="{FF2B5EF4-FFF2-40B4-BE49-F238E27FC236}">
                <a16:creationId xmlns:a16="http://schemas.microsoft.com/office/drawing/2014/main" id="{C6DA1A18-7CBB-ACEA-50C9-0D89D53D26E7}"/>
              </a:ext>
            </a:extLst>
          </p:cNvPr>
          <p:cNvSpPr txBox="1"/>
          <p:nvPr/>
        </p:nvSpPr>
        <p:spPr>
          <a:xfrm>
            <a:off x="4682177" y="4157428"/>
            <a:ext cx="3774709"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3. Retrieve the actual result</a:t>
            </a:r>
          </a:p>
        </p:txBody>
      </p:sp>
      <p:cxnSp>
        <p:nvCxnSpPr>
          <p:cNvPr id="25" name="직선 화살표 연결선 24">
            <a:extLst>
              <a:ext uri="{FF2B5EF4-FFF2-40B4-BE49-F238E27FC236}">
                <a16:creationId xmlns:a16="http://schemas.microsoft.com/office/drawing/2014/main" id="{36108839-D120-D0FB-8F95-F5D374A84F66}"/>
              </a:ext>
            </a:extLst>
          </p:cNvPr>
          <p:cNvCxnSpPr>
            <a:stCxn id="18" idx="3"/>
            <a:endCxn id="19" idx="1"/>
          </p:cNvCxnSpPr>
          <p:nvPr/>
        </p:nvCxnSpPr>
        <p:spPr>
          <a:xfrm>
            <a:off x="5645468"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6" name="직선 화살표 연결선 25">
            <a:extLst>
              <a:ext uri="{FF2B5EF4-FFF2-40B4-BE49-F238E27FC236}">
                <a16:creationId xmlns:a16="http://schemas.microsoft.com/office/drawing/2014/main" id="{6A375382-FA87-AA86-2425-35A569B25D0B}"/>
              </a:ext>
            </a:extLst>
          </p:cNvPr>
          <p:cNvCxnSpPr/>
          <p:nvPr/>
        </p:nvCxnSpPr>
        <p:spPr>
          <a:xfrm>
            <a:off x="10862982"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7" name="직선 화살표 연결선 26">
            <a:extLst>
              <a:ext uri="{FF2B5EF4-FFF2-40B4-BE49-F238E27FC236}">
                <a16:creationId xmlns:a16="http://schemas.microsoft.com/office/drawing/2014/main" id="{6135CA07-A125-9123-5809-7A9187D1FF7D}"/>
              </a:ext>
            </a:extLst>
          </p:cNvPr>
          <p:cNvCxnSpPr/>
          <p:nvPr/>
        </p:nvCxnSpPr>
        <p:spPr>
          <a:xfrm>
            <a:off x="427954"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C77F6DCB-64B5-1750-1A01-9548ED239809}"/>
              </a:ext>
            </a:extLst>
          </p:cNvPr>
          <p:cNvSpPr txBox="1"/>
          <p:nvPr/>
        </p:nvSpPr>
        <p:spPr>
          <a:xfrm>
            <a:off x="7128788" y="2868620"/>
            <a:ext cx="4636044"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2. Execute with the vector index</a:t>
            </a:r>
            <a:r>
              <a:rPr lang="ko-KR" altLang="en-US"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 </a:t>
            </a: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(e.g., HNSW)</a:t>
            </a:r>
          </a:p>
        </p:txBody>
      </p:sp>
      <p:pic>
        <p:nvPicPr>
          <p:cNvPr id="11" name="Picture 2">
            <a:extLst>
              <a:ext uri="{FF2B5EF4-FFF2-40B4-BE49-F238E27FC236}">
                <a16:creationId xmlns:a16="http://schemas.microsoft.com/office/drawing/2014/main" id="{DF59F3F8-E6AB-7589-5D24-6B16DB8C540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56886" y="3522418"/>
            <a:ext cx="1576793" cy="170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727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CF043-C320-588D-E78E-6FDA440163EB}"/>
            </a:ext>
          </a:extLst>
        </p:cNvPr>
        <p:cNvGrpSpPr/>
        <p:nvPr/>
      </p:nvGrpSpPr>
      <p:grpSpPr>
        <a:xfrm>
          <a:off x="0" y="0"/>
          <a:ext cx="0" cy="0"/>
          <a:chOff x="0" y="0"/>
          <a:chExt cx="0" cy="0"/>
        </a:xfrm>
      </p:grpSpPr>
      <p:sp>
        <p:nvSpPr>
          <p:cNvPr id="21" name="직사각형 20">
            <a:extLst>
              <a:ext uri="{FF2B5EF4-FFF2-40B4-BE49-F238E27FC236}">
                <a16:creationId xmlns:a16="http://schemas.microsoft.com/office/drawing/2014/main" id="{87ADFEA4-2D65-2C7A-ED22-C4389D8DEE51}"/>
              </a:ext>
            </a:extLst>
          </p:cNvPr>
          <p:cNvSpPr/>
          <p:nvPr/>
        </p:nvSpPr>
        <p:spPr>
          <a:xfrm>
            <a:off x="0" y="1325563"/>
            <a:ext cx="12192000" cy="7319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6E7C790C-134C-1A7D-9A3B-86AE3A1652B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A6E5BD21-0033-7763-BC6E-9EE0756DB5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2CF7AA3D-2300-E30A-025C-70B5D8008058}"/>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en-US" sz="4400" err="1">
                <a:solidFill>
                  <a:srgbClr val="FFFFFF"/>
                </a:solidFill>
                <a:latin typeface="Calibri"/>
                <a:ea typeface="+mn-ea"/>
                <a:cs typeface="Calibri"/>
                <a:sym typeface="Arial"/>
              </a:rPr>
              <a:t> Exqutor</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en-US" altLang="ko-KR" sz="2800" b="0" i="0" u="none" strike="noStrike" kern="1200" cap="none" spc="-49" normalizeH="0" baseline="0" noProof="0" err="1">
                <a:ln w="3175">
                  <a:noFill/>
                </a:ln>
                <a:solidFill>
                  <a:srgbClr val="FFFFFF"/>
                </a:solidFill>
                <a:effectLst/>
                <a:uLnTx/>
                <a:uFillTx/>
                <a:latin typeface="Calibri"/>
                <a:cs typeface="Calibri"/>
                <a:sym typeface="Arial"/>
              </a:rPr>
              <a:t> (1) Vector Index-based Exact Cardinality Query Optimization (ECQO)</a:t>
            </a:r>
            <a:endParaRPr kumimoji="0" lang="en-US" altLang="ko-KR"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sp>
        <p:nvSpPr>
          <p:cNvPr id="2" name="TextBox 1">
            <a:extLst>
              <a:ext uri="{FF2B5EF4-FFF2-40B4-BE49-F238E27FC236}">
                <a16:creationId xmlns:a16="http://schemas.microsoft.com/office/drawing/2014/main" id="{062BA159-CDC0-28F0-E76D-E1CFC07BD42F}"/>
              </a:ext>
            </a:extLst>
          </p:cNvPr>
          <p:cNvSpPr txBox="1"/>
          <p:nvPr/>
        </p:nvSpPr>
        <p:spPr>
          <a:xfrm>
            <a:off x="267638" y="1446573"/>
            <a:ext cx="11695008" cy="459357"/>
          </a:xfrm>
          <a:prstGeom prst="rect">
            <a:avLst/>
          </a:prstGeom>
          <a:noFill/>
        </p:spPr>
        <p:txBody>
          <a:bodyPr wrap="square">
            <a:spAutoFit/>
          </a:bodyPr>
          <a:lstStyle/>
          <a:p>
            <a:pPr>
              <a:lnSpc>
                <a:spcPct val="150000"/>
              </a:lnSpc>
            </a:pPr>
            <a:r>
              <a:rPr lang="en-US" altLang="ko-KR">
                <a:latin typeface="NanumGothic" panose="020D0604000000000000" pitchFamily="34" charset="-127"/>
                <a:ea typeface="NanumGothic" panose="020D0604000000000000" pitchFamily="34" charset="-127"/>
              </a:rPr>
              <a:t>Exqutor runs only the vector index portion of the query during the</a:t>
            </a:r>
            <a:r>
              <a:rPr lang="ko-KR" altLang="en-US">
                <a:latin typeface="NanumGothic" panose="020D0604000000000000" pitchFamily="34" charset="-127"/>
                <a:ea typeface="NanumGothic" panose="020D0604000000000000" pitchFamily="34" charset="-127"/>
              </a:rPr>
              <a:t> </a:t>
            </a:r>
            <a:r>
              <a:rPr lang="en-US" altLang="ko-KR">
                <a:latin typeface="NanumGothic" panose="020D0604000000000000" pitchFamily="34" charset="-127"/>
                <a:ea typeface="NanumGothic" panose="020D0604000000000000" pitchFamily="34" charset="-127"/>
              </a:rPr>
              <a:t>query planning phase</a:t>
            </a:r>
            <a:endParaRPr lang="en-US" altLang="ko-KR" u="sng">
              <a:latin typeface="NanumGothic" panose="020D0604000000000000" pitchFamily="34" charset="-127"/>
              <a:ea typeface="NanumGothic" panose="020D0604000000000000" pitchFamily="34" charset="-127"/>
            </a:endParaRPr>
          </a:p>
        </p:txBody>
      </p:sp>
      <p:pic>
        <p:nvPicPr>
          <p:cNvPr id="3" name="그림 2">
            <a:extLst>
              <a:ext uri="{FF2B5EF4-FFF2-40B4-BE49-F238E27FC236}">
                <a16:creationId xmlns:a16="http://schemas.microsoft.com/office/drawing/2014/main" id="{D76C8857-3344-855C-0CC9-319E537696C6}"/>
              </a:ext>
            </a:extLst>
          </p:cNvPr>
          <p:cNvPicPr>
            <a:picLocks noChangeAspect="1"/>
          </p:cNvPicPr>
          <p:nvPr/>
        </p:nvPicPr>
        <p:blipFill>
          <a:blip r:embed="rId5"/>
          <a:srcRect l="605" t="34398" r="892" b="26349"/>
          <a:stretch/>
        </p:blipFill>
        <p:spPr>
          <a:xfrm>
            <a:off x="3823975" y="5474612"/>
            <a:ext cx="5463942" cy="1208264"/>
          </a:xfrm>
          <a:prstGeom prst="rect">
            <a:avLst/>
          </a:prstGeom>
        </p:spPr>
      </p:pic>
      <p:pic>
        <p:nvPicPr>
          <p:cNvPr id="5" name="그림 4">
            <a:extLst>
              <a:ext uri="{FF2B5EF4-FFF2-40B4-BE49-F238E27FC236}">
                <a16:creationId xmlns:a16="http://schemas.microsoft.com/office/drawing/2014/main" id="{192A4B9B-0C3C-7791-CB30-17603470BA51}"/>
              </a:ext>
            </a:extLst>
          </p:cNvPr>
          <p:cNvPicPr>
            <a:picLocks noChangeAspect="1"/>
          </p:cNvPicPr>
          <p:nvPr/>
        </p:nvPicPr>
        <p:blipFill>
          <a:blip r:embed="rId6"/>
          <a:srcRect l="6536" t="7443" r="51429" b="13883"/>
          <a:stretch/>
        </p:blipFill>
        <p:spPr>
          <a:xfrm>
            <a:off x="1225868" y="2803560"/>
            <a:ext cx="3304813" cy="2464092"/>
          </a:xfrm>
          <a:prstGeom prst="rect">
            <a:avLst/>
          </a:prstGeom>
        </p:spPr>
      </p:pic>
      <p:sp>
        <p:nvSpPr>
          <p:cNvPr id="6" name="TextBox 5">
            <a:extLst>
              <a:ext uri="{FF2B5EF4-FFF2-40B4-BE49-F238E27FC236}">
                <a16:creationId xmlns:a16="http://schemas.microsoft.com/office/drawing/2014/main" id="{48CB4029-353E-37CB-6B5D-AA379452B235}"/>
              </a:ext>
            </a:extLst>
          </p:cNvPr>
          <p:cNvSpPr txBox="1"/>
          <p:nvPr/>
        </p:nvSpPr>
        <p:spPr>
          <a:xfrm>
            <a:off x="3823975" y="2920692"/>
            <a:ext cx="3774709"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1. Identify the VSS part</a:t>
            </a:r>
          </a:p>
        </p:txBody>
      </p:sp>
      <p:sp>
        <p:nvSpPr>
          <p:cNvPr id="8" name="직사각형 7">
            <a:extLst>
              <a:ext uri="{FF2B5EF4-FFF2-40B4-BE49-F238E27FC236}">
                <a16:creationId xmlns:a16="http://schemas.microsoft.com/office/drawing/2014/main" id="{A5A3330A-2656-BC84-8673-87961F10D744}"/>
              </a:ext>
            </a:extLst>
          </p:cNvPr>
          <p:cNvSpPr/>
          <p:nvPr/>
        </p:nvSpPr>
        <p:spPr>
          <a:xfrm>
            <a:off x="3016167" y="3473345"/>
            <a:ext cx="1414913" cy="94327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solidFill>
                <a:srgbClr val="00B050"/>
              </a:solidFill>
            </a:endParaRPr>
          </a:p>
        </p:txBody>
      </p:sp>
      <p:sp>
        <p:nvSpPr>
          <p:cNvPr id="9" name="TextBox 8">
            <a:extLst>
              <a:ext uri="{FF2B5EF4-FFF2-40B4-BE49-F238E27FC236}">
                <a16:creationId xmlns:a16="http://schemas.microsoft.com/office/drawing/2014/main" id="{DCA49C05-D4E0-9B1F-4112-FFD8AF822D46}"/>
              </a:ext>
            </a:extLst>
          </p:cNvPr>
          <p:cNvSpPr txBox="1"/>
          <p:nvPr/>
        </p:nvSpPr>
        <p:spPr>
          <a:xfrm>
            <a:off x="613057" y="5641316"/>
            <a:ext cx="2912616" cy="87485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lnSpc>
                <a:spcPct val="150000"/>
              </a:lnSpc>
            </a:pPr>
            <a:r>
              <a:rPr lang="en-US" altLang="ko-KR" b="1">
                <a:solidFill>
                  <a:schemeClr val="tx1"/>
                </a:solidFill>
                <a:latin typeface="NanumGothic" panose="020D0604000000000000" pitchFamily="34" charset="-127"/>
                <a:ea typeface="NanumGothic" panose="020D0604000000000000" pitchFamily="34" charset="-127"/>
                <a:cs typeface="Open Sans" panose="020B0606030504020204" pitchFamily="34" charset="0"/>
              </a:rPr>
              <a:t>Overhead below 0.01% of the performance gain!</a:t>
            </a:r>
            <a:endParaRPr lang="ko-KR" altLang="en-US" b="1">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cxnSp>
        <p:nvCxnSpPr>
          <p:cNvPr id="14" name="직선 화살표 연결선 13">
            <a:extLst>
              <a:ext uri="{FF2B5EF4-FFF2-40B4-BE49-F238E27FC236}">
                <a16:creationId xmlns:a16="http://schemas.microsoft.com/office/drawing/2014/main" id="{BF334B2E-8402-15FD-DAE6-D24746A78053}"/>
              </a:ext>
            </a:extLst>
          </p:cNvPr>
          <p:cNvCxnSpPr>
            <a:cxnSpLocks/>
          </p:cNvCxnSpPr>
          <p:nvPr/>
        </p:nvCxnSpPr>
        <p:spPr>
          <a:xfrm>
            <a:off x="4452414" y="3812321"/>
            <a:ext cx="3469835" cy="0"/>
          </a:xfrm>
          <a:prstGeom prst="straightConnector1">
            <a:avLst/>
          </a:prstGeom>
          <a:ln w="25400">
            <a:solidFill>
              <a:srgbClr val="00B05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5" name="직선 화살표 연결선 14">
            <a:extLst>
              <a:ext uri="{FF2B5EF4-FFF2-40B4-BE49-F238E27FC236}">
                <a16:creationId xmlns:a16="http://schemas.microsoft.com/office/drawing/2014/main" id="{9E9453FF-6B77-2B21-6F21-8CEB570CA5AB}"/>
              </a:ext>
            </a:extLst>
          </p:cNvPr>
          <p:cNvCxnSpPr>
            <a:cxnSpLocks/>
          </p:cNvCxnSpPr>
          <p:nvPr/>
        </p:nvCxnSpPr>
        <p:spPr>
          <a:xfrm flipH="1" flipV="1">
            <a:off x="4452414" y="4081451"/>
            <a:ext cx="3469835" cy="2147"/>
          </a:xfrm>
          <a:prstGeom prst="straightConnector1">
            <a:avLst/>
          </a:prstGeom>
          <a:ln w="25400">
            <a:solidFill>
              <a:srgbClr val="00B050"/>
            </a:solidFill>
            <a:tailEnd type="triangle" w="lg" len="lg"/>
          </a:ln>
        </p:spPr>
        <p:style>
          <a:lnRef idx="2">
            <a:schemeClr val="accent1"/>
          </a:lnRef>
          <a:fillRef idx="0">
            <a:schemeClr val="accent1"/>
          </a:fillRef>
          <a:effectRef idx="1">
            <a:schemeClr val="accent1"/>
          </a:effectRef>
          <a:fontRef idx="minor">
            <a:schemeClr val="tx1"/>
          </a:fontRef>
        </p:style>
      </p:cxnSp>
      <p:sp>
        <p:nvSpPr>
          <p:cNvPr id="18" name="모서리가 둥근 직사각형 17">
            <a:extLst>
              <a:ext uri="{FF2B5EF4-FFF2-40B4-BE49-F238E27FC236}">
                <a16:creationId xmlns:a16="http://schemas.microsoft.com/office/drawing/2014/main" id="{6F988262-AE3B-FBC8-7847-F805324C9F16}"/>
              </a:ext>
            </a:extLst>
          </p:cNvPr>
          <p:cNvSpPr/>
          <p:nvPr/>
        </p:nvSpPr>
        <p:spPr>
          <a:xfrm>
            <a:off x="1225868" y="2320873"/>
            <a:ext cx="4419600" cy="430615"/>
          </a:xfrm>
          <a:prstGeom prst="roundRect">
            <a:avLst/>
          </a:prstGeom>
          <a:solidFill>
            <a:srgbClr val="FFDF7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Query planning phase</a:t>
            </a:r>
            <a:endParaRPr kumimoji="1" lang="ko-KR" altLang="en-US">
              <a:solidFill>
                <a:sysClr val="windowText" lastClr="000000"/>
              </a:solidFill>
            </a:endParaRPr>
          </a:p>
        </p:txBody>
      </p:sp>
      <p:sp>
        <p:nvSpPr>
          <p:cNvPr id="19" name="모서리가 둥근 직사각형 18">
            <a:extLst>
              <a:ext uri="{FF2B5EF4-FFF2-40B4-BE49-F238E27FC236}">
                <a16:creationId xmlns:a16="http://schemas.microsoft.com/office/drawing/2014/main" id="{C9AD011A-18BC-D5C8-1655-C39775BF11DB}"/>
              </a:ext>
            </a:extLst>
          </p:cNvPr>
          <p:cNvSpPr/>
          <p:nvPr/>
        </p:nvSpPr>
        <p:spPr>
          <a:xfrm>
            <a:off x="6443382" y="2320873"/>
            <a:ext cx="4419600" cy="43061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ko-KR">
                <a:solidFill>
                  <a:sysClr val="windowText" lastClr="000000"/>
                </a:solidFill>
              </a:rPr>
              <a:t>Execution phase</a:t>
            </a:r>
            <a:endParaRPr kumimoji="1" lang="ko-KR" altLang="en-US">
              <a:solidFill>
                <a:sysClr val="windowText" lastClr="000000"/>
              </a:solidFill>
            </a:endParaRPr>
          </a:p>
        </p:txBody>
      </p:sp>
      <p:sp>
        <p:nvSpPr>
          <p:cNvPr id="23" name="TextBox 22">
            <a:extLst>
              <a:ext uri="{FF2B5EF4-FFF2-40B4-BE49-F238E27FC236}">
                <a16:creationId xmlns:a16="http://schemas.microsoft.com/office/drawing/2014/main" id="{53CEB0FF-9A1B-68B4-A457-467F7DF37B9D}"/>
              </a:ext>
            </a:extLst>
          </p:cNvPr>
          <p:cNvSpPr txBox="1"/>
          <p:nvPr/>
        </p:nvSpPr>
        <p:spPr>
          <a:xfrm>
            <a:off x="4682177" y="4157428"/>
            <a:ext cx="3774709"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3. Retrieve the actual result</a:t>
            </a:r>
          </a:p>
        </p:txBody>
      </p:sp>
      <p:cxnSp>
        <p:nvCxnSpPr>
          <p:cNvPr id="25" name="직선 화살표 연결선 24">
            <a:extLst>
              <a:ext uri="{FF2B5EF4-FFF2-40B4-BE49-F238E27FC236}">
                <a16:creationId xmlns:a16="http://schemas.microsoft.com/office/drawing/2014/main" id="{E37CBA5E-9053-F09B-179C-4BE8EEE81434}"/>
              </a:ext>
            </a:extLst>
          </p:cNvPr>
          <p:cNvCxnSpPr>
            <a:stCxn id="18" idx="3"/>
            <a:endCxn id="19" idx="1"/>
          </p:cNvCxnSpPr>
          <p:nvPr/>
        </p:nvCxnSpPr>
        <p:spPr>
          <a:xfrm>
            <a:off x="5645468"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6" name="직선 화살표 연결선 25">
            <a:extLst>
              <a:ext uri="{FF2B5EF4-FFF2-40B4-BE49-F238E27FC236}">
                <a16:creationId xmlns:a16="http://schemas.microsoft.com/office/drawing/2014/main" id="{17283A67-D92C-2359-3F88-FA8BB78F5AFD}"/>
              </a:ext>
            </a:extLst>
          </p:cNvPr>
          <p:cNvCxnSpPr/>
          <p:nvPr/>
        </p:nvCxnSpPr>
        <p:spPr>
          <a:xfrm>
            <a:off x="10862982"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cxnSp>
        <p:nvCxnSpPr>
          <p:cNvPr id="27" name="직선 화살표 연결선 26">
            <a:extLst>
              <a:ext uri="{FF2B5EF4-FFF2-40B4-BE49-F238E27FC236}">
                <a16:creationId xmlns:a16="http://schemas.microsoft.com/office/drawing/2014/main" id="{53F30C53-379C-5E31-C119-B66F417C747A}"/>
              </a:ext>
            </a:extLst>
          </p:cNvPr>
          <p:cNvCxnSpPr/>
          <p:nvPr/>
        </p:nvCxnSpPr>
        <p:spPr>
          <a:xfrm>
            <a:off x="427954" y="2536181"/>
            <a:ext cx="797914" cy="0"/>
          </a:xfrm>
          <a:prstGeom prst="straightConnector1">
            <a:avLst/>
          </a:prstGeom>
          <a:ln w="28575">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7454C761-4F0D-1701-566E-7BCB0AE875C4}"/>
              </a:ext>
            </a:extLst>
          </p:cNvPr>
          <p:cNvSpPr txBox="1"/>
          <p:nvPr/>
        </p:nvSpPr>
        <p:spPr>
          <a:xfrm>
            <a:off x="7128788" y="2868620"/>
            <a:ext cx="4636044" cy="418576"/>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pP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2. Execute with the vector index</a:t>
            </a:r>
            <a:r>
              <a:rPr lang="ko-KR" altLang="en-US"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 </a:t>
            </a:r>
            <a:r>
              <a:rPr lang="en-US" altLang="ko-KR" sz="16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(e.g., HNSW)</a:t>
            </a:r>
          </a:p>
        </p:txBody>
      </p:sp>
      <p:pic>
        <p:nvPicPr>
          <p:cNvPr id="11" name="Picture 2">
            <a:extLst>
              <a:ext uri="{FF2B5EF4-FFF2-40B4-BE49-F238E27FC236}">
                <a16:creationId xmlns:a16="http://schemas.microsoft.com/office/drawing/2014/main" id="{26529462-27DB-C922-44FA-3AA163D1ABC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6886" y="3522418"/>
            <a:ext cx="1576793" cy="1705922"/>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3413438-CB88-BEFD-7B33-81B8639DF02D}"/>
              </a:ext>
            </a:extLst>
          </p:cNvPr>
          <p:cNvSpPr txBox="1"/>
          <p:nvPr/>
        </p:nvSpPr>
        <p:spPr>
          <a:xfrm>
            <a:off x="9339664" y="5860246"/>
            <a:ext cx="2622982" cy="584775"/>
          </a:xfrm>
          <a:prstGeom prst="rect">
            <a:avLst/>
          </a:prstGeom>
          <a:noFill/>
        </p:spPr>
        <p:txBody>
          <a:bodyPr wrap="square">
            <a:spAutoFit/>
          </a:bodyPr>
          <a:lstStyle/>
          <a:p>
            <a:r>
              <a:rPr kumimoji="1" lang="en-US" altLang="ko-KR" sz="1600" b="1" i="1">
                <a:solidFill>
                  <a:srgbClr val="FF0000"/>
                </a:solidFill>
                <a:latin typeface="NanumGothic" panose="020D0604000000000000" pitchFamily="34" charset="-127"/>
                <a:ea typeface="NanumGothic" panose="020D0604000000000000" pitchFamily="34" charset="-127"/>
                <a:cs typeface="Open Sans" panose="020B0606030504020204" pitchFamily="34" charset="0"/>
              </a:rPr>
              <a:t>Lightweight vector index &amp; reusing the result</a:t>
            </a:r>
            <a:endParaRPr lang="ko-KR" altLang="en-US" sz="1600" b="1" i="1">
              <a:solidFill>
                <a:srgbClr val="FF0000"/>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3692306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3487A-F0C6-2678-B6B2-6749959C039F}"/>
            </a:ext>
          </a:extLst>
        </p:cNvPr>
        <p:cNvGrpSpPr/>
        <p:nvPr/>
      </p:nvGrpSpPr>
      <p:grpSpPr>
        <a:xfrm>
          <a:off x="0" y="0"/>
          <a:ext cx="0" cy="0"/>
          <a:chOff x="0" y="0"/>
          <a:chExt cx="0" cy="0"/>
        </a:xfrm>
      </p:grpSpPr>
      <p:sp>
        <p:nvSpPr>
          <p:cNvPr id="3" name="직사각형 2">
            <a:extLst>
              <a:ext uri="{FF2B5EF4-FFF2-40B4-BE49-F238E27FC236}">
                <a16:creationId xmlns:a16="http://schemas.microsoft.com/office/drawing/2014/main" id="{415FC2CF-442B-7F02-901D-3959A5C913EB}"/>
              </a:ext>
            </a:extLst>
          </p:cNvPr>
          <p:cNvSpPr/>
          <p:nvPr/>
        </p:nvSpPr>
        <p:spPr>
          <a:xfrm>
            <a:off x="0" y="1325563"/>
            <a:ext cx="12192000" cy="73196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D716C668-7620-ACE3-AE1A-2FA1CEA67B9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F3F003D6-BAFA-1A24-0EC6-D480C2D155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C0A78E3F-9E37-340D-D4E3-25F293A9D75E}"/>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en-US" sz="4400" err="1">
                <a:solidFill>
                  <a:srgbClr val="FFFFFF"/>
                </a:solidFill>
                <a:latin typeface="Calibri"/>
                <a:ea typeface="+mn-ea"/>
                <a:cs typeface="Calibri"/>
                <a:sym typeface="Arial"/>
              </a:rPr>
              <a:t> Exqutor</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en-US" altLang="ko-KR" sz="2800" b="0" i="0" u="none" strike="noStrike" kern="1200" cap="none" spc="-49" normalizeH="0" baseline="0" noProof="0" err="1">
                <a:ln w="3175">
                  <a:noFill/>
                </a:ln>
                <a:solidFill>
                  <a:srgbClr val="FFFFFF"/>
                </a:solidFill>
                <a:effectLst/>
                <a:uLnTx/>
                <a:uFillTx/>
                <a:latin typeface="Calibri"/>
                <a:cs typeface="Calibri"/>
                <a:sym typeface="Arial"/>
              </a:rPr>
              <a:t> (2) Sampling-based Cardinality Estimation</a:t>
            </a:r>
            <a:endParaRPr kumimoji="0" lang="en-US" altLang="ko-KR"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pic>
        <p:nvPicPr>
          <p:cNvPr id="16386" name="Picture 2" descr="Different Variants of Gradient Descent - GeeksforGeeks">
            <a:extLst>
              <a:ext uri="{FF2B5EF4-FFF2-40B4-BE49-F238E27FC236}">
                <a16:creationId xmlns:a16="http://schemas.microsoft.com/office/drawing/2014/main" id="{00D285CF-C837-5EE2-4EAA-C8E829B8751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9044" t="14840" r="28868" b="12941"/>
          <a:stretch/>
        </p:blipFill>
        <p:spPr bwMode="auto">
          <a:xfrm>
            <a:off x="8369922" y="2517599"/>
            <a:ext cx="3304081" cy="28347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F9C39A0-140E-18B2-135E-2EAA36F8D13C}"/>
              </a:ext>
            </a:extLst>
          </p:cNvPr>
          <p:cNvSpPr txBox="1"/>
          <p:nvPr/>
        </p:nvSpPr>
        <p:spPr>
          <a:xfrm>
            <a:off x="9124072" y="5533038"/>
            <a:ext cx="1795780" cy="369332"/>
          </a:xfrm>
          <a:prstGeom prst="rect">
            <a:avLst/>
          </a:prstGeom>
          <a:noFill/>
        </p:spPr>
        <p:txBody>
          <a:bodyPr wrap="square">
            <a:spAutoFit/>
          </a:bodyPr>
          <a:lstStyle/>
          <a:p>
            <a:r>
              <a:rPr kumimoji="1" lang="en-US" altLang="ko-KR" b="1">
                <a:solidFill>
                  <a:schemeClr val="tx1"/>
                </a:solidFill>
                <a:latin typeface="Open Sans" panose="020B0606030504020204" pitchFamily="34" charset="0"/>
                <a:ea typeface="Open Sans" panose="020B0606030504020204" pitchFamily="34" charset="0"/>
                <a:cs typeface="Open Sans" panose="020B0606030504020204" pitchFamily="34" charset="0"/>
              </a:rPr>
              <a:t>Sampling size</a:t>
            </a:r>
            <a:endParaRPr lang="ko-KR" altLang="en-US"/>
          </a:p>
        </p:txBody>
      </p:sp>
      <p:sp>
        <p:nvSpPr>
          <p:cNvPr id="8" name="TextBox 7">
            <a:extLst>
              <a:ext uri="{FF2B5EF4-FFF2-40B4-BE49-F238E27FC236}">
                <a16:creationId xmlns:a16="http://schemas.microsoft.com/office/drawing/2014/main" id="{99738012-0E0F-3B34-5C8C-BC5F88632072}"/>
              </a:ext>
            </a:extLst>
          </p:cNvPr>
          <p:cNvSpPr txBox="1"/>
          <p:nvPr/>
        </p:nvSpPr>
        <p:spPr>
          <a:xfrm>
            <a:off x="127799" y="1420527"/>
            <a:ext cx="9152178" cy="459357"/>
          </a:xfrm>
          <a:prstGeom prst="rect">
            <a:avLst/>
          </a:prstGeom>
          <a:noFill/>
        </p:spPr>
        <p:txBody>
          <a:bodyPr wrap="square">
            <a:spAutoFit/>
          </a:bodyPr>
          <a:lstStyle/>
          <a:p>
            <a:pPr>
              <a:lnSpc>
                <a:spcPct val="150000"/>
              </a:lnSpc>
            </a:pPr>
            <a:r>
              <a:rPr lang="en-US" altLang="ko-KR">
                <a:latin typeface="NanumGothic" panose="020D0604000000000000" pitchFamily="34" charset="-127"/>
                <a:ea typeface="NanumGothic" panose="020D0604000000000000" pitchFamily="34" charset="-127"/>
              </a:rPr>
              <a:t>When vector index is not available, Exqutor estimates VSS cardinality with sampling</a:t>
            </a:r>
          </a:p>
        </p:txBody>
      </p:sp>
      <p:sp>
        <p:nvSpPr>
          <p:cNvPr id="7" name="TextBox 6">
            <a:extLst>
              <a:ext uri="{FF2B5EF4-FFF2-40B4-BE49-F238E27FC236}">
                <a16:creationId xmlns:a16="http://schemas.microsoft.com/office/drawing/2014/main" id="{D4F818B2-AA20-9637-1EA9-9C4C9E2D0040}"/>
              </a:ext>
            </a:extLst>
          </p:cNvPr>
          <p:cNvSpPr txBox="1"/>
          <p:nvPr/>
        </p:nvSpPr>
        <p:spPr>
          <a:xfrm>
            <a:off x="7328292" y="3530232"/>
            <a:ext cx="1795780" cy="369332"/>
          </a:xfrm>
          <a:prstGeom prst="rect">
            <a:avLst/>
          </a:prstGeom>
          <a:noFill/>
        </p:spPr>
        <p:txBody>
          <a:bodyPr wrap="square">
            <a:spAutoFit/>
          </a:bodyPr>
          <a:lstStyle/>
          <a:p>
            <a:r>
              <a:rPr kumimoji="1" lang="en-US" altLang="ko-KR" b="1">
                <a:solidFill>
                  <a:schemeClr val="tx1"/>
                </a:solidFill>
                <a:latin typeface="Open Sans" panose="020B0606030504020204" pitchFamily="34" charset="0"/>
                <a:ea typeface="Open Sans" panose="020B0606030504020204" pitchFamily="34" charset="0"/>
                <a:cs typeface="Open Sans" panose="020B0606030504020204" pitchFamily="34" charset="0"/>
              </a:rPr>
              <a:t>Q-error</a:t>
            </a:r>
            <a:endParaRPr lang="ko-KR" altLang="en-US"/>
          </a:p>
        </p:txBody>
      </p:sp>
      <p:sp>
        <p:nvSpPr>
          <p:cNvPr id="9" name="모서리가 둥근 직사각형 8">
            <a:extLst>
              <a:ext uri="{FF2B5EF4-FFF2-40B4-BE49-F238E27FC236}">
                <a16:creationId xmlns:a16="http://schemas.microsoft.com/office/drawing/2014/main" id="{B25769EF-1C04-6229-8006-94C45224F0D0}"/>
              </a:ext>
            </a:extLst>
          </p:cNvPr>
          <p:cNvSpPr>
            <a:spLocks/>
          </p:cNvSpPr>
          <p:nvPr/>
        </p:nvSpPr>
        <p:spPr>
          <a:xfrm>
            <a:off x="279321" y="2496194"/>
            <a:ext cx="6682740" cy="644172"/>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5" name="TextBox 4">
            <a:extLst>
              <a:ext uri="{FF2B5EF4-FFF2-40B4-BE49-F238E27FC236}">
                <a16:creationId xmlns:a16="http://schemas.microsoft.com/office/drawing/2014/main" id="{B80DCED4-B5B9-8AEE-6F70-62B19F61FD55}"/>
              </a:ext>
            </a:extLst>
          </p:cNvPr>
          <p:cNvSpPr txBox="1"/>
          <p:nvPr/>
        </p:nvSpPr>
        <p:spPr>
          <a:xfrm>
            <a:off x="447815" y="2561596"/>
            <a:ext cx="6431280" cy="418576"/>
          </a:xfrm>
          <a:prstGeom prst="rect">
            <a:avLst/>
          </a:prstGeom>
          <a:noFill/>
        </p:spPr>
        <p:txBody>
          <a:bodyPr wrap="square">
            <a:spAutoFit/>
          </a:bodyPr>
          <a:lstStyle/>
          <a:p>
            <a:pPr>
              <a:lnSpc>
                <a:spcPct val="150000"/>
              </a:lnSpc>
            </a:pPr>
            <a:r>
              <a:rPr lang="en-US" altLang="ko-KR" sz="1600" b="1">
                <a:latin typeface="NanumGothic" panose="020D0604000000000000" pitchFamily="34" charset="-127"/>
                <a:ea typeface="NanumGothic" panose="020D0604000000000000" pitchFamily="34" charset="-127"/>
              </a:rPr>
              <a:t>Problem: </a:t>
            </a:r>
            <a:r>
              <a:rPr lang="en-US" altLang="ko-KR" sz="1600">
                <a:latin typeface="NanumGothic" panose="020D0604000000000000" pitchFamily="34" charset="-127"/>
                <a:ea typeface="NanumGothic" panose="020D0604000000000000" pitchFamily="34" charset="-127"/>
              </a:rPr>
              <a:t>Fixed sample size is not always sufficient</a:t>
            </a:r>
          </a:p>
        </p:txBody>
      </p:sp>
      <p:sp>
        <p:nvSpPr>
          <p:cNvPr id="11" name="모서리가 둥근 직사각형 10">
            <a:extLst>
              <a:ext uri="{FF2B5EF4-FFF2-40B4-BE49-F238E27FC236}">
                <a16:creationId xmlns:a16="http://schemas.microsoft.com/office/drawing/2014/main" id="{257F12C6-160D-ABFA-A33C-02F2542674AD}"/>
              </a:ext>
            </a:extLst>
          </p:cNvPr>
          <p:cNvSpPr>
            <a:spLocks/>
          </p:cNvSpPr>
          <p:nvPr/>
        </p:nvSpPr>
        <p:spPr>
          <a:xfrm>
            <a:off x="279321" y="3430987"/>
            <a:ext cx="6682740" cy="1007944"/>
          </a:xfrm>
          <a:prstGeom prst="roundRect">
            <a:avLst/>
          </a:prstGeom>
          <a:solidFill>
            <a:srgbClr val="FFDF7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3" name="TextBox 12">
            <a:extLst>
              <a:ext uri="{FF2B5EF4-FFF2-40B4-BE49-F238E27FC236}">
                <a16:creationId xmlns:a16="http://schemas.microsoft.com/office/drawing/2014/main" id="{7FA1CEEC-FB0C-6946-3179-A79366A51ADF}"/>
              </a:ext>
            </a:extLst>
          </p:cNvPr>
          <p:cNvSpPr txBox="1"/>
          <p:nvPr/>
        </p:nvSpPr>
        <p:spPr>
          <a:xfrm>
            <a:off x="447815" y="3505437"/>
            <a:ext cx="6431280" cy="787908"/>
          </a:xfrm>
          <a:prstGeom prst="rect">
            <a:avLst/>
          </a:prstGeom>
          <a:noFill/>
        </p:spPr>
        <p:txBody>
          <a:bodyPr wrap="square">
            <a:spAutoFit/>
          </a:bodyPr>
          <a:lstStyle/>
          <a:p>
            <a:pPr>
              <a:lnSpc>
                <a:spcPct val="150000"/>
              </a:lnSpc>
            </a:pPr>
            <a:r>
              <a:rPr lang="en-US" altLang="ko-KR" sz="1600" b="1">
                <a:latin typeface="NanumGothic" panose="020D0604000000000000" pitchFamily="34" charset="-127"/>
                <a:ea typeface="NanumGothic" panose="020D0604000000000000" pitchFamily="34" charset="-127"/>
              </a:rPr>
              <a:t>Momentum-based adjustment algorithm: </a:t>
            </a:r>
            <a:br>
              <a:rPr lang="en-US" altLang="ko-KR" sz="1600" b="1">
                <a:latin typeface="NanumGothic" panose="020D0604000000000000" pitchFamily="34" charset="-127"/>
                <a:ea typeface="NanumGothic" panose="020D0604000000000000" pitchFamily="34" charset="-127"/>
              </a:rPr>
            </a:br>
            <a:r>
              <a:rPr lang="en-US" altLang="ko-KR" sz="1600">
                <a:latin typeface="NanumGothic" panose="020D0604000000000000" pitchFamily="34" charset="-127"/>
                <a:ea typeface="NanumGothic" panose="020D0604000000000000" pitchFamily="34" charset="-127"/>
              </a:rPr>
              <a:t>Exqutor adaptively adjusts the sample size based on Q-error. </a:t>
            </a:r>
          </a:p>
        </p:txBody>
      </p:sp>
      <p:pic>
        <p:nvPicPr>
          <p:cNvPr id="2" name="그림 1">
            <a:extLst>
              <a:ext uri="{FF2B5EF4-FFF2-40B4-BE49-F238E27FC236}">
                <a16:creationId xmlns:a16="http://schemas.microsoft.com/office/drawing/2014/main" id="{F3BC16DB-3B80-4842-FC70-201546863E04}"/>
              </a:ext>
            </a:extLst>
          </p:cNvPr>
          <p:cNvPicPr>
            <a:picLocks noChangeAspect="1"/>
          </p:cNvPicPr>
          <p:nvPr/>
        </p:nvPicPr>
        <p:blipFill>
          <a:blip r:embed="rId6"/>
          <a:srcRect l="19509" t="73894" r="18812" b="19235"/>
          <a:stretch/>
        </p:blipFill>
        <p:spPr>
          <a:xfrm>
            <a:off x="1353090" y="4806855"/>
            <a:ext cx="4208601" cy="746048"/>
          </a:xfrm>
          <a:prstGeom prst="rect">
            <a:avLst/>
          </a:prstGeom>
        </p:spPr>
      </p:pic>
    </p:spTree>
    <p:extLst>
      <p:ext uri="{BB962C8B-B14F-4D97-AF65-F5344CB8AC3E}">
        <p14:creationId xmlns:p14="http://schemas.microsoft.com/office/powerpoint/2010/main" val="4116591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77F92-5F51-C80E-1D2F-1BEC273241F1}"/>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48307E1-9D31-5103-3EFD-5EBBA93852E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C6E58D40-E9D1-2B34-59EA-C1A404AC965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D3328C2F-C6D8-68A6-9351-A5AD67016F88}"/>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en-US" sz="4400" err="1">
                <a:solidFill>
                  <a:srgbClr val="FFFFFF"/>
                </a:solidFill>
                <a:latin typeface="Calibri"/>
                <a:ea typeface="Calibri"/>
                <a:cs typeface="Calibri"/>
              </a:rPr>
              <a:t> Evaluation</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en-US" sz="2800" b="0" i="0" u="none" strike="noStrike" kern="1200" cap="none" spc="-49" normalizeH="0" baseline="0" noProof="0" err="1">
                <a:ln w="3175">
                  <a:noFill/>
                </a:ln>
                <a:solidFill>
                  <a:srgbClr val="FFFFFF"/>
                </a:solidFill>
                <a:effectLst/>
                <a:uLnTx/>
                <a:uFillTx/>
                <a:latin typeface="Calibri"/>
                <a:cs typeface="Calibri"/>
                <a:sym typeface="Arial"/>
              </a:rPr>
              <a:t> (1) Vector Index-based Exact Cardinality Query Optimization</a:t>
            </a:r>
            <a:endParaRPr kumimoji="0" lang="en-US"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pic>
        <p:nvPicPr>
          <p:cNvPr id="13" name="그림 12">
            <a:extLst>
              <a:ext uri="{FF2B5EF4-FFF2-40B4-BE49-F238E27FC236}">
                <a16:creationId xmlns:a16="http://schemas.microsoft.com/office/drawing/2014/main" id="{9FC58433-86BE-D341-2755-C9C57A1C4777}"/>
              </a:ext>
            </a:extLst>
          </p:cNvPr>
          <p:cNvPicPr>
            <a:picLocks noChangeAspect="1"/>
          </p:cNvPicPr>
          <p:nvPr/>
        </p:nvPicPr>
        <p:blipFill>
          <a:blip r:embed="rId5"/>
          <a:srcRect t="1" b="38895"/>
          <a:stretch/>
        </p:blipFill>
        <p:spPr>
          <a:xfrm>
            <a:off x="4947226" y="2875958"/>
            <a:ext cx="5926374" cy="2614216"/>
          </a:xfrm>
          <a:prstGeom prst="rect">
            <a:avLst/>
          </a:prstGeom>
        </p:spPr>
      </p:pic>
      <p:sp>
        <p:nvSpPr>
          <p:cNvPr id="3" name="TextBox 2">
            <a:extLst>
              <a:ext uri="{FF2B5EF4-FFF2-40B4-BE49-F238E27FC236}">
                <a16:creationId xmlns:a16="http://schemas.microsoft.com/office/drawing/2014/main" id="{E31F7AAA-00C8-6C14-3304-54A7C72DB63E}"/>
              </a:ext>
            </a:extLst>
          </p:cNvPr>
          <p:cNvSpPr txBox="1"/>
          <p:nvPr/>
        </p:nvSpPr>
        <p:spPr>
          <a:xfrm>
            <a:off x="175207" y="1411521"/>
            <a:ext cx="9656598" cy="459357"/>
          </a:xfrm>
          <a:prstGeom prst="rect">
            <a:avLst/>
          </a:prstGeom>
          <a:noFill/>
        </p:spPr>
        <p:txBody>
          <a:bodyPr wrap="square">
            <a:spAutoFit/>
          </a:bodyPr>
          <a:lstStyle/>
          <a:p>
            <a:pPr>
              <a:lnSpc>
                <a:spcPct val="150000"/>
              </a:lnSpc>
            </a:pPr>
            <a:r>
              <a:rPr lang="en-US" altLang="ko-KR">
                <a:latin typeface="NanumGothic" panose="020D0604000000000000" pitchFamily="34" charset="-127"/>
                <a:ea typeface="NanumGothic" panose="020D0604000000000000" pitchFamily="34" charset="-127"/>
              </a:rPr>
              <a:t>Exqutor achieves performance gains up to four orders of magnitude.</a:t>
            </a:r>
          </a:p>
        </p:txBody>
      </p:sp>
      <p:pic>
        <p:nvPicPr>
          <p:cNvPr id="5" name="그림 4">
            <a:extLst>
              <a:ext uri="{FF2B5EF4-FFF2-40B4-BE49-F238E27FC236}">
                <a16:creationId xmlns:a16="http://schemas.microsoft.com/office/drawing/2014/main" id="{542F2CA3-B0A4-0890-DCDA-CFA2EF9F8164}"/>
              </a:ext>
            </a:extLst>
          </p:cNvPr>
          <p:cNvPicPr>
            <a:picLocks noChangeAspect="1"/>
          </p:cNvPicPr>
          <p:nvPr/>
        </p:nvPicPr>
        <p:blipFill>
          <a:blip r:embed="rId6"/>
          <a:srcRect t="2946" r="92" b="61142"/>
          <a:stretch/>
        </p:blipFill>
        <p:spPr>
          <a:xfrm>
            <a:off x="567242" y="2191743"/>
            <a:ext cx="4034912" cy="2186776"/>
          </a:xfrm>
          <a:prstGeom prst="rect">
            <a:avLst/>
          </a:prstGeom>
        </p:spPr>
      </p:pic>
      <p:pic>
        <p:nvPicPr>
          <p:cNvPr id="6" name="그림 5">
            <a:extLst>
              <a:ext uri="{FF2B5EF4-FFF2-40B4-BE49-F238E27FC236}">
                <a16:creationId xmlns:a16="http://schemas.microsoft.com/office/drawing/2014/main" id="{2488E131-2ABF-5A5A-3999-BE4D254789A4}"/>
              </a:ext>
            </a:extLst>
          </p:cNvPr>
          <p:cNvPicPr>
            <a:picLocks noChangeAspect="1"/>
          </p:cNvPicPr>
          <p:nvPr/>
        </p:nvPicPr>
        <p:blipFill>
          <a:blip r:embed="rId6"/>
          <a:srcRect l="753" t="38858" r="-94" b="30939"/>
          <a:stretch/>
        </p:blipFill>
        <p:spPr>
          <a:xfrm>
            <a:off x="590179" y="4440176"/>
            <a:ext cx="4011975" cy="1839137"/>
          </a:xfrm>
          <a:prstGeom prst="rect">
            <a:avLst/>
          </a:prstGeom>
        </p:spPr>
      </p:pic>
      <p:sp>
        <p:nvSpPr>
          <p:cNvPr id="16" name="타원 15">
            <a:extLst>
              <a:ext uri="{FF2B5EF4-FFF2-40B4-BE49-F238E27FC236}">
                <a16:creationId xmlns:a16="http://schemas.microsoft.com/office/drawing/2014/main" id="{C25661BD-6D7B-7423-5E22-EE20544965C2}"/>
              </a:ext>
            </a:extLst>
          </p:cNvPr>
          <p:cNvSpPr/>
          <p:nvPr/>
        </p:nvSpPr>
        <p:spPr>
          <a:xfrm>
            <a:off x="6625311" y="3335314"/>
            <a:ext cx="1285102" cy="682885"/>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7" name="타원 16">
            <a:extLst>
              <a:ext uri="{FF2B5EF4-FFF2-40B4-BE49-F238E27FC236}">
                <a16:creationId xmlns:a16="http://schemas.microsoft.com/office/drawing/2014/main" id="{F88C0C50-6EE8-E53E-B80B-C54F371EDF5F}"/>
              </a:ext>
            </a:extLst>
          </p:cNvPr>
          <p:cNvSpPr/>
          <p:nvPr/>
        </p:nvSpPr>
        <p:spPr>
          <a:xfrm>
            <a:off x="7482386" y="4460409"/>
            <a:ext cx="1285102" cy="682885"/>
          </a:xfrm>
          <a:prstGeom prst="ellipse">
            <a:avLst/>
          </a:prstGeom>
          <a:noFill/>
          <a:ln w="28575">
            <a:solidFill>
              <a:srgbClr val="00B0F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8" name="직사각형 17">
            <a:extLst>
              <a:ext uri="{FF2B5EF4-FFF2-40B4-BE49-F238E27FC236}">
                <a16:creationId xmlns:a16="http://schemas.microsoft.com/office/drawing/2014/main" id="{76B82D11-096B-2D4B-1AD0-BC10304FBFD6}"/>
              </a:ext>
            </a:extLst>
          </p:cNvPr>
          <p:cNvSpPr/>
          <p:nvPr/>
        </p:nvSpPr>
        <p:spPr>
          <a:xfrm>
            <a:off x="6328295" y="2875956"/>
            <a:ext cx="939567" cy="401919"/>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19" name="직사각형 18">
            <a:extLst>
              <a:ext uri="{FF2B5EF4-FFF2-40B4-BE49-F238E27FC236}">
                <a16:creationId xmlns:a16="http://schemas.microsoft.com/office/drawing/2014/main" id="{EC600749-55F1-AED8-4D49-5F98F4B50A09}"/>
              </a:ext>
            </a:extLst>
          </p:cNvPr>
          <p:cNvSpPr/>
          <p:nvPr/>
        </p:nvSpPr>
        <p:spPr>
          <a:xfrm>
            <a:off x="9038873" y="2875956"/>
            <a:ext cx="1009781" cy="459357"/>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0" name="TextBox 19">
            <a:extLst>
              <a:ext uri="{FF2B5EF4-FFF2-40B4-BE49-F238E27FC236}">
                <a16:creationId xmlns:a16="http://schemas.microsoft.com/office/drawing/2014/main" id="{B80190E6-55E2-890C-B2A3-D6500C353F43}"/>
              </a:ext>
            </a:extLst>
          </p:cNvPr>
          <p:cNvSpPr txBox="1"/>
          <p:nvPr/>
        </p:nvSpPr>
        <p:spPr>
          <a:xfrm>
            <a:off x="6423051" y="5547612"/>
            <a:ext cx="3403771" cy="307777"/>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i="1">
                <a:solidFill>
                  <a:schemeClr val="accent4"/>
                </a:solidFill>
                <a:latin typeface="NanumGothic" panose="020D0604000000000000" pitchFamily="34" charset="-127"/>
                <a:ea typeface="NanumGothic" panose="020D0604000000000000" pitchFamily="34" charset="-127"/>
                <a:cs typeface="Open Sans" panose="020B0606030504020204" pitchFamily="34" charset="0"/>
              </a:rPr>
              <a:t>Table including vector is pushed down</a:t>
            </a:r>
            <a:endParaRPr lang="ko-KR" altLang="en-US" sz="1400" b="1" i="1">
              <a:solidFill>
                <a:schemeClr val="accent4"/>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21" name="TextBox 20">
            <a:extLst>
              <a:ext uri="{FF2B5EF4-FFF2-40B4-BE49-F238E27FC236}">
                <a16:creationId xmlns:a16="http://schemas.microsoft.com/office/drawing/2014/main" id="{C3C46367-85B2-ADDE-73C2-E941028D2FCE}"/>
              </a:ext>
            </a:extLst>
          </p:cNvPr>
          <p:cNvSpPr txBox="1"/>
          <p:nvPr/>
        </p:nvSpPr>
        <p:spPr>
          <a:xfrm>
            <a:off x="7910413" y="2443313"/>
            <a:ext cx="3403771" cy="307777"/>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i="1">
                <a:solidFill>
                  <a:srgbClr val="00B050"/>
                </a:solidFill>
                <a:latin typeface="NanumGothic" panose="020D0604000000000000" pitchFamily="34" charset="-127"/>
                <a:ea typeface="NanumGothic" panose="020D0604000000000000" pitchFamily="34" charset="-127"/>
                <a:cs typeface="Open Sans" panose="020B0606030504020204" pitchFamily="34" charset="0"/>
              </a:rPr>
              <a:t>Hash to Nested Loop Join</a:t>
            </a:r>
            <a:endParaRPr lang="ko-KR" altLang="en-US" sz="1400" b="1" i="1">
              <a:solidFill>
                <a:srgbClr val="00B050"/>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22" name="TextBox 21">
            <a:extLst>
              <a:ext uri="{FF2B5EF4-FFF2-40B4-BE49-F238E27FC236}">
                <a16:creationId xmlns:a16="http://schemas.microsoft.com/office/drawing/2014/main" id="{AB374767-433F-2250-6E28-71C7CFEA9DE6}"/>
              </a:ext>
            </a:extLst>
          </p:cNvPr>
          <p:cNvSpPr txBox="1"/>
          <p:nvPr/>
        </p:nvSpPr>
        <p:spPr>
          <a:xfrm>
            <a:off x="567242" y="6348252"/>
            <a:ext cx="4436264" cy="307777"/>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Query execution time for TPC-H VAQs (SF100) </a:t>
            </a:r>
            <a:endParaRPr lang="ko-KR" altLang="en-US" sz="1400" b="1">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23" name="TextBox 22">
            <a:extLst>
              <a:ext uri="{FF2B5EF4-FFF2-40B4-BE49-F238E27FC236}">
                <a16:creationId xmlns:a16="http://schemas.microsoft.com/office/drawing/2014/main" id="{1B6F10D9-9CE2-DD1A-62DF-CDAF05F26649}"/>
              </a:ext>
            </a:extLst>
          </p:cNvPr>
          <p:cNvSpPr txBox="1"/>
          <p:nvPr/>
        </p:nvSpPr>
        <p:spPr>
          <a:xfrm>
            <a:off x="5630699" y="6240530"/>
            <a:ext cx="4417955" cy="523220"/>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Query plan comparison for TPC-H Q3 based VAQ on DEEP dataset</a:t>
            </a:r>
            <a:endParaRPr lang="ko-KR" altLang="en-US" sz="1400" b="1">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8" name="TextBox 7">
            <a:extLst>
              <a:ext uri="{FF2B5EF4-FFF2-40B4-BE49-F238E27FC236}">
                <a16:creationId xmlns:a16="http://schemas.microsoft.com/office/drawing/2014/main" id="{511EC850-DF5F-AB2C-8FCC-5521CB0063EB}"/>
              </a:ext>
            </a:extLst>
          </p:cNvPr>
          <p:cNvSpPr txBox="1"/>
          <p:nvPr/>
        </p:nvSpPr>
        <p:spPr>
          <a:xfrm>
            <a:off x="1599735" y="4101520"/>
            <a:ext cx="3403771" cy="276999"/>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a:solidFill>
                  <a:schemeClr val="tx1"/>
                </a:solidFill>
                <a:latin typeface="NanumGothic" panose="020D0604000000000000" pitchFamily="34" charset="-127"/>
                <a:ea typeface="NanumGothic" panose="020D0604000000000000" pitchFamily="34" charset="-127"/>
                <a:cs typeface="Open Sans" panose="020B0606030504020204" pitchFamily="34" charset="0"/>
              </a:rPr>
              <a:t>(96 dim)</a:t>
            </a:r>
            <a:endParaRPr lang="ko-KR" altLang="en-US" sz="1200">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9" name="TextBox 8">
            <a:extLst>
              <a:ext uri="{FF2B5EF4-FFF2-40B4-BE49-F238E27FC236}">
                <a16:creationId xmlns:a16="http://schemas.microsoft.com/office/drawing/2014/main" id="{B835E512-F0C2-4E6A-61A9-02728C121E18}"/>
              </a:ext>
            </a:extLst>
          </p:cNvPr>
          <p:cNvSpPr txBox="1"/>
          <p:nvPr/>
        </p:nvSpPr>
        <p:spPr>
          <a:xfrm>
            <a:off x="1514737" y="6036783"/>
            <a:ext cx="3403771" cy="276999"/>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a:solidFill>
                  <a:schemeClr val="tx1"/>
                </a:solidFill>
                <a:latin typeface="NanumGothic" panose="020D0604000000000000" pitchFamily="34" charset="-127"/>
                <a:ea typeface="NanumGothic" panose="020D0604000000000000" pitchFamily="34" charset="-127"/>
                <a:cs typeface="Open Sans" panose="020B0606030504020204" pitchFamily="34" charset="0"/>
              </a:rPr>
              <a:t>(128 dim)</a:t>
            </a:r>
            <a:endParaRPr lang="ko-KR" altLang="en-US" sz="1200">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11" name="TextBox 10">
            <a:extLst>
              <a:ext uri="{FF2B5EF4-FFF2-40B4-BE49-F238E27FC236}">
                <a16:creationId xmlns:a16="http://schemas.microsoft.com/office/drawing/2014/main" id="{C83C9D7B-1324-2FF0-19B7-E0A007E9BCF2}"/>
              </a:ext>
            </a:extLst>
          </p:cNvPr>
          <p:cNvSpPr txBox="1"/>
          <p:nvPr/>
        </p:nvSpPr>
        <p:spPr>
          <a:xfrm>
            <a:off x="8673046" y="1506163"/>
            <a:ext cx="3326489" cy="523220"/>
          </a:xfrm>
          <a:prstGeom prst="rect">
            <a:avLst/>
          </a:prstGeom>
          <a:noFill/>
        </p:spPr>
        <p:txBody>
          <a:bodyPr wrap="square">
            <a:spAutoFit/>
          </a:bodyPr>
          <a:lstStyle/>
          <a:p>
            <a:pPr>
              <a:buNone/>
            </a:pPr>
            <a:r>
              <a:rPr lang="en" altLang="ko-KR" sz="1400">
                <a:solidFill>
                  <a:srgbClr val="000000"/>
                </a:solidFill>
                <a:effectLst/>
                <a:latin typeface="NanumGothic" panose="020D0604000000000000" pitchFamily="34" charset="-127"/>
                <a:ea typeface="NanumGothic" panose="020D0604000000000000" pitchFamily="34" charset="-127"/>
              </a:rPr>
              <a:t>*Intel Xeon Gold 6530 configured with 128 vCPUs and 1.0 TB of RAM.</a:t>
            </a:r>
          </a:p>
        </p:txBody>
      </p:sp>
      <p:pic>
        <p:nvPicPr>
          <p:cNvPr id="15" name="그림 14">
            <a:extLst>
              <a:ext uri="{FF2B5EF4-FFF2-40B4-BE49-F238E27FC236}">
                <a16:creationId xmlns:a16="http://schemas.microsoft.com/office/drawing/2014/main" id="{1CBDCA96-19F2-6AF2-0484-0DC5EC839926}"/>
              </a:ext>
            </a:extLst>
          </p:cNvPr>
          <p:cNvPicPr>
            <a:picLocks noChangeAspect="1"/>
          </p:cNvPicPr>
          <p:nvPr/>
        </p:nvPicPr>
        <p:blipFill>
          <a:blip r:embed="rId7"/>
          <a:stretch>
            <a:fillRect/>
          </a:stretch>
        </p:blipFill>
        <p:spPr>
          <a:xfrm>
            <a:off x="10677263" y="5194163"/>
            <a:ext cx="1071470" cy="990601"/>
          </a:xfrm>
          <a:prstGeom prst="rect">
            <a:avLst/>
          </a:prstGeom>
        </p:spPr>
      </p:pic>
      <p:sp>
        <p:nvSpPr>
          <p:cNvPr id="24" name="TextBox 23">
            <a:extLst>
              <a:ext uri="{FF2B5EF4-FFF2-40B4-BE49-F238E27FC236}">
                <a16:creationId xmlns:a16="http://schemas.microsoft.com/office/drawing/2014/main" id="{C1BFCCC0-9501-3C2C-66AF-1C9894812072}"/>
              </a:ext>
            </a:extLst>
          </p:cNvPr>
          <p:cNvSpPr txBox="1"/>
          <p:nvPr/>
        </p:nvSpPr>
        <p:spPr>
          <a:xfrm>
            <a:off x="10087166" y="4670064"/>
            <a:ext cx="2104834" cy="461665"/>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200" b="1" i="1">
                <a:solidFill>
                  <a:schemeClr val="tx1"/>
                </a:solidFill>
                <a:latin typeface="NanumGothic" panose="020D0604000000000000" pitchFamily="34" charset="-127"/>
                <a:ea typeface="NanumGothic" panose="020D0604000000000000" pitchFamily="34" charset="-127"/>
                <a:cs typeface="Open Sans" panose="020B0606030504020204" pitchFamily="34" charset="0"/>
              </a:rPr>
              <a:t>Check all query plans of VAQs on our GitHub!</a:t>
            </a:r>
          </a:p>
        </p:txBody>
      </p:sp>
    </p:spTree>
    <p:extLst>
      <p:ext uri="{BB962C8B-B14F-4D97-AF65-F5344CB8AC3E}">
        <p14:creationId xmlns:p14="http://schemas.microsoft.com/office/powerpoint/2010/main" val="610022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D580-1EBA-E708-2937-C5F2480D6E3E}"/>
            </a:ext>
          </a:extLst>
        </p:cNvPr>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9E7C75E-C5DB-A6FE-C9D5-57FEEB590DF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53C21876-1C38-9506-E0AE-27471A3EB9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2192000" cy="1325563"/>
          </a:xfrm>
          <a:prstGeom prst="rect">
            <a:avLst/>
          </a:prstGeom>
        </p:spPr>
      </p:pic>
      <p:sp>
        <p:nvSpPr>
          <p:cNvPr id="12" name="Title 1">
            <a:extLst>
              <a:ext uri="{FF2B5EF4-FFF2-40B4-BE49-F238E27FC236}">
                <a16:creationId xmlns:a16="http://schemas.microsoft.com/office/drawing/2014/main" id="{67E19B74-F771-63AD-C668-387D98469561}"/>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en-US" sz="4400" err="1">
                <a:solidFill>
                  <a:srgbClr val="FFFFFF"/>
                </a:solidFill>
                <a:latin typeface="Calibri"/>
                <a:ea typeface="Calibri"/>
                <a:cs typeface="Calibri"/>
              </a:rPr>
              <a:t> Evaluation</a:t>
            </a:r>
          </a:p>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kumimoji="0" lang="en-US" sz="2800" b="0" i="0" u="none" strike="noStrike" kern="1200" cap="none" spc="-49" normalizeH="0" baseline="0" noProof="0" err="1">
                <a:ln w="3175">
                  <a:noFill/>
                </a:ln>
                <a:solidFill>
                  <a:srgbClr val="FFFFFF"/>
                </a:solidFill>
                <a:effectLst/>
                <a:uLnTx/>
                <a:uFillTx/>
                <a:latin typeface="Calibri"/>
                <a:cs typeface="Calibri"/>
                <a:sym typeface="Arial"/>
              </a:rPr>
              <a:t> (2) Sampling-based Cardinality Estimation</a:t>
            </a:r>
            <a:endParaRPr kumimoji="0" lang="en-US" sz="2800" b="0" i="0" u="none" strike="noStrike" kern="1200" cap="none" spc="-49" normalizeH="0" baseline="0" noProof="0" err="1">
              <a:ln w="3175">
                <a:noFill/>
              </a:ln>
              <a:solidFill>
                <a:srgbClr val="FFFFFF"/>
              </a:solidFill>
              <a:effectLst/>
              <a:uLnTx/>
              <a:uFillTx/>
              <a:latin typeface="Calibri" panose="020F0502020204030204" pitchFamily="34" charset="0"/>
              <a:ea typeface="+mn-ea"/>
              <a:cs typeface="Calibri" panose="020F0502020204030204" pitchFamily="34" charset="0"/>
              <a:sym typeface="Arial"/>
            </a:endParaRPr>
          </a:p>
        </p:txBody>
      </p:sp>
      <p:pic>
        <p:nvPicPr>
          <p:cNvPr id="3" name="그림 2">
            <a:extLst>
              <a:ext uri="{FF2B5EF4-FFF2-40B4-BE49-F238E27FC236}">
                <a16:creationId xmlns:a16="http://schemas.microsoft.com/office/drawing/2014/main" id="{591C193B-5B4D-1FC7-EBD3-FE7A41296E3A}"/>
              </a:ext>
            </a:extLst>
          </p:cNvPr>
          <p:cNvPicPr>
            <a:picLocks noChangeAspect="1"/>
          </p:cNvPicPr>
          <p:nvPr/>
        </p:nvPicPr>
        <p:blipFill>
          <a:blip r:embed="rId5"/>
          <a:srcRect b="32230"/>
          <a:stretch/>
        </p:blipFill>
        <p:spPr>
          <a:xfrm>
            <a:off x="557869" y="2858547"/>
            <a:ext cx="5147905" cy="2507257"/>
          </a:xfrm>
          <a:prstGeom prst="rect">
            <a:avLst/>
          </a:prstGeom>
        </p:spPr>
      </p:pic>
      <p:pic>
        <p:nvPicPr>
          <p:cNvPr id="5" name="그림 4">
            <a:extLst>
              <a:ext uri="{FF2B5EF4-FFF2-40B4-BE49-F238E27FC236}">
                <a16:creationId xmlns:a16="http://schemas.microsoft.com/office/drawing/2014/main" id="{5B922561-6C4D-DFCE-3776-343E2367892F}"/>
              </a:ext>
            </a:extLst>
          </p:cNvPr>
          <p:cNvPicPr>
            <a:picLocks noChangeAspect="1"/>
          </p:cNvPicPr>
          <p:nvPr/>
        </p:nvPicPr>
        <p:blipFill>
          <a:blip r:embed="rId6"/>
          <a:srcRect l="-183" r="183" b="26392"/>
          <a:stretch/>
        </p:blipFill>
        <p:spPr>
          <a:xfrm>
            <a:off x="6486228" y="3170767"/>
            <a:ext cx="4580393" cy="2349189"/>
          </a:xfrm>
          <a:prstGeom prst="rect">
            <a:avLst/>
          </a:prstGeom>
        </p:spPr>
      </p:pic>
      <p:sp>
        <p:nvSpPr>
          <p:cNvPr id="6" name="TextBox 5">
            <a:extLst>
              <a:ext uri="{FF2B5EF4-FFF2-40B4-BE49-F238E27FC236}">
                <a16:creationId xmlns:a16="http://schemas.microsoft.com/office/drawing/2014/main" id="{BE2A74BF-D741-D397-CD93-0E4F4FDA3160}"/>
              </a:ext>
            </a:extLst>
          </p:cNvPr>
          <p:cNvSpPr txBox="1"/>
          <p:nvPr/>
        </p:nvSpPr>
        <p:spPr>
          <a:xfrm>
            <a:off x="140677" y="1426043"/>
            <a:ext cx="11468746" cy="869790"/>
          </a:xfrm>
          <a:prstGeom prst="rect">
            <a:avLst/>
          </a:prstGeom>
          <a:noFill/>
        </p:spPr>
        <p:txBody>
          <a:bodyPr wrap="square">
            <a:spAutoFit/>
          </a:bodyPr>
          <a:lstStyle/>
          <a:p>
            <a:pPr>
              <a:lnSpc>
                <a:spcPct val="150000"/>
              </a:lnSpc>
            </a:pPr>
            <a:r>
              <a:rPr lang="en-US" altLang="ko-KR">
                <a:latin typeface="NanumGothic" panose="020D0604000000000000" pitchFamily="34" charset="-127"/>
                <a:ea typeface="NanumGothic" panose="020D0604000000000000" pitchFamily="34" charset="-127"/>
              </a:rPr>
              <a:t>With adaptive sampling, Exqutor achieves up to 3.2x speedup. </a:t>
            </a:r>
          </a:p>
          <a:p>
            <a:pPr>
              <a:lnSpc>
                <a:spcPct val="150000"/>
              </a:lnSpc>
            </a:pPr>
            <a:r>
              <a:rPr lang="en-US" altLang="ko-KR">
                <a:latin typeface="NanumGothic" panose="020D0604000000000000" pitchFamily="34" charset="-127"/>
                <a:ea typeface="NanumGothic" panose="020D0604000000000000" pitchFamily="34" charset="-127"/>
              </a:rPr>
              <a:t>Skewed vector dataset needs more samples for estimating cardinality.</a:t>
            </a:r>
            <a:endParaRPr lang="en-US" altLang="ko-KR">
              <a:solidFill>
                <a:srgbClr val="92D050"/>
              </a:solidFill>
              <a:latin typeface="NanumGothic" panose="020D0604000000000000" pitchFamily="34" charset="-127"/>
              <a:ea typeface="NanumGothic" panose="020D0604000000000000" pitchFamily="34" charset="-127"/>
            </a:endParaRPr>
          </a:p>
        </p:txBody>
      </p:sp>
      <p:sp>
        <p:nvSpPr>
          <p:cNvPr id="2" name="TextBox 1">
            <a:extLst>
              <a:ext uri="{FF2B5EF4-FFF2-40B4-BE49-F238E27FC236}">
                <a16:creationId xmlns:a16="http://schemas.microsoft.com/office/drawing/2014/main" id="{2B9FB765-0F40-778C-3542-ED392A78D229}"/>
              </a:ext>
            </a:extLst>
          </p:cNvPr>
          <p:cNvSpPr txBox="1"/>
          <p:nvPr/>
        </p:nvSpPr>
        <p:spPr>
          <a:xfrm>
            <a:off x="1287819" y="5620741"/>
            <a:ext cx="4417955" cy="523220"/>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Query execution time on pgvector for TPC-H VAQs without vector index (SF100)</a:t>
            </a:r>
            <a:endParaRPr lang="ko-KR" altLang="en-US" sz="1400" b="1">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7" name="TextBox 6">
            <a:extLst>
              <a:ext uri="{FF2B5EF4-FFF2-40B4-BE49-F238E27FC236}">
                <a16:creationId xmlns:a16="http://schemas.microsoft.com/office/drawing/2014/main" id="{57CBF736-6326-BF23-9302-C948265A4D1C}"/>
              </a:ext>
            </a:extLst>
          </p:cNvPr>
          <p:cNvSpPr txBox="1"/>
          <p:nvPr/>
        </p:nvSpPr>
        <p:spPr>
          <a:xfrm>
            <a:off x="6692151" y="5620741"/>
            <a:ext cx="4417955" cy="523220"/>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pPr algn="ctr"/>
            <a:r>
              <a:rPr lang="en-US" altLang="ko-KR" sz="1400" b="1">
                <a:solidFill>
                  <a:schemeClr val="tx1"/>
                </a:solidFill>
                <a:latin typeface="NanumGothic" panose="020D0604000000000000" pitchFamily="34" charset="-127"/>
                <a:ea typeface="NanumGothic" panose="020D0604000000000000" pitchFamily="34" charset="-127"/>
                <a:cs typeface="Open Sans" panose="020B0606030504020204" pitchFamily="34" charset="0"/>
              </a:rPr>
              <a:t>Convergence of adaptive sample size over time on the DEEP, SIFT, and SimSearchNet (SF100)</a:t>
            </a:r>
            <a:endParaRPr lang="ko-KR" altLang="en-US" sz="1400" b="1">
              <a:solidFill>
                <a:schemeClr val="tx1"/>
              </a:solidFill>
              <a:latin typeface="NanumGothic" panose="020D0604000000000000" pitchFamily="34" charset="-127"/>
              <a:ea typeface="NanumGothic" panose="020D0604000000000000" pitchFamily="34" charset="-127"/>
              <a:cs typeface="Open Sans" panose="020B0606030504020204" pitchFamily="34" charset="0"/>
            </a:endParaRPr>
          </a:p>
        </p:txBody>
      </p:sp>
      <p:sp>
        <p:nvSpPr>
          <p:cNvPr id="13" name="TextBox 12">
            <a:extLst>
              <a:ext uri="{FF2B5EF4-FFF2-40B4-BE49-F238E27FC236}">
                <a16:creationId xmlns:a16="http://schemas.microsoft.com/office/drawing/2014/main" id="{29E65FBC-024E-9A2D-8791-626C78D4718B}"/>
              </a:ext>
            </a:extLst>
          </p:cNvPr>
          <p:cNvSpPr txBox="1"/>
          <p:nvPr/>
        </p:nvSpPr>
        <p:spPr>
          <a:xfrm>
            <a:off x="8901128" y="3069982"/>
            <a:ext cx="2277618" cy="307777"/>
          </a:xfrm>
          <a:prstGeom prst="rect">
            <a:avLst/>
          </a:prstGeom>
          <a:noFill/>
          <a:ln w="12700">
            <a:noFill/>
          </a:ln>
        </p:spPr>
        <p:style>
          <a:lnRef idx="2">
            <a:schemeClr val="dk1"/>
          </a:lnRef>
          <a:fillRef idx="1">
            <a:schemeClr val="lt1"/>
          </a:fillRef>
          <a:effectRef idx="0">
            <a:schemeClr val="dk1"/>
          </a:effectRef>
          <a:fontRef idx="minor">
            <a:schemeClr val="dk1"/>
          </a:fontRef>
        </p:style>
        <p:txBody>
          <a:bodyPr wrap="square">
            <a:spAutoFit/>
          </a:bodyPr>
          <a:lstStyle/>
          <a:p>
            <a:r>
              <a:rPr lang="en-US" altLang="ko-KR" sz="1400" b="1" i="1">
                <a:solidFill>
                  <a:srgbClr val="00B0F0"/>
                </a:solidFill>
                <a:latin typeface="NanumGothic" panose="020D0604000000000000" pitchFamily="34" charset="-127"/>
                <a:ea typeface="NanumGothic" panose="020D0604000000000000" pitchFamily="34" charset="-127"/>
                <a:cs typeface="Open Sans" panose="020B0606030504020204" pitchFamily="34" charset="0"/>
              </a:rPr>
              <a:t>Skewed distribution</a:t>
            </a:r>
          </a:p>
        </p:txBody>
      </p:sp>
      <p:sp>
        <p:nvSpPr>
          <p:cNvPr id="11" name="TextBox 10">
            <a:extLst>
              <a:ext uri="{FF2B5EF4-FFF2-40B4-BE49-F238E27FC236}">
                <a16:creationId xmlns:a16="http://schemas.microsoft.com/office/drawing/2014/main" id="{A565058B-C006-2D1B-DEC7-AA8363672E99}"/>
              </a:ext>
            </a:extLst>
          </p:cNvPr>
          <p:cNvSpPr txBox="1"/>
          <p:nvPr/>
        </p:nvSpPr>
        <p:spPr>
          <a:xfrm>
            <a:off x="8673046" y="1506163"/>
            <a:ext cx="3326489" cy="523220"/>
          </a:xfrm>
          <a:prstGeom prst="rect">
            <a:avLst/>
          </a:prstGeom>
          <a:noFill/>
        </p:spPr>
        <p:txBody>
          <a:bodyPr wrap="square">
            <a:spAutoFit/>
          </a:bodyPr>
          <a:lstStyle/>
          <a:p>
            <a:pPr>
              <a:buNone/>
            </a:pPr>
            <a:r>
              <a:rPr lang="en" altLang="ko-KR" sz="1400">
                <a:solidFill>
                  <a:srgbClr val="000000"/>
                </a:solidFill>
                <a:effectLst/>
                <a:latin typeface="NanumGothic" panose="020D0604000000000000" pitchFamily="34" charset="-127"/>
                <a:ea typeface="NanumGothic" panose="020D0604000000000000" pitchFamily="34" charset="-127"/>
              </a:rPr>
              <a:t>*Intel Xeon Gold 6530 configured with 128 vCPUs and 1.0 TB of RAM.</a:t>
            </a:r>
          </a:p>
        </p:txBody>
      </p:sp>
      <p:pic>
        <p:nvPicPr>
          <p:cNvPr id="8" name="그림 7">
            <a:extLst>
              <a:ext uri="{FF2B5EF4-FFF2-40B4-BE49-F238E27FC236}">
                <a16:creationId xmlns:a16="http://schemas.microsoft.com/office/drawing/2014/main" id="{8A569A1D-D59A-08D5-B6BE-DB04B00D121F}"/>
              </a:ext>
            </a:extLst>
          </p:cNvPr>
          <p:cNvPicPr>
            <a:picLocks noChangeAspect="1"/>
          </p:cNvPicPr>
          <p:nvPr/>
        </p:nvPicPr>
        <p:blipFill>
          <a:blip r:embed="rId7"/>
          <a:stretch>
            <a:fillRect/>
          </a:stretch>
        </p:blipFill>
        <p:spPr>
          <a:xfrm>
            <a:off x="9659779" y="3864657"/>
            <a:ext cx="68154" cy="106017"/>
          </a:xfrm>
          <a:prstGeom prst="rect">
            <a:avLst/>
          </a:prstGeom>
        </p:spPr>
      </p:pic>
    </p:spTree>
    <p:extLst>
      <p:ext uri="{BB962C8B-B14F-4D97-AF65-F5344CB8AC3E}">
        <p14:creationId xmlns:p14="http://schemas.microsoft.com/office/powerpoint/2010/main" val="34596929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559AE-8E31-2A89-1EE3-B19DDA025F6B}"/>
            </a:ext>
          </a:extLst>
        </p:cNvPr>
        <p:cNvGrpSpPr/>
        <p:nvPr/>
      </p:nvGrpSpPr>
      <p:grpSpPr>
        <a:xfrm>
          <a:off x="0" y="0"/>
          <a:ext cx="0" cy="0"/>
          <a:chOff x="0" y="0"/>
          <a:chExt cx="0" cy="0"/>
        </a:xfrm>
      </p:grpSpPr>
      <p:sp>
        <p:nvSpPr>
          <p:cNvPr id="31" name="직사각형 30">
            <a:extLst>
              <a:ext uri="{FF2B5EF4-FFF2-40B4-BE49-F238E27FC236}">
                <a16:creationId xmlns:a16="http://schemas.microsoft.com/office/drawing/2014/main" id="{7AE35173-5251-28CD-F0C8-9F94B8E28F18}"/>
              </a:ext>
            </a:extLst>
          </p:cNvPr>
          <p:cNvSpPr/>
          <p:nvPr/>
        </p:nvSpPr>
        <p:spPr>
          <a:xfrm>
            <a:off x="624468" y="4848246"/>
            <a:ext cx="10663390" cy="1474560"/>
          </a:xfrm>
          <a:prstGeom prst="rect">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cxnSp>
        <p:nvCxnSpPr>
          <p:cNvPr id="4" name="Straight Connector 3">
            <a:extLst>
              <a:ext uri="{FF2B5EF4-FFF2-40B4-BE49-F238E27FC236}">
                <a16:creationId xmlns:a16="http://schemas.microsoft.com/office/drawing/2014/main" id="{547E920C-D2FB-FD40-7DF0-FC68EC1D9E4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0" name="Object 1" descr="preencoded.png">
            <a:extLst>
              <a:ext uri="{FF2B5EF4-FFF2-40B4-BE49-F238E27FC236}">
                <a16:creationId xmlns:a16="http://schemas.microsoft.com/office/drawing/2014/main" id="{F2D05664-FF42-4577-FCB9-8277A8F9B4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5027"/>
            <a:ext cx="12192000" cy="1325563"/>
          </a:xfrm>
          <a:prstGeom prst="rect">
            <a:avLst/>
          </a:prstGeom>
        </p:spPr>
      </p:pic>
      <p:sp>
        <p:nvSpPr>
          <p:cNvPr id="12" name="Title 1">
            <a:extLst>
              <a:ext uri="{FF2B5EF4-FFF2-40B4-BE49-F238E27FC236}">
                <a16:creationId xmlns:a16="http://schemas.microsoft.com/office/drawing/2014/main" id="{F16ED7FD-A36C-34B3-615F-F9759F175FE0}"/>
              </a:ext>
            </a:extLst>
          </p:cNvPr>
          <p:cNvSpPr txBox="1">
            <a:spLocks/>
          </p:cNvSpPr>
          <p:nvPr/>
        </p:nvSpPr>
        <p:spPr>
          <a:xfrm>
            <a:off x="0" y="0"/>
            <a:ext cx="10515600" cy="1325563"/>
          </a:xfrm>
          <a:prstGeom prst="rect">
            <a:avLst/>
          </a:prstGeom>
        </p:spPr>
        <p:txBody>
          <a:bodyPr lIns="91440" tIns="45720" rIns="91440" bIns="45720" anchor="ctr"/>
          <a:lstStyle>
            <a:lvl1pPr algn="l" defTabSz="914367"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itchFamily="34" charset="0"/>
              </a:defRPr>
            </a:lvl1pPr>
          </a:lstStyle>
          <a:p>
            <a:pPr marL="0" marR="0" lvl="0" indent="0" algn="l" defTabSz="914367" rtl="0" eaLnBrk="1" fontAlgn="auto" latinLnBrk="0" hangingPunct="1">
              <a:lnSpc>
                <a:spcPct val="90000"/>
              </a:lnSpc>
              <a:spcBef>
                <a:spcPct val="0"/>
              </a:spcBef>
              <a:spcAft>
                <a:spcPts val="0"/>
              </a:spcAft>
              <a:buClr>
                <a:srgbClr val="000000"/>
              </a:buClr>
              <a:buSzTx/>
              <a:buFont typeface="Arial"/>
              <a:buNone/>
              <a:tabLst/>
              <a:defRPr/>
            </a:pPr>
            <a:r>
              <a:rPr lang="en-US" sz="4400" err="1">
                <a:solidFill>
                  <a:srgbClr val="FFFFFF"/>
                </a:solidFill>
                <a:latin typeface="Calibri"/>
                <a:ea typeface="Calibri"/>
                <a:cs typeface="Calibri"/>
              </a:rPr>
              <a:t> Conclusion</a:t>
            </a:r>
          </a:p>
        </p:txBody>
      </p:sp>
      <p:pic>
        <p:nvPicPr>
          <p:cNvPr id="6" name="그림 5" descr="패턴, 사각형, 픽셀, 낱말맞추기 퍼즐이(가) 표시된 사진&#10;&#10;AI가 생성한 콘텐츠는 부정확할 수 있습니다.">
            <a:extLst>
              <a:ext uri="{FF2B5EF4-FFF2-40B4-BE49-F238E27FC236}">
                <a16:creationId xmlns:a16="http://schemas.microsoft.com/office/drawing/2014/main" id="{5FC788BD-8988-AF98-BBA1-880264997E76}"/>
              </a:ext>
            </a:extLst>
          </p:cNvPr>
          <p:cNvPicPr>
            <a:picLocks noChangeAspect="1"/>
          </p:cNvPicPr>
          <p:nvPr/>
        </p:nvPicPr>
        <p:blipFill>
          <a:blip r:embed="rId5"/>
          <a:stretch>
            <a:fillRect/>
          </a:stretch>
        </p:blipFill>
        <p:spPr>
          <a:xfrm>
            <a:off x="7937665" y="4986213"/>
            <a:ext cx="899551" cy="899551"/>
          </a:xfrm>
          <a:prstGeom prst="rect">
            <a:avLst/>
          </a:prstGeom>
        </p:spPr>
      </p:pic>
      <p:pic>
        <p:nvPicPr>
          <p:cNvPr id="16" name="그림 15" descr="패턴, 사각형, 픽셀, 디자인이(가) 표시된 사진&#10;&#10;AI가 생성한 콘텐츠는 부정확할 수 있습니다.">
            <a:extLst>
              <a:ext uri="{FF2B5EF4-FFF2-40B4-BE49-F238E27FC236}">
                <a16:creationId xmlns:a16="http://schemas.microsoft.com/office/drawing/2014/main" id="{1B45E22D-0BB1-A305-9E97-3695F6A6EA04}"/>
              </a:ext>
            </a:extLst>
          </p:cNvPr>
          <p:cNvPicPr>
            <a:picLocks noChangeAspect="1"/>
          </p:cNvPicPr>
          <p:nvPr/>
        </p:nvPicPr>
        <p:blipFill>
          <a:blip r:embed="rId6"/>
          <a:stretch>
            <a:fillRect/>
          </a:stretch>
        </p:blipFill>
        <p:spPr>
          <a:xfrm>
            <a:off x="9768235" y="4986214"/>
            <a:ext cx="899551" cy="899551"/>
          </a:xfrm>
          <a:prstGeom prst="rect">
            <a:avLst/>
          </a:prstGeom>
        </p:spPr>
      </p:pic>
      <p:sp>
        <p:nvSpPr>
          <p:cNvPr id="17" name="TextBox 16">
            <a:extLst>
              <a:ext uri="{FF2B5EF4-FFF2-40B4-BE49-F238E27FC236}">
                <a16:creationId xmlns:a16="http://schemas.microsoft.com/office/drawing/2014/main" id="{C8357660-009B-4C9D-EE48-29F90ACCCD0C}"/>
              </a:ext>
            </a:extLst>
          </p:cNvPr>
          <p:cNvSpPr txBox="1"/>
          <p:nvPr/>
        </p:nvSpPr>
        <p:spPr>
          <a:xfrm>
            <a:off x="9058765" y="5909110"/>
            <a:ext cx="2318492" cy="338554"/>
          </a:xfrm>
          <a:prstGeom prst="rect">
            <a:avLst/>
          </a:prstGeom>
          <a:noFill/>
        </p:spPr>
        <p:txBody>
          <a:bodyPr wrap="square">
            <a:spAutoFit/>
          </a:bodyPr>
          <a:lstStyle/>
          <a:p>
            <a:pPr algn="ctr"/>
            <a:r>
              <a:rPr lang="en-US" altLang="ko-KR" sz="1600" b="1">
                <a:latin typeface="NanumGothic" panose="020D0604000000000000" pitchFamily="34" charset="-127"/>
                <a:ea typeface="NanumGothic" panose="020D0604000000000000" pitchFamily="34" charset="-127"/>
              </a:rPr>
              <a:t>Presenter LinkedIn</a:t>
            </a:r>
            <a:endParaRPr lang="ko-KR" altLang="en-US" sz="1600" b="1">
              <a:latin typeface="NanumGothic" panose="020D0604000000000000" pitchFamily="34" charset="-127"/>
              <a:ea typeface="NanumGothic" panose="020D0604000000000000" pitchFamily="34" charset="-127"/>
            </a:endParaRPr>
          </a:p>
        </p:txBody>
      </p:sp>
      <p:sp>
        <p:nvSpPr>
          <p:cNvPr id="18" name="TextBox 17">
            <a:extLst>
              <a:ext uri="{FF2B5EF4-FFF2-40B4-BE49-F238E27FC236}">
                <a16:creationId xmlns:a16="http://schemas.microsoft.com/office/drawing/2014/main" id="{5E882040-7746-156F-E21C-C83529953069}"/>
              </a:ext>
            </a:extLst>
          </p:cNvPr>
          <p:cNvSpPr txBox="1"/>
          <p:nvPr/>
        </p:nvSpPr>
        <p:spPr>
          <a:xfrm>
            <a:off x="624467" y="2067983"/>
            <a:ext cx="10663390" cy="119802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altLang="ko-KR" sz="1600">
                <a:latin typeface="NanumGothic" panose="020D0604000000000000" pitchFamily="34" charset="-127"/>
                <a:ea typeface="NanumGothic" panose="020D0604000000000000" pitchFamily="34" charset="-127"/>
              </a:rPr>
              <a:t>VAQs and Vector-augmented SQL analytics benchmark</a:t>
            </a:r>
          </a:p>
          <a:p>
            <a:pPr marL="285750" indent="-285750">
              <a:lnSpc>
                <a:spcPct val="150000"/>
              </a:lnSpc>
              <a:buFont typeface="Arial" panose="020B0604020202020204" pitchFamily="34" charset="0"/>
              <a:buChar char="•"/>
            </a:pPr>
            <a:r>
              <a:rPr lang="en-US" altLang="ko-KR" sz="1600">
                <a:latin typeface="NanumGothic" panose="020D0604000000000000" pitchFamily="34" charset="-127"/>
                <a:ea typeface="NanumGothic" panose="020D0604000000000000" pitchFamily="34" charset="-127"/>
              </a:rPr>
              <a:t>Fixed VSS cardinality degrades VAQ performance on existing systems</a:t>
            </a:r>
          </a:p>
          <a:p>
            <a:pPr marL="285750" indent="-285750">
              <a:lnSpc>
                <a:spcPct val="150000"/>
              </a:lnSpc>
              <a:buFont typeface="Arial" panose="020B0604020202020204" pitchFamily="34" charset="0"/>
              <a:buChar char="•"/>
            </a:pPr>
            <a:r>
              <a:rPr lang="en-US" altLang="ko-KR" sz="1600">
                <a:latin typeface="NanumGothic" panose="020D0604000000000000" pitchFamily="34" charset="-127"/>
                <a:ea typeface="NanumGothic" panose="020D0604000000000000" pitchFamily="34" charset="-127"/>
              </a:rPr>
              <a:t>An open-source, pluggable framework Exqutor for improving VSS cardinality estimation</a:t>
            </a:r>
            <a:endParaRPr lang="en-US" altLang="ko-KR" sz="1600">
              <a:solidFill>
                <a:srgbClr val="92D050"/>
              </a:solidFill>
              <a:latin typeface="NanumGothic" panose="020D0604000000000000" pitchFamily="34" charset="-127"/>
              <a:ea typeface="NanumGothic" panose="020D0604000000000000" pitchFamily="34" charset="-127"/>
            </a:endParaRPr>
          </a:p>
        </p:txBody>
      </p:sp>
      <p:pic>
        <p:nvPicPr>
          <p:cNvPr id="19" name="Picture 2">
            <a:extLst>
              <a:ext uri="{FF2B5EF4-FFF2-40B4-BE49-F238E27FC236}">
                <a16:creationId xmlns:a16="http://schemas.microsoft.com/office/drawing/2014/main" id="{9205BCF8-741D-8FFB-3047-9F6088CC89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9175" y="5182980"/>
            <a:ext cx="3333364" cy="895407"/>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FF2505D8-B733-5273-A67A-21ACB17C9D76}"/>
              </a:ext>
            </a:extLst>
          </p:cNvPr>
          <p:cNvSpPr txBox="1"/>
          <p:nvPr/>
        </p:nvSpPr>
        <p:spPr>
          <a:xfrm>
            <a:off x="7585204" y="5920063"/>
            <a:ext cx="1604472" cy="338554"/>
          </a:xfrm>
          <a:prstGeom prst="rect">
            <a:avLst/>
          </a:prstGeom>
          <a:noFill/>
        </p:spPr>
        <p:txBody>
          <a:bodyPr wrap="square">
            <a:spAutoFit/>
          </a:bodyPr>
          <a:lstStyle/>
          <a:p>
            <a:pPr algn="ctr"/>
            <a:r>
              <a:rPr lang="en-US" altLang="ko-KR" sz="1600" b="1">
                <a:latin typeface="NanumGothic" panose="020D0604000000000000" pitchFamily="34" charset="-127"/>
                <a:ea typeface="NanumGothic" panose="020D0604000000000000" pitchFamily="34" charset="-127"/>
              </a:rPr>
              <a:t>GitHub</a:t>
            </a:r>
            <a:endParaRPr lang="ko-KR" altLang="en-US" sz="1600" b="1">
              <a:latin typeface="NanumGothic" panose="020D0604000000000000" pitchFamily="34" charset="-127"/>
              <a:ea typeface="NanumGothic" panose="020D0604000000000000" pitchFamily="34" charset="-127"/>
            </a:endParaRPr>
          </a:p>
        </p:txBody>
      </p:sp>
      <p:sp>
        <p:nvSpPr>
          <p:cNvPr id="23" name="TextBox 22">
            <a:extLst>
              <a:ext uri="{FF2B5EF4-FFF2-40B4-BE49-F238E27FC236}">
                <a16:creationId xmlns:a16="http://schemas.microsoft.com/office/drawing/2014/main" id="{7513DBB6-D6AA-215D-A34D-58F69E554875}"/>
              </a:ext>
            </a:extLst>
          </p:cNvPr>
          <p:cNvSpPr txBox="1"/>
          <p:nvPr/>
        </p:nvSpPr>
        <p:spPr>
          <a:xfrm>
            <a:off x="4679370" y="4986214"/>
            <a:ext cx="2727394" cy="1152751"/>
          </a:xfrm>
          <a:prstGeom prst="rect">
            <a:avLst/>
          </a:prstGeom>
          <a:noFill/>
        </p:spPr>
        <p:txBody>
          <a:bodyPr wrap="square">
            <a:spAutoFit/>
          </a:bodyPr>
          <a:lstStyle/>
          <a:p>
            <a:pPr>
              <a:lnSpc>
                <a:spcPct val="150000"/>
              </a:lnSpc>
            </a:pPr>
            <a:r>
              <a:rPr lang="en-US" altLang="ko-KR" sz="1600" b="1">
                <a:latin typeface="NanumGothic" panose="020D0604000000000000" pitchFamily="34" charset="-127"/>
                <a:ea typeface="NanumGothic" panose="020D0604000000000000" pitchFamily="34" charset="-127"/>
              </a:rPr>
              <a:t>chaerim.lim@yonsei.ac.kr</a:t>
            </a:r>
            <a:br>
              <a:rPr lang="en-US" altLang="ko-KR" sz="1600" b="1">
                <a:latin typeface="NanumGothic" panose="020D0604000000000000" pitchFamily="34" charset="-127"/>
                <a:ea typeface="NanumGothic" panose="020D0604000000000000" pitchFamily="34" charset="-127"/>
              </a:rPr>
            </a:br>
            <a:r>
              <a:rPr lang="en-US" altLang="ko-KR" sz="1600" b="1">
                <a:latin typeface="NanumGothic" panose="020D0604000000000000" pitchFamily="34" charset="-127"/>
                <a:ea typeface="NanumGothic" panose="020D0604000000000000" pitchFamily="34" charset="-127"/>
              </a:rPr>
              <a:t>bdai.research@gmail.com</a:t>
            </a:r>
          </a:p>
          <a:p>
            <a:pPr>
              <a:lnSpc>
                <a:spcPct val="150000"/>
              </a:lnSpc>
            </a:pPr>
            <a:r>
              <a:rPr lang="en" altLang="ko-KR" sz="1600" b="1">
                <a:latin typeface="NanumGothic" panose="020D0604000000000000" pitchFamily="34" charset="-127"/>
                <a:ea typeface="NanumGothic" panose="020D0604000000000000" pitchFamily="34" charset="-127"/>
              </a:rPr>
              <a:t>https://bdai.yonsei.ac.kr/</a:t>
            </a:r>
            <a:endParaRPr lang="ko-KR" altLang="en-US" sz="1600" b="1">
              <a:latin typeface="NanumGothic" panose="020D0604000000000000" pitchFamily="34" charset="-127"/>
              <a:ea typeface="NanumGothic" panose="020D0604000000000000" pitchFamily="34" charset="-127"/>
            </a:endParaRPr>
          </a:p>
        </p:txBody>
      </p:sp>
      <p:sp>
        <p:nvSpPr>
          <p:cNvPr id="25" name="TextBox 24">
            <a:extLst>
              <a:ext uri="{FF2B5EF4-FFF2-40B4-BE49-F238E27FC236}">
                <a16:creationId xmlns:a16="http://schemas.microsoft.com/office/drawing/2014/main" id="{710C2FEC-DBB7-054C-92F6-586CBF724F3B}"/>
              </a:ext>
            </a:extLst>
          </p:cNvPr>
          <p:cNvSpPr txBox="1"/>
          <p:nvPr/>
        </p:nvSpPr>
        <p:spPr>
          <a:xfrm>
            <a:off x="624468" y="1537959"/>
            <a:ext cx="11444231" cy="451790"/>
          </a:xfrm>
          <a:prstGeom prst="rect">
            <a:avLst/>
          </a:prstGeom>
          <a:noFill/>
        </p:spPr>
        <p:txBody>
          <a:bodyPr wrap="square">
            <a:spAutoFit/>
          </a:bodyPr>
          <a:lstStyle/>
          <a:p>
            <a:pPr marL="0" marR="0" lvl="0" indent="0" defTabSz="914400" rtl="0" eaLnBrk="1" fontAlgn="auto" latinLnBrk="0" hangingPunct="1">
              <a:lnSpc>
                <a:spcPct val="150000"/>
              </a:lnSpc>
              <a:spcBef>
                <a:spcPts val="0"/>
              </a:spcBef>
              <a:spcAft>
                <a:spcPts val="600"/>
              </a:spcAft>
              <a:buClr>
                <a:srgbClr val="000000"/>
              </a:buClr>
              <a:buSzTx/>
              <a:buFont typeface="Arial"/>
              <a:buNone/>
              <a:tabLst/>
              <a:defRPr/>
            </a:pPr>
            <a:r>
              <a:rPr kumimoji="0" lang="en-US" altLang="ko-KR" b="1" i="0" u="none" strike="noStrike" kern="0" cap="none" spc="0" normalizeH="0" baseline="0" noProof="0">
                <a:ln>
                  <a:noFill/>
                </a:ln>
                <a:effectLst/>
                <a:uLnTx/>
                <a:uFillTx/>
                <a:latin typeface="Verdana" panose="020B0604030504040204" pitchFamily="34" charset="0"/>
                <a:ea typeface="Verdana" panose="020B0604030504040204" pitchFamily="34" charset="0"/>
                <a:cs typeface="Verdana" panose="020B0604030504040204" pitchFamily="34" charset="0"/>
                <a:sym typeface="Arial"/>
              </a:rPr>
              <a:t>Exqutor: Extended Query Optimizer for Vector-augmented Analytical Queries</a:t>
            </a:r>
          </a:p>
        </p:txBody>
      </p:sp>
      <p:sp>
        <p:nvSpPr>
          <p:cNvPr id="38" name="TextBox 37">
            <a:extLst>
              <a:ext uri="{FF2B5EF4-FFF2-40B4-BE49-F238E27FC236}">
                <a16:creationId xmlns:a16="http://schemas.microsoft.com/office/drawing/2014/main" id="{6AF96CFB-B289-F6A9-B36C-42DA5608864D}"/>
              </a:ext>
            </a:extLst>
          </p:cNvPr>
          <p:cNvSpPr txBox="1"/>
          <p:nvPr/>
        </p:nvSpPr>
        <p:spPr>
          <a:xfrm>
            <a:off x="4227269" y="3665476"/>
            <a:ext cx="3457786" cy="584775"/>
          </a:xfrm>
          <a:prstGeom prst="rect">
            <a:avLst/>
          </a:prstGeom>
          <a:noFill/>
        </p:spPr>
        <p:txBody>
          <a:bodyPr wrap="square">
            <a:spAutoFit/>
          </a:bodyPr>
          <a:lstStyle/>
          <a:p>
            <a:pPr algn="ctr"/>
            <a:r>
              <a:rPr lang="en-US" altLang="ko-KR" sz="3200" b="1" i="1">
                <a:latin typeface="NanumSquare ExtraBold" panose="020B0600000101010101" pitchFamily="34" charset="-127"/>
                <a:ea typeface="NanumSquare ExtraBold" panose="020B0600000101010101" pitchFamily="34" charset="-127"/>
              </a:rPr>
              <a:t>Thank You!</a:t>
            </a:r>
            <a:endParaRPr lang="ko-KR" altLang="en-US" sz="3200" b="1" i="1">
              <a:latin typeface="NanumSquare ExtraBold" panose="020B0600000101010101" pitchFamily="34" charset="-127"/>
              <a:ea typeface="NanumSquare ExtraBold" panose="020B0600000101010101" pitchFamily="34" charset="-127"/>
            </a:endParaRPr>
          </a:p>
        </p:txBody>
      </p:sp>
    </p:spTree>
    <p:extLst>
      <p:ext uri="{BB962C8B-B14F-4D97-AF65-F5344CB8AC3E}">
        <p14:creationId xmlns:p14="http://schemas.microsoft.com/office/powerpoint/2010/main" val="47992039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7121</TotalTime>
  <Words>3638</Words>
  <Application>Microsoft Macintosh PowerPoint</Application>
  <PresentationFormat>와이드스크린</PresentationFormat>
  <Paragraphs>333</Paragraphs>
  <Slides>27</Slides>
  <Notes>27</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27</vt:i4>
      </vt:variant>
    </vt:vector>
  </HeadingPairs>
  <TitlesOfParts>
    <vt:vector size="39" baseType="lpstr">
      <vt:lpstr>NanumGothic</vt:lpstr>
      <vt:lpstr>맑은 고딕</vt:lpstr>
      <vt:lpstr>Apple SD Gothic Neo</vt:lpstr>
      <vt:lpstr>NANUMGOTHIC EXTRABOLD</vt:lpstr>
      <vt:lpstr>NanumSquare ExtraBold</vt:lpstr>
      <vt:lpstr>Arial</vt:lpstr>
      <vt:lpstr>Calibri</vt:lpstr>
      <vt:lpstr>Helvetica Neue</vt:lpstr>
      <vt:lpstr>Open Sans</vt:lpstr>
      <vt:lpstr>Segoe UI</vt:lpstr>
      <vt:lpstr>Verdana</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임채림</dc:creator>
  <cp:lastModifiedBy>임채림</cp:lastModifiedBy>
  <cp:revision>72</cp:revision>
  <dcterms:created xsi:type="dcterms:W3CDTF">2026-03-31T09:04:26Z</dcterms:created>
  <dcterms:modified xsi:type="dcterms:W3CDTF">2026-04-24T12:39:57Z</dcterms:modified>
</cp:coreProperties>
</file>
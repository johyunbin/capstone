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22" autoAdjust="0"/>
    <p:restoredTop sz="94643"/>
  </p:normalViewPr>
  <p:slideViewPr>
    <p:cSldViewPr snapToGrid="0" snapToObjects="1">
      <p:cViewPr varScale="1">
        <p:scale>
          <a:sx n="159" d="100"/>
          <a:sy n="159" d="100"/>
        </p:scale>
        <p:origin x="93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323B7F-8C56-48F1-98C9-0593781F4D74}" type="datetimeFigureOut">
              <a:rPr lang="ko-KR" altLang="en-US" smtClean="0"/>
              <a:t>2026. 4. 28.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FA1FC-240D-46F1-B02C-E549D962A8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602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BFA1FC-240D-46F1-B02C-E549D962A89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105681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2011680" cy="25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CAPSTONE 2026-1  /  MIDTERM PRESENTATION  /  </a:t>
            </a:r>
            <a:r>
              <a:rPr sz="1000" b="1" dirty="0" err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연세대학교</a:t>
            </a:r>
            <a:endParaRPr sz="10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0" y="685800"/>
            <a:ext cx="1371600" cy="21095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2026.04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139115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lang="en-US" altLang="ko-KR" sz="4400" b="1" dirty="0"/>
              <a:t>Skew-Aware Stratified Sampling </a:t>
            </a:r>
            <a:r>
              <a:rPr lang="ko-KR" altLang="ko-KR" sz="4400" b="1" dirty="0"/>
              <a:t>을 이용한</a:t>
            </a:r>
            <a:endParaRPr lang="ko-KR" altLang="ko-KR" sz="4400" dirty="0"/>
          </a:p>
          <a:p>
            <a:r>
              <a:rPr lang="en-US" altLang="ko-KR" sz="4400" b="1" dirty="0"/>
              <a:t>Vector Cardinality </a:t>
            </a:r>
            <a:r>
              <a:rPr lang="ko-KR" altLang="ko-KR" sz="4400" b="1" dirty="0"/>
              <a:t>추정 정확도 개선 연구</a:t>
            </a:r>
            <a:endParaRPr lang="ko-KR" altLang="ko-KR" sz="4400" dirty="0"/>
          </a:p>
        </p:txBody>
      </p:sp>
      <p:sp>
        <p:nvSpPr>
          <p:cNvPr id="6" name="Rectangle 5"/>
          <p:cNvSpPr/>
          <p:nvPr/>
        </p:nvSpPr>
        <p:spPr>
          <a:xfrm>
            <a:off x="731520" y="4297680"/>
            <a:ext cx="731520" cy="25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5486400"/>
            <a:ext cx="1051560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7315200" cy="41973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 err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  <a:endParaRPr sz="22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6080760"/>
            <a:ext cx="9144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박세은 (팀장)  ·  강재현  ·  조현빈  ·  이동욱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5669280"/>
            <a:ext cx="3931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2026-04-28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080760"/>
            <a:ext cx="393192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지도교수</a:t>
            </a: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박광현</a:t>
            </a: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· </a:t>
            </a:r>
            <a:r>
              <a:rPr sz="10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연구원</a:t>
            </a: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0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임</a:t>
            </a:r>
            <a:r>
              <a:rPr sz="10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채림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2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55448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27632"/>
            <a:ext cx="685800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Vector Cardinality Estimation: Blind Spots</a:t>
            </a:r>
            <a:endParaRPr sz="12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587752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51460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587752"/>
            <a:ext cx="685800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Exqutor</a:t>
            </a:r>
            <a:r>
              <a:rPr lang="en-US" sz="12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: Methods &amp; Limits</a:t>
            </a:r>
            <a:endParaRPr sz="12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547872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47472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Our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547872"/>
            <a:ext cx="685800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Skew-Aware</a:t>
            </a:r>
            <a:r>
              <a:rPr lang="en-US" sz="12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/Unaware</a:t>
            </a:r>
            <a:r>
              <a:rPr sz="12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Sampling</a:t>
            </a:r>
            <a:endParaRPr sz="12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507992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43484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Experiments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4507992"/>
            <a:ext cx="685800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RQ1·RQ2·RQ3</a:t>
            </a:r>
            <a:r>
              <a:rPr lang="en-US" sz="12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:</a:t>
            </a:r>
            <a:r>
              <a:rPr sz="12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sz="12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Design / Results</a:t>
            </a:r>
            <a:endParaRPr sz="12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1520" y="534924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468112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9496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5468112"/>
            <a:ext cx="685800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Current progress &amp; Future plans</a:t>
            </a:r>
            <a:endParaRPr sz="12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1.Problem</a:t>
            </a:r>
            <a:endParaRPr sz="2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3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2481" y="1344669"/>
            <a:ext cx="11064240" cy="2954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벡터</a:t>
            </a:r>
            <a:r>
              <a:rPr 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range</a:t>
            </a: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조건의</a:t>
            </a: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선택도</a:t>
            </a:r>
            <a:r>
              <a:rPr lang="ko-KR" alt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는 </a:t>
            </a:r>
            <a:r>
              <a:rPr lang="en-US" altLang="ko-KR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query</a:t>
            </a:r>
            <a:r>
              <a:rPr lang="ko-KR" alt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마다 크게 달라지지만</a:t>
            </a:r>
            <a:r>
              <a:rPr lang="en-US" altLang="ko-KR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lang="ko-KR" alt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기존 </a:t>
            </a:r>
            <a:r>
              <a:rPr lang="en-US" altLang="ko-KR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optimizer</a:t>
            </a:r>
            <a:r>
              <a:rPr lang="ko-KR" alt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는 벡터 공간 분포를 반영하지 못한다</a:t>
            </a:r>
            <a:r>
              <a:rPr lang="en-US" altLang="ko-KR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1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기존</a:t>
            </a:r>
            <a:r>
              <a:rPr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시스템</a:t>
            </a:r>
            <a:r>
              <a:rPr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— </a:t>
            </a:r>
            <a:r>
              <a:rPr sz="1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고정</a:t>
            </a:r>
            <a:r>
              <a:rPr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비율</a:t>
            </a:r>
            <a:r>
              <a:rPr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추정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pgvector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77440"/>
            <a:ext cx="12801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33.3%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4572000" cy="20544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fixed estimator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29184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VBASE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246120"/>
            <a:ext cx="12801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50.0%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fixed estimator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79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160519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DuckDB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114799"/>
            <a:ext cx="12801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26279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scan all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965960"/>
            <a:ext cx="576072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 err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실제</a:t>
            </a:r>
            <a:r>
              <a:rPr sz="1200" b="1" dirty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 —</a:t>
            </a:r>
            <a:r>
              <a:rPr lang="en-US" sz="1200" b="1" dirty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 Query</a:t>
            </a:r>
            <a:r>
              <a:rPr lang="ko-KR" altLang="en-US" sz="1200" b="1" dirty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마다 달라지는 </a:t>
            </a:r>
            <a:r>
              <a:rPr sz="1200" b="1" dirty="0" err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분포</a:t>
            </a:r>
            <a:endParaRPr sz="1200" b="1" dirty="0">
              <a:solidFill>
                <a:srgbClr val="EA580C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943600" y="2331720"/>
            <a:ext cx="576072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0" y="2468880"/>
            <a:ext cx="5486400" cy="1652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■ 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실제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선택도는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query에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따라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0.001% ~ </a:t>
            </a:r>
            <a:r>
              <a:rPr lang="en-US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0%의 </a:t>
            </a:r>
            <a:r>
              <a:rPr lang="ko-KR" altLang="en-US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광범위한 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분포</a:t>
            </a:r>
            <a:endParaRPr lang="en-US" sz="14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50000"/>
              </a:lnSpc>
            </a:pPr>
            <a:endParaRPr lang="en-US" sz="14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■ 잘못된 </a:t>
            </a:r>
            <a:r>
              <a:rPr lang="en-US" altLang="ko-KR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cardinality </a:t>
            </a:r>
            <a:r>
              <a:rPr lang="ko-KR" alt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추정 → </a:t>
            </a:r>
            <a:r>
              <a:rPr lang="en-US" altLang="ko-KR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join, index </a:t>
            </a:r>
            <a:r>
              <a:rPr lang="ko-KR" alt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유무</a:t>
            </a:r>
            <a:r>
              <a:rPr lang="en-US" altLang="ko-KR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, scan </a:t>
            </a:r>
            <a:r>
              <a:rPr lang="ko-KR" alt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전략 선택 왜곡</a:t>
            </a:r>
            <a:r>
              <a:rPr lang="en-US" altLang="ko-KR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(</a:t>
            </a:r>
            <a:r>
              <a:rPr lang="ko-KR" alt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비효율적 실행 계획</a:t>
            </a:r>
            <a:r>
              <a:rPr lang="en-US" altLang="ko-KR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)</a:t>
            </a:r>
            <a:endParaRPr lang="en-US" sz="140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343741"/>
            <a:ext cx="10515600" cy="33855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lang="ko-KR" altLang="en-US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고정 비율 추정으로는 </a:t>
            </a:r>
            <a:r>
              <a:rPr lang="en-US" altLang="ko-KR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query-dependent vector selectivity</a:t>
            </a:r>
            <a:r>
              <a:rPr lang="ko-KR" altLang="en-US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를 설명할 수 없다</a:t>
            </a:r>
            <a:r>
              <a:rPr lang="en-US" altLang="ko-KR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1400" b="1" dirty="0">
              <a:solidFill>
                <a:srgbClr val="FAFAF9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2-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Background</a:t>
            </a:r>
            <a:r>
              <a:rPr 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— </a:t>
            </a:r>
            <a:r>
              <a:rPr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Exqutor</a:t>
            </a:r>
            <a:r>
              <a:rPr lang="ko-KR" alt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의 방법론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440680" cy="41148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5194" y="1463040"/>
            <a:ext cx="5229617" cy="3323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ECQO</a:t>
            </a:r>
            <a:r>
              <a:rPr lang="en-US"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(Exact Cardinality Query Optimization)</a:t>
            </a:r>
            <a:endParaRPr sz="1600" b="1" dirty="0">
              <a:solidFill>
                <a:srgbClr val="FAFAF9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502920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HNSW </a:t>
            </a:r>
            <a:r>
              <a:rPr sz="13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인덱스가</a:t>
            </a: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있을</a:t>
            </a: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5029200" cy="5909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2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실행 계획 단계에서 </a:t>
            </a:r>
            <a:r>
              <a:rPr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HNSW range </a:t>
            </a:r>
            <a:r>
              <a:rPr sz="1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query</a:t>
            </a:r>
            <a:r>
              <a:rPr sz="12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를</a:t>
            </a:r>
            <a:r>
              <a:rPr lang="en-US" sz="12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2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직접</a:t>
            </a:r>
            <a:r>
              <a:rPr sz="12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  <a:r>
              <a:rPr lang="ko-KR" altLang="en-US" sz="12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하여</a:t>
            </a:r>
            <a:r>
              <a:rPr sz="12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endParaRPr lang="en-US" sz="12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50000"/>
              </a:lnSpc>
            </a:pPr>
            <a:r>
              <a:rPr sz="12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정확</a:t>
            </a:r>
            <a:r>
              <a:rPr lang="ko-KR" altLang="en-US" sz="12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한</a:t>
            </a:r>
            <a:r>
              <a:rPr sz="12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Cardinality</a:t>
            </a:r>
            <a:r>
              <a:rPr sz="12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산출</a:t>
            </a:r>
            <a:endParaRPr sz="12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0977" y="4114800"/>
            <a:ext cx="4983480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1~2 </a:t>
            </a:r>
            <a:r>
              <a:rPr sz="30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ms</a:t>
            </a:r>
            <a:endParaRPr sz="30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4983480" cy="2400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1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단시간 내 </a:t>
            </a:r>
            <a:r>
              <a:rPr sz="11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정확</a:t>
            </a:r>
            <a:r>
              <a:rPr lang="ko-KR" altLang="en-US" sz="11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한</a:t>
            </a:r>
            <a:r>
              <a:rPr sz="11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sz="11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Cardinality</a:t>
            </a:r>
            <a:r>
              <a:rPr lang="en-US" sz="11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1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획득</a:t>
            </a:r>
            <a:endParaRPr sz="11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78463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5440680" cy="41148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Adaptive Sampling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974102"/>
            <a:ext cx="5029200" cy="25731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HNSW </a:t>
            </a:r>
            <a:r>
              <a:rPr sz="13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인덱스가</a:t>
            </a: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없을</a:t>
            </a: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12513"/>
            <a:ext cx="5029200" cy="63709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— </a:t>
            </a:r>
            <a:r>
              <a:rPr sz="12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모멘텀</a:t>
            </a:r>
            <a:r>
              <a:rPr sz="12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기반</a:t>
            </a:r>
            <a:r>
              <a:rPr sz="12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동적</a:t>
            </a:r>
            <a:r>
              <a:rPr sz="12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uniform sampling</a:t>
            </a:r>
            <a:endParaRPr lang="en-US" sz="120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</a:t>
            </a:r>
            <a:r>
              <a:rPr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ample size</a:t>
            </a:r>
            <a:r>
              <a:rPr lang="ko-KR" altLang="en-US" sz="12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를</a:t>
            </a:r>
            <a:r>
              <a:rPr lang="ko-KR" altLang="en-US" sz="12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조금씩 늘려가며 </a:t>
            </a:r>
            <a:r>
              <a:rPr lang="en-US" altLang="ko-KR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Cardinality</a:t>
            </a:r>
            <a:r>
              <a:rPr lang="ko-KR" altLang="en-US" sz="12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를 근사</a:t>
            </a:r>
            <a:endParaRPr sz="12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4114800"/>
            <a:ext cx="4983480" cy="5909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30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~3.2</a:t>
            </a:r>
            <a:r>
              <a:rPr sz="30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663440"/>
            <a:ext cx="4983480" cy="2400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1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No index VAQ </a:t>
            </a:r>
            <a:r>
              <a:rPr lang="ko-KR" altLang="en-US" sz="11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성능 개선</a:t>
            </a:r>
            <a:endParaRPr sz="11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731860"/>
            <a:ext cx="10515600" cy="29546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chemeClr val="bg2">
                    <a:lumMod val="75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→  </a:t>
            </a: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No-index sampling path</a:t>
            </a:r>
            <a:r>
              <a:rPr lang="ko-KR" altLang="en-US" sz="1400" b="1" dirty="0">
                <a:solidFill>
                  <a:schemeClr val="bg2">
                    <a:lumMod val="75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에서 </a:t>
            </a:r>
            <a:r>
              <a:rPr lang="en-US" altLang="ko-KR" sz="1400" b="1" dirty="0">
                <a:solidFill>
                  <a:schemeClr val="bg2">
                    <a:lumMod val="75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uniform sample</a:t>
            </a:r>
            <a:r>
              <a:rPr lang="ko-KR" altLang="en-US" sz="1400" b="1" dirty="0">
                <a:solidFill>
                  <a:schemeClr val="bg2">
                    <a:lumMod val="75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이 </a:t>
            </a:r>
            <a:r>
              <a:rPr lang="en-US" altLang="ko-KR" sz="1400" b="1" dirty="0">
                <a:solidFill>
                  <a:schemeClr val="bg2">
                    <a:lumMod val="75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skewed vector distribution</a:t>
            </a:r>
            <a:r>
              <a:rPr lang="ko-KR" altLang="en-US" sz="1400" b="1" dirty="0">
                <a:solidFill>
                  <a:schemeClr val="bg2">
                    <a:lumMod val="75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을 대표할 수 있는가</a:t>
            </a:r>
            <a:r>
              <a:rPr lang="en-US" altLang="ko-KR" sz="1400" b="1" dirty="0">
                <a:solidFill>
                  <a:schemeClr val="bg2">
                    <a:lumMod val="75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?</a:t>
            </a:r>
            <a:endParaRPr sz="1400" b="1" dirty="0">
              <a:solidFill>
                <a:schemeClr val="bg2">
                  <a:lumMod val="75000"/>
                </a:schemeClr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6284934"/>
            <a:ext cx="10698480" cy="2954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HNSW</a:t>
            </a:r>
            <a:r>
              <a:rPr 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: </a:t>
            </a:r>
            <a:r>
              <a:rPr lang="ko-KR" altLang="en-US" sz="12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고차원 벡터</a:t>
            </a:r>
            <a:r>
              <a:rPr lang="en-US" altLang="ko-KR" sz="12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2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데이터에서 유사도가 가장 높은 이웃을 빠르게 찾는 그래프 기반의 근접 </a:t>
            </a:r>
            <a:r>
              <a:rPr lang="ko-KR" altLang="en-US" sz="120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최근점</a:t>
            </a:r>
            <a:r>
              <a:rPr lang="ko-KR" altLang="en-US" sz="12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이웃</a:t>
            </a:r>
            <a:r>
              <a:rPr lang="en-US" altLang="ko-KR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(ANN)</a:t>
            </a:r>
            <a:r>
              <a:rPr lang="en-US" altLang="ko-KR" sz="12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2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검색 알고리즘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-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r>
              <a:rPr lang="en-US" altLang="ko-KR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Background</a:t>
            </a:r>
            <a:r>
              <a:rPr lang="en-US" altLang="ko-KR" sz="20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— 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Adaptive </a:t>
            </a:r>
            <a:r>
              <a:rPr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Sampling의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한계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411480" cy="11430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4114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508760"/>
            <a:ext cx="4572000" cy="2954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Hook Trigger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 의한 </a:t>
            </a:r>
            <a:r>
              <a:rPr lang="en-US" altLang="ko-KR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AS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적용 범위 누락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51560" y="1875272"/>
            <a:ext cx="4572000" cy="397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90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table_count</a:t>
            </a:r>
            <a:r>
              <a:rPr 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&gt;2 </a:t>
            </a: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조건으로 </a:t>
            </a:r>
            <a:r>
              <a:rPr lang="en-US" altLang="ko-KR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single vector table range query</a:t>
            </a: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는 </a:t>
            </a:r>
            <a:r>
              <a:rPr lang="en-US" altLang="ko-KR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AS </a:t>
            </a:r>
            <a:r>
              <a:rPr lang="ko-KR" altLang="en-US" sz="90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미진입</a:t>
            </a: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endParaRPr lang="en-US" altLang="ko-KR" sz="90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30000"/>
              </a:lnSpc>
            </a:pPr>
            <a:r>
              <a:rPr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→ </a:t>
            </a:r>
            <a:r>
              <a:rPr lang="en-US" sz="9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pgvector</a:t>
            </a:r>
            <a:r>
              <a:rPr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default selectivity 1/3 로 fall</a:t>
            </a:r>
            <a:r>
              <a:rPr lang="en-US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back</a:t>
            </a:r>
            <a:endParaRPr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269748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11480" cy="11430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063240"/>
            <a:ext cx="4114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#2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788920"/>
            <a:ext cx="457200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단순 </a:t>
            </a:r>
            <a:r>
              <a:rPr lang="en-US" altLang="ko-KR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Gate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altLang="ko-KR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Relaxation 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불가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51560" y="3081528"/>
            <a:ext cx="4572000" cy="1846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8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H</a:t>
            </a:r>
            <a:r>
              <a:rPr sz="8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ook</a:t>
            </a:r>
            <a:r>
              <a:rPr lang="en-US" sz="8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 </a:t>
            </a:r>
            <a:r>
              <a:rPr lang="ko-KR" altLang="en-US" sz="8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조건 완화 시 추정용 </a:t>
            </a:r>
            <a:r>
              <a:rPr lang="en-US" altLang="ko-KR" sz="800" b="0" dirty="0" err="1">
                <a:solidFill>
                  <a:srgbClr val="EA580C"/>
                </a:solidFill>
                <a:latin typeface="Menlo"/>
                <a:ea typeface="Menlo"/>
                <a:cs typeface="Menlo"/>
              </a:rPr>
              <a:t>Tablesample</a:t>
            </a:r>
            <a:r>
              <a:rPr lang="ko-KR" altLang="en-US" sz="8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이 실제 실행 </a:t>
            </a:r>
            <a:r>
              <a:rPr lang="en-US" altLang="ko-KR" sz="8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plan</a:t>
            </a:r>
            <a:r>
              <a:rPr lang="ko-KR" altLang="en-US" sz="8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에 반영 </a:t>
            </a:r>
            <a:endParaRPr sz="800" b="0" dirty="0">
              <a:solidFill>
                <a:srgbClr val="EA580C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51560" y="3355848"/>
            <a:ext cx="4572000" cy="2169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→ </a:t>
            </a:r>
            <a:r>
              <a:rPr lang="en-US" altLang="ko-KR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SELECT count(*)</a:t>
            </a: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의</a:t>
            </a:r>
            <a:r>
              <a:rPr lang="en-US" altLang="ko-KR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결과가 전체 테이블 기준이 아니라 </a:t>
            </a:r>
            <a:r>
              <a:rPr lang="en-US" altLang="ko-KR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sample</a:t>
            </a: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기준으로 계산</a:t>
            </a:r>
            <a:r>
              <a:rPr lang="en-US" altLang="ko-KR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48640" y="3977639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3977639"/>
            <a:ext cx="411480" cy="11430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343399"/>
            <a:ext cx="4114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#3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069079"/>
            <a:ext cx="457200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Block-level sampling bias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51560" y="4361687"/>
            <a:ext cx="4572000" cy="1846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8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System sampling</a:t>
            </a:r>
            <a:r>
              <a:rPr lang="ko-KR" altLang="en-US" sz="8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은 </a:t>
            </a:r>
            <a:r>
              <a:rPr lang="en-US" altLang="ko-KR" sz="8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page/block </a:t>
            </a:r>
            <a:r>
              <a:rPr lang="ko-KR" altLang="en-US" sz="8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단위 추출</a:t>
            </a:r>
            <a:endParaRPr sz="800" b="0" dirty="0">
              <a:solidFill>
                <a:srgbClr val="EA580C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51560" y="4636007"/>
            <a:ext cx="4572000" cy="3798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→ </a:t>
            </a:r>
            <a:r>
              <a:rPr lang="en-US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Row-level uniform sample</a:t>
            </a:r>
            <a:r>
              <a:rPr lang="ko-KR" altLang="en-US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을 보장하지 못해 </a:t>
            </a:r>
            <a:r>
              <a:rPr lang="en-US" altLang="ko-KR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skewed vector space</a:t>
            </a: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에서 대표성 저하</a:t>
            </a:r>
            <a:endParaRPr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852160" y="1371600"/>
            <a:ext cx="5852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vector.c — Hook Trigger 사각지대 (line 243)</a:t>
            </a:r>
          </a:p>
        </p:txBody>
      </p:sp>
      <p:pic>
        <p:nvPicPr>
          <p:cNvPr id="26" name="Picture 25" descr="slide6_vector_c_snipp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828848"/>
            <a:ext cx="5806440" cy="228590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52160" y="4251960"/>
            <a:ext cx="58064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vector.c</a:t>
            </a:r>
            <a:r>
              <a:rPr sz="8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L243 — </a:t>
            </a:r>
            <a:r>
              <a:rPr sz="8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table_count</a:t>
            </a:r>
            <a:r>
              <a:rPr sz="8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&gt; 2 hook trigger </a:t>
            </a:r>
            <a:r>
              <a:rPr sz="8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사각지대</a:t>
            </a:r>
            <a:endParaRPr sz="8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5750326"/>
            <a:ext cx="10515600" cy="2585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★</a:t>
            </a:r>
            <a:r>
              <a:rPr lang="en-US" sz="12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2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단일 테이블 </a:t>
            </a:r>
            <a:r>
              <a:rPr lang="en-US" altLang="ko-KR" sz="12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range query</a:t>
            </a:r>
            <a:r>
              <a:rPr lang="ko-KR" altLang="en-US" sz="12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에 적용하려면</a:t>
            </a:r>
            <a:r>
              <a:rPr lang="en-US" altLang="ko-KR" sz="12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lang="ko-KR" altLang="en-US" sz="12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실행 </a:t>
            </a:r>
            <a:r>
              <a:rPr lang="en-US" altLang="ko-KR" sz="12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  <a:r>
              <a:rPr lang="ko-KR" altLang="en-US" sz="12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을 바꾸지 않는 </a:t>
            </a:r>
            <a:r>
              <a:rPr lang="en-US" altLang="ko-KR" sz="12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estimation-only sampling </a:t>
            </a:r>
            <a:r>
              <a:rPr lang="ko-KR" altLang="en-US" sz="12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경로가 필요하다</a:t>
            </a:r>
            <a:r>
              <a:rPr lang="en-US" altLang="ko-KR" sz="12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1200" b="1" dirty="0">
              <a:solidFill>
                <a:srgbClr val="FAFAF9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3. 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Our Approach</a:t>
            </a:r>
            <a:r>
              <a:rPr lang="en-US" altLang="ko-KR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— </a:t>
            </a:r>
            <a:r>
              <a:rPr lang="en-US" altLang="ko-KR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Skew-Aware Sampling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97280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Uniform Adaptive Sampling</a:t>
            </a:r>
            <a:r>
              <a:rPr lang="ko-KR" altLang="en-US" sz="10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의 한계를 표본 단위와 표본 배분 두 축으로 분해하고</a:t>
            </a:r>
            <a:r>
              <a:rPr lang="en-US" altLang="ko-KR" sz="10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lang="ko-KR" altLang="en-US" sz="10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각각을 독립적으로 보완한다</a:t>
            </a:r>
            <a:r>
              <a:rPr lang="en-US" altLang="ko-KR" sz="10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6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1" y="1417320"/>
            <a:ext cx="3591212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57716" cy="21945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981" y="1490472"/>
            <a:ext cx="2190496" cy="22339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1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기존 연구</a:t>
            </a:r>
            <a:endParaRPr sz="11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2292" y="1819865"/>
            <a:ext cx="3169085" cy="307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Uniform Adaptive Sampling</a:t>
            </a:r>
            <a:endParaRPr sz="16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626957"/>
            <a:ext cx="3306245" cy="78483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171450" indent="-1714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Adaptive Sample size</a:t>
            </a:r>
          </a:p>
          <a:p>
            <a:pPr marL="171450" indent="-1714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Uniform Allocation</a:t>
            </a:r>
          </a:p>
          <a:p>
            <a:pPr marL="171450" indent="-1714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Block-level System Sampling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49039"/>
            <a:ext cx="11064240" cy="54864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3912471"/>
            <a:ext cx="10515600" cy="24006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✦</a:t>
            </a:r>
            <a:r>
              <a:rPr lang="en-US" sz="11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1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본 연구는 </a:t>
            </a:r>
            <a:r>
              <a:rPr lang="en-US" altLang="ko-KR" sz="11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block bias</a:t>
            </a:r>
            <a:r>
              <a:rPr lang="ko-KR" altLang="en-US" sz="11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를 제거한 뒤 </a:t>
            </a:r>
            <a:r>
              <a:rPr lang="en-US" altLang="ko-KR" sz="11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skewed vector space</a:t>
            </a:r>
            <a:r>
              <a:rPr lang="ko-KR" altLang="en-US" sz="11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에서 </a:t>
            </a:r>
            <a:r>
              <a:rPr lang="en-US" altLang="ko-KR" sz="11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sample allocation</a:t>
            </a:r>
            <a:r>
              <a:rPr lang="ko-KR" altLang="en-US" sz="11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을 재설계한다</a:t>
            </a:r>
            <a:r>
              <a:rPr lang="en-US" altLang="ko-KR" sz="11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11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4434840"/>
            <a:ext cx="6400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본 연구의 핵심 기여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4882896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79" y="4844668"/>
            <a:ext cx="5897573" cy="2169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lang="en-US" altLang="ko-KR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Target: </a:t>
            </a: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단일 테이블 </a:t>
            </a:r>
            <a:r>
              <a:rPr lang="en-US" altLang="ko-KR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vector range query</a:t>
            </a: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의 </a:t>
            </a:r>
            <a:r>
              <a:rPr lang="en-US" altLang="ko-KR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no-index sampling path</a:t>
            </a: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를 </a:t>
            </a:r>
            <a:r>
              <a:rPr lang="en-US" altLang="ko-KR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target workload</a:t>
            </a: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로 설정</a:t>
            </a:r>
            <a:endParaRPr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640080" y="5294376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5212080"/>
            <a:ext cx="5486400" cy="397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ko-KR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Decomposition &amp; Method: block-level sampling bias</a:t>
            </a:r>
            <a:r>
              <a:rPr lang="ko-KR" altLang="en-US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와 </a:t>
            </a:r>
            <a:r>
              <a:rPr lang="en-US" altLang="ko-KR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spatial skew </a:t>
            </a:r>
            <a:r>
              <a:rPr lang="ko-KR" altLang="en-US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문제를 분리하고</a:t>
            </a:r>
            <a:r>
              <a:rPr lang="en-US" altLang="ko-KR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</a:p>
          <a:p>
            <a:pPr>
              <a:lnSpc>
                <a:spcPct val="135000"/>
              </a:lnSpc>
            </a:pPr>
            <a:r>
              <a:rPr lang="en-US" altLang="ko-KR" sz="9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System</a:t>
            </a: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→ </a:t>
            </a:r>
            <a:r>
              <a:rPr lang="en-US" altLang="ko-KR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Bernoulli </a:t>
            </a: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→ </a:t>
            </a:r>
            <a:r>
              <a:rPr lang="en-US" altLang="ko-KR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KM20 ablation</a:t>
            </a: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으로 각각 측정</a:t>
            </a:r>
            <a:endParaRPr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640080" y="5705856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5656611"/>
            <a:ext cx="5486400" cy="2169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Validation: Random20 / Two-level </a:t>
            </a: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분해로 공간 인식 효과 정량화</a:t>
            </a:r>
            <a:endParaRPr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pic>
        <p:nvPicPr>
          <p:cNvPr id="32" name="Picture 31" descr="figure_9_two_level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5032" y="4434840"/>
            <a:ext cx="2732215" cy="15544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583680" y="6035040"/>
            <a:ext cx="5074920" cy="1846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Two-Level Decomposition — </a:t>
            </a:r>
            <a:r>
              <a:rPr lang="ko-KR" altLang="en-US" sz="8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표본 안정화</a:t>
            </a:r>
            <a:r>
              <a:rPr lang="en-US" altLang="ko-KR" sz="8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(L1)</a:t>
            </a:r>
            <a:r>
              <a:rPr sz="8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+ </a:t>
            </a:r>
            <a:r>
              <a:rPr sz="8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공간</a:t>
            </a:r>
            <a:r>
              <a:rPr sz="8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8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인식</a:t>
            </a:r>
            <a:r>
              <a:rPr lang="en-US" sz="8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(L2</a:t>
            </a:r>
            <a:r>
              <a:rPr sz="8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)</a:t>
            </a:r>
            <a:r>
              <a:rPr lang="ko-KR" altLang="en-US" sz="8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의 분리</a:t>
            </a:r>
            <a:endParaRPr sz="8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4" name="Rounded Rectangle 6"/>
          <p:cNvSpPr/>
          <p:nvPr/>
        </p:nvSpPr>
        <p:spPr>
          <a:xfrm>
            <a:off x="4285154" y="1417320"/>
            <a:ext cx="3591212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7"/>
          <p:cNvSpPr/>
          <p:nvPr/>
        </p:nvSpPr>
        <p:spPr>
          <a:xfrm>
            <a:off x="4285153" y="1417320"/>
            <a:ext cx="157716" cy="21945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5757" y="1477946"/>
            <a:ext cx="2190496" cy="22339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1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차별성</a:t>
            </a:r>
            <a:endParaRPr sz="11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4" name="Rounded Rectangle 6"/>
          <p:cNvSpPr/>
          <p:nvPr/>
        </p:nvSpPr>
        <p:spPr>
          <a:xfrm>
            <a:off x="8021668" y="1421203"/>
            <a:ext cx="3591212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7"/>
          <p:cNvSpPr/>
          <p:nvPr/>
        </p:nvSpPr>
        <p:spPr>
          <a:xfrm>
            <a:off x="8021667" y="1421203"/>
            <a:ext cx="157716" cy="21945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354376" y="1494355"/>
            <a:ext cx="2190496" cy="22339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1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제안</a:t>
            </a:r>
            <a:endParaRPr sz="11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608173" y="1845436"/>
            <a:ext cx="2853734" cy="30816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원인 분리 및 독립 측정</a:t>
            </a:r>
            <a:endParaRPr sz="16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376410" y="1764780"/>
            <a:ext cx="2905413" cy="67371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Skew-aware </a:t>
            </a:r>
            <a:r>
              <a:rPr lang="en-US"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Stratified</a:t>
            </a:r>
            <a:r>
              <a:rPr lang="en-US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Sampling</a:t>
            </a:r>
            <a:endParaRPr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514889" y="2592119"/>
            <a:ext cx="3306245" cy="78483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171450" indent="-1714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Single-table range query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 집중</a:t>
            </a:r>
            <a:endParaRPr lang="en-US" altLang="ko-KR"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marL="171450" indent="-1714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Block bias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와 </a:t>
            </a:r>
            <a:r>
              <a:rPr lang="en-US" altLang="ko-KR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spatial skew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를 분리</a:t>
            </a:r>
            <a:endParaRPr lang="en-US" altLang="ko-KR"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marL="171450" indent="-1714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Ablation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으로 각 요인 독립 측정</a:t>
            </a:r>
            <a:endParaRPr lang="en-US" altLang="ko-KR"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218499" y="2537034"/>
            <a:ext cx="3306245" cy="117480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System</a:t>
            </a:r>
            <a:r>
              <a:rPr lang="ko-KR" altLang="en-US" sz="11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  <a:r>
              <a:rPr lang="en-US" altLang="ko-KR"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Bernoulli: row-level baseline</a:t>
            </a:r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Bernoulli</a:t>
            </a:r>
            <a:r>
              <a:rPr lang="ko-KR" altLang="en-US" sz="11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  <a:r>
              <a:rPr lang="en-US" altLang="ko-KR"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KM20: skew-aware allocation</a:t>
            </a:r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Skew-unaware: recovery measurement</a:t>
            </a:r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endParaRPr lang="en-US" altLang="ko-KR"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4-</a:t>
            </a:r>
            <a:r>
              <a:rPr 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 RQ1 — </a:t>
            </a:r>
            <a:r>
              <a:rPr 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Query-side </a:t>
            </a:r>
            <a:r>
              <a:rPr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Skew지표는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Q-</a:t>
            </a:r>
            <a:r>
              <a:rPr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error를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설명</a:t>
            </a:r>
            <a:r>
              <a:rPr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하지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못</a:t>
            </a:r>
            <a:r>
              <a:rPr lang="ko-KR" altLang="en-US"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했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7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실험 셋업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73352"/>
            <a:ext cx="1280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데이터셋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55064"/>
            <a:ext cx="3657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DEEP 1M subset · 96d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1280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쿼리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039112"/>
            <a:ext cx="3657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100 query × 6 selectivity × 5 seed = 3000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41448"/>
            <a:ext cx="1280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지표 (글로벌)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423160"/>
            <a:ext cx="3657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Fisher γ, tail ratio, P99/P50, skewness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25496"/>
            <a:ext cx="1280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지표 (로컬)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807208"/>
            <a:ext cx="3657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k-NN entropy, PCA EVR1, KDE modality, NN clustering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4612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주요 발견 (Phase 1 + Phase 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66160"/>
            <a:ext cx="50749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657600"/>
            <a:ext cx="4800600" cy="125265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①</a:t>
            </a:r>
            <a:r>
              <a:rPr 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글로벌</a:t>
            </a:r>
            <a:r>
              <a:rPr lang="en-US" altLang="ko-KR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lang="ko-KR" alt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로컬 지표 모두 </a:t>
            </a:r>
            <a:r>
              <a:rPr lang="en-US" altLang="ko-KR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Q-error</a:t>
            </a:r>
            <a:r>
              <a:rPr lang="ko-KR" alt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와 안정적인 상관을 보이지 않음</a:t>
            </a:r>
            <a:endParaRPr lang="en-US" altLang="ko-KR" sz="10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45000"/>
              </a:lnSpc>
            </a:pPr>
            <a:endParaRPr sz="10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>
              <a:spcAft>
                <a:spcPts val="600"/>
              </a:spcAft>
            </a:pPr>
            <a:r>
              <a:rPr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②</a:t>
            </a:r>
            <a:r>
              <a:rPr 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로컬 </a:t>
            </a:r>
            <a:r>
              <a:rPr lang="en-US" altLang="ko-KR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 </a:t>
            </a:r>
            <a:r>
              <a:rPr lang="ko-KR" alt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지표 </a:t>
            </a:r>
            <a:r>
              <a:rPr lang="en-US" altLang="ko-KR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x 6 selectivity</a:t>
            </a:r>
            <a:r>
              <a:rPr lang="ko-KR" alt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에서도 </a:t>
            </a:r>
            <a:r>
              <a:rPr lang="en-US" altLang="ko-KR" sz="10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Spearman |</a:t>
            </a:r>
            <a:r>
              <a:rPr lang="el-GR" altLang="ko-KR" sz="1000" dirty="0"/>
              <a:t>ρ</a:t>
            </a:r>
            <a:r>
              <a:rPr lang="en-US" altLang="ko-KR" sz="1000" dirty="0"/>
              <a:t>| &lt;  0.2</a:t>
            </a:r>
          </a:p>
          <a:p>
            <a:pPr>
              <a:spcAft>
                <a:spcPts val="600"/>
              </a:spcAft>
            </a:pPr>
            <a:endParaRPr sz="10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③</a:t>
            </a:r>
            <a:r>
              <a:rPr 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query-side feature</a:t>
            </a:r>
            <a:r>
              <a:rPr lang="ko-KR" alt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만으로 어떤 영역을 더 </a:t>
            </a:r>
            <a:r>
              <a:rPr lang="ko-KR" altLang="en-US" sz="10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샘플링해야</a:t>
            </a:r>
            <a:r>
              <a:rPr lang="ko-KR" alt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할지 결정하기 어려움</a:t>
            </a:r>
            <a:endParaRPr sz="10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852160" y="1325880"/>
            <a:ext cx="5852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Phase 5 Local Skew × Selectivity Spearman ρ</a:t>
            </a:r>
          </a:p>
        </p:txBody>
      </p:sp>
      <p:pic>
        <p:nvPicPr>
          <p:cNvPr id="20" name="Picture 19" descr="figure_6_phase5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727881"/>
            <a:ext cx="5806440" cy="235067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852160" y="4160520"/>
            <a:ext cx="5806440" cy="3323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Phase 5 — </a:t>
            </a:r>
            <a:r>
              <a:rPr sz="8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로컬</a:t>
            </a:r>
            <a:r>
              <a:rPr sz="8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4 </a:t>
            </a:r>
            <a:r>
              <a:rPr sz="8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지표</a:t>
            </a:r>
            <a:r>
              <a:rPr sz="8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× 6 selectivity = 24 </a:t>
            </a:r>
            <a:r>
              <a:rPr sz="8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조합</a:t>
            </a:r>
            <a:r>
              <a:rPr sz="8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8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모두</a:t>
            </a:r>
            <a:r>
              <a:rPr sz="8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|ρ| &lt; 0.2</a:t>
            </a:r>
            <a:endParaRPr lang="en-US" sz="8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ctr">
              <a:lnSpc>
                <a:spcPct val="120000"/>
              </a:lnSpc>
            </a:pPr>
            <a:r>
              <a:rPr lang="en-US" sz="8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Local Skew </a:t>
            </a:r>
            <a:r>
              <a:rPr lang="ko-KR" altLang="en-US" sz="8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지표도 </a:t>
            </a:r>
            <a:r>
              <a:rPr lang="en-US" altLang="ko-KR" sz="8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Q-error</a:t>
            </a:r>
            <a:r>
              <a:rPr lang="ko-KR" altLang="en-US" sz="8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와 약한 상관만 보임</a:t>
            </a:r>
            <a:endParaRPr sz="8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5741952"/>
            <a:ext cx="10515600" cy="256993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→  </a:t>
            </a:r>
            <a:r>
              <a:rPr lang="en-US"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Query-side feature</a:t>
            </a:r>
            <a:r>
              <a:rPr lang="ko-KR" altLang="en-US"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만으로 </a:t>
            </a:r>
            <a:r>
              <a:rPr lang="en-US" altLang="ko-KR"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sampling layer</a:t>
            </a:r>
            <a:r>
              <a:rPr lang="ko-KR" altLang="en-US"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를 정하기 어렵다</a:t>
            </a:r>
            <a:r>
              <a:rPr lang="en-US" altLang="ko-KR"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. </a:t>
            </a:r>
            <a:r>
              <a:rPr lang="ko-KR" altLang="en-US"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따라서 </a:t>
            </a:r>
            <a:r>
              <a:rPr lang="en-US" altLang="ko-KR"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RQ2</a:t>
            </a:r>
            <a:r>
              <a:rPr lang="ko-KR" altLang="en-US"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에서는 </a:t>
            </a:r>
            <a:r>
              <a:rPr lang="en-US" altLang="ko-KR"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data-side spatial partition</a:t>
            </a:r>
            <a:r>
              <a:rPr lang="ko-KR" altLang="en-US"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을 사용한다</a:t>
            </a:r>
            <a:r>
              <a:rPr lang="en-US" altLang="ko-KR"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1100" b="1" dirty="0">
              <a:solidFill>
                <a:srgbClr val="FAFAF9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4-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 RQ2(1)—</a:t>
            </a:r>
            <a:r>
              <a:rPr 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Block-level SYSTEM vs Row-level BERN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100 query × 6 selectivity × 1 seed × 2 mode = 1200 측정 · paired Wilcoxon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8 /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258973"/>
              </p:ext>
            </p:extLst>
          </p:nvPr>
        </p:nvGraphicFramePr>
        <p:xfrm>
          <a:off x="548640" y="1417320"/>
          <a:ext cx="7315200" cy="2231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SYS</a:t>
                      </a:r>
                      <a:r>
                        <a:rPr lang="en-US" sz="10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(</a:t>
                      </a:r>
                      <a:r>
                        <a:rPr lang="en-US" sz="1000" b="1" dirty="0" err="1">
                          <a:solidFill>
                            <a:srgbClr val="FAFAF9"/>
                          </a:solidFill>
                          <a:latin typeface="Apple SD Gothic Neo"/>
                        </a:rPr>
                        <a:t>blcok</a:t>
                      </a:r>
                      <a:r>
                        <a:rPr lang="en-US" sz="10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)</a:t>
                      </a:r>
                      <a:endParaRPr sz="10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BERN</a:t>
                      </a:r>
                      <a:r>
                        <a:rPr lang="en-US" sz="10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(row)</a:t>
                      </a:r>
                      <a:endParaRPr sz="10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diff%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AFAF9"/>
                          </a:solidFill>
                          <a:latin typeface="Apple SD Gothic Neo"/>
                        </a:rPr>
                        <a:t>p-value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행 단위 우위</a:t>
                      </a:r>
                      <a:endParaRPr sz="10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1717"/>
                          </a:solidFill>
                          <a:latin typeface="Apple SD Gothic Neo"/>
                        </a:rPr>
                        <a:t>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2.597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2.597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+0.0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0.596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171717"/>
                          </a:solidFill>
                          <a:latin typeface="Apple SD Gothic Neo"/>
                        </a:rPr>
                        <a:t>6/8</a:t>
                      </a:r>
                      <a:endParaRPr sz="1000" b="0" dirty="0">
                        <a:solidFill>
                          <a:srgbClr val="171717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1717"/>
                          </a:solidFill>
                          <a:latin typeface="Apple SD Gothic Neo"/>
                        </a:rPr>
                        <a:t>0.010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1.558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1.299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+20.0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0.240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171717"/>
                          </a:solidFill>
                          <a:latin typeface="Apple SD Gothic Neo"/>
                        </a:rPr>
                        <a:t>45/40</a:t>
                      </a:r>
                      <a:endParaRPr sz="1000" b="0" dirty="0">
                        <a:solidFill>
                          <a:srgbClr val="171717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FA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1717"/>
                          </a:solidFill>
                          <a:latin typeface="Apple SD Gothic Neo"/>
                        </a:rPr>
                        <a:t>0.050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1.203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1.195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+0.7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0.0009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58/37</a:t>
                      </a:r>
                      <a:endParaRPr sz="10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1717"/>
                          </a:solidFill>
                          <a:latin typeface="Apple SD Gothic Neo"/>
                        </a:rPr>
                        <a:t>0.100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1.212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1.132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+7.0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66/31</a:t>
                      </a:r>
                      <a:endParaRPr sz="10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1717"/>
                          </a:solidFill>
                          <a:latin typeface="Apple SD Gothic Neo"/>
                        </a:rPr>
                        <a:t>0.300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1.210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1.079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+12.0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76/24</a:t>
                      </a:r>
                      <a:endParaRPr sz="10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873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1717"/>
                          </a:solidFill>
                          <a:latin typeface="Apple SD Gothic Neo"/>
                        </a:rPr>
                        <a:t>0.500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1.153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1.052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+9.6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78/22</a:t>
                      </a:r>
                      <a:endParaRPr sz="10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92440" y="1417320"/>
            <a:ext cx="3657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Takeaways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73736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383280" cy="138396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①</a:t>
            </a:r>
            <a:r>
              <a:rPr lang="en-US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s=0.05~0.5</a:t>
            </a:r>
            <a:r>
              <a:rPr lang="ko-KR" altLang="en-US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에서</a:t>
            </a:r>
            <a:r>
              <a:rPr lang="en-US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BERN</a:t>
            </a:r>
            <a:r>
              <a:rPr lang="ko-KR" altLang="en-US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이 </a:t>
            </a:r>
            <a:r>
              <a:rPr lang="en-US" altLang="ko-KR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SYSTEM</a:t>
            </a:r>
            <a:r>
              <a:rPr lang="ko-KR" altLang="en-US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보다 일관되게 낮은 </a:t>
            </a:r>
            <a:r>
              <a:rPr lang="en-US" altLang="ko-KR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Q-error</a:t>
            </a:r>
            <a:endParaRPr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>
              <a:lnSpc>
                <a:spcPct val="140000"/>
              </a:lnSpc>
            </a:pPr>
            <a:r>
              <a:rPr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②</a:t>
            </a:r>
            <a:r>
              <a:rPr lang="en-US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s=0.5: median Q-error 1.1527 </a:t>
            </a: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→ </a:t>
            </a:r>
            <a:r>
              <a:rPr lang="en-US" altLang="ko-KR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1.0519, +9.6%, 78/100 query </a:t>
            </a: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개선</a:t>
            </a:r>
            <a:endParaRPr lang="en-US"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40000"/>
              </a:lnSpc>
            </a:pPr>
            <a:r>
              <a:rPr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③</a:t>
            </a:r>
            <a:r>
              <a:rPr lang="en-US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low selectivity </a:t>
            </a:r>
            <a:r>
              <a:rPr lang="ko-KR" altLang="en-US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에서는 </a:t>
            </a:r>
            <a:r>
              <a:rPr lang="en-US" altLang="ko-KR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true cardinality</a:t>
            </a:r>
            <a:r>
              <a:rPr lang="ko-KR" altLang="en-US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가 작아 </a:t>
            </a:r>
            <a:r>
              <a:rPr lang="en-US" altLang="ko-KR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Q-error </a:t>
            </a:r>
            <a:r>
              <a:rPr lang="ko-KR" altLang="en-US"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변동이 커짐</a:t>
            </a:r>
            <a:endParaRPr lang="en-US" altLang="ko-KR"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40000"/>
              </a:lnSpc>
            </a:pPr>
            <a:r>
              <a:rPr lang="ko-KR" altLang="ko-KR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④</a:t>
            </a:r>
            <a:r>
              <a:rPr lang="en-US" altLang="ko-KR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BERN</a:t>
            </a: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은 최종 기여라기보다 </a:t>
            </a:r>
            <a:r>
              <a:rPr lang="en-US" altLang="ko-KR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KM20</a:t>
            </a: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을 평가하기 위한 </a:t>
            </a:r>
            <a:r>
              <a:rPr lang="en-US" altLang="ko-KR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fair uniform base</a:t>
            </a:r>
            <a:endParaRPr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110642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Phase 4 — SYS vs BERN paired Q-error 4 panel (s=0.05/0.10/0.30/0.50)</a:t>
            </a:r>
          </a:p>
        </p:txBody>
      </p:sp>
      <p:pic>
        <p:nvPicPr>
          <p:cNvPr id="13" name="Picture 2"/>
          <p:cNvPicPr/>
          <p:nvPr/>
        </p:nvPicPr>
        <p:blipFill rotWithShape="1">
          <a:blip r:embed="rId2"/>
          <a:srcRect b="49775"/>
          <a:stretch/>
        </p:blipFill>
        <p:spPr bwMode="auto">
          <a:xfrm>
            <a:off x="1650779" y="4027361"/>
            <a:ext cx="4542716" cy="175966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Picture 2"/>
          <p:cNvPicPr/>
          <p:nvPr/>
        </p:nvPicPr>
        <p:blipFill rotWithShape="1">
          <a:blip r:embed="rId2"/>
          <a:srcRect t="50000"/>
          <a:stretch/>
        </p:blipFill>
        <p:spPr bwMode="auto">
          <a:xfrm>
            <a:off x="6218547" y="4039888"/>
            <a:ext cx="4474394" cy="173729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4-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 RQ2(2)— KM20 </a:t>
            </a:r>
            <a:r>
              <a:rPr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Stratified</a:t>
            </a:r>
            <a:r>
              <a:rPr lang="en-US"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:BERN</a:t>
            </a:r>
            <a:r>
              <a:rPr 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위에 </a:t>
            </a:r>
            <a:r>
              <a:rPr lang="en-US" altLang="ko-KR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spatial allocation </a:t>
            </a:r>
            <a:r>
              <a:rPr lang="ko-KR" alt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추가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972800" cy="20544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BERN </a:t>
            </a:r>
            <a:r>
              <a:rPr lang="ko-KR" alt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위에 </a:t>
            </a:r>
            <a:r>
              <a:rPr lang="en-US" altLang="ko-KR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k-means K=20 </a:t>
            </a:r>
            <a:r>
              <a:rPr lang="en-US" altLang="ko-KR" sz="10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stratum_id</a:t>
            </a:r>
            <a:r>
              <a:rPr lang="ko-KR" alt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를 추가</a:t>
            </a:r>
            <a:r>
              <a:rPr lang="en-US" altLang="ko-KR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. </a:t>
            </a:r>
            <a:r>
              <a:rPr lang="ko-KR" alt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각 </a:t>
            </a:r>
            <a:r>
              <a:rPr lang="en-US" altLang="ko-KR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stratum</a:t>
            </a:r>
            <a:r>
              <a:rPr lang="ko-KR" alt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에서 표본 추출 후 </a:t>
            </a:r>
            <a:r>
              <a:rPr lang="en-US" altLang="ko-KR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stratum </a:t>
            </a:r>
            <a:r>
              <a:rPr lang="ko-KR" alt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크기로 </a:t>
            </a:r>
            <a:r>
              <a:rPr lang="ko-KR" altLang="en-US" sz="10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가중합</a:t>
            </a:r>
            <a:r>
              <a:rPr lang="ko-KR" alt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추정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9 /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6858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AFAF9"/>
                          </a:solidFill>
                          <a:latin typeface="Apple SD Gothic Neo"/>
                        </a:rPr>
                        <a:t>5-seed 평균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AFAF9"/>
                          </a:solidFill>
                          <a:latin typeface="Apple SD Gothic Neo"/>
                        </a:rPr>
                        <a:t>95% CI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AFAF9"/>
                          </a:solidFill>
                          <a:latin typeface="Apple SD Gothic Neo"/>
                        </a:rPr>
                        <a:t>유의 seed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1717"/>
                          </a:solidFill>
                          <a:latin typeface="Apple SD Gothic Neo"/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Apple SD Gothic Neo"/>
                        </a:rPr>
                        <a:t>+1.64%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[+1.11, +2.18]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5/5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1717"/>
                          </a:solidFill>
                          <a:latin typeface="Apple SD Gothic Neo"/>
                        </a:rPr>
                        <a:t>30%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Apple SD Gothic Neo"/>
                        </a:rPr>
                        <a:t>+2.62%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[+1.45, +3.80]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5/5 (p&lt;0.001)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1717"/>
                          </a:solidFill>
                          <a:latin typeface="Apple SD Gothic Neo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Apple SD Gothic Neo"/>
                        </a:rPr>
                        <a:t>+4.19%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[+0.72, +7.66]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5/5 (p&lt;0.004)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5%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+1.85%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(단일)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3/5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+8.93%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(단일)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71717"/>
                          </a:solidFill>
                          <a:latin typeface="Apple SD Gothic Neo"/>
                        </a:rPr>
                        <a:t>4/5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0" y="1417320"/>
            <a:ext cx="4114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BERNOULLI vs STRATIFIED (KM20)</a:t>
            </a:r>
          </a:p>
        </p:txBody>
      </p:sp>
      <p:pic>
        <p:nvPicPr>
          <p:cNvPr id="9" name="Picture 8" descr="figure_2_phase6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489" y="1783080"/>
            <a:ext cx="3840861" cy="2331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9520" y="4160520"/>
            <a:ext cx="4114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Phase 6 Step 4 — BERNOULLI vs STRATIFIED (KM20) 100 query boxplot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515600" cy="70634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45000"/>
              </a:lnSpc>
            </a:pPr>
            <a:r>
              <a:rPr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① s=0.500에서 KM20은 BERN 대비 +1.64%, 5-seed 95% CI [+1.11, +2.18]</a:t>
            </a:r>
            <a:r>
              <a:rPr lang="en-US" altLang="ko-KR" sz="10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ko-KR" altLang="en-US" sz="10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en-US" altLang="ko-KR" sz="10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ko-KR" altLang="en-US" sz="10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en-US" altLang="ko-KR" sz="10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ko-KR" altLang="en-US" sz="10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en-US" altLang="ko-KR" sz="10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ko-KR" altLang="en-US" sz="100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en-US" altLang="ko-KR" sz="10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lnSpc>
                <a:spcPct val="145000"/>
              </a:lnSpc>
            </a:pPr>
            <a:r>
              <a:rPr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② s=0.050, s=0.010에서도 개선 신호는 있으나 일부는 단일 seed / low-cardinality noise로 해석 보류</a:t>
            </a:r>
            <a:r>
              <a:rPr 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ko-KR" alt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en-US" altLang="ko-KR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en-US" altLang="ko-KR" sz="10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en-US" altLang="ko-KR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ko-KR" alt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endParaRPr lang="en-US" sz="10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>
              <a:lnSpc>
                <a:spcPct val="145000"/>
              </a:lnSpc>
            </a:pPr>
            <a:r>
              <a:rPr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③</a:t>
            </a:r>
            <a:r>
              <a:rPr 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KM20</a:t>
            </a:r>
            <a:r>
              <a:rPr lang="ko-KR" alt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의 역할은 </a:t>
            </a:r>
            <a:r>
              <a:rPr lang="en-US" altLang="ko-KR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sample size </a:t>
            </a:r>
            <a:r>
              <a:rPr lang="ko-KR" alt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증가가 아니라 </a:t>
            </a:r>
            <a:r>
              <a:rPr lang="en-US" altLang="ko-KR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vector-space region</a:t>
            </a:r>
            <a:r>
              <a:rPr lang="ko-KR" alt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별 </a:t>
            </a:r>
            <a:r>
              <a:rPr lang="en-US" altLang="ko-KR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sample allocation </a:t>
            </a:r>
            <a:r>
              <a:rPr lang="ko-KR" alt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보정</a:t>
            </a:r>
            <a:endParaRPr sz="10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5867991"/>
            <a:ext cx="10515600" cy="20608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KM20은 row-level uniform baseline 위에서 vector-space skew를 sample allocation에 반영하는 첫 번째 positive result다.</a:t>
            </a:r>
            <a:r>
              <a:rPr lang="ko-KR" altLang="en-US" sz="10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en-US" altLang="ko-KR" sz="10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ko-KR" altLang="en-US" sz="10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en-US" altLang="ko-KR" sz="10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ko-KR" altLang="en-US" sz="10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en-US" altLang="ko-KR" sz="10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ko-KR" altLang="en-US" sz="10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en-US" altLang="ko-KR" sz="10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en-US" altLang="ko-KR" sz="1000" b="1" dirty="0" err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ko-KR" altLang="en-US" sz="10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en-US" altLang="ko-KR" sz="10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endParaRPr sz="10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4-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 External Validity—</a:t>
            </a:r>
            <a:r>
              <a:rPr 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s=0.500</a:t>
            </a:r>
            <a:r>
              <a:rPr lang="ko-KR" alt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에서 </a:t>
            </a:r>
            <a:r>
              <a:rPr lang="en-US" altLang="ko-KR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  <a:r>
              <a:rPr lang="ko-KR" alt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개 </a:t>
            </a:r>
            <a:r>
              <a:rPr lang="ko-KR" altLang="en-US"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데이터셋</a:t>
            </a:r>
            <a:r>
              <a:rPr lang="ko-KR" alt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교차 검증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DEEP 1M · DEEP 8M · SIFT 1.5M — D_target 데이터셋별 재계산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10 / 15</a:t>
            </a:r>
          </a:p>
        </p:txBody>
      </p:sp>
      <p:pic>
        <p:nvPicPr>
          <p:cNvPr id="7" name="Picture 6" descr="figure_8_cross_datas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38" y="1417320"/>
            <a:ext cx="4720203" cy="3749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212080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외적 타당성 — DEEP 1M / 8M / SIFT 1.5M, KM20 s=0.500 효과 95% CI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4173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52160" y="1417320"/>
            <a:ext cx="164592" cy="82296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1463040"/>
            <a:ext cx="29260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DEEP 1M (96d)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801368"/>
            <a:ext cx="32004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CI [+1.11, +2.18]  ·  CV 0.234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1508760"/>
            <a:ext cx="20116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+1.64%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23317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52160" y="2331720"/>
            <a:ext cx="164592" cy="82296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2377440"/>
            <a:ext cx="29260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DEEP 8M (96d)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715768"/>
            <a:ext cx="3200400" cy="1989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CI [+0.65, +2.86]  ·</a:t>
            </a:r>
            <a:r>
              <a:rPr lang="en-US" sz="9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8x scale validation</a:t>
            </a:r>
            <a:endParaRPr sz="9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509760" y="2423160"/>
            <a:ext cx="20116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+1.76%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32461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52160" y="3246120"/>
            <a:ext cx="164592" cy="8229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0" y="3291840"/>
            <a:ext cx="29260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SIFT 1.5M (128d)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630168"/>
            <a:ext cx="32004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CI [+2.66, +3.48]  ·  CV 0.394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337560"/>
            <a:ext cx="20116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+3.07%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32120"/>
            <a:ext cx="11064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주요 발견 + 시사점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779008"/>
            <a:ext cx="11064240" cy="3570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① DEEP 1M ↔ 8M : CI </a:t>
            </a:r>
            <a:r>
              <a:rPr sz="8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겹침</a:t>
            </a:r>
            <a:r>
              <a:rPr sz="8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(CONSISTENT) — 8 배 </a:t>
            </a:r>
            <a:r>
              <a:rPr sz="8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규모에서</a:t>
            </a:r>
            <a:r>
              <a:rPr sz="8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8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동일</a:t>
            </a:r>
            <a:r>
              <a:rPr sz="8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8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효과</a:t>
            </a:r>
            <a:r>
              <a:rPr sz="8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8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재현</a:t>
            </a:r>
            <a:r>
              <a:rPr sz="8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 ·  ② </a:t>
            </a:r>
            <a:r>
              <a:rPr lang="en-US" sz="8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SIFT</a:t>
            </a:r>
            <a:r>
              <a:rPr lang="en-US" sz="8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:</a:t>
            </a:r>
            <a:r>
              <a:rPr lang="en-US" altLang="ko-KR" sz="8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DEEP</a:t>
            </a:r>
            <a:r>
              <a:rPr lang="ko-KR" altLang="en-US" sz="8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보다 더 큰 </a:t>
            </a:r>
            <a:r>
              <a:rPr lang="ko-KR" altLang="en-US" sz="80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개선폭</a:t>
            </a:r>
            <a:r>
              <a:rPr lang="en-US" altLang="ko-KR" sz="8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 </a:t>
            </a:r>
            <a:r>
              <a:rPr lang="ko-KR" altLang="en-US" sz="8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더 </a:t>
            </a:r>
            <a:r>
              <a:rPr lang="en-US" altLang="ko-KR" sz="8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skewed </a:t>
            </a:r>
            <a:r>
              <a:rPr lang="ko-KR" altLang="en-US" sz="8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한 데이터에서 </a:t>
            </a:r>
            <a:r>
              <a:rPr lang="en-US" altLang="ko-KR" sz="8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KM20 </a:t>
            </a:r>
            <a:r>
              <a:rPr lang="ko-KR" altLang="en-US" sz="8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효과 증가 가능성</a:t>
            </a:r>
            <a:endParaRPr lang="en-US" sz="8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30000"/>
              </a:lnSpc>
            </a:pPr>
            <a:r>
              <a:rPr sz="8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③ </a:t>
            </a:r>
            <a:r>
              <a:rPr lang="en-US" sz="8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cluster size </a:t>
            </a:r>
            <a:r>
              <a:rPr sz="8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(CV)</a:t>
            </a:r>
            <a:r>
              <a:rPr lang="en-US" sz="8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:</a:t>
            </a:r>
            <a:r>
              <a:rPr sz="8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DEEP 0.234 vs SIFT 0.394 (68% </a:t>
            </a:r>
            <a:r>
              <a:rPr sz="8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높음</a:t>
            </a:r>
            <a:r>
              <a:rPr sz="8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) — </a:t>
            </a:r>
            <a:r>
              <a:rPr lang="en-US" sz="8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skewed</a:t>
            </a:r>
            <a:r>
              <a:rPr sz="8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↑ ⇒ </a:t>
            </a:r>
            <a:r>
              <a:rPr sz="8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공간</a:t>
            </a:r>
            <a:r>
              <a:rPr sz="8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8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인식</a:t>
            </a:r>
            <a:r>
              <a:rPr sz="8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8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가치</a:t>
            </a:r>
            <a:r>
              <a:rPr sz="8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4-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 RQ3(</a:t>
            </a:r>
            <a:r>
              <a:rPr 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Design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)—</a:t>
            </a:r>
            <a:r>
              <a:rPr 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spatial-unawareness</a:t>
            </a:r>
            <a:r>
              <a:rPr lang="ko-KR" alt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에서의 </a:t>
            </a:r>
            <a:r>
              <a:rPr lang="en-US" altLang="ko-KR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Recovery Rate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11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399032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▣ Recovery Rate = (</a:t>
            </a:r>
            <a:r>
              <a:rPr sz="1400" b="1" dirty="0" err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방법X</a:t>
            </a:r>
            <a:r>
              <a:rPr sz="14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 − RANDOM20) / (KM20 − RANDOM20)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457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212848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Offline Partition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97480"/>
            <a:ext cx="320040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22960" y="2944368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2880360"/>
            <a:ext cx="3108960" cy="2400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Random</a:t>
            </a:r>
            <a:r>
              <a:rPr lang="en-US" sz="11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Projection</a:t>
            </a:r>
            <a:endParaRPr sz="11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822960" y="332841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3264408"/>
            <a:ext cx="3108960" cy="2223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MiniBatch</a:t>
            </a:r>
            <a:r>
              <a:rPr lang="en-US" sz="11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K-means</a:t>
            </a:r>
            <a:endParaRPr sz="11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822960" y="3712464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3648456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Hash partition (LSH)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51960"/>
            <a:ext cx="3200400" cy="2308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ko-KR" altLang="en-US" sz="9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사전</a:t>
            </a:r>
            <a:r>
              <a:rPr lang="en-US" sz="9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9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저비용 </a:t>
            </a:r>
            <a:r>
              <a:rPr lang="en-US" altLang="ko-KR" sz="9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partition</a:t>
            </a:r>
            <a:r>
              <a:rPr lang="ko-KR" altLang="en-US" sz="9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으로 </a:t>
            </a:r>
            <a:r>
              <a:rPr lang="en-US" altLang="ko-KR" sz="9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stratum_id</a:t>
            </a:r>
            <a:r>
              <a:rPr lang="en-US" altLang="ko-KR" sz="9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9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부여</a:t>
            </a:r>
            <a:endParaRPr sz="9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29767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26279" y="2194560"/>
            <a:ext cx="457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P2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19" y="2212848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Online Query-Adaptive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79" y="2697480"/>
            <a:ext cx="320040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571999" y="2944368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00599" y="2880360"/>
            <a:ext cx="3108960" cy="2400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Distance-Shell sampling</a:t>
            </a:r>
            <a:endParaRPr sz="11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4571999" y="332841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00599" y="3264408"/>
            <a:ext cx="3108960" cy="2400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KDE-pilot</a:t>
            </a:r>
            <a:endParaRPr sz="11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26279" y="4251960"/>
            <a:ext cx="3200400" cy="2308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Query </a:t>
            </a:r>
            <a:r>
              <a:rPr sz="9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도착</a:t>
            </a:r>
            <a:r>
              <a:rPr sz="9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9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후 </a:t>
            </a:r>
            <a:r>
              <a:rPr lang="en-US" altLang="ko-KR" sz="9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pilot sample</a:t>
            </a:r>
            <a:r>
              <a:rPr lang="ko-KR" altLang="en-US" sz="9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로 표본 배분 조정</a:t>
            </a:r>
            <a:endParaRPr sz="9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04671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75319" y="2194560"/>
            <a:ext cx="457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P3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59" y="2212848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Weight-based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19" y="2697480"/>
            <a:ext cx="320040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321039" y="2944368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49639" y="2880360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Importance sampling</a:t>
            </a:r>
          </a:p>
        </p:txBody>
      </p:sp>
      <p:sp>
        <p:nvSpPr>
          <p:cNvPr id="35" name="Oval 34"/>
          <p:cNvSpPr/>
          <p:nvPr/>
        </p:nvSpPr>
        <p:spPr>
          <a:xfrm>
            <a:off x="8321039" y="332841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49639" y="3264408"/>
            <a:ext cx="3108960" cy="2223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Density-base reweighting</a:t>
            </a:r>
            <a:endParaRPr sz="11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275319" y="4251960"/>
            <a:ext cx="3200400" cy="2308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sz="9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Partition </a:t>
            </a:r>
            <a:r>
              <a:rPr lang="ko-KR" altLang="en-US" sz="9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없이 </a:t>
            </a:r>
            <a:r>
              <a:rPr lang="en-US" altLang="ko-KR" sz="9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sample</a:t>
            </a:r>
            <a:r>
              <a:rPr lang="ko-KR" altLang="en-US" sz="9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에 </a:t>
            </a:r>
            <a:r>
              <a:rPr lang="en-US" altLang="ko-KR" sz="9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density </a:t>
            </a:r>
            <a:r>
              <a:rPr lang="ko-KR" altLang="en-US" sz="9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기반 가중치 부여</a:t>
            </a:r>
            <a:endParaRPr sz="9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8640" y="5074920"/>
            <a:ext cx="110642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평가 조건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349240"/>
            <a:ext cx="110642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→  DEEP 1M · 8M · SIFT 1.5M 3 </a:t>
            </a:r>
            <a:r>
              <a:rPr sz="11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데이터셋</a:t>
            </a:r>
            <a:r>
              <a:rPr sz="11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× 5 seed × 5 selectivity </a:t>
            </a:r>
            <a:r>
              <a:rPr sz="11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동일</a:t>
            </a:r>
            <a:r>
              <a:rPr sz="11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조건</a:t>
            </a:r>
            <a:endParaRPr sz="11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7240" y="5850999"/>
            <a:ext cx="10515600" cy="24006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★</a:t>
            </a:r>
            <a:r>
              <a:rPr lang="en-US"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목표</a:t>
            </a:r>
            <a:r>
              <a:rPr lang="en-US" altLang="ko-KR"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: </a:t>
            </a:r>
            <a:r>
              <a:rPr lang="ko-KR" altLang="en-US"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적어도 하나의 저비용 방법이 </a:t>
            </a:r>
            <a:r>
              <a:rPr lang="en-US" altLang="ko-KR"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KM20 </a:t>
            </a:r>
            <a:r>
              <a:rPr lang="ko-KR" altLang="en-US"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효과의 </a:t>
            </a:r>
            <a:r>
              <a:rPr lang="en-US" altLang="ko-KR"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50% </a:t>
            </a:r>
            <a:r>
              <a:rPr lang="ko-KR" altLang="en-US" sz="11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이상을 회수하는지 검증</a:t>
            </a:r>
            <a:endParaRPr sz="1100" b="1" dirty="0">
              <a:solidFill>
                <a:srgbClr val="FAFAF9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5-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 </a:t>
            </a:r>
            <a:r>
              <a:rPr 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Current Progress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12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269748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90472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W1 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2377440" cy="2060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4/4 ~ 4/11</a:t>
            </a:r>
            <a:endParaRPr sz="10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2377440" cy="2954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3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환경 인수인계</a:t>
            </a:r>
            <a:r>
              <a:rPr lang="ko-KR" altLang="en-US" sz="1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sz="1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·</a:t>
            </a:r>
            <a:r>
              <a:rPr lang="ko-KR" altLang="en-US" sz="13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빌드</a:t>
            </a:r>
            <a:endParaRPr sz="13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2468880" cy="5355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  </a:t>
            </a:r>
            <a:r>
              <a:rPr lang="en-US" sz="1200" b="1" dirty="0" err="1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Exqutor</a:t>
            </a:r>
            <a:r>
              <a:rPr lang="en-US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source  /    </a:t>
            </a:r>
          </a:p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 dataset / server</a:t>
            </a:r>
            <a:r>
              <a:rPr lang="en-US" altLang="ko-KR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인계</a:t>
            </a:r>
            <a:endParaRPr lang="en-US"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2468880" cy="5355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</a:t>
            </a:r>
            <a:r>
              <a:rPr lang="en-US" sz="900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 </a:t>
            </a:r>
            <a:r>
              <a:rPr lang="en-US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PostgreSQL + </a:t>
            </a:r>
            <a:r>
              <a:rPr lang="en-US" sz="1200" b="1" dirty="0" err="1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pgvector</a:t>
            </a:r>
            <a:r>
              <a:rPr lang="en-US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</a:t>
            </a:r>
          </a:p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  + </a:t>
            </a:r>
            <a:r>
              <a:rPr lang="en-US" sz="1200" b="1" dirty="0" err="1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Exqutor</a:t>
            </a:r>
            <a:r>
              <a:rPr lang="en-US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build</a:t>
            </a:r>
            <a:endParaRPr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2468880" cy="25699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</a:t>
            </a:r>
            <a:r>
              <a:rPr lang="en-US" sz="900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 </a:t>
            </a:r>
            <a:r>
              <a:rPr lang="ko-KR" altLang="en-US" sz="11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실험 테이블 및 실행 환경 </a:t>
            </a:r>
            <a:r>
              <a:rPr lang="ko-KR" altLang="en-US" sz="1100" b="1" dirty="0" err="1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세팅</a:t>
            </a:r>
            <a:endParaRPr sz="11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33756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37560" y="1417320"/>
            <a:ext cx="269748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20440" y="1490472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W2 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057400"/>
            <a:ext cx="2377440" cy="2060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4/1</a:t>
            </a:r>
            <a:r>
              <a:rPr lang="en-US"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  <a:r>
              <a:rPr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~4/1</a:t>
            </a:r>
            <a:r>
              <a:rPr lang="en-US"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9</a:t>
            </a:r>
            <a:endParaRPr sz="10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20440" y="2377440"/>
            <a:ext cx="246888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RQ1</a:t>
            </a:r>
            <a:r>
              <a:rPr lang="en-US" sz="13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</a:t>
            </a:r>
            <a:r>
              <a:rPr lang="ko-KR" altLang="en-US" sz="13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구조분석 </a:t>
            </a:r>
            <a:r>
              <a:rPr lang="en-US" altLang="ko-KR" sz="13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+ RQ2 </a:t>
            </a:r>
            <a:r>
              <a:rPr lang="ko-KR" altLang="en-US" sz="13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본 측정</a:t>
            </a:r>
            <a:endParaRPr sz="13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20440" y="2834640"/>
            <a:ext cx="2468880" cy="5539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 </a:t>
            </a:r>
            <a:r>
              <a:rPr lang="en-US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Single-table AS branch </a:t>
            </a:r>
          </a:p>
          <a:p>
            <a:pPr algn="l">
              <a:lnSpc>
                <a:spcPct val="140000"/>
              </a:lnSpc>
            </a:pPr>
            <a:r>
              <a:rPr lang="en-US" altLang="ko-KR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 </a:t>
            </a:r>
            <a:r>
              <a:rPr lang="ko-KR" altLang="en-US" sz="11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비활성 확인</a:t>
            </a:r>
            <a:endParaRPr sz="11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520440" y="3337560"/>
            <a:ext cx="2468880" cy="5539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</a:t>
            </a:r>
            <a:r>
              <a:rPr lang="en-US" sz="900" b="0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 </a:t>
            </a:r>
            <a:r>
              <a:rPr lang="en-US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Forced hook 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적용 시 </a:t>
            </a:r>
            <a:endParaRPr lang="en-US" altLang="ko-KR"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  <a:p>
            <a:pPr algn="l">
              <a:lnSpc>
                <a:spcPct val="140000"/>
              </a:lnSpc>
            </a:pPr>
            <a:r>
              <a:rPr lang="en-US" altLang="ko-KR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 Sample Scan 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부작용 확인</a:t>
            </a:r>
            <a:endParaRPr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20440" y="3840480"/>
            <a:ext cx="2468880" cy="5539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40000"/>
              </a:lnSpc>
            </a:pPr>
            <a:r>
              <a:rPr sz="900" b="0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  </a:t>
            </a:r>
            <a:r>
              <a:rPr lang="en-US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SYSTEM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→</a:t>
            </a:r>
            <a:r>
              <a:rPr lang="en-US" altLang="ko-KR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BERN, BERN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→</a:t>
            </a:r>
            <a:r>
              <a:rPr lang="en-US" altLang="ko-KR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KM20</a:t>
            </a:r>
          </a:p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 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본 측정 시작</a:t>
            </a:r>
            <a:endParaRPr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12647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26479" y="1417320"/>
            <a:ext cx="269748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59" y="1490472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W3  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2057400"/>
            <a:ext cx="2377440" cy="2060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4/</a:t>
            </a:r>
            <a:r>
              <a:rPr lang="en-US"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  <a:r>
              <a:rPr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~4/</a:t>
            </a:r>
            <a:r>
              <a:rPr lang="en-US"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  <a:endParaRPr sz="10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09359" y="2377440"/>
            <a:ext cx="237744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3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외적 타당성 </a:t>
            </a:r>
            <a:r>
              <a:rPr lang="en-US" altLang="ko-KR" sz="13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+ </a:t>
            </a:r>
            <a:r>
              <a:rPr lang="ko-KR" altLang="en-US" sz="13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원인분석</a:t>
            </a:r>
            <a:endParaRPr sz="13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09359" y="2834640"/>
            <a:ext cx="2468880" cy="5539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 </a:t>
            </a:r>
            <a:r>
              <a:rPr lang="en-US" altLang="ko-KR" sz="12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DEEP 8M / SIFT 1.5M</a:t>
            </a:r>
          </a:p>
          <a:p>
            <a:pPr>
              <a:lnSpc>
                <a:spcPct val="140000"/>
              </a:lnSpc>
            </a:pPr>
            <a:r>
              <a:rPr lang="en-US" altLang="ko-KR" sz="12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 </a:t>
            </a:r>
            <a:r>
              <a:rPr lang="ko-KR" altLang="en-US" sz="12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교차 검증</a:t>
            </a:r>
            <a:endParaRPr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09359" y="3337560"/>
            <a:ext cx="246888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40000"/>
              </a:lnSpc>
            </a:pPr>
            <a:r>
              <a:rPr sz="900" b="0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 </a:t>
            </a:r>
            <a:r>
              <a:rPr lang="en-US" altLang="ko-KR" sz="12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5-seed 95% CI </a:t>
            </a:r>
            <a:r>
              <a:rPr lang="ko-KR" altLang="en-US" sz="12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산출</a:t>
            </a:r>
            <a:endParaRPr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309359" y="3840480"/>
            <a:ext cx="2468880" cy="5539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 </a:t>
            </a:r>
            <a:r>
              <a:rPr lang="en-US" altLang="ko-KR" sz="12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RANDOM20 / Two-Level /</a:t>
            </a:r>
          </a:p>
          <a:p>
            <a:pPr>
              <a:lnSpc>
                <a:spcPct val="140000"/>
              </a:lnSpc>
            </a:pPr>
            <a:r>
              <a:rPr lang="en-US" altLang="ko-KR" sz="12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 HHI / CV </a:t>
            </a:r>
            <a:r>
              <a:rPr lang="ko-KR" altLang="en-US" sz="12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분석</a:t>
            </a:r>
            <a:endParaRPr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91539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915399" y="1417320"/>
            <a:ext cx="2697480" cy="5029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98279" y="1490472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W4  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79" y="2057400"/>
            <a:ext cx="2377440" cy="20544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4/</a:t>
            </a:r>
            <a:r>
              <a:rPr lang="en-US"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  <a:r>
              <a:rPr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7~4/28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79" y="2377440"/>
            <a:ext cx="237744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3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중간 산출물 정리</a:t>
            </a:r>
            <a:endParaRPr sz="13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098279" y="2834640"/>
            <a:ext cx="246888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 </a:t>
            </a:r>
            <a:r>
              <a:rPr lang="ko-KR" altLang="en-US" sz="12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중간보고서 최종화</a:t>
            </a:r>
            <a:endParaRPr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098279" y="3337560"/>
            <a:ext cx="246888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</a:t>
            </a:r>
            <a:r>
              <a:rPr lang="en-US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</a:t>
            </a:r>
            <a:r>
              <a:rPr lang="ko-KR" altLang="en-US"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발표자료 정리</a:t>
            </a:r>
            <a:endParaRPr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098279" y="3840480"/>
            <a:ext cx="2468880" cy="5539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 </a:t>
            </a:r>
            <a:r>
              <a:rPr lang="ko-KR" altLang="en-US" sz="12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코드</a:t>
            </a:r>
            <a:r>
              <a:rPr lang="en-US" altLang="ko-KR" sz="12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·</a:t>
            </a:r>
            <a:r>
              <a:rPr lang="ko-KR" altLang="en-US" sz="12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결과 재현 가능 형태로 </a:t>
            </a:r>
            <a:endParaRPr lang="en-US" altLang="ko-KR" sz="12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2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     </a:t>
            </a:r>
            <a:r>
              <a:rPr lang="ko-KR" altLang="en-US" sz="12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보존</a:t>
            </a:r>
            <a:endParaRPr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7240" y="5824465"/>
            <a:ext cx="10515600" cy="23827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✓ RQ1 (Query-side Skew) 완료    ✓ RQ2 (Block bias + KM20) 완료 + 외적 타당성 검증</a:t>
            </a:r>
            <a:r>
              <a:rPr lang="en-US" sz="12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endParaRPr sz="12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5-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 </a:t>
            </a:r>
            <a:r>
              <a:rPr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향후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계획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13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463040"/>
            <a:ext cx="1554480" cy="2060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4/29~5/6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463040"/>
            <a:ext cx="320040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RQ</a:t>
            </a:r>
            <a:r>
              <a:rPr lang="en-US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  <a:r>
              <a:rPr lang="ko-KR" altLang="en-US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보강 </a:t>
            </a:r>
            <a:r>
              <a:rPr lang="en-US" altLang="ko-KR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+ RQ3 Offline Pilot</a:t>
            </a:r>
            <a:endParaRPr sz="13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46520" y="1490472"/>
            <a:ext cx="52120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Low-selectivity </a:t>
            </a:r>
            <a:r>
              <a:rPr lang="ko-KR" alt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구간 반복 실험 보강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251460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48640" y="201168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07568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057400"/>
            <a:ext cx="1554480" cy="2060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5/7~5/13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057400"/>
            <a:ext cx="320040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RQ3</a:t>
            </a:r>
            <a:r>
              <a:rPr lang="en-US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Offline </a:t>
            </a: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5-seed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084832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선별된 1~2 방법 5-seed × 3 데이터셋 — Recovery Rate 산출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0896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48640" y="260604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267004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2651760"/>
            <a:ext cx="1554480" cy="2060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5/14~5/20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2651760"/>
            <a:ext cx="320040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RQ3</a:t>
            </a:r>
            <a:r>
              <a:rPr lang="en-US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Online / Weight-based</a:t>
            </a:r>
            <a:endParaRPr sz="13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46520" y="2679192"/>
            <a:ext cx="52120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Distance-Shell, KDE-pilot </a:t>
            </a:r>
            <a:r>
              <a:rPr lang="ko-KR" altLang="en-US" sz="10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등 </a:t>
            </a:r>
            <a:r>
              <a:rPr lang="en-US" altLang="ko-KR" sz="10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query-adaptive </a:t>
            </a:r>
            <a:r>
              <a:rPr lang="ko-KR" altLang="en-US" sz="10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후보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370332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48640" y="320040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326440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3246120"/>
            <a:ext cx="15544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5/21~5/27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3246120"/>
            <a:ext cx="320040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민감도 분석</a:t>
            </a: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+ </a:t>
            </a:r>
            <a:r>
              <a:rPr sz="13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최종발표</a:t>
            </a: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준비</a:t>
            </a:r>
            <a:endParaRPr sz="13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46520" y="3273552"/>
            <a:ext cx="52120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Sample_size</a:t>
            </a:r>
            <a:r>
              <a:rPr 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sensitivity, K sweep = 10/20/30/50, BERN </a:t>
            </a:r>
            <a:r>
              <a:rPr lang="ko-KR" alt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최적화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48640" y="429768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48640" y="379476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385876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3840480"/>
            <a:ext cx="15544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5/28~6/4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3840480"/>
            <a:ext cx="320040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최종발표</a:t>
            </a: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+ </a:t>
            </a:r>
            <a:r>
              <a:rPr sz="13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전시회</a:t>
            </a:r>
            <a:r>
              <a:rPr lang="en-US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준비</a:t>
            </a:r>
            <a:endParaRPr sz="13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46520" y="3867912"/>
            <a:ext cx="52120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Q&amp;A </a:t>
            </a:r>
            <a:r>
              <a:rPr lang="ko-KR" alt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예상 질문 정리</a:t>
            </a:r>
            <a:r>
              <a:rPr lang="en-US" altLang="ko-KR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lang="ko-KR" alt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발표</a:t>
            </a:r>
            <a:r>
              <a:rPr lang="en-US" altLang="ko-KR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/</a:t>
            </a:r>
            <a:r>
              <a:rPr lang="ko-KR" alt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포스터 준비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48640" y="489204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48640" y="43891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445312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08760" y="4434840"/>
            <a:ext cx="1554480" cy="2060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6/5~6/11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54680" y="443484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최종보고서 작성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462272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RQ1 + RQ2 + RQ3 통합 + 실험 재현 가이드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760720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산출물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5760720"/>
            <a:ext cx="9601200" cy="22339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최종발표</a:t>
            </a:r>
            <a:r>
              <a:rPr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PDF (5/27~29)  ·  </a:t>
            </a:r>
            <a:r>
              <a:rPr sz="11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전시회</a:t>
            </a:r>
            <a:r>
              <a:rPr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포스터</a:t>
            </a:r>
            <a:r>
              <a:rPr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(6/5)  ·  </a:t>
            </a:r>
            <a:r>
              <a:rPr sz="11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최종보고서</a:t>
            </a:r>
            <a:r>
              <a:rPr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PDF (6/11)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616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5-</a:t>
            </a:r>
            <a:r>
              <a:rPr lang="en-US" sz="24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3</a:t>
            </a:r>
            <a:r>
              <a:rPr sz="24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.</a:t>
            </a:r>
            <a:r>
              <a:rPr sz="2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</a:t>
            </a:r>
            <a:r>
              <a:rPr sz="2200" b="1" dirty="0" err="1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팀원</a:t>
            </a:r>
            <a:r>
              <a:rPr lang="en-US" sz="2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</a:t>
            </a:r>
            <a:r>
              <a:rPr sz="2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별 </a:t>
            </a:r>
            <a:r>
              <a:rPr sz="2200" b="1" dirty="0" err="1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역할</a:t>
            </a:r>
            <a:r>
              <a:rPr sz="2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</a:t>
            </a:r>
            <a:r>
              <a:rPr sz="2200" b="1" dirty="0" err="1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분담</a:t>
            </a:r>
            <a:endParaRPr sz="2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14 / 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838705"/>
              </p:ext>
            </p:extLst>
          </p:nvPr>
        </p:nvGraphicFramePr>
        <p:xfrm>
          <a:off x="548640" y="150876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FAFAF9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이름</a:t>
                      </a:r>
                      <a:endParaRPr sz="1200" b="1" dirty="0">
                        <a:solidFill>
                          <a:srgbClr val="FAFAF9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AFAF9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역할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AFAF9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담당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박세은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팀장</a:t>
                      </a:r>
                      <a:endParaRPr sz="1200" b="1" dirty="0">
                        <a:solidFill>
                          <a:srgbClr val="171717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전체 일정 관리</a:t>
                      </a:r>
                      <a:r>
                        <a:rPr lang="en-US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자문 회신 정리</a:t>
                      </a:r>
                      <a:r>
                        <a:rPr lang="en-US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, 4 </a:t>
                      </a:r>
                      <a:r>
                        <a:rPr lang="ko-KR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인 합의 주재</a:t>
                      </a:r>
                      <a:endParaRPr sz="1200" b="1" i="0" dirty="0">
                        <a:solidFill>
                          <a:srgbClr val="171717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강재현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발표자</a:t>
                      </a:r>
                      <a:endParaRPr sz="1200" b="1" dirty="0">
                        <a:solidFill>
                          <a:srgbClr val="171717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중간 발표 슬라이드 제작</a:t>
                      </a:r>
                      <a:r>
                        <a:rPr lang="en-US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발표</a:t>
                      </a:r>
                      <a:endParaRPr sz="1200" b="1" i="0" dirty="0">
                        <a:solidFill>
                          <a:srgbClr val="171717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>
                    <a:solidFill>
                      <a:srgbClr val="FA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조현빈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실험</a:t>
                      </a:r>
                      <a:r>
                        <a:rPr sz="1200" b="1" dirty="0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·</a:t>
                      </a:r>
                      <a:r>
                        <a:rPr lang="ko-KR" altLang="en-US" sz="1200" b="1" dirty="0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분석</a:t>
                      </a:r>
                      <a:endParaRPr sz="1200" b="1" dirty="0">
                        <a:solidFill>
                          <a:srgbClr val="171717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실험 구현</a:t>
                      </a:r>
                      <a:r>
                        <a:rPr lang="en-US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코드 수정 작업</a:t>
                      </a:r>
                      <a:r>
                        <a:rPr lang="en-US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보고서 작성</a:t>
                      </a:r>
                      <a:endParaRPr sz="1200" b="1" i="0" dirty="0">
                        <a:solidFill>
                          <a:srgbClr val="171717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이동욱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1" dirty="0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문서화</a:t>
                      </a:r>
                      <a:r>
                        <a:rPr sz="1200" b="1" dirty="0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·</a:t>
                      </a:r>
                      <a:r>
                        <a:rPr lang="ko-KR" altLang="en-US" sz="1200" b="1" dirty="0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검토</a:t>
                      </a:r>
                      <a:endParaRPr sz="1200" b="1" dirty="0">
                        <a:solidFill>
                          <a:srgbClr val="171717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보고서 작성</a:t>
                      </a:r>
                      <a:r>
                        <a:rPr lang="en-US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보고서 및 발표 슬라이드 검토</a:t>
                      </a:r>
                      <a:r>
                        <a:rPr lang="en-US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수정</a:t>
                      </a:r>
                      <a:endParaRPr sz="1200" b="1" i="0" dirty="0">
                        <a:solidFill>
                          <a:srgbClr val="171717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>
                    <a:solidFill>
                      <a:srgbClr val="FA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0" y="2377440"/>
            <a:ext cx="219456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606040"/>
            <a:ext cx="12191695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749039"/>
            <a:ext cx="12191695" cy="35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800" b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Q &amp; A</a:t>
            </a:r>
            <a:endParaRPr sz="1800" b="0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440680"/>
            <a:ext cx="1219169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박세은 (팀장) · 강재현 · 조현빈 · 이동욱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1758</Words>
  <Application>Microsoft Macintosh PowerPoint</Application>
  <PresentationFormat>와이드스크린</PresentationFormat>
  <Paragraphs>329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맑은 고딕</vt:lpstr>
      <vt:lpstr>Apple SD Gothic Neo</vt:lpstr>
      <vt:lpstr>Arial</vt:lpstr>
      <vt:lpstr>Calibri</vt:lpstr>
      <vt:lpstr>Menlo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조현빈</cp:lastModifiedBy>
  <cp:revision>31</cp:revision>
  <dcterms:created xsi:type="dcterms:W3CDTF">2013-01-27T09:14:16Z</dcterms:created>
  <dcterms:modified xsi:type="dcterms:W3CDTF">2026-04-28T10:07:38Z</dcterms:modified>
  <cp:category/>
</cp:coreProperties>
</file>
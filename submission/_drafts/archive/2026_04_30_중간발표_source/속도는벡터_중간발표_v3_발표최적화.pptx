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2" autoAdjust="0"/>
    <p:restoredTop sz="94643"/>
  </p:normalViewPr>
  <p:slideViewPr>
    <p:cSldViewPr snapToGrid="0" snapToObjects="1">
      <p:cViewPr varScale="1">
        <p:scale>
          <a:sx n="159" d="100"/>
          <a:sy n="159" d="100"/>
        </p:scale>
        <p:origin x="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23B7F-8C56-48F1-98C9-0593781F4D74}" type="datetimeFigureOut">
              <a:rPr lang="ko-KR" altLang="en-US" smtClean="0"/>
              <a:t>2026. 4. 28.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FA1FC-240D-46F1-B02C-E549D962A8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60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BFA1FC-240D-46F1-B02C-E549D962A89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0568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201168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CAPSTONE 2026-1  /  MIDTERM PRESENTATION  /  </a:t>
            </a:r>
            <a:r>
              <a:rPr sz="14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연세대학교</a:t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0" y="685800"/>
            <a:ext cx="1371600" cy="21095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2026.04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3911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r>
              <a:rPr lang="en-US" altLang="ko-KR" sz="4400" b="1" dirty="0"/>
              <a:t>Skew-Aware Stratified Sampling </a:t>
            </a:r>
            <a:r>
              <a:rPr lang="ko-KR" altLang="ko-KR" sz="4400" b="1" dirty="0"/>
              <a:t>을 이용한</a:t>
            </a:r>
            <a:endParaRPr lang="ko-KR" altLang="ko-KR" sz="4400" dirty="0"/>
          </a:p>
          <a:p>
            <a:r>
              <a:rPr lang="en-US" altLang="ko-KR" sz="4400" b="1" dirty="0"/>
              <a:t>Vector Cardinality </a:t>
            </a:r>
            <a:r>
              <a:rPr lang="ko-KR" altLang="ko-KR" sz="4400" b="1" dirty="0"/>
              <a:t>추정 정확도 개선 연구</a:t>
            </a:r>
            <a:endParaRPr lang="ko-KR" altLang="ko-KR" sz="4400" dirty="0"/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731520" cy="25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51560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7315200" cy="4197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2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  <a:endParaRPr sz="2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669280"/>
            <a:ext cx="3931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20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080760"/>
            <a:ext cx="393192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지도교수</a:t>
            </a: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박광현</a:t>
            </a: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연구원</a:t>
            </a: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임</a:t>
            </a:r>
            <a:r>
              <a:rPr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채림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 Cardinality Estimation: Blind Spots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en-US" sz="15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 Methods &amp; Limits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Skew-Aware</a:t>
            </a:r>
            <a:r>
              <a:rPr lang="en-US" sz="15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/Unaware</a:t>
            </a:r>
            <a:r>
              <a:rPr sz="15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sz="12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RQ1·RQ2·RQ3</a:t>
            </a:r>
            <a:r>
              <a:rPr lang="en-US" sz="15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15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5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Design / Results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Current progress &amp; Future plans</a:t>
            </a:r>
            <a:endParaRPr sz="12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1.Problem</a:t>
            </a:r>
            <a:endParaRPr sz="2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2481" y="1344669"/>
            <a:ext cx="110642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벡터</a:t>
            </a:r>
            <a:r>
              <a:rPr 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range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조건의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마다 크게 달라지지만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optimizer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벡터 공간 분포를 반영하지 못한다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기존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시스템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고정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비율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5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—</a:t>
            </a:r>
            <a:r>
              <a:rPr lang="en-US" sz="15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 Query</a:t>
            </a:r>
            <a:r>
              <a:rPr lang="ko-KR" altLang="en-US" sz="1500" b="1" dirty="0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마다 달라지는 </a:t>
            </a:r>
            <a:r>
              <a:rPr sz="1500" b="1" dirty="0" err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sz="1200" b="1" dirty="0">
              <a:solidFill>
                <a:srgbClr val="EA580C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1652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선택도는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query에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따라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0.001% ~ 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0%의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광범위한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endParaRPr lang="en-US" sz="14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■ 잘못된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추정 →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join, index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유무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scan 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전략 선택 왜곡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비효율적 실행 계획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endParaRPr lang="en-US" sz="14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343741"/>
            <a:ext cx="10515600" cy="3385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고정 비율 추정으로는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query-dependent vector selectivity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설명할 수 없다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4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방법론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5194" y="1463040"/>
            <a:ext cx="5229617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  <a:r>
              <a:rPr lang="en-US"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(Exact Cardinality Query Optimization)</a:t>
            </a:r>
            <a:endParaRPr sz="16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있을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 계획 단계에서 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range </a:t>
            </a:r>
            <a:r>
              <a:rPr sz="15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</a:t>
            </a:r>
            <a:r>
              <a:rPr sz="15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en-US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직접</a:t>
            </a:r>
            <a:r>
              <a:rPr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하여</a:t>
            </a:r>
            <a:r>
              <a:rPr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50000"/>
              </a:lnSpc>
            </a:pPr>
            <a:r>
              <a:rPr sz="15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977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1~2 </a:t>
            </a:r>
            <a:r>
              <a:rPr sz="30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ms</a:t>
            </a:r>
            <a:endParaRPr sz="30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단시간 내 </a:t>
            </a:r>
            <a:r>
              <a:rPr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정확</a:t>
            </a:r>
            <a:r>
              <a:rPr lang="ko-KR" alt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획득</a:t>
            </a:r>
            <a:endParaRPr sz="11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8463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74102"/>
            <a:ext cx="5029200" cy="2573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인덱스가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없을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12513"/>
            <a:ext cx="5029200" cy="6370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— </a:t>
            </a:r>
            <a:r>
              <a:rPr sz="15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모멘텀</a:t>
            </a:r>
            <a:r>
              <a:rPr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기반</a:t>
            </a:r>
            <a:r>
              <a:rPr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동적</a:t>
            </a:r>
            <a:r>
              <a:rPr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sampling</a:t>
            </a:r>
            <a:endParaRPr lang="en-US" sz="12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</a:t>
            </a: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ample size</a:t>
            </a:r>
            <a:r>
              <a:rPr lang="ko-KR" altLang="en-US" sz="15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조금씩 늘려가며 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Cardinality</a:t>
            </a:r>
            <a:r>
              <a:rPr lang="ko-KR" altLang="en-US" sz="15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근사</a:t>
            </a:r>
            <a:endParaRPr sz="12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AFAF9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~3.2</a:t>
            </a:r>
            <a:r>
              <a:rPr sz="3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No index VAQ 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성능 개선</a:t>
            </a:r>
            <a:endParaRPr sz="11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731860"/>
            <a:ext cx="10515600" cy="2954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uniform sample</a:t>
            </a:r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skewed vector distribution</a:t>
            </a:r>
            <a:r>
              <a:rPr lang="ko-KR" altLang="en-US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을 대표할 수 있는가</a:t>
            </a:r>
            <a:r>
              <a:rPr lang="en-US" altLang="ko-KR" sz="1400" b="1" dirty="0">
                <a:solidFill>
                  <a:schemeClr val="bg2">
                    <a:lumMod val="75000"/>
                  </a:schemeClr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  <a:endParaRPr sz="1400" b="1" dirty="0">
              <a:solidFill>
                <a:schemeClr val="bg2">
                  <a:lumMod val="75000"/>
                </a:schemeClr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284934"/>
            <a:ext cx="1069848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HNSW</a:t>
            </a:r>
            <a:r>
              <a:rPr 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고차원 벡터</a:t>
            </a:r>
            <a:r>
              <a:rPr lang="en-US" altLang="ko-KR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데이터에서 유사도가 가장 높은 이웃을 빠르게 찾는 그래프 기반의 근접 </a:t>
            </a:r>
            <a:r>
              <a:rPr lang="ko-KR" altLang="en-US" sz="15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최근점</a:t>
            </a:r>
            <a:r>
              <a:rPr lang="ko-KR" altLang="en-US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이웃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(ANN)</a:t>
            </a:r>
            <a:r>
              <a:rPr lang="en-US" altLang="ko-KR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5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검색 알고리즘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r>
              <a:rPr lang="en-US" altLang="ko-KR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  <a:r>
              <a:rPr lang="en-US" altLang="ko-KR" sz="20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Adaptive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Sampling의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Hook Trigger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의한 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AS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적용 범위 누락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1875272"/>
            <a:ext cx="45720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lang="en-US" sz="13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table_count</a:t>
            </a:r>
            <a:r>
              <a:rPr 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&gt;2 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조건으로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single vector table range query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는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AS </a:t>
            </a:r>
            <a:r>
              <a:rPr lang="ko-KR" altLang="en-US" sz="13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미진입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altLang="ko-KR" sz="90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sz="13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  <a:r>
              <a:rPr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default selectivity 1/3 로 fall</a:t>
            </a:r>
            <a:r>
              <a:rPr 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back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단순 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Gate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Relaxation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불가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H</a:t>
            </a:r>
            <a:r>
              <a:rPr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ook</a:t>
            </a:r>
            <a:r>
              <a:rPr 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 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조건 완화 시 추정용 </a:t>
            </a:r>
            <a:r>
              <a:rPr lang="en-US" altLang="ko-KR" sz="1000" b="0" dirty="0" err="1">
                <a:solidFill>
                  <a:srgbClr val="EA580C"/>
                </a:solidFill>
                <a:latin typeface="Menlo"/>
                <a:ea typeface="Menlo"/>
                <a:cs typeface="Menlo"/>
              </a:rPr>
              <a:t>Tablesample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이 실제 실행 </a:t>
            </a:r>
            <a:r>
              <a:rPr lang="en-US" altLang="ko-KR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plan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에 반영 </a:t>
            </a:r>
            <a:endParaRPr sz="800" b="0" dirty="0">
              <a:solidFill>
                <a:srgbClr val="EA580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SELECT count(*)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결과가 전체 테이블 기준이 아니라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기준으로 계산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2585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sampling bias</a:t>
            </a:r>
            <a:endParaRPr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System sampling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은 </a:t>
            </a:r>
            <a:r>
              <a:rPr lang="en-US" altLang="ko-KR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page/block </a:t>
            </a:r>
            <a:r>
              <a:rPr lang="ko-KR" altLang="en-US" sz="1000" b="0" dirty="0">
                <a:solidFill>
                  <a:srgbClr val="EA580C"/>
                </a:solidFill>
                <a:latin typeface="Menlo"/>
                <a:ea typeface="Menlo"/>
                <a:cs typeface="Menlo"/>
              </a:rPr>
              <a:t>단위 추출</a:t>
            </a:r>
            <a:endParaRPr sz="800" b="0" dirty="0">
              <a:solidFill>
                <a:srgbClr val="EA580C"/>
              </a:solidFill>
              <a:latin typeface="Menlo"/>
              <a:ea typeface="Menlo"/>
              <a:cs typeface="Menl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3798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Row-level uniform sample</a:t>
            </a:r>
            <a:r>
              <a:rPr lang="ko-KR" alt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을 보장하지 못해 </a:t>
            </a:r>
            <a:r>
              <a:rPr lang="en-US" altLang="ko-KR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대표성 저하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vector.c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L243 —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table_count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&gt; 2 hook trigger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사각지대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750326"/>
            <a:ext cx="10515600" cy="2585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range query</a:t>
            </a:r>
            <a:r>
              <a:rPr lang="ko-KR" altLang="en-US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 적용하려면</a:t>
            </a:r>
            <a:r>
              <a:rPr lang="en-US" altLang="ko-KR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실행 </a:t>
            </a:r>
            <a:r>
              <a:rPr lang="en-US" altLang="ko-KR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  <a:r>
              <a:rPr lang="ko-KR" altLang="en-US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바꾸지 않는 </a:t>
            </a:r>
            <a:r>
              <a:rPr lang="en-US" altLang="ko-KR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estimation-only sampling </a:t>
            </a:r>
            <a:r>
              <a:rPr lang="ko-KR" altLang="en-US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경로가 필요하다</a:t>
            </a:r>
            <a:r>
              <a:rPr lang="en-US" altLang="ko-KR" sz="15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2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3. 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  <a:r>
              <a:rPr lang="en-US" altLang="ko-KR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Sampling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Uniform Adaptive Sampling</a:t>
            </a:r>
            <a:r>
              <a:rPr lang="ko-KR" alt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의 한계를 표본 단위와 표본 배분 두 축으로 분해하고</a:t>
            </a:r>
            <a:r>
              <a:rPr lang="en-US" altLang="ko-KR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각각을 독립적으로 보완한다</a:t>
            </a:r>
            <a:r>
              <a:rPr lang="en-US" altLang="ko-KR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1" y="1417320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981" y="1490472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기존 연구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2292" y="1819865"/>
            <a:ext cx="3169085" cy="307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Adaptive Sampling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26957"/>
            <a:ext cx="3306245" cy="7848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Adaptive Sample size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Uniform Allocation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Block-level System Sampling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912471"/>
            <a:ext cx="10515600" cy="2400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✦</a:t>
            </a:r>
            <a:r>
              <a:rPr 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본 연구는 </a:t>
            </a:r>
            <a:r>
              <a:rPr lang="en-US" altLang="ko-KR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를 제거한 뒤 </a:t>
            </a:r>
            <a:r>
              <a:rPr lang="en-US" altLang="ko-KR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skewed vector space</a:t>
            </a: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sample allocation</a:t>
            </a: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을 재설계한다</a:t>
            </a:r>
            <a:r>
              <a:rPr lang="en-US" altLang="ko-KR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6400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79" y="4844668"/>
            <a:ext cx="5897573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Target: 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단일 테이블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 range query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no-index sampling path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target workload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 설정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0080" y="529437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5486400" cy="397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35000"/>
              </a:lnSpc>
            </a:pPr>
            <a:r>
              <a:rPr lang="en-US" altLang="ko-KR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Decomposition &amp; Method: block-level sampling bias</a:t>
            </a:r>
            <a:r>
              <a:rPr lang="ko-KR" alt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</a:t>
            </a:r>
            <a:r>
              <a:rPr lang="en-US" altLang="ko-KR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skew </a:t>
            </a:r>
            <a:r>
              <a:rPr lang="ko-KR" alt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문제를 분리하고</a:t>
            </a:r>
            <a:r>
              <a:rPr lang="en-US" altLang="ko-KR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</a:p>
          <a:p>
            <a:pPr>
              <a:lnSpc>
                <a:spcPct val="135000"/>
              </a:lnSpc>
            </a:pPr>
            <a:r>
              <a:rPr lang="en-US" altLang="ko-KR" sz="13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ablation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으로 각각 측정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0080" y="570585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656611"/>
            <a:ext cx="5486400" cy="2169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Validation: Random20 / Two-level 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분해로 공간 인식 효과 정량화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032" y="4434840"/>
            <a:ext cx="2732215" cy="1554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83680" y="6035040"/>
            <a:ext cx="5074920" cy="1846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Two-Level Decomposition — 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표본 안정화</a:t>
            </a:r>
            <a:r>
              <a:rPr lang="en-US" altLang="ko-KR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(L1)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(L2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  <a:r>
              <a:rPr lang="ko-KR" altLang="en-US"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의 분리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4" name="Rounded Rectangle 6"/>
          <p:cNvSpPr/>
          <p:nvPr/>
        </p:nvSpPr>
        <p:spPr>
          <a:xfrm>
            <a:off x="4285154" y="1417320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5" name="Rectangle 7"/>
          <p:cNvSpPr/>
          <p:nvPr/>
        </p:nvSpPr>
        <p:spPr>
          <a:xfrm>
            <a:off x="4285153" y="1417320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5757" y="1477946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차별성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4" name="Rounded Rectangle 6"/>
          <p:cNvSpPr/>
          <p:nvPr/>
        </p:nvSpPr>
        <p:spPr>
          <a:xfrm>
            <a:off x="8021668" y="1421203"/>
            <a:ext cx="359121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5" name="Rectangle 7"/>
          <p:cNvSpPr/>
          <p:nvPr/>
        </p:nvSpPr>
        <p:spPr>
          <a:xfrm>
            <a:off x="8021667" y="1421203"/>
            <a:ext cx="157716" cy="21945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54376" y="1494355"/>
            <a:ext cx="2190496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제안</a:t>
            </a:r>
            <a:endParaRPr sz="11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608173" y="1845436"/>
            <a:ext cx="2853734" cy="30816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원인 분리 및 독립 측정</a:t>
            </a:r>
            <a:endParaRPr sz="16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376410" y="1764780"/>
            <a:ext cx="2905413" cy="6737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Skew-aware </a:t>
            </a:r>
            <a:r>
              <a:rPr lang="en-US" sz="16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Sampling</a:t>
            </a:r>
            <a:endParaRPr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14889" y="2592119"/>
            <a:ext cx="3306245" cy="7848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Single-table range query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 집중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Block bias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skew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를 분리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Ablation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으로 각 요인 독립 측정</a:t>
            </a: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18499" y="2537034"/>
            <a:ext cx="3306245" cy="117480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Bernoulli: row-level baseline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</a:t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KM20: skew-aware allocation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Skew-unaware: recovery measurement</a:t>
            </a:r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endParaRPr lang="en-US" altLang="ko-KR" sz="1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RQ1 — 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Query-side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Skew지표는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Q-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error를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설명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하지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못</a:t>
            </a:r>
            <a:r>
              <a:rPr lang="ko-KR" alt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했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125265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5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글로벌</a:t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지표 모두 </a:t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와 안정적인 상관을 보이지 않음</a:t>
            </a:r>
            <a:endParaRPr lang="en-US" altLang="ko-KR"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5000"/>
              </a:lnSpc>
            </a:pP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spcAft>
                <a:spcPts val="600"/>
              </a:spcAft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로컬 </a:t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지표 </a:t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x 6 selectivity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에서도 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Spearman |</a:t>
            </a:r>
            <a:r>
              <a:rPr lang="el-GR" altLang="ko-KR" sz="1400" dirty="0"/>
              <a:t>ρ</a:t>
            </a:r>
            <a:r>
              <a:rPr lang="en-US" altLang="ko-KR" sz="1400" dirty="0"/>
              <a:t>| &lt;  0.2</a:t>
            </a:r>
          </a:p>
          <a:p>
            <a:pPr>
              <a:spcAft>
                <a:spcPts val="600"/>
              </a:spcAft>
            </a:pP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query-side feature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만으로 어떤 영역을 더 </a:t>
            </a:r>
            <a:r>
              <a:rPr lang="ko-KR" altLang="en-US"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샘플링해야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할지 결정하기 어려움</a:t>
            </a: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3323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5 —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로컬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4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× 6 selectivity = 24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조합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10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|ρ| &lt; 0.2</a:t>
            </a:r>
            <a:endParaRPr lang="en-US"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Local Skew 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지표도 </a:t>
            </a:r>
            <a:r>
              <a:rPr lang="en-US" altLang="ko-KR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r>
              <a:rPr lang="ko-KR" altLang="en-US" sz="10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와 약한 상관만 보임</a:t>
            </a:r>
            <a:endParaRPr sz="8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741952"/>
            <a:ext cx="10515600" cy="25699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Query-side feature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만으로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sampling layer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를 정하기 어렵다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따라서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data-side spatial partition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을 사용한다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  <a:endParaRPr sz="11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RQ2(1)—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Block-level SYSTEM vs Row-level BERN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258973"/>
              </p:ext>
            </p:extLst>
          </p:nvPr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SYS</a:t>
                      </a:r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(</a:t>
                      </a:r>
                      <a:r>
                        <a:rPr lang="en-US" sz="1400" b="1" dirty="0" err="1">
                          <a:solidFill>
                            <a:srgbClr val="FAFAF9"/>
                          </a:solidFill>
                          <a:latin typeface="Apple SD Gothic Neo"/>
                        </a:rPr>
                        <a:t>blcok</a:t>
                      </a:r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)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BERN</a:t>
                      </a:r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(row)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AFAF9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행 단위 우위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6/8</a:t>
                      </a:r>
                      <a:endParaRPr sz="10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45/40</a:t>
                      </a:r>
                      <a:endParaRPr sz="1000" b="0" dirty="0">
                        <a:solidFill>
                          <a:srgbClr val="171717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58/37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66/31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76/24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78/22</a:t>
                      </a:r>
                      <a:endParaRPr sz="1000" b="1" dirty="0">
                        <a:solidFill>
                          <a:srgbClr val="FAFAF9"/>
                        </a:solidFill>
                        <a:latin typeface="Apple SD Gothic Neo"/>
                      </a:endParaRPr>
                    </a:p>
                  </a:txBody>
                  <a:tcPr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138396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  <a:r>
              <a:rPr 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s=0.05~0.5</a:t>
            </a:r>
            <a:r>
              <a:rPr lang="ko-KR" alt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</a:t>
            </a:r>
            <a:r>
              <a:rPr 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BERN</a:t>
            </a:r>
            <a:r>
              <a:rPr lang="ko-KR" alt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이 </a:t>
            </a:r>
            <a:r>
              <a:rPr lang="en-US" altLang="ko-KR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SYSTEM</a:t>
            </a:r>
            <a:r>
              <a:rPr lang="ko-KR" alt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일관되게 낮은 </a:t>
            </a:r>
            <a:r>
              <a:rPr lang="en-US" altLang="ko-KR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4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  <a:r>
              <a:rPr 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s=0.5: median Q-error 1.1527 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1.0519, +9.6%, 78/100 query 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endParaRPr lang="en-US"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low selectivity </a:t>
            </a:r>
            <a:r>
              <a:rPr lang="ko-KR" alt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에서는 </a:t>
            </a:r>
            <a:r>
              <a:rPr lang="en-US" altLang="ko-KR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true cardinality</a:t>
            </a:r>
            <a:r>
              <a:rPr lang="ko-KR" alt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 작아 </a:t>
            </a:r>
            <a:r>
              <a:rPr lang="en-US" altLang="ko-KR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Q-error </a:t>
            </a:r>
            <a:r>
              <a:rPr lang="ko-KR" altLang="en-US" sz="13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변동이 커짐</a:t>
            </a:r>
            <a:endParaRPr lang="en-US" altLang="ko-KR"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lang="ko-KR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④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BERN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은 최종 기여라기보다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</a:t>
            </a:r>
            <a:r>
              <a:rPr lang="ko-KR" altLang="en-US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을 평가하기 위한 </a:t>
            </a:r>
            <a:r>
              <a:rPr lang="en-US" altLang="ko-KR" sz="13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fair uniform base</a:t>
            </a:r>
            <a:endParaRPr sz="9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pic>
        <p:nvPicPr>
          <p:cNvPr id="13" name="Picture 2"/>
          <p:cNvPicPr/>
          <p:nvPr/>
        </p:nvPicPr>
        <p:blipFill rotWithShape="1">
          <a:blip r:embed="rId2"/>
          <a:srcRect b="49775"/>
          <a:stretch/>
        </p:blipFill>
        <p:spPr bwMode="auto">
          <a:xfrm>
            <a:off x="1650779" y="4027361"/>
            <a:ext cx="4542716" cy="17596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2"/>
          <p:cNvPicPr/>
          <p:nvPr/>
        </p:nvPicPr>
        <p:blipFill rotWithShape="1">
          <a:blip r:embed="rId2"/>
          <a:srcRect t="50000"/>
          <a:stretch/>
        </p:blipFill>
        <p:spPr bwMode="auto">
          <a:xfrm>
            <a:off x="6218547" y="4039888"/>
            <a:ext cx="4474394" cy="17372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RQ2(2)— KM20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Stratified</a:t>
            </a:r>
            <a:r>
              <a:rPr 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:BERN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위에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spatial allocation 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BERN 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위에 </a:t>
            </a:r>
            <a:r>
              <a:rPr lang="en-US" altLang="ko-KR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k-means K=20 </a:t>
            </a:r>
            <a:r>
              <a:rPr lang="en-US" altLang="ko-KR"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stratum_id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를 추가</a:t>
            </a:r>
            <a:r>
              <a:rPr lang="en-US" altLang="ko-KR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각 </a:t>
            </a:r>
            <a:r>
              <a:rPr lang="en-US" altLang="ko-KR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에서 표본 추출 후 </a:t>
            </a:r>
            <a:r>
              <a:rPr lang="en-US" altLang="ko-KR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 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크기로 </a:t>
            </a:r>
            <a:r>
              <a:rPr lang="ko-KR" altLang="en-US"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가중합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추정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AFAF9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AFAF9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AFAF9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AFAF9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71717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6A34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Apple SD Gothic Neo"/>
                        </a:rPr>
                        <a:t>(단일)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71717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706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5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s=0.500에서 KM20은 BERN 대비 +1.64%, 5-seed 95% CI [+1.11, +2.18]</a:t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lnSpc>
                <a:spcPct val="145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② s=0.050, s=0.010에서도 개선 신호는 있으나 일부는 단일 seed / low-cardinality noise로 해석 보류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endParaRPr lang="en-US"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>
              <a:lnSpc>
                <a:spcPct val="145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KM20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의 역할은 </a:t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size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증가가 아니라 </a:t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vector-space region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별 </a:t>
            </a:r>
            <a:r>
              <a:rPr lang="en-US" altLang="ko-KR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sample allocation </a:t>
            </a:r>
            <a:r>
              <a:rPr lang="ko-KR" alt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보정</a:t>
            </a:r>
            <a:endParaRPr sz="10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867991"/>
            <a:ext cx="10515600" cy="20608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KM20은 row-level uniform baseline 위에서 vector-space skew를 sample allocation에 반영하는 첫 번째 positive result다.</a:t>
            </a: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ko-KR" altLang="en-US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lang="en-US" altLang="ko-KR"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endParaRPr sz="10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External Validity—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s=0.500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 </a:t>
            </a:r>
            <a:r>
              <a:rPr lang="ko-KR" altLang="en-US"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교차 검증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10 / 15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1989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[+0.65, +2.86]  ·</a:t>
            </a:r>
            <a:r>
              <a:rPr 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8x scale validation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1064240" cy="3570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① DEEP 1M ↔ 8M : CI </a:t>
            </a:r>
            <a:r>
              <a:rPr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겹침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(CONSISTENT) — 8 배 </a:t>
            </a:r>
            <a:r>
              <a:rPr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규모에서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동일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 ·  ② 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SIFT</a:t>
            </a:r>
            <a:r>
              <a:rPr 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DEEP</a:t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보다 더 큰 </a:t>
            </a:r>
            <a:r>
              <a:rPr lang="ko-KR" altLang="en-US" sz="100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개선폭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더 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 </a:t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한 데이터에서 </a:t>
            </a:r>
            <a:r>
              <a:rPr lang="en-US" altLang="ko-KR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효과 증가 가능성</a:t>
            </a:r>
            <a:endParaRPr lang="en-US" sz="8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③ 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cluster size 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(CV)</a:t>
            </a:r>
            <a:r>
              <a:rPr lang="en-US"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: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DEEP 0.234 vs SIFT 0.394 (68% </a:t>
            </a:r>
            <a:r>
              <a:rPr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높음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 — </a:t>
            </a:r>
            <a:r>
              <a:rPr lang="en-US" sz="10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skewed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↑ ⇒ </a:t>
            </a:r>
            <a:r>
              <a:rPr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가치</a:t>
            </a:r>
            <a:r>
              <a:rPr sz="10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4-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RQ3(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Design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)—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spatial-unawareness</a:t>
            </a:r>
            <a:r>
              <a:rPr lang="ko-KR" alt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에서의 </a:t>
            </a:r>
            <a:r>
              <a:rPr lang="en-US" altLang="ko-KR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Recovery Rate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11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▣ Recovery Rate = (</a:t>
            </a:r>
            <a:r>
              <a:rPr sz="1400" b="1" dirty="0" err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방법X</a:t>
            </a:r>
            <a:r>
              <a:rPr sz="14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Random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Projection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222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MiniBatch</a:t>
            </a:r>
            <a:r>
              <a:rPr lang="en-US"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K-means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사전</a:t>
            </a:r>
            <a:r>
              <a:rPr 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저비용 </a:t>
            </a:r>
            <a:r>
              <a:rPr lang="en-US" altLang="ko-KR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partition</a:t>
            </a:r>
            <a:r>
              <a:rPr lang="ko-KR" alt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으로 </a:t>
            </a:r>
            <a:r>
              <a:rPr lang="en-US" altLang="ko-KR" sz="13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stratum_id</a:t>
            </a:r>
            <a:r>
              <a:rPr lang="en-US" altLang="ko-KR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부여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Distance-Shell sampling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2400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KDE-pilot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 </a:t>
            </a:r>
            <a:r>
              <a:rPr sz="13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도착</a:t>
            </a:r>
            <a:r>
              <a:rPr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후 </a:t>
            </a:r>
            <a:r>
              <a:rPr lang="en-US" altLang="ko-KR" sz="13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pilot sample</a:t>
            </a:r>
            <a:r>
              <a:rPr lang="ko-KR" altLang="en-US" sz="13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로 표본 배분 조정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2223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Density-base reweighting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2308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Partition </a:t>
            </a:r>
            <a:r>
              <a:rPr lang="ko-KR" alt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없이 </a:t>
            </a:r>
            <a:r>
              <a:rPr lang="en-US" altLang="ko-KR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</a:t>
            </a:r>
            <a:r>
              <a:rPr lang="ko-KR" alt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에 </a:t>
            </a:r>
            <a:r>
              <a:rPr lang="en-US" altLang="ko-KR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density </a:t>
            </a:r>
            <a:r>
              <a:rPr lang="ko-KR" altLang="en-US" sz="13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기반 가중치 부여</a:t>
            </a:r>
            <a:endParaRPr sz="9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→  DEEP 1M · 8M · SIFT 1.5M 3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× 5 seed × 5 selectivity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동일</a:t>
            </a:r>
            <a:r>
              <a:rPr sz="1400" b="0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0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  <a:endParaRPr sz="1100" b="0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850999"/>
            <a:ext cx="10515600" cy="24006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★</a:t>
            </a:r>
            <a:r>
              <a:rPr 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목표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적어도 하나의 저비용 방법이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KM20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효과의 </a:t>
            </a:r>
            <a:r>
              <a:rPr lang="en-US" altLang="ko-KR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50% </a:t>
            </a:r>
            <a:r>
              <a:rPr lang="ko-KR" altLang="en-US" sz="1400" b="1" dirty="0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이상을 회수하는지 검증</a:t>
            </a:r>
            <a:endParaRPr sz="1100" b="1" dirty="0">
              <a:solidFill>
                <a:srgbClr val="FAFAF9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lang="en-US"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Current Progress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4/4 ~ 4/11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2954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환경 인수인계</a:t>
            </a:r>
            <a:r>
              <a:rPr lang="ko-KR" altLang="en-US" sz="1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·</a:t>
            </a:r>
            <a:r>
              <a:rPr lang="ko-KR" altLang="en-US" sz="1300" b="1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빌드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355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 </a:t>
            </a:r>
            <a:r>
              <a:rPr lang="en-US" sz="15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Exqutor</a:t>
            </a: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source  /    </a:t>
            </a:r>
          </a:p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dataset / server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인계</a:t>
            </a:r>
            <a:endParaRPr lang="en-US"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355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30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PostgreSQL + </a:t>
            </a:r>
            <a:r>
              <a:rPr lang="en-US" sz="15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pgvector</a:t>
            </a: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 + </a:t>
            </a:r>
            <a:r>
              <a:rPr lang="en-US" sz="15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Exqutor</a:t>
            </a: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build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2569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30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실험 테이블 및 실행 환경 </a:t>
            </a:r>
            <a:r>
              <a:rPr lang="ko-KR" altLang="en-US" sz="14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세팅</a:t>
            </a:r>
            <a:endParaRPr sz="11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4/1</a:t>
            </a:r>
            <a:r>
              <a:rPr lang="en-US"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~4/1</a:t>
            </a:r>
            <a:r>
              <a:rPr lang="en-US"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RQ1</a:t>
            </a:r>
            <a:r>
              <a:rPr 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구조분석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+ RQ2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본 측정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5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Single-table AS branch </a:t>
            </a:r>
          </a:p>
          <a:p>
            <a:pPr algn="l">
              <a:lnSpc>
                <a:spcPct val="140000"/>
              </a:lnSpc>
            </a:pPr>
            <a:r>
              <a:rPr lang="en-US" altLang="ko-KR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비활성 확인</a:t>
            </a:r>
            <a:endParaRPr sz="11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3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Forced hook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적용 시 </a:t>
            </a:r>
            <a:endParaRPr lang="en-US" altLang="ko-KR"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  <a:p>
            <a:pPr algn="l">
              <a:lnSpc>
                <a:spcPct val="140000"/>
              </a:lnSpc>
            </a:pPr>
            <a:r>
              <a:rPr lang="en-US" altLang="ko-KR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Sample Scan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부작용 확인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 </a:t>
            </a: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SYSTEM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→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BERN, BERN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→</a:t>
            </a:r>
            <a:r>
              <a:rPr lang="en-US" altLang="ko-KR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KM20</a:t>
            </a:r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본 측정 시작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  <a:r>
              <a:rPr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~4/</a:t>
            </a:r>
            <a:r>
              <a:rPr lang="en-US"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  <a:endParaRPr sz="1000" b="1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외적 타당성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+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원인분석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DEEP 8M / SIFT 1.5M</a:t>
            </a:r>
          </a:p>
          <a:p>
            <a:pPr>
              <a:lnSpc>
                <a:spcPct val="140000"/>
              </a:lnSpc>
            </a:pPr>
            <a:r>
              <a:rPr lang="en-US" altLang="ko-KR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  <a:r>
              <a:rPr lang="ko-KR" alt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교차 검증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300" b="0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5-seed 95% CI </a:t>
            </a:r>
            <a:r>
              <a:rPr lang="ko-KR" alt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산출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en-US" altLang="ko-KR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RANDOM20 / Two-Level /</a:t>
            </a:r>
          </a:p>
          <a:p>
            <a:pPr>
              <a:lnSpc>
                <a:spcPct val="140000"/>
              </a:lnSpc>
            </a:pPr>
            <a:r>
              <a:rPr lang="en-US" altLang="ko-KR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HHI / CV </a:t>
            </a:r>
            <a:r>
              <a:rPr lang="ko-KR" alt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분석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20544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</a:t>
            </a:r>
            <a:r>
              <a:rPr lang="en-US"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중간 산출물 정리</a:t>
            </a:r>
            <a:endParaRPr sz="13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ko-KR" alt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중간보고서 최종화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</a:t>
            </a:r>
            <a:r>
              <a:rPr 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lang="ko-KR" altLang="en-US"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발표자료 정리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5399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>
              <a:lnSpc>
                <a:spcPct val="140000"/>
              </a:lnSpc>
            </a:pPr>
            <a:r>
              <a:rPr sz="15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· </a:t>
            </a:r>
            <a:r>
              <a:rPr lang="ko-KR" alt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코드</a:t>
            </a:r>
            <a:r>
              <a:rPr lang="en-US" altLang="ko-KR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·</a:t>
            </a:r>
            <a:r>
              <a:rPr lang="ko-KR" alt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결과 재현 가능 형태로 </a:t>
            </a:r>
            <a:endParaRPr lang="en-US" altLang="ko-KR" sz="12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>
              <a:lnSpc>
                <a:spcPct val="140000"/>
              </a:lnSpc>
            </a:pPr>
            <a:r>
              <a:rPr lang="en-US" altLang="ko-KR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    </a:t>
            </a:r>
            <a:r>
              <a:rPr lang="ko-KR" altLang="en-US" sz="15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보존</a:t>
            </a:r>
            <a:endParaRPr sz="1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7240" y="5824465"/>
            <a:ext cx="10515600" cy="23827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✓ RQ1 (Query-side Skew) 완료    ✓ RQ2 (Block bias + KM20) 완료 + 외적 타당성 검증</a:t>
            </a:r>
            <a:r>
              <a:rPr lang="en-US" sz="1500" b="1" dirty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endParaRPr sz="1200" b="1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801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향후</a:t>
            </a:r>
            <a:r>
              <a:rPr sz="22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endParaRPr sz="22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보강 </a:t>
            </a:r>
            <a:r>
              <a:rPr lang="en-US" altLang="ko-KR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+ RQ3 Offline Pilot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Low-selectivity 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구간 반복 실험 보강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Offline 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Online / Weight-based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Distance-Shell, KDE-pilot </a:t>
            </a:r>
            <a:r>
              <a:rPr lang="ko-KR" alt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등 </a:t>
            </a:r>
            <a:r>
              <a:rPr lang="en-US" altLang="ko-KR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query-adaptive </a:t>
            </a:r>
            <a:r>
              <a:rPr lang="ko-KR" altLang="en-US" sz="140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후보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민감도 분석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dirty="0" err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Sample_size</a:t>
            </a:r>
            <a:r>
              <a:rPr 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 sensitivity, K sweep = 10/20/30/50, BERN 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최적화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2769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+ </a:t>
            </a:r>
            <a:r>
              <a:rPr sz="13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3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준비</a:t>
            </a:r>
            <a:endParaRPr sz="1300" b="1" dirty="0">
              <a:solidFill>
                <a:srgbClr val="171717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Q&amp;A 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예상 질문 정리</a:t>
            </a:r>
            <a:r>
              <a:rPr lang="en-US" altLang="ko-KR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발표</a:t>
            </a:r>
            <a:r>
              <a:rPr lang="en-US" altLang="ko-KR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lang="ko-KR" altLang="en-US" sz="1400" b="0" dirty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포스터 준비</a:t>
            </a:r>
            <a:endParaRPr sz="1000" b="0" dirty="0">
              <a:solidFill>
                <a:srgbClr val="73737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D4D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20608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223394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최종발표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(5/27~29)  · 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전시회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포스터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(6/5)  ·  </a:t>
            </a:r>
            <a:r>
              <a:rPr sz="1400" b="1" dirty="0" err="1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최종보고서</a:t>
            </a:r>
            <a:r>
              <a:rPr sz="1400" b="1" dirty="0">
                <a:solidFill>
                  <a:srgbClr val="171717"/>
                </a:solidFill>
                <a:latin typeface="Apple SD Gothic Neo"/>
                <a:ea typeface="Apple SD Gothic Neo"/>
                <a:cs typeface="Apple SD Gothic Neo"/>
              </a:rPr>
              <a:t> PDF (6/11)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5486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4616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5-</a:t>
            </a:r>
            <a:r>
              <a:rPr lang="en-US"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3</a:t>
            </a:r>
            <a:r>
              <a:rPr sz="24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.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팀원</a:t>
            </a:r>
            <a:r>
              <a:rPr lang="en-US"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별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역할</a:t>
            </a:r>
            <a:r>
              <a:rPr sz="2200" b="1" dirty="0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 </a:t>
            </a:r>
            <a:r>
              <a:rPr sz="2200" b="1" dirty="0" err="1">
                <a:solidFill>
                  <a:srgbClr val="171717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Apple SD Gothic Neo"/>
              </a:rPr>
              <a:t>분담</a:t>
            </a:r>
            <a:endParaRPr sz="2200" b="1" dirty="0">
              <a:solidFill>
                <a:srgbClr val="171717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14 /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838705"/>
              </p:ext>
            </p:extLst>
          </p:nvPr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 dirty="0" err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이름</a:t>
                      </a:r>
                      <a:endParaRPr sz="1200" b="1" dirty="0">
                        <a:solidFill>
                          <a:srgbClr val="FAFAF9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역할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AFAF9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담당</a:t>
                      </a:r>
                    </a:p>
                  </a:txBody>
                  <a:tcPr>
                    <a:solidFill>
                      <a:srgbClr val="1717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팀장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전체 일정 관리</a:t>
                      </a:r>
                      <a:r>
                        <a:rPr lang="en-US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자문 회신 정리</a:t>
                      </a:r>
                      <a:r>
                        <a:rPr lang="en-US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4 </a:t>
                      </a:r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인 합의 주재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강재현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발표자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중간 발표 슬라이드 제작</a:t>
                      </a:r>
                      <a:r>
                        <a:rPr lang="en-US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발표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dirty="0" err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실험</a:t>
                      </a:r>
                      <a:r>
                        <a:rPr sz="15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·</a:t>
                      </a:r>
                      <a:r>
                        <a:rPr lang="ko-KR" altLang="en-US" sz="15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분석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실험 구현</a:t>
                      </a:r>
                      <a:r>
                        <a:rPr lang="en-US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코드 수정 작업</a:t>
                      </a:r>
                      <a:r>
                        <a:rPr lang="en-US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작성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이동욱</a:t>
                      </a: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5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문서화</a:t>
                      </a:r>
                      <a:r>
                        <a:rPr sz="15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·</a:t>
                      </a:r>
                      <a:r>
                        <a:rPr lang="ko-KR" altLang="en-US" sz="1500" b="1" dirty="0">
                          <a:solidFill>
                            <a:srgbClr val="171717"/>
                          </a:solidFill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</a:rPr>
                        <a:t>검토</a:t>
                      </a:r>
                      <a:endParaRPr sz="1200" b="1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작성</a:t>
                      </a:r>
                      <a:r>
                        <a:rPr lang="en-US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보고서 및 발표 슬라이드 검토</a:t>
                      </a:r>
                      <a:r>
                        <a:rPr lang="en-US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ko-KR" sz="1500" b="1" i="0" kern="1200" dirty="0">
                          <a:solidFill>
                            <a:schemeClr val="dk1"/>
                          </a:solidFill>
                          <a:effectLst/>
                          <a:latin typeface="Apple SD Gothic Neo" panose="02000300000000000000" pitchFamily="2" charset="-127"/>
                          <a:ea typeface="Apple SD Gothic Neo" panose="02000300000000000000" pitchFamily="2" charset="-127"/>
                          <a:cs typeface="+mn-cs"/>
                        </a:rPr>
                        <a:t>수정</a:t>
                      </a:r>
                      <a:endParaRPr sz="1200" b="1" i="0" dirty="0">
                        <a:solidFill>
                          <a:srgbClr val="171717"/>
                        </a:solidFill>
                        <a:latin typeface="Apple SD Gothic Neo" panose="02000300000000000000" pitchFamily="2" charset="-127"/>
                        <a:ea typeface="Apple SD Gothic Neo" panose="02000300000000000000" pitchFamily="2" charset="-127"/>
                      </a:endParaRPr>
                    </a:p>
                  </a:txBody>
                  <a:tcPr>
                    <a:solidFill>
                      <a:srgbClr val="FA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35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800" b="0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Q &amp; A</a:t>
            </a:r>
            <a:endParaRPr sz="1800" b="0" dirty="0">
              <a:solidFill>
                <a:srgbClr val="DC2626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AFAF9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737373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1758</Words>
  <Application>Microsoft Macintosh PowerPoint</Application>
  <PresentationFormat>와이드스크린</PresentationFormat>
  <Paragraphs>329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맑은 고딕</vt:lpstr>
      <vt:lpstr>Apple SD Gothic Neo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조현빈</cp:lastModifiedBy>
  <cp:revision>31</cp:revision>
  <dcterms:created xsi:type="dcterms:W3CDTF">2013-01-27T09:14:16Z</dcterms:created>
  <dcterms:modified xsi:type="dcterms:W3CDTF">2026-04-28T10:07:38Z</dcterms:modified>
  <cp:category/>
</cp:coreProperties>
</file>
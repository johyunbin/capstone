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4"/>
    <p:restoredTop sz="94643"/>
  </p:normalViewPr>
  <p:slideViewPr>
    <p:cSldViewPr snapToGrid="0" snapToObjects="1">
      <p:cViewPr varScale="1">
        <p:scale>
          <a:sx n="159" d="100"/>
          <a:sy n="159" d="100"/>
        </p:scale>
        <p:origin x="13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696548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CAPSTONE 2026-1  ·  MIDTERM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21792"/>
            <a:ext cx="1828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06240"/>
            <a:ext cx="54864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Pivot A BERNOULLI </a:t>
            </a:r>
            <a:r>
              <a:rPr sz="14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교체</a:t>
            </a:r>
            <a:r>
              <a:rPr sz="14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+ Pivot C KM20 Stratified — 3 </a:t>
            </a:r>
            <a:r>
              <a:rPr sz="14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  <a:r>
              <a:rPr sz="14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5-seed CI </a:t>
            </a:r>
            <a:r>
              <a:rPr sz="14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  <a:endParaRPr sz="1400" b="0" dirty="0">
              <a:solidFill>
                <a:srgbClr val="64748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5394960"/>
            <a:ext cx="105156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7315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연세대학교 컴퓨터과학과 · 2026-1 캡스톤 디자인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55080"/>
            <a:ext cx="393192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지도교수 박광현 · 지도연구원 임채림 석사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602231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09344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02231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562351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69464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62351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522471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529584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22471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482591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489704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482591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442711"/>
            <a:ext cx="777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449824"/>
            <a:ext cx="32004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42711"/>
            <a:ext cx="6858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현재</a:t>
            </a:r>
            <a:r>
              <a:rPr sz="12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진행</a:t>
            </a:r>
            <a:r>
              <a:rPr sz="12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상황</a:t>
            </a:r>
            <a:r>
              <a:rPr sz="12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및</a:t>
            </a:r>
            <a:r>
              <a:rPr sz="12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향후</a:t>
            </a:r>
            <a:r>
              <a:rPr sz="12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  <a:endParaRPr sz="1200" b="0" dirty="0">
              <a:solidFill>
                <a:srgbClr val="64748B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  <a:endParaRPr sz="1500" b="1" dirty="0">
              <a:solidFill>
                <a:srgbClr val="2563EB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68880" y="2462062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338763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1188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114799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99421"/>
            <a:ext cx="128016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80559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6960" y="273050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실제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선택도는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query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에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따라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0.001% ~ 90%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광범위한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endParaRPr sz="12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옵티마이저가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잘못된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실행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계획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선택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→ nested loop vs hash join, index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사용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여부</a:t>
            </a:r>
            <a:endParaRPr sz="12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■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이미지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검색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/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추천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/ RAG retrieval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등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단일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테이블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vector range query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에서</a:t>
            </a:r>
            <a:r>
              <a:rPr sz="12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빈번</a:t>
            </a:r>
            <a:endParaRPr sz="12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143500"/>
            <a:ext cx="1051560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"통계적으로 좋은 추정" 과 "실행 계획에 도움이 되는 추정" — 이 간극을 어떻게 메울 것인가?</a:t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  <a:r>
              <a:rPr sz="14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46107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446107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5634059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1000×, VBASE 최대 10,000× 이상,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1.5~37×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성능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향상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(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논문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보고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2-Ⅱ. Adaptive Sampling — 단일 테이블에서는 작동하지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1453896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1746504"/>
            <a:ext cx="4572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" y="2020824"/>
            <a:ext cx="4572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2734056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3026664"/>
            <a:ext cx="4572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3300984"/>
            <a:ext cx="4572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" y="4014215"/>
            <a:ext cx="45720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Skew </a:t>
            </a:r>
            <a:r>
              <a:rPr sz="12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지표</a:t>
            </a:r>
            <a:r>
              <a:rPr sz="1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 8 </a:t>
            </a:r>
            <a:r>
              <a:rPr sz="12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종</a:t>
            </a:r>
            <a:r>
              <a:rPr sz="1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전수</a:t>
            </a:r>
            <a:r>
              <a:rPr sz="1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" y="4306823"/>
            <a:ext cx="45720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D97706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" y="4581143"/>
            <a:ext cx="45720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128" y="1737360"/>
            <a:ext cx="4138502" cy="2468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634059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단일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테이블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vector range query (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이미지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검색·추천·RAG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)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는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**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명시적으로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배제한</a:t>
            </a: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** </a:t>
            </a: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사각지대</a:t>
            </a:r>
            <a:endParaRPr sz="12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776472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4206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9743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4826174"/>
            <a:ext cx="40233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RQ1: 8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지표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negative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query-side feature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사전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layer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정의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불가능성을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정량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증명</a:t>
            </a:r>
            <a:endParaRPr sz="9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40080" y="54315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6384" y="5283374"/>
            <a:ext cx="402336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RQ2: KM20 stratified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가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BERNOULLI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위에서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— 5-seed CI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하한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양수</a:t>
            </a:r>
            <a:endParaRPr sz="9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40080" y="5888736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" y="5837937"/>
            <a:ext cx="4315966" cy="2065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: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KM20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"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"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회복률 (Recovery Rate)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프레임워크로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측정</a:t>
            </a:r>
            <a:endParaRPr lang="en-US" sz="9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760" y="4526280"/>
            <a:ext cx="4491119" cy="192024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37760" y="6492240"/>
            <a:ext cx="667512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4-Ⅰ. RQ1 — 단일 테이블 사각지대의 구조적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Fisher γ, log-Fisher γ, P99/P50 tail ratio, Bowley skew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50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</a:t>
            </a:r>
            <a:r>
              <a:rPr sz="11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발견</a:t>
            </a:r>
            <a:r>
              <a:rPr sz="11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3683846"/>
            <a:ext cx="4892040" cy="77046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12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조합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모두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Q-error ratio ≈ 1.0 (skewed/non-skewed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그룹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차이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없음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글로벌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24 +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로컬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24 = 48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조합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모두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Spearman |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ρ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| &lt; 0.2 (Cohen 1988 small-effect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미달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100 query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전부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Fisher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γ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&lt; 0 (left-skewed) —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고차원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거리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집중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현상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47344"/>
            <a:ext cx="5806440" cy="211175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→ 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고차원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벡터에서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query-side feature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로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layer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를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사전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정의하는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것은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불가능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본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연구의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Motivation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첫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줄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4-Ⅱ. RQ2 (1) — 행 단위 추출이 블록 단위 편향을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8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892202"/>
              </p:ext>
            </p:extLst>
          </p:nvPr>
        </p:nvGraphicFramePr>
        <p:xfrm>
          <a:off x="548640" y="1417320"/>
          <a:ext cx="62179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 marT="93600"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 marT="93600"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309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 marT="93600"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31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F172A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F172A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 marT="93600">
                    <a:solidFill>
                      <a:srgbClr val="3B8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8" name="Picture 7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760" y="1417320"/>
            <a:ext cx="4482799" cy="3840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5303520"/>
            <a:ext cx="484632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630936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50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6263640" cy="16916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" y="4736752"/>
            <a:ext cx="60807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4 selectivity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구간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(s=0.05~0.5)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에서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p&lt;0.001 — block sampling bias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는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통계적으로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유의한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구조적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약점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줄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교체로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Exqutor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카디널리티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경로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확보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,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이는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Pivot C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fair baseline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도구이지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단독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기여가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아님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4-Ⅲ. RQ2 (2) — 공간 인식 층화 표본이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9 /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333062"/>
              </p:ext>
            </p:extLst>
          </p:nvPr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 marT="129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5-seed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평균</a:t>
                      </a:r>
                      <a:endParaRPr sz="1100" b="1" dirty="0">
                        <a:solidFill>
                          <a:srgbClr val="FFFFFF"/>
                        </a:solidFill>
                        <a:latin typeface="Apple SD Gothic Neo"/>
                      </a:endParaRPr>
                    </a:p>
                  </a:txBody>
                  <a:tcPr marT="129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 marT="129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 marT="129600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F172A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59669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59669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F172A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59669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</a:t>
                      </a:r>
                      <a:r>
                        <a:rPr sz="1100" b="0" dirty="0" err="1">
                          <a:solidFill>
                            <a:srgbClr val="0F172A"/>
                          </a:solidFill>
                          <a:latin typeface="Apple SD Gothic Neo"/>
                        </a:rPr>
                        <a:t>보충</a:t>
                      </a:r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)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 marT="129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F172A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 marT="129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523" y="1783080"/>
            <a:ext cx="4066794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4869180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50% / 30% / 10%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세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구간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모두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95% CI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0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을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포함하지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않음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— real effect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통계적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확정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통과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 → 5-seed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재현으로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우연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가능성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배제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BERNOULLI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위에서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추가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개선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누적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vs SYSTEM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5771219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vector.c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 +228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줄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native  ·  GUC 3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개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 · 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stratum_id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사전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부여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 ·  Horvitz-Thompson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가중</a:t>
            </a:r>
            <a:r>
              <a:rPr sz="10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endParaRPr sz="1000" b="1" dirty="0">
              <a:solidFill>
                <a:srgbClr val="3B82F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4-Ⅳ. 외적 타당성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10 / 17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11" y="1417320"/>
            <a:ext cx="5012656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D97706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58968"/>
            <a:ext cx="110642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5000"/>
              </a:lnSpc>
              <a:spcBef>
                <a:spcPts val="300"/>
              </a:spcBef>
              <a:spcAft>
                <a:spcPts val="300"/>
              </a:spcAft>
            </a:pPr>
            <a:r>
              <a:rPr sz="10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79008"/>
            <a:ext cx="11064240" cy="9144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①  DEEP 1M vs 8M : CI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겹침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(CONSISTENT) — 8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배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규모에서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동일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재현</a:t>
            </a:r>
            <a:endParaRPr sz="9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②  SIFT 1.5M : CI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가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DEEP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겹치지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않음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(~2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배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 —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통계적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구별</a:t>
            </a:r>
            <a:endParaRPr sz="9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  <a:p>
            <a:pPr algn="l">
              <a:lnSpc>
                <a:spcPct val="140000"/>
              </a:lnSpc>
              <a:spcBef>
                <a:spcPts val="200"/>
              </a:spcBef>
              <a:spcAft>
                <a:spcPts val="200"/>
              </a:spcAft>
            </a:pP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③ 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쏠림도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(CV) DEEP 0.234 vs SIFT 0.394 (68%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높음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 —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쏠림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↑ ⇒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9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가치</a:t>
            </a:r>
            <a:r>
              <a:rPr sz="9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4-Ⅴ. 데이터 쏠림과 공간 인식 효과의 인과 관계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0359091"/>
              </p:ext>
            </p:extLst>
          </p:nvPr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지배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요인</a:t>
                      </a:r>
                      <a:endParaRPr sz="900" b="1" dirty="0">
                        <a:solidFill>
                          <a:srgbClr val="FFFFFF"/>
                        </a:solidFill>
                        <a:latin typeface="Apple SD Gothic Neo"/>
                      </a:endParaRPr>
                    </a:p>
                  </a:txBody>
                  <a:tcPr marT="93600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0.500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F172A"/>
                          </a:solidFill>
                          <a:latin typeface="Apple SD Gothic Neo"/>
                        </a:rPr>
                        <a:t>비례만</a:t>
                      </a:r>
                      <a:endParaRPr sz="900" b="0" dirty="0">
                        <a:solidFill>
                          <a:srgbClr val="0F172A"/>
                        </a:solidFill>
                        <a:latin typeface="Apple SD Gothic Neo"/>
                      </a:endParaRP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0.300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0.100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 marT="93600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F172A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F172A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F172A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 marT="936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 marT="93600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 marT="93600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 marT="93600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 marT="93600"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★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공간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인식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Apple SD Gothic Neo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Apple SD Gothic Neo"/>
                        </a:rPr>
                        <a:t>단독</a:t>
                      </a:r>
                      <a:endParaRPr sz="900" b="1" dirty="0">
                        <a:solidFill>
                          <a:srgbClr val="FFFFFF"/>
                        </a:solidFill>
                        <a:latin typeface="Apple SD Gothic Neo"/>
                      </a:endParaRPr>
                    </a:p>
                  </a:txBody>
                  <a:tcPr marT="93600"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0" name="Picture 9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01680"/>
            <a:ext cx="5349240" cy="21402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4621105"/>
            <a:ext cx="50292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SIFT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클러스터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14.8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만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(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기대값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7.5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만의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2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배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4913713"/>
            <a:ext cx="50292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상위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2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클러스터가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전체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19%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점유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5206321"/>
            <a:ext cx="502920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5716354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쏠림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↑ ⇒ Level 2 (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공간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인식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)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단독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↑ —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본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가설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단조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관계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재확인</a:t>
            </a:r>
            <a:endParaRPr sz="1100" b="1" dirty="0">
              <a:solidFill>
                <a:srgbClr val="3B82F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4-Ⅵ. RQ3 (탐색 단계) — 분포를 모를 때의 회복률 (Recovery Rate)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 갈래의 후보를 조사 — W5~W7 비교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390565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회복률 (Recovery Rate) = (</a:t>
            </a:r>
            <a:r>
              <a:rPr sz="14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방법X</a:t>
            </a:r>
            <a:r>
              <a:rPr sz="14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213583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Partition (4 방법)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812625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LSH Random Hyperplane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3196673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Random Projection (JL)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580721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Hilbert Curve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09651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3964769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Mini-batch K-means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26279" y="2213583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Online Query-Adaptive (2 방법)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2812625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Distance-Shell</a:t>
            </a:r>
          </a:p>
        </p:txBody>
      </p:sp>
      <p:sp>
        <p:nvSpPr>
          <p:cNvPr id="28" name="Oval 27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00599" y="3196673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KDE-pilot (Neyman)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19" y="2213583"/>
            <a:ext cx="457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Weight-based (1 방법)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39" y="2812625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2748" y="5780612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★ 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최소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1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방법이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RR ≥ 0.5 →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분포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미지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시에도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KM20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의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절반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효과</a:t>
            </a:r>
            <a:r>
              <a:rPr sz="11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회수</a:t>
            </a:r>
            <a:endParaRPr sz="11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5-Ⅰ. 현재 진행 상황 (4 월 9 주차)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W1~W6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3/2~4/12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서버 권한 + Docker (4/14)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4/13~4/19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글로벌 쏠림 가설 기각 (4월 둘째 주)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8 지표 전수 검증 — 모두 무상관 (4월 둘째 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단일 테이블 사각지대 발견 (4월 둘째 주)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4/20~4/26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행 단위 추출로 교체 (4월 둘째 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층화 표본 1차 측정 (4월 둘째 주)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5-seed 95 % 신뢰구간 (4월 셋째 주)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4/27~5/3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Two-Level 분해 +19.6 %p (4월 셋째 주)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데이터셋별 쏠림 격차 측정 (4월 셋째 주)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RQ3 후보 조사 (4월 셋째 주)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·  중간 보고서 + 발표 (4월 넷째 주)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" y="569214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✓  RQ1 + RQ2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본선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+ 5-seed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외적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타당성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+ RQ3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설계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학기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중간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시점</a:t>
            </a:r>
            <a:r>
              <a:rPr sz="12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2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완료</a:t>
            </a:r>
            <a:endParaRPr sz="1200" b="1" dirty="0">
              <a:solidFill>
                <a:srgbClr val="3B82F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14 / 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86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5034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503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5336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</a:t>
            </a:r>
            <a:r>
              <a:rPr sz="1000" b="0" dirty="0" err="1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방법</a:t>
            </a:r>
            <a:r>
              <a:rPr sz="1000" b="0" dirty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06298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4470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4470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4772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회복률 (Recovery Rate)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65734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3906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3906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4208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25170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3342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3342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3644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84606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2778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2778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3080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440428"/>
            <a:ext cx="7772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dirty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22140"/>
            <a:ext cx="15544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22140"/>
            <a:ext cx="32004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25161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57734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77340"/>
            <a:ext cx="246888" cy="2468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542448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팀장</a:t>
            </a:r>
            <a:endParaRPr sz="1200" b="1" dirty="0">
              <a:solidFill>
                <a:srgbClr val="FFFFFF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23774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박세은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전체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일정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관리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자문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회신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·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발표·보고서</a:t>
            </a:r>
            <a:r>
              <a:rPr sz="1000" b="0" dirty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000" b="0" dirty="0" err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총괄</a:t>
            </a:r>
            <a:endParaRPr sz="1000" b="0" dirty="0">
              <a:solidFill>
                <a:srgbClr val="0F172A"/>
              </a:solidFill>
              <a:latin typeface="Apple SD Gothic Neo"/>
              <a:ea typeface="Apple SD Gothic Neo"/>
              <a:cs typeface="Apple SD Gothic Ne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219456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자문 컨택 정리 · 4 인 합의 주재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7560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29000" y="157734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1577340"/>
            <a:ext cx="246888" cy="2468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5888" y="1542448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주 발표자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2057400"/>
            <a:ext cx="23774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강재현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20440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20440" y="278892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중간발표 주 발표 · 슬라이드 검수 · Q&amp;A 사회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343400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20440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80" y="4663440"/>
            <a:ext cx="219456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16 슬라이드 검수 · 리허설 2회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2647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217919" y="157734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19" y="1577340"/>
            <a:ext cx="246888" cy="2468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1542448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실험·문서화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2057400"/>
            <a:ext cx="23774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조현빈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09359" y="278892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RQ1/RQ2 실험 · vector.c native 구현 · 보고서 작성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59" y="4299284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799" y="4663440"/>
            <a:ext cx="219456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vector.c +228 줄 native 구현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399" y="146304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915399" y="1463040"/>
            <a:ext cx="26974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006839" y="1577340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06839" y="1577340"/>
            <a:ext cx="246888" cy="24688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53727" y="1542448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분석·작도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79" y="2057400"/>
            <a:ext cx="237744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이동욱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79" y="2651760"/>
            <a:ext cx="1097280" cy="25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098279" y="278892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통계 분석 (CI·Two-Level) · 그림 작성 · RQ3 설계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79" y="4343400"/>
            <a:ext cx="2377440" cy="274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HIGHLIGHT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79" y="4617720"/>
            <a:ext cx="2331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89719" y="4663440"/>
            <a:ext cx="2194560" cy="68580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Two-Level +19.6%p 분해 · 그림 8 종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7240" y="5669280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502920"/>
            <a:ext cx="54864" cy="7772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결론 — 본 발표의 4 핵심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RQ1 negative · RQ2 외적 타당성 · Two-Level 분해 · RQ3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127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16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8590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23774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 지표는 Q-error 를 예측하지 못한다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48 / 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조합 모두 |ρ| &lt; 0.2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글로벌 4 + 로컬 4 = 48 조합 모두 negative — query-side feature 사전 layer 정의 불가능성을 정량 증명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0" y="148590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Skew-Aware Sampling 의 외적 타당성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440" y="29718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+1.64 ~ +3.07%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47472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DEEP 1M / 8M / SIFT 5-seed 95%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02336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3 데이터셋 모두 BERN 위에서 추가 개선 — DEEP 1M vs 8M CI 겹침 (CONSISTENT) · SIFT 1.5M 약 2배 효과 (CV 0.394, 통계적 구별)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39" y="148590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Two-Level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공간 인식 단독 효과 정량화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09359" y="29718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dirty="0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+19.6 %p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47472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Level 2 단독 (DEEP 1M, s=0.010)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402336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KM20 +8.93%, RANDOM20 −10.67% — 비례 배분 (Level 1) 과 공간 인식 (Level 2) 분해, 가설 단조 관계 재확인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52559" y="1485900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RQ3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7772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회복률 (Recovery Rate) 프레임워크 설계 완료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98279" y="2926080"/>
            <a:ext cx="2331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98279" y="2971800"/>
            <a:ext cx="23317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2563EB"/>
                </a:solidFill>
                <a:latin typeface="Apple SD Gothic Neo"/>
                <a:ea typeface="Apple SD Gothic Neo"/>
                <a:cs typeface="Apple SD Gothic Neo"/>
              </a:rPr>
              <a:t>3 × 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474720"/>
            <a:ext cx="233172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패러다임 × 방법 (W5~W7 실험)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4023360"/>
            <a:ext cx="2377440" cy="14173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F172A"/>
                </a:solidFill>
                <a:latin typeface="Apple SD Gothic Neo"/>
                <a:ea typeface="Apple SD Gothic Neo"/>
                <a:cs typeface="Apple SD Gothic Neo"/>
              </a:rPr>
              <a:t>Offline (LSH/RP/Hilbert/MiniBatch) + Online (Shell/KDE-pilot) + Weight (IS) — 분포 미지 시 KM20 의 절반 효과 회수 목표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★  skewed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거리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분포에서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카디널리티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추정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정확도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—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본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연구의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단계적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sanitize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가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측정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가능한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개선을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정량</a:t>
            </a:r>
            <a:r>
              <a:rPr sz="1100" b="1" dirty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 </a:t>
            </a:r>
            <a:r>
              <a:rPr sz="1100" b="1" dirty="0" err="1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확보</a:t>
            </a:r>
            <a:endParaRPr sz="1100" b="1" dirty="0">
              <a:solidFill>
                <a:srgbClr val="3B82F6"/>
              </a:solidFill>
              <a:latin typeface="Apple SD Gothic Neo"/>
              <a:ea typeface="Apple SD Gothic Neo"/>
              <a:cs typeface="Apple SD Gothic Ne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3B82F6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64748B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2425</Words>
  <Application>Microsoft Macintosh PowerPoint</Application>
  <PresentationFormat>와이드스크린</PresentationFormat>
  <Paragraphs>390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Apple SD Gothic Neo</vt:lpstr>
      <vt:lpstr>Arial</vt:lpstr>
      <vt:lpstr>Calibri</vt:lpstr>
      <vt:lpstr>Menlo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조현빈</cp:lastModifiedBy>
  <cp:revision>5</cp:revision>
  <dcterms:created xsi:type="dcterms:W3CDTF">2013-01-27T09:14:16Z</dcterms:created>
  <dcterms:modified xsi:type="dcterms:W3CDTF">2026-04-27T09:59:34Z</dcterms:modified>
  <cp:category/>
</cp:coreProperties>
</file>
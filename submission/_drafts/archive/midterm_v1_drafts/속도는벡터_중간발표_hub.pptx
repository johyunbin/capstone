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6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689D8"/>
                </a:solidFill>
                <a:latin typeface="Apple SD Gothic Neo"/>
                <a:ea typeface="Apple SD Gothic Neo"/>
                <a:cs typeface="Apple SD Gothic Neo"/>
              </a:rPr>
              <a:t>CAPSTONE 2026-1  ·  MIDTERM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4572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0689D8"/>
                </a:solidFill>
                <a:latin typeface="Apple SD Gothic Neo"/>
                <a:ea typeface="Apple SD Gothic Neo"/>
                <a:cs typeface="Apple SD Gothic Neo"/>
              </a:rPr>
              <a:t>2026-04-28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64008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Exqutor 벡터 카디널리티 추정의 단일 테이블 사각지대와 Skew-Aware Sampling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6400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0689D8"/>
                </a:solidFill>
                <a:latin typeface="Apple SD Gothic Neo"/>
                <a:ea typeface="Apple SD Gothic Neo"/>
                <a:cs typeface="Apple SD Gothic Neo"/>
              </a:rPr>
              <a:t>Pivot A BERNOULLI 교체 + Pivot C KM20 Stratified — 3 데이터셋 5-seed CI 검증</a:t>
            </a:r>
          </a:p>
        </p:txBody>
      </p:sp>
      <p:sp>
        <p:nvSpPr>
          <p:cNvPr id="6" name="Oval 5"/>
          <p:cNvSpPr/>
          <p:nvPr/>
        </p:nvSpPr>
        <p:spPr>
          <a:xfrm>
            <a:off x="8503920" y="2697480"/>
            <a:ext cx="1828800" cy="1005840"/>
          </a:xfrm>
          <a:prstGeom prst="ellipse">
            <a:avLst/>
          </a:prstGeom>
          <a:solidFill>
            <a:srgbClr val="068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2834640"/>
            <a:ext cx="1828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Skew-Aware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32004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Sampling</a:t>
            </a:r>
          </a:p>
        </p:txBody>
      </p:sp>
      <p:cxnSp>
        <p:nvCxnSpPr>
          <p:cNvPr id="9" name="Connector 8"/>
          <p:cNvCxnSpPr/>
          <p:nvPr/>
        </p:nvCxnSpPr>
        <p:spPr>
          <a:xfrm flipH="1" flipV="1">
            <a:off x="7589520" y="1828800"/>
            <a:ext cx="1828800" cy="1371600"/>
          </a:xfrm>
          <a:prstGeom prst="line">
            <a:avLst/>
          </a:prstGeom>
          <a:ln w="12700">
            <a:solidFill>
              <a:srgbClr val="5B71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949440" y="1463040"/>
            <a:ext cx="128016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68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150876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0B1D6F"/>
                </a:solidFill>
                <a:latin typeface="Apple SD Gothic Neo"/>
                <a:ea typeface="Apple SD Gothic Neo"/>
                <a:cs typeface="Apple SD Gothic Neo"/>
              </a:rPr>
              <a:t>RQ1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82880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8 지표 negative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9418320" y="1828800"/>
            <a:ext cx="1828800" cy="1371600"/>
          </a:xfrm>
          <a:prstGeom prst="line">
            <a:avLst/>
          </a:prstGeom>
          <a:ln w="12700">
            <a:solidFill>
              <a:srgbClr val="5B71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607040" y="1463040"/>
            <a:ext cx="128016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68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0" y="150876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0B1D6F"/>
                </a:solidFill>
                <a:latin typeface="Apple SD Gothic Neo"/>
                <a:ea typeface="Apple SD Gothic Neo"/>
                <a:cs typeface="Apple SD Gothic Neo"/>
              </a:rPr>
              <a:t>RQ2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182880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+1.64% (CI)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7589520" y="3200400"/>
            <a:ext cx="1828800" cy="1371600"/>
          </a:xfrm>
          <a:prstGeom prst="line">
            <a:avLst/>
          </a:prstGeom>
          <a:ln w="12700">
            <a:solidFill>
              <a:srgbClr val="5B71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949440" y="4206240"/>
            <a:ext cx="128016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68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425196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0B1D6F"/>
                </a:solidFill>
                <a:latin typeface="Apple SD Gothic Neo"/>
                <a:ea typeface="Apple SD Gothic Neo"/>
                <a:cs typeface="Apple SD Gothic Neo"/>
              </a:rPr>
              <a:t>RQ3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57200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Recovery Rate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418320" y="3200400"/>
            <a:ext cx="1828800" cy="1371600"/>
          </a:xfrm>
          <a:prstGeom prst="line">
            <a:avLst/>
          </a:prstGeom>
          <a:ln w="12700">
            <a:solidFill>
              <a:srgbClr val="5B71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607040" y="4206240"/>
            <a:ext cx="128016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68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07040" y="425196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0B1D6F"/>
                </a:solidFill>
                <a:latin typeface="Apple SD Gothic Neo"/>
                <a:ea typeface="Apple SD Gothic Neo"/>
                <a:cs typeface="Apple SD Gothic Neo"/>
              </a:rPr>
              <a:t>Validity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457200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3 데이터셋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669280"/>
            <a:ext cx="10515600" cy="12700"/>
          </a:xfrm>
          <a:prstGeom prst="rect">
            <a:avLst/>
          </a:prstGeom>
          <a:solidFill>
            <a:srgbClr val="5B7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85216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속도는벡터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박세은 (팀장)  ·  강재현  ·  조현빈  ·  이동욱  ·  지도교수 박광현 · 연구원 이채림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B1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0B1D6F"/>
                </a:solidFill>
                <a:latin typeface="Apple SD Gothic Neo"/>
                <a:ea typeface="Apple SD Gothic Neo"/>
                <a:cs typeface="Apple SD Gothic Neo"/>
              </a:rPr>
              <a:t>Table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E7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2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B1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2763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55448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62763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벡터 카디널리티 추정의 사각지대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6888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B1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8775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51460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Background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58775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Exqutor 의 두 해법과 한계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2900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B1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54787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47472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Our 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54787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Skew-Aware Sampling 의 차별성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38912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B1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50799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43484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Experiments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450799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RQ1 · RQ2 · RQ3 설계와 결과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34924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B1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46811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39496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546811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현재 진행 상황 및 향후 계획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B1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0B1D6F"/>
                </a:solidFill>
                <a:latin typeface="Apple SD Gothic Neo"/>
                <a:ea typeface="Apple SD Gothic Neo"/>
                <a:cs typeface="Apple SD Gothic Neo"/>
              </a:rPr>
              <a:t>1. 해결하고자 하는 문제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E7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3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벡터 조건의 선택도를 시스템마다 "고정 비율"로 추정한다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B1D6F"/>
                </a:solidFill>
                <a:latin typeface="Apple SD Gothic Neo"/>
                <a:ea typeface="Apple SD Gothic Neo"/>
                <a:cs typeface="Apple SD Gothic Neo"/>
              </a:rPr>
              <a:t>기존 시스템 — 고정 비율 추정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B1D6F"/>
                </a:solidFill>
                <a:latin typeface="Apple SD Gothic Neo"/>
                <a:ea typeface="Apple SD Gothic Neo"/>
                <a:cs typeface="Apple SD Gothic Neo"/>
              </a:rPr>
              <a:t>pgvector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37744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33.3%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PostgreSQL operator default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00400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29184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B1D6F"/>
                </a:solidFill>
                <a:latin typeface="Apple SD Gothic Neo"/>
                <a:ea typeface="Apple SD Gothic Neo"/>
                <a:cs typeface="Apple SD Gothic Neo"/>
              </a:rPr>
              <a:t>VBASE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24612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50.0%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5760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fixed estimator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69079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60519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B1D6F"/>
                </a:solidFill>
                <a:latin typeface="Apple SD Gothic Neo"/>
                <a:ea typeface="Apple SD Gothic Neo"/>
                <a:cs typeface="Apple SD Gothic Neo"/>
              </a:rPr>
              <a:t>DuckDB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114799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26279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scan all rows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1965960"/>
            <a:ext cx="5760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rPr>
              <a:t>실제 — 0.001% ~ 90% 의 광범위한 분포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2331720"/>
            <a:ext cx="576072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24688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■ 실제 선택도는 query 에 따라 0.001% ~ 90% 의 광범위한 분포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■ 옵티마이저가 잘못된 실행 계획 선택 → nested loop ↔ hash join, index 사용 여부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■ 이미지 검색 / 추천 / RAG retrieval 등 단일 테이블 vector range query 에서 빈번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0B1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212080"/>
            <a:ext cx="105156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"기술적으로 좋은 추정" vs "실행 계획에 진짜 도움 되는 추정" — 이 간극을 어떻게 메울 것인가?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B1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0B1D6F"/>
                </a:solidFill>
                <a:latin typeface="Apple SD Gothic Neo"/>
                <a:ea typeface="Apple SD Gothic Neo"/>
                <a:cs typeface="Apple SD Gothic Neo"/>
              </a:rPr>
              <a:t>2-Ⅰ. 기존 연구의 현황 — Exqutor 의 두 보완책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arXiv:2512.09695v2 (2024) · 4/3 교수님 미팅에서 본 논문 채택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E7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4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44068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440680" cy="411480"/>
          </a:xfrm>
          <a:prstGeom prst="rect">
            <a:avLst/>
          </a:prstGeom>
          <a:solidFill>
            <a:srgbClr val="0B1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630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ECQO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B1D6F"/>
                </a:solidFill>
                <a:latin typeface="Apple SD Gothic Neo"/>
                <a:ea typeface="Apple SD Gothic Neo"/>
                <a:cs typeface="Apple SD Gothic Neo"/>
              </a:rPr>
              <a:t>HNSW 인덱스가 있을 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50292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HNSW range query 를 직접 실행해 1~2ms 로 정확 카디널리티 산출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023360"/>
            <a:ext cx="4983480" cy="1097280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 w="19050">
            <a:solidFill>
              <a:srgbClr val="068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114800"/>
            <a:ext cx="49834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0B1D6F"/>
                </a:solidFill>
                <a:latin typeface="Apple SD Gothic Neo"/>
                <a:ea typeface="Apple SD Gothic Neo"/>
                <a:cs typeface="Apple SD Gothic Neo"/>
              </a:rPr>
              <a:t>1~2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4983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정확 카디널리티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417320"/>
            <a:ext cx="544068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417320"/>
            <a:ext cx="5440680" cy="411480"/>
          </a:xfrm>
          <a:prstGeom prst="rect">
            <a:avLst/>
          </a:prstGeom>
          <a:solidFill>
            <a:srgbClr val="0B1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Adaptive Sampling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1168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B1D6F"/>
                </a:solidFill>
                <a:latin typeface="Apple SD Gothic Neo"/>
                <a:ea typeface="Apple SD Gothic Neo"/>
                <a:cs typeface="Apple SD Gothic Neo"/>
              </a:rPr>
              <a:t>인덱스가 없을 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68880"/>
            <a:ext cx="50292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모멘텀 기반 동적 샘플링 — sample size 를 점진 확장하며 분산 수렴 판정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023360"/>
            <a:ext cx="4983480" cy="1097280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 w="19050">
            <a:solidFill>
              <a:srgbClr val="068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114800"/>
            <a:ext cx="49834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0B1D6F"/>
                </a:solidFill>
                <a:latin typeface="Apple SD Gothic Neo"/>
                <a:ea typeface="Apple SD Gothic Neo"/>
                <a:cs typeface="Apple SD Gothic Neo"/>
              </a:rPr>
              <a:t>1000×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663440"/>
            <a:ext cx="4983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pgvector 대비 최대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57784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0B1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50992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689D8"/>
                </a:solidFill>
                <a:latin typeface="Apple SD Gothic Neo"/>
                <a:ea typeface="Apple SD Gothic Neo"/>
                <a:cs typeface="Apple SD Gothic Neo"/>
              </a:rPr>
              <a:t>→  pgvector 1000×, VBASE 10000×, DuckDB 1.5~37× 성능 향상 (논문 보고)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B1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0B1D6F"/>
                </a:solidFill>
                <a:latin typeface="Apple SD Gothic Neo"/>
                <a:ea typeface="Apple SD Gothic Neo"/>
                <a:cs typeface="Apple SD Gothic Neo"/>
              </a:rPr>
              <a:t>2-Ⅱ. Adaptive Sampling 의 한계 — 사각지대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본 팀 4/14 소스 검증으로 첫 정량 확인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E7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5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411480" cy="1143000"/>
          </a:xfrm>
          <a:prstGeom prst="rect">
            <a:avLst/>
          </a:prstGeom>
          <a:solidFill>
            <a:srgbClr val="0B1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411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#1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50876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B1D6F"/>
                </a:solidFill>
                <a:latin typeface="Apple SD Gothic Neo"/>
                <a:ea typeface="Apple SD Gothic Neo"/>
                <a:cs typeface="Apple SD Gothic Neo"/>
              </a:rPr>
              <a:t>Hook Trigger 사각지대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801368"/>
            <a:ext cx="4572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C2410C"/>
                </a:solidFill>
                <a:latin typeface="Menlo"/>
                <a:ea typeface="Menlo"/>
                <a:cs typeface="Menlo"/>
              </a:rPr>
              <a:t>vector.c L243 · if (table_count &gt;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075688"/>
            <a:ext cx="4572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단일 테이블 vector range query 가 hook 경로에서 배제 → 모든 query 가 PG default selectivity 1/3 로 fall-through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9748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411480" cy="1143000"/>
          </a:xfrm>
          <a:prstGeom prst="rect">
            <a:avLst/>
          </a:prstGeom>
          <a:solidFill>
            <a:srgbClr val="0B1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63240"/>
            <a:ext cx="411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#2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78892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B1D6F"/>
                </a:solidFill>
                <a:latin typeface="Apple SD Gothic Neo"/>
                <a:ea typeface="Apple SD Gothic Neo"/>
                <a:cs typeface="Apple SD Gothic Neo"/>
              </a:rPr>
              <a:t>Plan Replacement 부작용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081528"/>
            <a:ext cx="4572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C2410C"/>
                </a:solidFill>
                <a:latin typeface="Menlo"/>
                <a:ea typeface="Menlo"/>
                <a:cs typeface="Menlo"/>
              </a:rPr>
              <a:t>hook 우회 시 outer query plan-tree → Sample Scan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355848"/>
            <a:ext cx="4572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true=100,000 query 의 SELECT count(*) 가 sample 안 부분 카운트 32 로 격하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77639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977639"/>
            <a:ext cx="411480" cy="1143000"/>
          </a:xfrm>
          <a:prstGeom prst="rect">
            <a:avLst/>
          </a:prstGeom>
          <a:solidFill>
            <a:srgbClr val="0B1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343399"/>
            <a:ext cx="411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#3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069079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B1D6F"/>
                </a:solidFill>
                <a:latin typeface="Apple SD Gothic Neo"/>
                <a:ea typeface="Apple SD Gothic Neo"/>
                <a:cs typeface="Apple SD Gothic Neo"/>
              </a:rPr>
              <a:t>Skew 지표 8 종 전수 negative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361687"/>
            <a:ext cx="4572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C2410C"/>
                </a:solidFill>
                <a:latin typeface="Menlo"/>
                <a:ea typeface="Menlo"/>
                <a:cs typeface="Menlo"/>
              </a:rPr>
              <a:t>Phase 1·5 — 글로벌 4 + 로컬 4 = 8 지표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636007"/>
            <a:ext cx="4572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Fisher γ, k-NN entropy, PCA EVR1 등 모든 지표 vs Q-error 의 Spearman |ρ| &lt; 0.2 (24 조합)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1371600"/>
            <a:ext cx="5852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B1D6F"/>
                </a:solidFill>
                <a:latin typeface="Apple SD Gothic Neo"/>
                <a:ea typeface="Apple SD Gothic Neo"/>
                <a:cs typeface="Apple SD Gothic Neo"/>
              </a:rPr>
              <a:t>vector.c — Hook Trigger 사각지대 (line 243)</a:t>
            </a:r>
          </a:p>
        </p:txBody>
      </p:sp>
      <p:pic>
        <p:nvPicPr>
          <p:cNvPr id="26" name="Picture 25" descr="slide6_vector_c_snipp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828848"/>
            <a:ext cx="5806440" cy="228590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852160" y="4251960"/>
            <a:ext cx="58064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vector.c L243 — table_count &gt; 2 hook trigger 사각지대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57784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650992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★  단일 테이블 vector range query (이미지 검색·추천·RAG) 는 Exqutor 가 **명시적으로 배제한** 사각지대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B1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0B1D6F"/>
                </a:solidFill>
                <a:latin typeface="Apple SD Gothic Neo"/>
                <a:ea typeface="Apple SD Gothic Neo"/>
                <a:cs typeface="Apple SD Gothic Neo"/>
              </a:rPr>
              <a:t>3. 차별성 및 제안 연구의 중요성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Skew-Aware Sampling — 분포 정보를 사용한 두 단계 보강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E7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6 / 15</a:t>
            </a:r>
          </a:p>
        </p:txBody>
      </p:sp>
      <p:sp>
        <p:nvSpPr>
          <p:cNvPr id="7" name="Oval 6"/>
          <p:cNvSpPr/>
          <p:nvPr/>
        </p:nvSpPr>
        <p:spPr>
          <a:xfrm>
            <a:off x="4905756" y="2926080"/>
            <a:ext cx="2377440" cy="1188720"/>
          </a:xfrm>
          <a:prstGeom prst="ellipse">
            <a:avLst/>
          </a:prstGeom>
          <a:solidFill>
            <a:srgbClr val="0B1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05756" y="3108960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0689D8"/>
                </a:solidFill>
                <a:latin typeface="Apple SD Gothic Neo"/>
                <a:ea typeface="Apple SD Gothic Neo"/>
                <a:cs typeface="Apple SD Gothic Neo"/>
              </a:rPr>
              <a:t>본 연구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05756" y="3474720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Skew-Aware Sampling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05756" y="384048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0689D8"/>
                </a:solidFill>
                <a:latin typeface="Apple SD Gothic Neo"/>
                <a:ea typeface="Apple SD Gothic Neo"/>
                <a:cs typeface="Apple SD Gothic Neo"/>
              </a:rPr>
              <a:t>Pivot A + Pivot C 직교 결합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194560"/>
            <a:ext cx="320040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194560"/>
            <a:ext cx="3200400" cy="365760"/>
          </a:xfrm>
          <a:prstGeom prst="rect">
            <a:avLst/>
          </a:prstGeom>
          <a:solidFill>
            <a:srgbClr val="0B1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240280"/>
            <a:ext cx="2834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Pivot A — Block-bias 제거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697480"/>
            <a:ext cx="283464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vector.c L889 의 TABLESAMPLE SYSTEM(%f) → BERNOULLI(%f) 한 줄 교체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49040"/>
            <a:ext cx="2834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0B1D6F"/>
                </a:solidFill>
                <a:latin typeface="Apple SD Gothic Neo"/>
                <a:ea typeface="Apple SD Gothic Neo"/>
                <a:cs typeface="Apple SD Gothic Neo"/>
              </a:rPr>
              <a:t>+9.6%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97680"/>
            <a:ext cx="2834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s=0.500, p&lt;0.001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2194560"/>
            <a:ext cx="320040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20" y="2194560"/>
            <a:ext cx="3200400" cy="365760"/>
          </a:xfrm>
          <a:prstGeom prst="rect">
            <a:avLst/>
          </a:prstGeom>
          <a:solidFill>
            <a:srgbClr val="068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2240280"/>
            <a:ext cx="2834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Pivot C — Data-side k-means K=20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697480"/>
            <a:ext cx="283464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vector.c +228 줄 native 구현 — stratum_id 사전 부여 + Horvitz-Thompson 가중 추정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749040"/>
            <a:ext cx="2834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0B1D6F"/>
                </a:solidFill>
                <a:latin typeface="Apple SD Gothic Neo"/>
                <a:ea typeface="Apple SD Gothic Neo"/>
                <a:cs typeface="Apple SD Gothic Neo"/>
              </a:rPr>
              <a:t>+1.64%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4297680"/>
            <a:ext cx="2834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DEEP 1M, 5-seed CI [+1.11, +2.18]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931920" y="3520440"/>
            <a:ext cx="973836" cy="0"/>
          </a:xfrm>
          <a:prstGeom prst="line">
            <a:avLst/>
          </a:prstGeom>
          <a:ln w="19050">
            <a:solidFill>
              <a:srgbClr val="068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283196" y="3520440"/>
            <a:ext cx="992124" cy="0"/>
          </a:xfrm>
          <a:prstGeom prst="line">
            <a:avLst/>
          </a:prstGeom>
          <a:ln w="19050">
            <a:solidFill>
              <a:srgbClr val="068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8640" y="5074920"/>
            <a:ext cx="110642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B1D6F"/>
                </a:solidFill>
                <a:latin typeface="Apple SD Gothic Neo"/>
                <a:ea typeface="Apple SD Gothic Neo"/>
                <a:cs typeface="Apple SD Gothic Neo"/>
              </a:rPr>
              <a:t>본 연구의 핵심 기여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5458968"/>
            <a:ext cx="109728" cy="109728"/>
          </a:xfrm>
          <a:prstGeom prst="ellipse">
            <a:avLst/>
          </a:prstGeom>
          <a:solidFill>
            <a:srgbClr val="068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394960"/>
            <a:ext cx="107899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RQ1: 8 지표 negative 로 query-side feature 의 사전 layer 정의 불가능성을 정량 증명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" y="5751576"/>
            <a:ext cx="109728" cy="109728"/>
          </a:xfrm>
          <a:prstGeom prst="ellipse">
            <a:avLst/>
          </a:prstGeom>
          <a:solidFill>
            <a:srgbClr val="068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687568"/>
            <a:ext cx="107899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RQ2: KM20 stratified 가 BERNOULLI 위에서 추가 개선 — 5-seed CI 하한 양수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" y="6044184"/>
            <a:ext cx="109728" cy="109728"/>
          </a:xfrm>
          <a:prstGeom prst="ellipse">
            <a:avLst/>
          </a:prstGeom>
          <a:solidFill>
            <a:srgbClr val="068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980176"/>
            <a:ext cx="107899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RQ3 설계: 분포 미지 시 KM20 의 "공간 인식 효과" 를 Recovery Rate 프레임워크로 측정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B1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0B1D6F"/>
                </a:solidFill>
                <a:latin typeface="Apple SD Gothic Neo"/>
                <a:ea typeface="Apple SD Gothic Neo"/>
                <a:cs typeface="Apple SD Gothic Neo"/>
              </a:rPr>
              <a:t>4-Ⅰ. RQ1 — Skew 지표는 Q-error 를 예측하지 못한다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Phase 1 (글로벌) + Phase 5 (로컬) = 8 지표 전수 검증, 총 3000 측정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E7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7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B1D6F"/>
                </a:solidFill>
                <a:latin typeface="Apple SD Gothic Neo"/>
                <a:ea typeface="Apple SD Gothic Neo"/>
                <a:cs typeface="Apple SD Gothic Neo"/>
              </a:rPr>
              <a:t>실험 셋업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73352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데이터셋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655064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DEEP 1M subset · 96d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쿼리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039112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100 query × 6 selectivity × 5 seed = 3000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41448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지표 (글로벌)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423160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Fisher γ, tail ratio, P99/P50, skewness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25496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지표 (로컬)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807208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k-NN entropy, PCA EVR1, KDE modality, NN clustering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4612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B1D6F"/>
                </a:solidFill>
                <a:latin typeface="Apple SD Gothic Neo"/>
                <a:ea typeface="Apple SD Gothic Neo"/>
                <a:cs typeface="Apple SD Gothic Neo"/>
              </a:rPr>
              <a:t>주요 발견 (Phase 1 + Phase 5)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66160"/>
            <a:ext cx="50749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657600"/>
            <a:ext cx="4800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①  12 조합 모두 Q-error ratio ≈ 1.0 (skewed/non-skewed 그룹 차이 없음)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②  24 조합 모두 Spearman |ρ| &lt; 0.2 (Cohen 1988 small-effect 미달)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③  100 query 전부 Fisher γ &lt; 0 (left-skewed) — 고차원 거리 집중 현상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1325880"/>
            <a:ext cx="5852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B1D6F"/>
                </a:solidFill>
                <a:latin typeface="Apple SD Gothic Neo"/>
                <a:ea typeface="Apple SD Gothic Neo"/>
                <a:cs typeface="Apple SD Gothic Neo"/>
              </a:rPr>
              <a:t>Phase 5 Local Skew × Selectivity Spearman ρ</a:t>
            </a:r>
          </a:p>
        </p:txBody>
      </p:sp>
      <p:pic>
        <p:nvPicPr>
          <p:cNvPr id="20" name="Picture 19" descr="figure_6_phase5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727881"/>
            <a:ext cx="5806440" cy="235067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852160" y="4160520"/>
            <a:ext cx="58064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Phase 5 — 로컬 4 지표 × 6 selectivity = 24 조합 모두 |ρ| &lt; 0.2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62356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687568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→  고차원 벡터에서 query-side feature 로 layer 를 사전 정의하는 것은 불가능 — 본 연구의 Motivation 첫 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B1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0B1D6F"/>
                </a:solidFill>
                <a:latin typeface="Apple SD Gothic Neo"/>
                <a:ea typeface="Apple SD Gothic Neo"/>
                <a:cs typeface="Apple SD Gothic Neo"/>
              </a:rPr>
              <a:t>4-Ⅱ. RQ2 (1) — BERNOULLI 가 SYSTEM 의 block-bias 를 제거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100 query × 6 selectivity × 1 seed × 2 mode = 1200 측정 · paired Wilcoxon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E7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8 / 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7315200" cy="2231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280160"/>
                <a:gridCol w="1280160"/>
                <a:gridCol w="914400"/>
                <a:gridCol w="1463040"/>
                <a:gridCol w="1463040"/>
              </a:tblGrid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selectivity</a:t>
                      </a:r>
                    </a:p>
                  </a:txBody>
                  <a:tcPr>
                    <a:solidFill>
                      <a:srgbClr val="0B1D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SYS median</a:t>
                      </a:r>
                    </a:p>
                  </a:txBody>
                  <a:tcPr>
                    <a:solidFill>
                      <a:srgbClr val="0B1D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BERN median</a:t>
                      </a:r>
                    </a:p>
                  </a:txBody>
                  <a:tcPr>
                    <a:solidFill>
                      <a:srgbClr val="0B1D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diff%</a:t>
                      </a:r>
                    </a:p>
                  </a:txBody>
                  <a:tcPr>
                    <a:solidFill>
                      <a:srgbClr val="0B1D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p-value</a:t>
                      </a:r>
                    </a:p>
                  </a:txBody>
                  <a:tcPr>
                    <a:solidFill>
                      <a:srgbClr val="0B1D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유의</a:t>
                      </a:r>
                    </a:p>
                  </a:txBody>
                  <a:tcPr>
                    <a:solidFill>
                      <a:srgbClr val="0B1D6F"/>
                    </a:solidFill>
                  </a:tcPr>
                </a:tc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2E"/>
                          </a:solidFill>
                          <a:latin typeface="Apple SD Gothic Neo"/>
                        </a:rPr>
                        <a:t>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Apple SD Gothic Neo"/>
                        </a:rPr>
                        <a:t>2.597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Apple SD Gothic Neo"/>
                        </a:rPr>
                        <a:t>2.597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Apple SD Gothic Neo"/>
                        </a:rPr>
                        <a:t>+0.0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Apple SD Gothic Neo"/>
                        </a:rPr>
                        <a:t>0.596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Apple SD Gothic Neo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2E"/>
                          </a:solidFill>
                          <a:latin typeface="Apple SD Gothic Neo"/>
                        </a:rPr>
                        <a:t>0.010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Apple SD Gothic Neo"/>
                        </a:rPr>
                        <a:t>1.558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Apple SD Gothic Neo"/>
                        </a:rPr>
                        <a:t>1.299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Apple SD Gothic Neo"/>
                        </a:rPr>
                        <a:t>+20.0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Apple SD Gothic Neo"/>
                        </a:rPr>
                        <a:t>0.240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Apple SD Gothic Neo"/>
                        </a:rPr>
                        <a:t>—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2E"/>
                          </a:solidFill>
                          <a:latin typeface="Apple SD Gothic Neo"/>
                        </a:rPr>
                        <a:t>0.050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Apple SD Gothic Neo"/>
                        </a:rPr>
                        <a:t>1.203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Apple SD Gothic Neo"/>
                        </a:rPr>
                        <a:t>1.195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Apple SD Gothic Neo"/>
                        </a:rPr>
                        <a:t>+0.7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Apple SD Gothic Neo"/>
                        </a:rPr>
                        <a:t>0.0009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★★</a:t>
                      </a:r>
                    </a:p>
                  </a:txBody>
                  <a:tcPr>
                    <a:solidFill>
                      <a:srgbClr val="0689D8"/>
                    </a:solidFill>
                  </a:tcPr>
                </a:tc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2E"/>
                          </a:solidFill>
                          <a:latin typeface="Apple SD Gothic Neo"/>
                        </a:rPr>
                        <a:t>0.100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Apple SD Gothic Neo"/>
                        </a:rPr>
                        <a:t>1.212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Apple SD Gothic Neo"/>
                        </a:rPr>
                        <a:t>1.132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Apple SD Gothic Neo"/>
                        </a:rPr>
                        <a:t>+7.0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Apple SD Gothic Neo"/>
                        </a:rPr>
                        <a:t>&lt;0.001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★★★</a:t>
                      </a:r>
                    </a:p>
                  </a:txBody>
                  <a:tcPr>
                    <a:solidFill>
                      <a:srgbClr val="0689D8"/>
                    </a:solidFill>
                  </a:tcPr>
                </a:tc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2E"/>
                          </a:solidFill>
                          <a:latin typeface="Apple SD Gothic Neo"/>
                        </a:rPr>
                        <a:t>0.300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Apple SD Gothic Neo"/>
                        </a:rPr>
                        <a:t>1.210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Apple SD Gothic Neo"/>
                        </a:rPr>
                        <a:t>1.079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Apple SD Gothic Neo"/>
                        </a:rPr>
                        <a:t>+12.0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Apple SD Gothic Neo"/>
                        </a:rPr>
                        <a:t>&lt;0.001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★★★</a:t>
                      </a:r>
                    </a:p>
                  </a:txBody>
                  <a:tcPr>
                    <a:solidFill>
                      <a:srgbClr val="0689D8"/>
                    </a:solidFill>
                  </a:tcPr>
                </a:tc>
              </a:tr>
              <a:tr h="31873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2E"/>
                          </a:solidFill>
                          <a:latin typeface="Apple SD Gothic Neo"/>
                        </a:rPr>
                        <a:t>0.500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Apple SD Gothic Neo"/>
                        </a:rPr>
                        <a:t>1.153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Apple SD Gothic Neo"/>
                        </a:rPr>
                        <a:t>1.052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Apple SD Gothic Neo"/>
                        </a:rPr>
                        <a:t>+9.6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Apple SD Gothic Neo"/>
                        </a:rPr>
                        <a:t>&lt;0.001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★★★</a:t>
                      </a:r>
                    </a:p>
                  </a:txBody>
                  <a:tcPr>
                    <a:solidFill>
                      <a:srgbClr val="0689D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092440" y="1417320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B1D6F"/>
                </a:solidFill>
                <a:latin typeface="Apple SD Gothic Neo"/>
                <a:ea typeface="Apple SD Gothic Neo"/>
                <a:cs typeface="Apple SD Gothic Neo"/>
              </a:rPr>
              <a:t>Takeaways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73736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①  4 selectivity 구간 (s=0.05~0.5) 에서 p&lt;0.001 — block sampling bias 는 통계적으로 유의한 구조적 약점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②  vector.c 한 줄 교체로 Exqutor 카디널리티 추정 개선 경로 확보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③  단, 이는 Pivot C 의 fair baseline 도구이지 단독 기여가 아님</a:t>
            </a:r>
          </a:p>
        </p:txBody>
      </p:sp>
      <p:pic>
        <p:nvPicPr>
          <p:cNvPr id="11" name="Picture 10" descr="figure_1_phase4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381" y="4114800"/>
            <a:ext cx="6748757" cy="1828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5989320"/>
            <a:ext cx="110642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Phase 4 — SYS vs BERN paired Q-error 4 panel (s=0.05/0.10/0.30/0.50)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B1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0B1D6F"/>
                </a:solidFill>
                <a:latin typeface="Apple SD Gothic Neo"/>
                <a:ea typeface="Apple SD Gothic Neo"/>
                <a:cs typeface="Apple SD Gothic Neo"/>
              </a:rPr>
              <a:t>4-Ⅲ. RQ2 (2) — KM20 Stratified 가 BERNOULLI 위에서 추가 개선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5-seed 신뢰구간으로 외적 타당성 확보 · vector.c +228 줄 native 구현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E7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9 / 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68580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828800"/>
                <a:gridCol w="228600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selectivity</a:t>
                      </a:r>
                    </a:p>
                  </a:txBody>
                  <a:tcPr>
                    <a:solidFill>
                      <a:srgbClr val="0B1D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5-seed 평균</a:t>
                      </a:r>
                    </a:p>
                  </a:txBody>
                  <a:tcPr>
                    <a:solidFill>
                      <a:srgbClr val="0B1D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95% CI</a:t>
                      </a:r>
                    </a:p>
                  </a:txBody>
                  <a:tcPr>
                    <a:solidFill>
                      <a:srgbClr val="0B1D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유의 seed</a:t>
                      </a:r>
                    </a:p>
                  </a:txBody>
                  <a:tcPr>
                    <a:solidFill>
                      <a:srgbClr val="0B1D6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A2E"/>
                          </a:solidFill>
                          <a:latin typeface="Apple SD Gothic Neo"/>
                        </a:rP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766E"/>
                          </a:solidFill>
                          <a:latin typeface="Apple SD Gothic Neo"/>
                        </a:rPr>
                        <a:t>+1.64%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Apple SD Gothic Neo"/>
                        </a:rPr>
                        <a:t>[+1.11, +2.18]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Apple SD Gothic Neo"/>
                        </a:rPr>
                        <a:t>5/5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A2E"/>
                          </a:solidFill>
                          <a:latin typeface="Apple SD Gothic Neo"/>
                        </a:rPr>
                        <a:t>30%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766E"/>
                          </a:solidFill>
                          <a:latin typeface="Apple SD Gothic Neo"/>
                        </a:rPr>
                        <a:t>+2.62%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Apple SD Gothic Neo"/>
                        </a:rPr>
                        <a:t>[+1.45, +3.80]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Apple SD Gothic Neo"/>
                        </a:rPr>
                        <a:t>5/5 (p&lt;0.001)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A2E"/>
                          </a:solidFill>
                          <a:latin typeface="Apple SD Gothic Neo"/>
                        </a:rP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766E"/>
                          </a:solidFill>
                          <a:latin typeface="Apple SD Gothic Neo"/>
                        </a:rPr>
                        <a:t>+4.19%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Apple SD Gothic Neo"/>
                        </a:rPr>
                        <a:t>[+0.72, +7.66]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Apple SD Gothic Neo"/>
                        </a:rPr>
                        <a:t>5/5 (p&lt;0.004)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Apple SD Gothic Neo"/>
                        </a:rPr>
                        <a:t>5%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Apple SD Gothic Neo"/>
                        </a:rPr>
                        <a:t>+1.85%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Apple SD Gothic Neo"/>
                        </a:rPr>
                        <a:t>(단일)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Apple SD Gothic Neo"/>
                        </a:rPr>
                        <a:t>3/5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Apple SD Gothic Neo"/>
                        </a:rPr>
                        <a:t>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Apple SD Gothic Neo"/>
                        </a:rPr>
                        <a:t>+8.93%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Apple SD Gothic Neo"/>
                        </a:rPr>
                        <a:t>(단일)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Apple SD Gothic Neo"/>
                        </a:rPr>
                        <a:t>4/5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589520" y="1417320"/>
            <a:ext cx="4114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B1D6F"/>
                </a:solidFill>
                <a:latin typeface="Apple SD Gothic Neo"/>
                <a:ea typeface="Apple SD Gothic Neo"/>
                <a:cs typeface="Apple SD Gothic Neo"/>
              </a:rPr>
              <a:t>BERNOULLI vs STRATIFIED (KM20)</a:t>
            </a:r>
          </a:p>
        </p:txBody>
      </p:sp>
      <p:pic>
        <p:nvPicPr>
          <p:cNvPr id="9" name="Picture 8" descr="figure_2_phase6_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489" y="1783080"/>
            <a:ext cx="3840861" cy="2331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89520" y="4160520"/>
            <a:ext cx="4114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Phase 6 Step 4 — BERNOULLI vs STRATIFIED (KM20) 100 query boxplot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72000"/>
            <a:ext cx="110642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①  50% / 30% / 10% 세 구간 모두 95% CI 가 0 을 포함하지 않음 — real effect 통계적 확정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②  s=0.500 1-seed p=4.01e-05 (Bonferroni 통과) → 5-seed 재현으로 우연 가능성 배제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③  BERNOULLI 위에서 추가 개선 — 누적 vs SYSTEM 은 +12.5% (s=0.500)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760720"/>
            <a:ext cx="11064240" cy="411480"/>
          </a:xfrm>
          <a:prstGeom prst="roundRect">
            <a:avLst>
              <a:gd name="adj" fmla="val 8000"/>
            </a:avLst>
          </a:prstGeom>
          <a:solidFill>
            <a:srgbClr val="0B1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788152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689D8"/>
                </a:solidFill>
                <a:latin typeface="Apple SD Gothic Neo"/>
                <a:ea typeface="Apple SD Gothic Neo"/>
                <a:cs typeface="Apple SD Gothic Neo"/>
              </a:rPr>
              <a:t>vector.c  +228 줄 native  ·  GUC 3 개  ·  stratum_id 사전 부여  ·  Horvitz-Thompson 가중 추정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B1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0B1D6F"/>
                </a:solidFill>
                <a:latin typeface="Apple SD Gothic Neo"/>
                <a:ea typeface="Apple SD Gothic Neo"/>
                <a:cs typeface="Apple SD Gothic Neo"/>
              </a:rPr>
              <a:t>4-Ⅳ. External Validity — 3 데이터셋 교차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DEEP 1M · DEEP 8M · SIFT 1.5M — D_target 데이터셋별 재계산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E7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10 / 15</a:t>
            </a:r>
          </a:p>
        </p:txBody>
      </p:sp>
      <p:pic>
        <p:nvPicPr>
          <p:cNvPr id="7" name="Picture 6" descr="figure_8_cross_datas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38" y="1417320"/>
            <a:ext cx="4720203" cy="3749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212080"/>
            <a:ext cx="5029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외적 타당성 — DEEP 1M / 8M / SIFT 1.5M, KM20 s=0.500 효과 95% CI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14173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52160" y="1417320"/>
            <a:ext cx="164592" cy="822960"/>
          </a:xfrm>
          <a:prstGeom prst="rect">
            <a:avLst/>
          </a:prstGeom>
          <a:solidFill>
            <a:srgbClr val="0B1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463040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DEEP 1M (96d)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801368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CI [+1.11, +2.18]  ·  CV 0.234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150876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0B1D6F"/>
                </a:solidFill>
                <a:latin typeface="Apple SD Gothic Neo"/>
                <a:ea typeface="Apple SD Gothic Neo"/>
                <a:cs typeface="Apple SD Gothic Neo"/>
              </a:rPr>
              <a:t>+1.64%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23317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52160" y="2331720"/>
            <a:ext cx="164592" cy="822960"/>
          </a:xfrm>
          <a:prstGeom prst="rect">
            <a:avLst/>
          </a:prstGeom>
          <a:solidFill>
            <a:srgbClr val="0B1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2377440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DEEP 8M (96d)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715768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CI [+0.65, +2.86]  ·  CV 0.234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42316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0B1D6F"/>
                </a:solidFill>
                <a:latin typeface="Apple SD Gothic Neo"/>
                <a:ea typeface="Apple SD Gothic Neo"/>
                <a:cs typeface="Apple SD Gothic Neo"/>
              </a:rPr>
              <a:t>+1.76%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32461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52160" y="3246120"/>
            <a:ext cx="164592" cy="82296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3291840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SIFT 1.5M (128d)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630168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CI [+2.66, +3.48]  ·  CV 0.394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333756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rPr>
              <a:t>+3.07%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532120"/>
            <a:ext cx="11064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B1D6F"/>
                </a:solidFill>
                <a:latin typeface="Apple SD Gothic Neo"/>
                <a:ea typeface="Apple SD Gothic Neo"/>
                <a:cs typeface="Apple SD Gothic Neo"/>
              </a:rPr>
              <a:t>주요 발견 + 시사점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779008"/>
            <a:ext cx="110642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① DEEP 1M ↔ 8M : CI 겹침 (CONSISTENT) — 8 배 규모에서 동일 효과 재현  ·  ② SIFT 1.5M : CI 가 DEEP 과 겹치지 않음 (~2 배 효과) — 통계적 구별  ·  ③ 쏠림도 (CV) DEEP 0.234 vs SIFT 0.394 (68% 높음) — 쏠림 ↑ ⇒ 공간 인식 가치 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B1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0B1D6F"/>
                </a:solidFill>
                <a:latin typeface="Apple SD Gothic Neo"/>
                <a:ea typeface="Apple SD Gothic Neo"/>
                <a:cs typeface="Apple SD Gothic Neo"/>
              </a:rPr>
              <a:t>4-Ⅴ. RQ3 (설계) — 분포를 모를 때의 Recovery Rate 프레임워크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3 패러다임 × 7 방법 — W5~W7 실험 예정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E7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11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0B1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99032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689D8"/>
                </a:solidFill>
                <a:latin typeface="Apple SD Gothic Neo"/>
                <a:ea typeface="Apple SD Gothic Neo"/>
                <a:cs typeface="Apple SD Gothic Neo"/>
              </a:rPr>
              <a:t>▣ Recovery Rate = (방법X − RANDOM20) / (KM20 − RANDOM20)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689D8"/>
                </a:solidFill>
                <a:latin typeface="Apple SD Gothic Neo"/>
                <a:ea typeface="Apple SD Gothic Neo"/>
                <a:cs typeface="Apple SD Gothic Neo"/>
              </a:rPr>
              <a:t>P1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212848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Offline Partition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697480"/>
            <a:ext cx="3200400" cy="12700"/>
          </a:xfrm>
          <a:prstGeom prst="rect">
            <a:avLst/>
          </a:prstGeom>
          <a:solidFill>
            <a:srgbClr val="E7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2944368"/>
            <a:ext cx="109728" cy="109728"/>
          </a:xfrm>
          <a:prstGeom prst="ellipse">
            <a:avLst/>
          </a:prstGeom>
          <a:solidFill>
            <a:srgbClr val="068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88036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Random K=20 grid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328416"/>
            <a:ext cx="109728" cy="109728"/>
          </a:xfrm>
          <a:prstGeom prst="ellipse">
            <a:avLst/>
          </a:prstGeom>
          <a:solidFill>
            <a:srgbClr val="068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264408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Subspace decile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712464"/>
            <a:ext cx="109728" cy="109728"/>
          </a:xfrm>
          <a:prstGeom prst="ellipse">
            <a:avLst/>
          </a:prstGeom>
          <a:solidFill>
            <a:srgbClr val="068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648456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Hash partition (LSH)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251960"/>
            <a:ext cx="3200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1회 사전 처리 — KM20 와 비용 동등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79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79" y="219456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689D8"/>
                </a:solidFill>
                <a:latin typeface="Apple SD Gothic Neo"/>
                <a:ea typeface="Apple SD Gothic Neo"/>
                <a:cs typeface="Apple SD Gothic Neo"/>
              </a:rPr>
              <a:t>P2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19" y="2212848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Online Query-Adaptive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26279" y="2697480"/>
            <a:ext cx="3200400" cy="12700"/>
          </a:xfrm>
          <a:prstGeom prst="rect">
            <a:avLst/>
          </a:prstGeom>
          <a:solidFill>
            <a:srgbClr val="E7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1999" y="2944368"/>
            <a:ext cx="109728" cy="109728"/>
          </a:xfrm>
          <a:prstGeom prst="ellipse">
            <a:avLst/>
          </a:prstGeom>
          <a:solidFill>
            <a:srgbClr val="068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0599" y="288036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Cluster-on-the-fly</a:t>
            </a:r>
          </a:p>
        </p:txBody>
      </p:sp>
      <p:sp>
        <p:nvSpPr>
          <p:cNvPr id="26" name="Oval 25"/>
          <p:cNvSpPr/>
          <p:nvPr/>
        </p:nvSpPr>
        <p:spPr>
          <a:xfrm>
            <a:off x="4571999" y="3328416"/>
            <a:ext cx="109728" cy="109728"/>
          </a:xfrm>
          <a:prstGeom prst="ellipse">
            <a:avLst/>
          </a:prstGeom>
          <a:solidFill>
            <a:srgbClr val="068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599" y="3264408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Active reservoir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79" y="4251960"/>
            <a:ext cx="3200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Query 도착 시점 학습 — D_target 의존성 제거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19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19" y="219456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689D8"/>
                </a:solidFill>
                <a:latin typeface="Apple SD Gothic Neo"/>
                <a:ea typeface="Apple SD Gothic Neo"/>
                <a:cs typeface="Apple SD Gothic Neo"/>
              </a:rPr>
              <a:t>P3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59" y="2212848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Weight-based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75319" y="2697480"/>
            <a:ext cx="3200400" cy="12700"/>
          </a:xfrm>
          <a:prstGeom prst="rect">
            <a:avLst/>
          </a:prstGeom>
          <a:solidFill>
            <a:srgbClr val="E7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21039" y="2944368"/>
            <a:ext cx="109728" cy="109728"/>
          </a:xfrm>
          <a:prstGeom prst="ellipse">
            <a:avLst/>
          </a:prstGeom>
          <a:solidFill>
            <a:srgbClr val="068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9639" y="288036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Importance sampling</a:t>
            </a:r>
          </a:p>
        </p:txBody>
      </p:sp>
      <p:sp>
        <p:nvSpPr>
          <p:cNvPr id="35" name="Oval 34"/>
          <p:cNvSpPr/>
          <p:nvPr/>
        </p:nvSpPr>
        <p:spPr>
          <a:xfrm>
            <a:off x="8321039" y="3328416"/>
            <a:ext cx="109728" cy="109728"/>
          </a:xfrm>
          <a:prstGeom prst="ellipse">
            <a:avLst/>
          </a:prstGeom>
          <a:solidFill>
            <a:srgbClr val="068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49639" y="3264408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Stratified weight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19" y="4251960"/>
            <a:ext cx="3200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Sample 후 재가중 — partition 자체 불필요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074920"/>
            <a:ext cx="110642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B1D6F"/>
                </a:solidFill>
                <a:latin typeface="Apple SD Gothic Neo"/>
                <a:ea typeface="Apple SD Gothic Neo"/>
                <a:cs typeface="Apple SD Gothic Neo"/>
              </a:rPr>
              <a:t>평가 조건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349240"/>
            <a:ext cx="110642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→  DEEP 1M · 8M · SIFT 1.5M 3 데이터셋 × 5 seed × 5 selectivity 동일 조건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760720"/>
            <a:ext cx="11064240" cy="41148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788152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★  최소 1 방법이 RR ≥ 0.5 → 분포 미지 시에도 KM20 의 절반 효과 회수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B1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0B1D6F"/>
                </a:solidFill>
                <a:latin typeface="Apple SD Gothic Neo"/>
                <a:ea typeface="Apple SD Gothic Neo"/>
                <a:cs typeface="Apple SD Gothic Neo"/>
              </a:rPr>
              <a:t>5-Ⅰ. 현재 진행 상황 (W1~W4)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E7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12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2697480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90472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W1  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3/2~4/4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B1D6F"/>
                </a:solidFill>
                <a:latin typeface="Apple SD Gothic Neo"/>
                <a:ea typeface="Apple SD Gothic Neo"/>
                <a:cs typeface="Apple SD Gothic Neo"/>
              </a:rPr>
              <a:t>Scope · 환경 세팅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·  주제 확정 (3/3)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3756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·  Exqutor 채택 (4/3)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·  서버 수령 + Docker (4/14)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4340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·  코드·데이터 수령 (4/7~)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1417320"/>
            <a:ext cx="2697480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1490472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W2 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05740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4/11~4/15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3774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B1D6F"/>
                </a:solidFill>
                <a:latin typeface="Apple SD Gothic Neo"/>
                <a:ea typeface="Apple SD Gothic Neo"/>
                <a:cs typeface="Apple SD Gothic Neo"/>
              </a:rPr>
              <a:t>RQ1 Motivation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283464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·  Phase 1 가설 H1 기각 (4/14)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333756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·  Phase 5 로컬 4 지표 negative (4/15)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384048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·  Design Constraint 발견 (4/14)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79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79" y="1417320"/>
            <a:ext cx="2697480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59" y="1490472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W3  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59" y="205740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4/15~4/16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59" y="23774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B1D6F"/>
                </a:solidFill>
                <a:latin typeface="Apple SD Gothic Neo"/>
                <a:ea typeface="Apple SD Gothic Neo"/>
                <a:cs typeface="Apple SD Gothic Neo"/>
              </a:rPr>
              <a:t>RQ2 Aware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59" y="283464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·  Phase 4 Pivot A native (4/14~15)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333756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·  Phase 6 Step 4 KM20 1-seed (4/15)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59" y="384048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·  5-seed CI · DEEP 1M/8M/SIFT (4/16)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15399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15399" y="1417320"/>
            <a:ext cx="2697480" cy="50292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8279" y="1490472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W4  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79" y="205740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4/17~4/28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79" y="23774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B1D6F"/>
                </a:solidFill>
                <a:latin typeface="Apple SD Gothic Neo"/>
                <a:ea typeface="Apple SD Gothic Neo"/>
                <a:cs typeface="Apple SD Gothic Neo"/>
              </a:rPr>
              <a:t>보강 + 발표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79" y="283464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·  Two-Level 분해 +19.6%p (4/16)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79" y="333756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·  HHI/CV 정량 (4/17)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79" y="384048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·  RQ3 7-way 설계 (4/16)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79" y="434340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·  중간보고서 + 발표 (4/28)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66928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0B1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71500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689D8"/>
                </a:solidFill>
                <a:latin typeface="Apple SD Gothic Neo"/>
                <a:ea typeface="Apple SD Gothic Neo"/>
                <a:cs typeface="Apple SD Gothic Neo"/>
              </a:rPr>
              <a:t>✓  RQ1 + RQ2 본선 + 5-seed 외적 타당성 + RQ3 설계 — 학기 중간 시점 완료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B1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0B1D6F"/>
                </a:solidFill>
                <a:latin typeface="Apple SD Gothic Neo"/>
                <a:ea typeface="Apple SD Gothic Neo"/>
                <a:cs typeface="Apple SD Gothic Neo"/>
              </a:rPr>
              <a:t>5-Ⅱ. 향후 계획 (W5~W10)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E7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13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1064240" cy="12700"/>
          </a:xfrm>
          <a:prstGeom prst="rect">
            <a:avLst/>
          </a:prstGeom>
          <a:solidFill>
            <a:srgbClr val="E7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0B1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46304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4/29~5/6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146304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RQ3-A Offline Partition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49047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Random K=20, Subspace decile, LSH 3 방법 — DEEP 1M 1-seed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14600"/>
            <a:ext cx="11064240" cy="12700"/>
          </a:xfrm>
          <a:prstGeom prst="rect">
            <a:avLst/>
          </a:prstGeom>
          <a:solidFill>
            <a:srgbClr val="E7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01168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0B1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7568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05740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5/7~5/13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205740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RQ3-A 5-seed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08483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선별된 1~2 방법 5-seed × 3 데이터셋 — Recovery Rate 산출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108960"/>
            <a:ext cx="11064240" cy="12700"/>
          </a:xfrm>
          <a:prstGeom prst="rect">
            <a:avLst/>
          </a:prstGeom>
          <a:solidFill>
            <a:srgbClr val="E7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260604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0B1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67004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265176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5/14~5/20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265176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RQ3-B + Layer K sweep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67919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Online + Weight 패러다임 + K=10/20/30/50 sweep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703320"/>
            <a:ext cx="11064240" cy="12700"/>
          </a:xfrm>
          <a:prstGeom prst="rect">
            <a:avLst/>
          </a:prstGeom>
          <a:solidFill>
            <a:srgbClr val="E7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320040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0B1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26440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324612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5/21~5/27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80" y="324612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심화 + 최종발표 준비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27355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per-stratum BERN 최적화, sample_size sensitivity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297680"/>
            <a:ext cx="11064240" cy="12700"/>
          </a:xfrm>
          <a:prstGeom prst="rect">
            <a:avLst/>
          </a:prstGeom>
          <a:solidFill>
            <a:srgbClr val="E7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8640" y="379476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0B1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85876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384048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5/28~6/4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54680" y="384048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최종발표 + 전시회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386791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5/27~29 발표, 6/5 전시회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892040"/>
            <a:ext cx="11064240" cy="12700"/>
          </a:xfrm>
          <a:prstGeom prst="rect">
            <a:avLst/>
          </a:prstGeom>
          <a:solidFill>
            <a:srgbClr val="E7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48640" y="438912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0B1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45312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08760" y="443484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6/5~6/11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54680" y="443484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최종보고서 작성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46227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RQ1 + RQ2 + RQ3 통합 + 실험 재현 가이드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76072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B1D6F"/>
                </a:solidFill>
                <a:latin typeface="Apple SD Gothic Neo"/>
                <a:ea typeface="Apple SD Gothic Neo"/>
                <a:cs typeface="Apple SD Gothic Neo"/>
              </a:rPr>
              <a:t>산출물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0" y="5760720"/>
            <a:ext cx="9601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최종발표 PDF (5/27~29)  ·  전시회 포스터 (6/5)  ·  최종보고서 PDF (6/11)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B1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0B1D6F"/>
                </a:solidFill>
                <a:latin typeface="Apple SD Gothic Neo"/>
                <a:ea typeface="Apple SD Gothic Neo"/>
                <a:cs typeface="Apple SD Gothic Neo"/>
              </a:rPr>
              <a:t>5-Ⅲ. 팀원별 역할 분담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E7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14 / 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645920"/>
                <a:gridCol w="8046720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이름</a:t>
                      </a:r>
                    </a:p>
                  </a:txBody>
                  <a:tcPr>
                    <a:solidFill>
                      <a:srgbClr val="0B1D6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역할</a:t>
                      </a:r>
                    </a:p>
                  </a:txBody>
                  <a:tcPr>
                    <a:solidFill>
                      <a:srgbClr val="0B1D6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담당</a:t>
                      </a:r>
                    </a:p>
                  </a:txBody>
                  <a:tcPr>
                    <a:solidFill>
                      <a:srgbClr val="0B1D6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  <a:latin typeface="Apple SD Gothic Neo"/>
                        </a:rPr>
                        <a:t>박세은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  <a:latin typeface="Apple SD Gothic Neo"/>
                        </a:rPr>
                        <a:t>팀장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Apple SD Gothic Neo"/>
                        </a:rPr>
                        <a:t>전체 일정 관리 · 자문 회신 정리 · 발표·보고서 총괄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  <a:latin typeface="Apple SD Gothic Neo"/>
                        </a:rPr>
                        <a:t>강재현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  <a:latin typeface="Apple SD Gothic Neo"/>
                        </a:rPr>
                        <a:t>발표자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Apple SD Gothic Neo"/>
                        </a:rPr>
                        <a:t>중간발표 주 발표자 · 슬라이드 검수 · Q&amp;A 응대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  <a:latin typeface="Apple SD Gothic Neo"/>
                        </a:rPr>
                        <a:t>조현빈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  <a:latin typeface="Apple SD Gothic Neo"/>
                        </a:rPr>
                        <a:t>실험·문서화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Apple SD Gothic Neo"/>
                        </a:rPr>
                        <a:t>RQ1/RQ2 실험 · vector.c native 구현 · 보고서 작성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  <a:latin typeface="Apple SD Gothic Neo"/>
                        </a:rPr>
                        <a:t>이동욱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  <a:latin typeface="Apple SD Gothic Neo"/>
                        </a:rPr>
                        <a:t>분석·작도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Apple SD Gothic Neo"/>
                        </a:rPr>
                        <a:t>통계 분석 (CI · Two-Level) · 그림 작성 · RQ3 설계</a:t>
                      </a:r>
                    </a:p>
                  </a:txBody>
                  <a:tcPr>
                    <a:solidFill>
                      <a:srgbClr val="FAFBFD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48640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0B1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532120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689D8"/>
                </a:solidFill>
                <a:latin typeface="Apple SD Gothic Neo"/>
                <a:ea typeface="Apple SD Gothic Neo"/>
                <a:cs typeface="Apple SD Gothic Neo"/>
              </a:rPr>
              <a:t>▣  모든 결정 사항 (실험 설계 · 보고 형식) 은 4 인 합의 후 진행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6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0" y="2377440"/>
            <a:ext cx="2194560" cy="38100"/>
          </a:xfrm>
          <a:prstGeom prst="rect">
            <a:avLst/>
          </a:prstGeom>
          <a:solidFill>
            <a:srgbClr val="068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606040"/>
            <a:ext cx="1219169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5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749039"/>
            <a:ext cx="121916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689D8"/>
                </a:solidFill>
                <a:latin typeface="Apple SD Gothic Neo"/>
                <a:ea typeface="Apple SD Gothic Neo"/>
                <a:cs typeface="Apple SD Gothic Neo"/>
              </a:rPr>
              <a:t>질문 부탁드립니다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속도는벡터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440680"/>
            <a:ext cx="121916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박세은 (팀장) · 강재현 · 조현빈 · 이동욱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
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502920"/>
            <a:ext cx="228600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CAPSTONE 2026-1  ·  MIDTERM PRESENTATION  ·  연세대학교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0" y="640080"/>
            <a:ext cx="1828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1100" b="0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2026-04-28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5156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Exqutor 벡터 카디널리티 추정의 단일 테이블 사각지대와 Skew-Aware 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Pivot A BERNOULLI 교체 + Pivot C KM20 Stratified — 3 데이터셋 5-seed CI 검증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291840"/>
            <a:ext cx="1828800" cy="381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29000"/>
            <a:ext cx="73152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315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박세은 (팀장)  ·  강재현  ·  조현빈  ·  이동욱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66344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4681728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연세대학교 컴퓨터과학과 · 2026-1 캡스톤 디자인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166359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ADVISOR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5184647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지도교수 박광현 · 연구원 이채림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5669279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TOPIC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687567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Exqutor 기반 벡터 증강 분석 쿼리 (VAQ) 의 카디널리티 추정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172200"/>
            <a:ext cx="13716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METHOD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6190488"/>
            <a:ext cx="9601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Skew-Aware Sampling — Pivot A (BERNOULLI) + Pivot C (KM20)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Table of Contents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2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55448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62763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벡터 카디널리티 추정의 사각지대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6888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58775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51460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Background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258775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Exqutor 의 두 해법과 한계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42900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4787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347472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Our Approach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54787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Skew-Aware Sampling 의 차별성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38912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50799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43484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Experiments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37760" y="450799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RQ1 · RQ2 · RQ3 설계와 결과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349240"/>
            <a:ext cx="777240" cy="6400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468112"/>
            <a:ext cx="777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394960"/>
            <a:ext cx="32004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Plan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5468112"/>
            <a:ext cx="6858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현재 진행 상황 및 향후 계획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1. 해결하고자 하는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벡터 조건의 선택도를 시스템마다 "고정 비율"로 추정한다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기존 시스템 — 고정 비율 추정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3172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42316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pgvector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37744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33.3%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78892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PostgreSQL operator default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200400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3291840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VBASE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3246120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50.0%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657600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fixed estimator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79"/>
            <a:ext cx="5029200" cy="7772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160519"/>
            <a:ext cx="1828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DuckDB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14799"/>
            <a:ext cx="128016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100%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526279"/>
            <a:ext cx="457200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scan all rows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1965960"/>
            <a:ext cx="57607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실제 — 0.001% ~ 90% 의 광범위한 분포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43600" y="2331720"/>
            <a:ext cx="576072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0" y="2468880"/>
            <a:ext cx="5486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■ 실제 선택도는 query 에 따라 0.001% ~ 90% 의 광범위한 분포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■ 옵티마이저가 잘못된 실행 계획 선택 → nested loop ↔ hash join, index 사용 여부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2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■ 이미지 검색 / 추천 / RAG retrieval 등 단일 테이블 vector range query 에서 빈번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074920"/>
            <a:ext cx="11064240" cy="96012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212080"/>
            <a:ext cx="1051560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>
              <a:lnSpc>
                <a:spcPct val="140000"/>
              </a:lnSpc>
            </a:pPr>
            <a:r>
              <a:rPr sz="14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"기술적으로 좋은 추정" vs "실행 계획에 진짜 도움 되는 추정" — 이 간극을 어떻게 메울 것인가?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2-Ⅰ. 기존 연구의 현황 — Exqutor 의 두 보완책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arXiv:2512.09695v2 (2024) · 4/3 교수님 미팅에서 본 논문 채택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440680" cy="41148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ECQO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HNSW 인덱스가 있을 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HNSW range query 를 직접 실행해 1~2ms 로 정확 카디널리티 산출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1~2 ms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정확 카디널리티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39319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5440680" cy="41148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46304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Adaptive Sampling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11680"/>
            <a:ext cx="5029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인덱스가 없을 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2468880"/>
            <a:ext cx="5029200" cy="1371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2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모멘텀 기반 동적 샘플링 — sample size 를 점진 확장하며 분산 수렴 판정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4023360"/>
            <a:ext cx="4983480" cy="1097280"/>
          </a:xfrm>
          <a:prstGeom prst="roundRect">
            <a:avLst>
              <a:gd name="adj" fmla="val 8000"/>
            </a:avLst>
          </a:prstGeom>
          <a:solidFill>
            <a:srgbClr val="F0F9FF"/>
          </a:solidFill>
          <a:ln w="19050">
            <a:solidFill>
              <a:srgbClr val="0EA5E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4114800"/>
            <a:ext cx="498348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3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1000×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663440"/>
            <a:ext cx="4983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pgvector 대비 최대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→  pgvector 1000×, VBASE 10000×, DuckDB 1.5~37× 성능 향상 (논문 보고)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2-Ⅱ. Adaptive Sampling 의 한계 — 사각지대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본 팀 4/14 소스 검증으로 첫 정량 확인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411480" cy="1143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78308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#1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" y="150876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Hook Trigger 사각지대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180136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45309"/>
                </a:solidFill>
                <a:latin typeface="Menlo"/>
                <a:ea typeface="Menlo"/>
                <a:cs typeface="Menlo"/>
              </a:rPr>
              <a:t>vector.c L243 · if (table_count &gt;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07568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단일 테이블 vector range query 가 hook 경로에서 배제 → 모든 query 가 PG default selectivity 1/3 로 fall-through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697480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697480"/>
            <a:ext cx="411480" cy="1143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063240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#2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" y="2788920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Plan Replacement 부작용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081528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45309"/>
                </a:solidFill>
                <a:latin typeface="Menlo"/>
                <a:ea typeface="Menlo"/>
                <a:cs typeface="Menlo"/>
              </a:rPr>
              <a:t>hook 우회 시 outer query plan-tree → Sample Scan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3355848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true=100,000 query 의 SELECT count(*) 가 sample 안 부분 카운트 32 로 격하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77639"/>
            <a:ext cx="51206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77639"/>
            <a:ext cx="411480" cy="11430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343399"/>
            <a:ext cx="41148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#3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069079"/>
            <a:ext cx="45720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Skew 지표 8 종 전수 negative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361687"/>
            <a:ext cx="45720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00" b="0">
                <a:solidFill>
                  <a:srgbClr val="B45309"/>
                </a:solidFill>
                <a:latin typeface="Menlo"/>
                <a:ea typeface="Menlo"/>
                <a:cs typeface="Menlo"/>
              </a:rPr>
              <a:t>Phase 1·5 — 글로벌 4 + 로컬 4 = 8 지표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4636007"/>
            <a:ext cx="45720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Fisher γ, k-NN entropy, PCA EVR1 등 모든 지표 vs Q-error · Spearman |ρ| &lt; 0.2 (4 지표 × 6 selectivity = 24 조합)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137160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vector.c — Hook Trigger 사각지대 (line 243)</a:t>
            </a:r>
          </a:p>
        </p:txBody>
      </p:sp>
      <p:pic>
        <p:nvPicPr>
          <p:cNvPr id="26" name="Picture 25" descr="slide6_vector_c_snipp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828848"/>
            <a:ext cx="5806440" cy="2285903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852160" y="425196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vector.c L243 — table_count &gt; 2 hook trigger 사각지대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557784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65099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★  단일 테이블 vector range query (이미지 검색·추천·RAG) 는 Exqutor 가 **명시적으로 배제한** 사각지대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3. 차별성 및 제안 연구의 중요성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Skew-Aware Sampling — 분포 정보를 사용한 두 단계 보강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164592" cy="2194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Pivot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Block-bias 제거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vector.c L889 의 TABLESAMPLE SYSTEM(%f) → BERNOULLI(%f) 한 줄 교체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fair baseline 도구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+9.6%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s=0.500, p&lt;0.001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1417320"/>
            <a:ext cx="5440680" cy="2194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1417320"/>
            <a:ext cx="164592" cy="219456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1490472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Pivot 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1801368"/>
            <a:ext cx="493776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Data-side k-means K=20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2258568"/>
            <a:ext cx="493776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vector.c +228 줄 native 구현 — stratum_id 사전 부여 + Horvitz-Thompson 가중 추정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37960" y="2880360"/>
            <a:ext cx="493776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공간 인식 sampling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08960"/>
            <a:ext cx="228600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69680" y="3200400"/>
            <a:ext cx="26517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DEEP 1M, 5-seed CI [+1.11, +2.18]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3749039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03904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✦  두 Pivot 은 직교적 — SYSTEM × BERNOULLI × STRATIFIED 의 ablation matrix 로 각 기여 분리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4434840"/>
            <a:ext cx="4206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본 연구의 핵심 기여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882896"/>
            <a:ext cx="118872" cy="1188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" y="48006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RQ1: 8 지표 negative 로 query-side feature 의 사전 layer 정의 불가능성을 정량 증명</a:t>
            </a:r>
          </a:p>
        </p:txBody>
      </p:sp>
      <p:sp>
        <p:nvSpPr>
          <p:cNvPr id="28" name="Oval 27"/>
          <p:cNvSpPr/>
          <p:nvPr/>
        </p:nvSpPr>
        <p:spPr>
          <a:xfrm>
            <a:off x="640080" y="5340096"/>
            <a:ext cx="118872" cy="1188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52578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RQ2: KM20 stratified 가 BERNOULLI 위에서 추가 개선 — 5-seed CI 하한 양수</a:t>
            </a:r>
          </a:p>
        </p:txBody>
      </p:sp>
      <p:sp>
        <p:nvSpPr>
          <p:cNvPr id="30" name="Oval 29"/>
          <p:cNvSpPr/>
          <p:nvPr/>
        </p:nvSpPr>
        <p:spPr>
          <a:xfrm>
            <a:off x="640080" y="5797296"/>
            <a:ext cx="118872" cy="118872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715000"/>
            <a:ext cx="402336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RQ3 설계: 분포 미지 시 KM20 의 "공간 인식 효과" 를 Recovery Rate 프레임워크로 측정</a:t>
            </a:r>
          </a:p>
        </p:txBody>
      </p:sp>
      <p:pic>
        <p:nvPicPr>
          <p:cNvPr id="32" name="Picture 31" descr="figure_9_two_level_decom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6697" y="4206240"/>
            <a:ext cx="3857245" cy="2194560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937760" y="6446520"/>
            <a:ext cx="667512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Two-Level Decomposition — Level 1 (비례) + Level 2 (공간 인식) 분해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4-Ⅰ. RQ1 — Skew 지표는 Q-error 를 예측하지 못한다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Phase 1 (글로벌) + Phase 5 (로컬) = 8 지표 전수 검증, 총 3000 측정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7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실험 셋업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73352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데이터셋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55064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DEEP 1M subset · 96d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쿼리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39112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100 query × 6 selectivity × 5 seed = 3000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441448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지표 (글로벌)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42316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Fisher γ, tail ratio, P99/P50, skewness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825496"/>
            <a:ext cx="1280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지표 (로컬)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807208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k-NN entropy, PCA EVR1, KDE modality, NN clustering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46120"/>
            <a:ext cx="50292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주요 발견 (Phase 1 + Phase 5)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507492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3657600"/>
            <a:ext cx="4800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①  12 조합 모두 Q-error ratio ≈ 1.0 (skewed/non-skewed 그룹 차이 없음)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②  24 조합 모두 Spearman |ρ| &lt; 0.2 (Cohen 1988 small-effect 미달)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③  100 query 전부 Fisher γ &lt; 0 (left-skewed) — 고차원 거리 집중 현상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52160" y="1325880"/>
            <a:ext cx="585216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Phase 5 Local Skew × Selectivity Spearman ρ</a:t>
            </a:r>
          </a:p>
        </p:txBody>
      </p:sp>
      <p:pic>
        <p:nvPicPr>
          <p:cNvPr id="20" name="Picture 19" descr="figure_6_phase5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727881"/>
            <a:ext cx="5806440" cy="235067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852160" y="4160520"/>
            <a:ext cx="58064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Phase 5 — 로컬 4 지표 × 6 selectivity = 24 조합 모두 |ρ| &lt; 0.2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562356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5687568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→  고차원 벡터에서 query-side feature 로 layer 를 사전 정의하는 것은 불가능 — 본 연구의 Motivation 첫 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4-Ⅱ. RQ2 (1) — BERNOULLI 가 SYSTEM 의 block-bias 를 제거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100 query × 6 selectivity × 1 seed × 2 mode = 1200 측정 · paired Wilcoxon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8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7315200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1280160"/>
                <a:gridCol w="1280160"/>
                <a:gridCol w="914400"/>
                <a:gridCol w="1463040"/>
                <a:gridCol w="1463040"/>
              </a:tblGrid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SYS median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BERN median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diff%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p-value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유의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2.597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0.596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0.010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1.558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1.299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+20.0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0.240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—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0.050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1.203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0.0009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★★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0.100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1.212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1.132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+7.0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18733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0.300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1.079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+12.0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  <a:tr h="31873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C4A6E"/>
                          </a:solidFill>
                          <a:latin typeface="Apple SD Gothic Neo"/>
                        </a:rPr>
                        <a:t>0.500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1.153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1.052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+9.6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C4A6E"/>
                          </a:solidFill>
                          <a:latin typeface="Apple SD Gothic Neo"/>
                        </a:rPr>
                        <a:t>&lt;0.001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0F9FF"/>
                          </a:solidFill>
                          <a:latin typeface="Apple SD Gothic Neo"/>
                        </a:rPr>
                        <a:t>★★★</a:t>
                      </a:r>
                    </a:p>
                  </a:txBody>
                  <a:tcPr>
                    <a:solidFill>
                      <a:srgbClr val="0EA5E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092440" y="1417320"/>
            <a:ext cx="36576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Takeaways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92440" y="1737360"/>
            <a:ext cx="361188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0" y="1828800"/>
            <a:ext cx="3383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①  4 selectivity 구간 (s=0.05~0.5) 에서 p&lt;0.001 — block sampling bias 는 통계적으로 유의한 구조적 약점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②  vector.c 한 줄 교체로 Exqutor 카디널리티 추정 개선 경로 확보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③  단, 이는 Pivot C 의 fair baseline 도구이지 단독 기여가 아님</a:t>
            </a:r>
          </a:p>
        </p:txBody>
      </p:sp>
      <p:pic>
        <p:nvPicPr>
          <p:cNvPr id="11" name="Picture 10" descr="figure_1_phase4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6381" y="4114800"/>
            <a:ext cx="6748757" cy="18288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48640" y="5989320"/>
            <a:ext cx="11064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Phase 4 — SYS vs BERN paired Q-error 4 panel (s=0.05/0.10/0.30/0.50)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4-Ⅲ. RQ2 (2) — KM20 Stratified 가 BERNOULLI 위에서 추가 개선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5-seed 신뢰구간으로 외적 타당성 확보 · vector.c +228 줄 native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9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17320"/>
          <a:ext cx="68580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2286000"/>
                <a:gridCol w="1371600"/>
              </a:tblGrid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0F9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0F9FF"/>
                          </a:solidFill>
                          <a:latin typeface="Apple SD Gothic Neo"/>
                        </a:rPr>
                        <a:t>5-seed 평균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0F9FF"/>
                          </a:solidFill>
                          <a:latin typeface="Apple SD Gothic Neo"/>
                        </a:rPr>
                        <a:t>95% CI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0F9FF"/>
                          </a:solidFill>
                          <a:latin typeface="Apple SD Gothic Neo"/>
                        </a:rPr>
                        <a:t>유의 seed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[+1.11, +2.18]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5/5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30%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[+1.45, +3.80]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5/5 (p&lt;0.001)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15803D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[+0.72, +7.66]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5/5 (p&lt;0.004)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3/5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1-seed (W5 보충)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4/5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589520" y="1417320"/>
            <a:ext cx="41148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BERNOULLI vs STRATIFIED (KM20)</a:t>
            </a:r>
          </a:p>
        </p:txBody>
      </p:sp>
      <p:pic>
        <p:nvPicPr>
          <p:cNvPr id="9" name="Picture 8" descr="figure_2_phase6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489" y="1783080"/>
            <a:ext cx="3840861" cy="23317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589520" y="4160520"/>
            <a:ext cx="41148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Phase 6 Step 4 — BERNOULLI vs STRATIFIED (KM20) 100 query boxplot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66344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①  50% / 30% / 10% 세 구간 모두 95% CI 가 0 을 포함하지 않음 — real effect 통계적 확정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②  s=0.500 1-seed p=4.01e-05 (Bonferroni 통과) → 5-seed 재현으로 우연 가능성 배제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③  BERNOULLI 위에서 추가 개선 — 누적 vs SYSTEM 은 +12.5% (s=0.500)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vector.c  +228 줄 native  ·  GUC 3 개  ·  stratum_id 사전 부여  ·  Horvitz-Thompson 가중 추정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4-Ⅳ. External Validity — 3 데이터셋 교차 검증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DEEP 1M · DEEP 8M · SIFT 1.5M — D_target 데이터셋별 재계산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10 / 16</a:t>
            </a:r>
          </a:p>
        </p:txBody>
      </p:sp>
      <p:pic>
        <p:nvPicPr>
          <p:cNvPr id="7" name="Picture 6" descr="figure_8_cross_dataset_b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38" y="1417320"/>
            <a:ext cx="4720203" cy="37490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48640" y="5212080"/>
            <a:ext cx="502920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외적 타당성 — DEEP 1M / 8M / SIFT 1.5M, KM20 s=0.500 효과 95% CI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52160" y="14173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852160" y="1417320"/>
            <a:ext cx="164592" cy="82296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14630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DEEP 1M (96d)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013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CI [+1.11, +2.18]  ·  CV 0.234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0" y="15087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+1.64%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60" y="23317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52160" y="2331720"/>
            <a:ext cx="164592" cy="82296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0" y="23774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DEEP 8M (96d)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7157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CI [+0.65, +2.86]  ·  CV 0.234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0" y="24231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+1.76%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852160" y="3246120"/>
            <a:ext cx="580644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852160" y="3246120"/>
            <a:ext cx="164592" cy="8229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3291840"/>
            <a:ext cx="292608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SIFT 1.5M (128d)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630168"/>
            <a:ext cx="32004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CI [+2.66, +3.48]  ·  CV 0.394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3337560"/>
            <a:ext cx="201168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2400" b="1">
                <a:solidFill>
                  <a:srgbClr val="B45309"/>
                </a:solidFill>
                <a:latin typeface="Apple SD Gothic Neo"/>
                <a:ea typeface="Apple SD Gothic Neo"/>
                <a:cs typeface="Apple SD Gothic Neo"/>
              </a:rPr>
              <a:t>+3.07%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532120"/>
            <a:ext cx="11064240" cy="25603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주요 발견 + 시사점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5760720"/>
            <a:ext cx="1106424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①  DEEP 1M ↔ 8M : CI 겹침 (CONSISTENT) — 8 배 규모에서 동일 효과 재현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②  SIFT 1.5M : CI 가 DEEP 과 겹치지 않음 (~2 배 효과) — 통계적 구별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③  쏠림도 (CV) DEEP 0.234 vs SIFT 0.394 (68% 높음) — 쏠림 ↑ ⇒ 공간 인식 가치 ↑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4-Ⅴ. 결과 해석 — 데이터 쏠림과 공간 인식 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Two-Level Decomposition + 클러스터 쏠림도 (HHI / CV) 정량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11 / 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566928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▣ KM20 개선 = Level 1 (비례 배분) + Level 2 (공간 인식)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669280" cy="20116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60120"/>
                <a:gridCol w="914400"/>
                <a:gridCol w="914400"/>
                <a:gridCol w="1280160"/>
                <a:gridCol w="1600200"/>
              </a:tblGrid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selectivity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KM20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RANDOM20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격차 (Level 2)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지배 요인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C4A6E"/>
                          </a:solidFill>
                          <a:latin typeface="Apple SD Gothic Neo"/>
                        </a:rPr>
                        <a:t>s = 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+1.64%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+2.20%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~0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비례만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C4A6E"/>
                          </a:solidFill>
                          <a:latin typeface="Apple SD Gothic Neo"/>
                        </a:rPr>
                        <a:t>s = 30%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+2.62%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+0.26%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+2.4%p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C4A6E"/>
                          </a:solidFill>
                          <a:latin typeface="Apple SD Gothic Neo"/>
                        </a:rPr>
                        <a:t>s =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+4.19%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+1.74%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+2.5%p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35279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C4A6E"/>
                          </a:solidFill>
                          <a:latin typeface="Apple SD Gothic Neo"/>
                        </a:rPr>
                        <a:t>s = 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+1.85%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+0.79%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+1.1%p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C4A6E"/>
                          </a:solidFill>
                          <a:latin typeface="Apple SD Gothic Neo"/>
                        </a:rPr>
                        <a:t>Level 2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33528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s = 1%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+8.93%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−10.67%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+19.6%p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0F9FF"/>
                          </a:solidFill>
                          <a:latin typeface="Apple SD Gothic Neo"/>
                        </a:rPr>
                        <a:t>★ 공간 인식 단독</a:t>
                      </a:r>
                    </a:p>
                  </a:txBody>
                  <a:tcPr>
                    <a:solidFill>
                      <a:srgbClr val="B4530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▣ 데이터셋 쏠림도 — DEEP CV 0.234 vs SIFT CV 0.394 (68% 높음)</a:t>
            </a:r>
          </a:p>
        </p:txBody>
      </p:sp>
      <p:pic>
        <p:nvPicPr>
          <p:cNvPr id="10" name="Picture 9" descr="figure_10_cluster_sk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865" y="1737360"/>
            <a:ext cx="4247108" cy="24688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00800" y="4251960"/>
            <a:ext cx="5349240" cy="2286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클러스터 쏠림도 — DEEP CV 0.234 vs SIFT CV 0.394 (HHI 정량)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0" y="472744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663440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SIFT 최대 클러스터 14.8 만 (기대값 7.5 만의 2 배)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0" y="502005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4956048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상위 2 클러스터가 전체 19% 점유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0" y="5312664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29400" y="5248656"/>
            <a:ext cx="5029200" cy="29260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KM20 효과 SIFT +3.07% (DEEP +1.64% 의 약 2 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5733288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★  쏠림 ↑ ⇒ Level 2 (공간 인식) 단독 효과 ↑ — 본 가설 단조 관계 재확인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4-Ⅴ. RQ3 (설계) — 분포를 모를 때의 Recovery Rate 프레임워크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77240"/>
            <a:ext cx="109728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 패러다임 × 7 방법 — W5~W7 실험 예정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25880"/>
            <a:ext cx="11064240" cy="59436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99032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▣ Recovery Rate = (방법X − RANDOM20) / (KM20 − RANDOM20)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Offline Partition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80"/>
            <a:ext cx="320040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22960" y="29443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Random K=20 grid</a:t>
            </a:r>
          </a:p>
        </p:txBody>
      </p:sp>
      <p:sp>
        <p:nvSpPr>
          <p:cNvPr id="15" name="Oval 14"/>
          <p:cNvSpPr/>
          <p:nvPr/>
        </p:nvSpPr>
        <p:spPr>
          <a:xfrm>
            <a:off x="822960" y="332841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Subspace decile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12464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3648456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Hash partition (LSH)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1회 사전 처리 — KM20 와 비용 동등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7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7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7491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Online Query-Adaptive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79" y="2697480"/>
            <a:ext cx="320040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571999" y="29443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0059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Cluster-on-the-fly</a:t>
            </a:r>
          </a:p>
        </p:txBody>
      </p:sp>
      <p:sp>
        <p:nvSpPr>
          <p:cNvPr id="26" name="Oval 25"/>
          <p:cNvSpPr/>
          <p:nvPr/>
        </p:nvSpPr>
        <p:spPr>
          <a:xfrm>
            <a:off x="4571999" y="332841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80059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Active reservoir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7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Query 도착 시점 학습 — D_target 의존성 제거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19" y="2103120"/>
            <a:ext cx="3611880" cy="2743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75319" y="2194560"/>
            <a:ext cx="457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P3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23959" y="2212848"/>
            <a:ext cx="2743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Weight-based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19" y="2697480"/>
            <a:ext cx="320040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321039" y="2944368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549639" y="2880360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Importance sampling</a:t>
            </a:r>
          </a:p>
        </p:txBody>
      </p:sp>
      <p:sp>
        <p:nvSpPr>
          <p:cNvPr id="35" name="Oval 34"/>
          <p:cNvSpPr/>
          <p:nvPr/>
        </p:nvSpPr>
        <p:spPr>
          <a:xfrm>
            <a:off x="8321039" y="3328416"/>
            <a:ext cx="109728" cy="109728"/>
          </a:xfrm>
          <a:prstGeom prst="ellipse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49639" y="3264408"/>
            <a:ext cx="310896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Stratified weight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75319" y="4251960"/>
            <a:ext cx="320040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Sample 후 재가중 — partition 자체 불필요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07492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평가 조건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49240"/>
            <a:ext cx="110642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→  DEEP 1M · 8M · SIFT 1.5M 3 데이터셋 × 5 seed × 5 selectivity 동일 조건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760720"/>
            <a:ext cx="11064240" cy="411480"/>
          </a:xfrm>
          <a:prstGeom prst="roundRect">
            <a:avLst>
              <a:gd name="adj" fmla="val 8000"/>
            </a:avLst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88152"/>
            <a:ext cx="10515600" cy="36576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★  최소 1 방법이 RR ≥ 0.5 → 분포 미지 시에도 KM20 의 절반 효과 회수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5-Ⅰ. 현재 진행 상황 (W1~W4)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13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269748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W1  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3/2~4/4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Scope · 환경 세팅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주제 확정 (3/3)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Exqutor 채택 (4/3)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서버 수령 + Docker (4/14)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코드·데이터 수령 (4/7~)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37560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37560" y="1417320"/>
            <a:ext cx="269748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0440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W2 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0440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4/11~4/15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20440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RQ1 Motivation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20440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Phase 1 가설 H1 기각 (4/14)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0440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Phase 5 로컬 4 지표 negative (4/15)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520440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Design Constraint 발견 (4/14)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7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6479" y="1417320"/>
            <a:ext cx="2697480" cy="502920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5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W3 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0935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4/15~4/16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5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RQ2 Aware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5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Phase 4 Pivot A native (4/14~15)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5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Phase 6 Step 4 KM20 1-seed (4/15)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0935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5-seed CI · DEEP 1M/8M/SIFT (4/16)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915399" y="1417320"/>
            <a:ext cx="2697480" cy="4023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BAE6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915399" y="1417320"/>
            <a:ext cx="2697480" cy="50292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098279" y="1490472"/>
            <a:ext cx="13716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W4  ▶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98279" y="2057400"/>
            <a:ext cx="237744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4/17~4/28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98279" y="2377440"/>
            <a:ext cx="2377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보강 + 발표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8279" y="283464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Two-Level 분해 +19.6%p (4/16)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8279" y="333756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HHI/CV 정량 (4/17)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98279" y="384048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RQ3 7-way 설계 (4/16)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98279" y="4343400"/>
            <a:ext cx="2468880" cy="5029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9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·  중간보고서 + 발표 (4/28)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48640" y="566928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715000"/>
            <a:ext cx="10515600" cy="45720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✓  RQ1 + RQ2 본선 + 5-seed 외적 타당성 + RQ3 설계 — 학기 중간 시점 완료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5-Ⅱ. 향후 계획 (W5~W10)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14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4813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4630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4/29~5/6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54680" y="14630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RQ3-A Offline Partition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14904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Random K=20, Subspace decile, LSH 3 방법 — DEEP 1M 1-seed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5146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48640" y="201168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07568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205740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5/7~5/13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54680" y="205740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RQ3-A 5-seed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208483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선별된 1~2 방법 5-seed × 3 데이터셋 — Recovery Rate 산출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10896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48640" y="260604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67004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08760" y="265176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5/14~5/20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54680" y="265176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RQ3-B + Layer K sweep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67919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Online + Weight 패러다임 + K=10/20/30/50 sweep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70332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48640" y="320040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26440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324612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5/21~5/27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5468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심화 + 최종발표 준비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20" y="327355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per-stratum BERN 최적화, sample_size sensitivity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8640" y="429768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48640" y="379476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48640" y="385876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84048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5/28~6/4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최종발표 + 전시회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46520" y="386791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5/27~29 발표, 6/5 전시회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89204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548640" y="4389120"/>
            <a:ext cx="777240" cy="457200"/>
          </a:xfrm>
          <a:prstGeom prst="roundRect">
            <a:avLst>
              <a:gd name="adj" fmla="val 8000"/>
            </a:avLst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48640" y="4453128"/>
            <a:ext cx="7772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W10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08760" y="4434840"/>
            <a:ext cx="15544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6/5~6/11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4434840"/>
            <a:ext cx="32004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최종보고서 작성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46520" y="4462272"/>
            <a:ext cx="52120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RQ1 + RQ2 + RQ3 통합 + 실험 재현 가이드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5760720"/>
            <a:ext cx="22860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산출물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828800" y="5760720"/>
            <a:ext cx="960120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최종발표 PDF (5/27~29)  ·  전시회 포스터 (6/5)  ·  최종보고서 PDF (6/11)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9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solidFill>
            <a:srgbClr val="0C4A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"/>
            <a:ext cx="10515600" cy="5943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>
                <a:solidFill>
                  <a:srgbClr val="0C4A6E"/>
                </a:solidFill>
                <a:latin typeface="Apple SD Gothic Neo"/>
                <a:ea typeface="Apple SD Gothic Neo"/>
                <a:cs typeface="Apple SD Gothic Neo"/>
              </a:rPr>
              <a:t>5-Ⅲ. 팀원별 역할 분담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143000"/>
            <a:ext cx="11064240" cy="12700"/>
          </a:xfrm>
          <a:prstGeom prst="rect">
            <a:avLst/>
          </a:prstGeom>
          <a:solidFill>
            <a:srgbClr val="BAE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247120" y="6446520"/>
            <a:ext cx="914400" cy="3200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>
              <a:lnSpc>
                <a:spcPct val="120000"/>
              </a:lnSpc>
            </a:pPr>
            <a:r>
              <a:rPr sz="9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15 / 16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08760"/>
          <a:ext cx="1106424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645920"/>
                <a:gridCol w="8046720"/>
              </a:tblGrid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F9FF"/>
                          </a:solidFill>
                          <a:latin typeface="Apple SD Gothic Neo"/>
                        </a:rPr>
                        <a:t>이름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F9FF"/>
                          </a:solidFill>
                          <a:latin typeface="Apple SD Gothic Neo"/>
                        </a:rPr>
                        <a:t>역할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0F9FF"/>
                          </a:solidFill>
                          <a:latin typeface="Apple SD Gothic Neo"/>
                        </a:rPr>
                        <a:t>담당</a:t>
                      </a:r>
                    </a:p>
                  </a:txBody>
                  <a:tcPr>
                    <a:solidFill>
                      <a:srgbClr val="0C4A6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박세은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팀장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전체 일정 관리 · 자문 회신 정리 · 발표·보고서 총괄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강재현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주 발표자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중간발표 주 발표 · 슬라이드 검수 · Q&amp;A 사회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조현빈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실험·문서화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RQ1/RQ2 실험 · vector.c native 구현 · 보고서 작성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이동욱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0C4A6E"/>
                          </a:solidFill>
                          <a:latin typeface="Apple SD Gothic Neo"/>
                        </a:rPr>
                        <a:t>분석·작도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00" b="0">
                          <a:solidFill>
                            <a:srgbClr val="0C4A6E"/>
                          </a:solidFill>
                          <a:latin typeface="Apple SD Gothic Neo"/>
                        </a:rPr>
                        <a:t>통계 분석 (CI · Two-Level) · 그림 작성 · RQ3 설계</a:t>
                      </a:r>
                    </a:p>
                  </a:txBody>
                  <a:tcPr>
                    <a:solidFill>
                      <a:srgbClr val="F0F9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548640" y="5486400"/>
            <a:ext cx="11064240" cy="502920"/>
          </a:xfrm>
          <a:prstGeom prst="roundRect">
            <a:avLst>
              <a:gd name="adj" fmla="val 8000"/>
            </a:avLst>
          </a:prstGeom>
          <a:solidFill>
            <a:srgbClr val="082F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532120"/>
            <a:ext cx="10515600" cy="41148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▣  Q&amp;A 응답 — 통계·CI 는 이동욱, 실험 디테일은 조현빈, 일정·체크포인트는 박세은 분담 (4 인 합의 후 진행)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2F4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0" y="2377440"/>
            <a:ext cx="2194560" cy="38100"/>
          </a:xfrm>
          <a:prstGeom prst="rect">
            <a:avLst/>
          </a:prstGeom>
          <a:solidFill>
            <a:srgbClr val="0EA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606040"/>
            <a:ext cx="12191695" cy="10972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58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749039"/>
            <a:ext cx="12191695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0">
                <a:solidFill>
                  <a:srgbClr val="0EA5E9"/>
                </a:solidFill>
                <a:latin typeface="Apple SD Gothic Neo"/>
                <a:ea typeface="Apple SD Gothic Neo"/>
                <a:cs typeface="Apple SD Gothic Neo"/>
              </a:rPr>
              <a:t>질문 부탁드립니다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02920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>
                <a:solidFill>
                  <a:srgbClr val="F0F9FF"/>
                </a:solidFill>
                <a:latin typeface="Apple SD Gothic Neo"/>
                <a:ea typeface="Apple SD Gothic Neo"/>
                <a:cs typeface="Apple SD Gothic Neo"/>
              </a:rPr>
              <a:t>속도는벡터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440680"/>
            <a:ext cx="12191695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>
                <a:solidFill>
                  <a:srgbClr val="475569"/>
                </a:solidFill>
                <a:latin typeface="Apple SD Gothic Neo"/>
                <a:ea typeface="Apple SD Gothic Neo"/>
                <a:cs typeface="Apple SD Gothic Neo"/>
              </a:rPr>
              <a:t>박세은 (팀장) · 강재현 · 조현빈 · 이동욱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
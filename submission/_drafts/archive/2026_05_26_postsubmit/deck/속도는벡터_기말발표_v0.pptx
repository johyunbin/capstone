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3000" y="1315839"/>
            <a:ext cx="2286000" cy="381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175808" y="1601589"/>
            <a:ext cx="9840285" cy="2013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100" b="1" spc="-40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인덱스 부재 시 </a:t>
            </a:r>
            <a:pPr algn="ctr" indent="0" marL="0">
              <a:lnSpc>
                <a:spcPct val="96000"/>
              </a:lnSpc>
              <a:buNone/>
            </a:pPr>
            <a:r>
              <a:rPr lang="en-US" sz="8100" b="1" spc="-405" kern="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Adaptive Sampling </a:t>
            </a:r>
            <a:pPr algn="ctr" indent="0" marL="0">
              <a:lnSpc>
                <a:spcPct val="96000"/>
              </a:lnSpc>
              <a:buNone/>
            </a:pPr>
            <a:r>
              <a:rPr lang="en-US" sz="8100" b="1" spc="-40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개선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4632769" y="3824288"/>
            <a:ext cx="2926363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spc="-19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표본 선택 단계의 통제 실험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76300" y="5486797"/>
            <a:ext cx="104394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5797947"/>
            <a:ext cx="2467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-22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박세은 · 강재현 · 조현빈 · 이동욱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6300" y="6093222"/>
            <a:ext cx="2467372" cy="231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-22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속도는벡터 · 연세대학교 컴퓨터과학과 캡스톤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31037" y="5814219"/>
            <a:ext cx="3084664" cy="510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1200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박광현 교수 </a:t>
            </a:r>
            <a:pPr algn="r" indent="0" marL="0">
              <a:lnSpc>
                <a:spcPct val="155000"/>
              </a:lnSpc>
              <a:buNone/>
            </a:pPr>
            <a:r>
              <a:rPr lang="en-US" sz="1200" spc="-6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(BDAI 연구실) · 지도교수 지도연구원 임채림 · 멘토 박성원 (삼성전자 AI센터)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0EA5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배경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2082483" y="514350"/>
            <a:ext cx="8027033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벡터 증강 분석 쿼리 (Vector-Augmented Query, VAQ)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1428056" y="2416969"/>
            <a:ext cx="4203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6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분석가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1238250" y="2702719"/>
            <a:ext cx="800100" cy="800100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836069"/>
            <a:ext cx="533400" cy="53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3598069"/>
            <a:ext cx="1905000" cy="791567"/>
          </a:xfrm>
          <a:prstGeom prst="roundRect">
            <a:avLst>
              <a:gd name="adj" fmla="val 16846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3750" y="3706019"/>
            <a:ext cx="1689100" cy="61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1E293B"/>
                </a:solidFill>
                <a:highlight>
                  <a:srgbClr val="FFFFFF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부품 사진이랑 비슷한 부품들이 최근 가장 많이 팔린 주문은?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190129" y="4503936"/>
            <a:ext cx="8963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45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손가락 → SQL</a:t>
            </a:r>
            <a:endParaRPr lang="en-US" sz="975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325" y="3803253"/>
            <a:ext cx="285750" cy="171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05303" y="2416969"/>
            <a:ext cx="62003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6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SQL 안에 — VAQ</a:t>
            </a:r>
            <a:endParaRPr lang="en-US" sz="975" dirty="0"/>
          </a:p>
        </p:txBody>
      </p:sp>
      <p:sp>
        <p:nvSpPr>
          <p:cNvPr id="13" name="Text 9"/>
          <p:cNvSpPr/>
          <p:nvPr/>
        </p:nvSpPr>
        <p:spPr>
          <a:xfrm>
            <a:off x="2805303" y="2607469"/>
            <a:ext cx="62003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45" kern="0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예시 분석 쿼리 </a:t>
            </a:r>
            <a:pPr algn="ctr" indent="0" marL="0">
              <a:buNone/>
            </a:pPr>
            <a:r>
              <a:rPr lang="en-US" sz="975" b="1" spc="45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— 관계형 조건과 벡터 유사도를 한 SQL 안에</a:t>
            </a:r>
            <a:endParaRPr lang="en-US" sz="975" dirty="0"/>
          </a:p>
        </p:txBody>
      </p:sp>
      <p:sp>
        <p:nvSpPr>
          <p:cNvPr id="14" name="Shape 10"/>
          <p:cNvSpPr/>
          <p:nvPr/>
        </p:nvSpPr>
        <p:spPr>
          <a:xfrm>
            <a:off x="2895600" y="2817019"/>
            <a:ext cx="6019800" cy="2543969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1650" y="2944019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SELECT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l_orderkey, o_orderdate, o_shippriority</a:t>
            </a:r>
            <a:endParaRPr lang="en-US" sz="975" dirty="0"/>
          </a:p>
        </p:txBody>
      </p:sp>
      <p:sp>
        <p:nvSpPr>
          <p:cNvPr id="16" name="Text 12"/>
          <p:cNvSpPr/>
          <p:nvPr/>
        </p:nvSpPr>
        <p:spPr>
          <a:xfrm>
            <a:off x="3041650" y="3173016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FROM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customer, orders, lineitem, partsupp_deep</a:t>
            </a:r>
            <a:endParaRPr lang="en-US" sz="975" dirty="0"/>
          </a:p>
        </p:txBody>
      </p:sp>
      <p:sp>
        <p:nvSpPr>
          <p:cNvPr id="17" name="Text 13"/>
          <p:cNvSpPr/>
          <p:nvPr/>
        </p:nvSpPr>
        <p:spPr>
          <a:xfrm>
            <a:off x="3041650" y="3440113"/>
            <a:ext cx="44896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WHERE</a:t>
            </a:r>
            <a:endParaRPr lang="en-US" sz="975" dirty="0"/>
          </a:p>
        </p:txBody>
      </p:sp>
      <p:sp>
        <p:nvSpPr>
          <p:cNvPr id="18" name="Shape 14"/>
          <p:cNvSpPr/>
          <p:nvPr/>
        </p:nvSpPr>
        <p:spPr>
          <a:xfrm>
            <a:off x="3489027" y="3430588"/>
            <a:ext cx="2033687" cy="165100"/>
          </a:xfrm>
          <a:prstGeom prst="roundRect">
            <a:avLst>
              <a:gd name="adj" fmla="val 11538"/>
            </a:avLst>
          </a:prstGeom>
          <a:solidFill>
            <a:srgbClr val="1E3A5F">
              <a:alpha val="10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3536652" y="3440113"/>
            <a:ext cx="2014637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highlight>
                  <a:srgbClr val="1E3A5F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c_mktsegment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'HOUSEHOLD'</a:t>
            </a:r>
            <a:endParaRPr lang="en-US" sz="975" dirty="0"/>
          </a:p>
        </p:txBody>
      </p:sp>
      <p:sp>
        <p:nvSpPr>
          <p:cNvPr id="20" name="Text 16"/>
          <p:cNvSpPr/>
          <p:nvPr/>
        </p:nvSpPr>
        <p:spPr>
          <a:xfrm>
            <a:off x="5813723" y="3402013"/>
            <a:ext cx="3044296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← 관계형 조건 (예: 가정용 카테고리 · 1995-03-14 이전 주문)</a:t>
            </a:r>
            <a:endParaRPr lang="en-US" sz="975" dirty="0"/>
          </a:p>
        </p:txBody>
      </p:sp>
      <p:sp>
        <p:nvSpPr>
          <p:cNvPr id="21" name="Text 17"/>
          <p:cNvSpPr/>
          <p:nvPr/>
        </p:nvSpPr>
        <p:spPr>
          <a:xfrm>
            <a:off x="3041650" y="3631009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c_custkey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o_custkey</a:t>
            </a:r>
            <a:endParaRPr lang="en-US" sz="975" dirty="0"/>
          </a:p>
        </p:txBody>
      </p:sp>
      <p:sp>
        <p:nvSpPr>
          <p:cNvPr id="22" name="Text 18"/>
          <p:cNvSpPr/>
          <p:nvPr/>
        </p:nvSpPr>
        <p:spPr>
          <a:xfrm>
            <a:off x="3041650" y="3860006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l_orderkey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o_orderkey</a:t>
            </a:r>
            <a:endParaRPr lang="en-US" sz="975" dirty="0"/>
          </a:p>
        </p:txBody>
      </p:sp>
      <p:sp>
        <p:nvSpPr>
          <p:cNvPr id="23" name="Text 19"/>
          <p:cNvSpPr/>
          <p:nvPr/>
        </p:nvSpPr>
        <p:spPr>
          <a:xfrm>
            <a:off x="3041650" y="4089003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o_orderdate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 </a:t>
            </a:r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DATE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'1995-03-14'</a:t>
            </a:r>
            <a:endParaRPr lang="en-US" sz="975" dirty="0"/>
          </a:p>
        </p:txBody>
      </p:sp>
      <p:sp>
        <p:nvSpPr>
          <p:cNvPr id="24" name="Text 20"/>
          <p:cNvSpPr/>
          <p:nvPr/>
        </p:nvSpPr>
        <p:spPr>
          <a:xfrm>
            <a:off x="3041650" y="4318000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l_shipdate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</a:t>
            </a:r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DATE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'1995-03-14'</a:t>
            </a:r>
            <a:endParaRPr lang="en-US" sz="975" dirty="0"/>
          </a:p>
        </p:txBody>
      </p:sp>
      <p:sp>
        <p:nvSpPr>
          <p:cNvPr id="25" name="Text 21"/>
          <p:cNvSpPr/>
          <p:nvPr/>
        </p:nvSpPr>
        <p:spPr>
          <a:xfrm>
            <a:off x="3041650" y="4546997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ps_partkey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l_partkey </a:t>
            </a:r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ps_suppkey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l_suppkey</a:t>
            </a:r>
            <a:endParaRPr lang="en-US" sz="975" dirty="0"/>
          </a:p>
        </p:txBody>
      </p:sp>
      <p:sp>
        <p:nvSpPr>
          <p:cNvPr id="26" name="Text 22"/>
          <p:cNvSpPr/>
          <p:nvPr/>
        </p:nvSpPr>
        <p:spPr>
          <a:xfrm>
            <a:off x="3190776" y="4814094"/>
            <a:ext cx="29993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</a:t>
            </a:r>
            <a:endParaRPr lang="en-US" sz="975" dirty="0"/>
          </a:p>
        </p:txBody>
      </p:sp>
      <p:sp>
        <p:nvSpPr>
          <p:cNvPr id="27" name="Shape 23"/>
          <p:cNvSpPr/>
          <p:nvPr/>
        </p:nvSpPr>
        <p:spPr>
          <a:xfrm>
            <a:off x="3489127" y="4804569"/>
            <a:ext cx="2974876" cy="165100"/>
          </a:xfrm>
          <a:prstGeom prst="roundRect">
            <a:avLst>
              <a:gd name="adj" fmla="val 11538"/>
            </a:avLst>
          </a:prstGeom>
          <a:solidFill>
            <a:srgbClr val="0EA5E9">
              <a:alpha val="16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3536752" y="4814094"/>
            <a:ext cx="296887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highlight>
                  <a:srgbClr val="0EA5E9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ps_embedding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&lt;-&gt;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'[쿼리 부품 벡터]'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0.86</a:t>
            </a:r>
            <a:endParaRPr lang="en-US" sz="975" dirty="0"/>
          </a:p>
        </p:txBody>
      </p:sp>
      <p:sp>
        <p:nvSpPr>
          <p:cNvPr id="29" name="Text 25"/>
          <p:cNvSpPr/>
          <p:nvPr/>
        </p:nvSpPr>
        <p:spPr>
          <a:xfrm>
            <a:off x="7347546" y="4775994"/>
            <a:ext cx="1498005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← 벡터 유사도 — 임베딩 비교</a:t>
            </a:r>
            <a:endParaRPr lang="en-US" sz="975" dirty="0"/>
          </a:p>
        </p:txBody>
      </p:sp>
      <p:sp>
        <p:nvSpPr>
          <p:cNvPr id="30" name="Text 26"/>
          <p:cNvSpPr/>
          <p:nvPr/>
        </p:nvSpPr>
        <p:spPr>
          <a:xfrm>
            <a:off x="3041650" y="5004991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ORDER BY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highlight>
                  <a:srgbClr val="0EA5E9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ps_embedding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highlight>
                  <a:srgbClr val="0EA5E9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&lt;-&gt;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0284C7"/>
                </a:solidFill>
                <a:highlight>
                  <a:srgbClr val="0EA5E9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'[쿼리 부품 벡터]'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;</a:t>
            </a:r>
            <a:endParaRPr lang="en-US" sz="975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925" y="3803253"/>
            <a:ext cx="285750" cy="17145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0045998" y="2416969"/>
            <a:ext cx="6344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6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VAQ 결과</a:t>
            </a:r>
            <a:endParaRPr lang="en-US" sz="975" dirty="0"/>
          </a:p>
        </p:txBody>
      </p:sp>
      <p:sp>
        <p:nvSpPr>
          <p:cNvPr id="33" name="Shape 28"/>
          <p:cNvSpPr/>
          <p:nvPr/>
        </p:nvSpPr>
        <p:spPr>
          <a:xfrm>
            <a:off x="9649420" y="2683669"/>
            <a:ext cx="425450" cy="425450"/>
          </a:xfrm>
          <a:prstGeom prst="roundRect">
            <a:avLst>
              <a:gd name="adj" fmla="val 8955"/>
            </a:avLst>
          </a:prstGeom>
          <a:solidFill>
            <a:srgbClr val="E8EEF6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7371" y="2791619"/>
            <a:ext cx="209550" cy="20955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0151071" y="2817019"/>
            <a:ext cx="17025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10321330" y="2690019"/>
            <a:ext cx="755650" cy="412750"/>
          </a:xfrm>
          <a:prstGeom prst="roundRect">
            <a:avLst>
              <a:gd name="adj" fmla="val 48462"/>
            </a:avLst>
          </a:prstGeom>
          <a:solidFill>
            <a:srgbClr val="F2FAFD"/>
          </a:solidFill>
          <a:ln w="6350">
            <a:solidFill>
              <a:srgbClr val="0EA5E9"/>
            </a:solidFill>
            <a:prstDash val="dash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5305" y="2724944"/>
            <a:ext cx="647700" cy="3429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914732" y="3185319"/>
            <a:ext cx="8969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29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유사 부품 추출</a:t>
            </a:r>
            <a:endParaRPr lang="en-US" sz="975" dirty="0"/>
          </a:p>
        </p:txBody>
      </p:sp>
      <p:sp>
        <p:nvSpPr>
          <p:cNvPr id="39" name="Shape 32"/>
          <p:cNvSpPr/>
          <p:nvPr/>
        </p:nvSpPr>
        <p:spPr>
          <a:xfrm>
            <a:off x="9220200" y="3413919"/>
            <a:ext cx="2076450" cy="23495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9302750" y="3502819"/>
            <a:ext cx="57150" cy="5715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1" name="Text 34"/>
          <p:cNvSpPr/>
          <p:nvPr/>
        </p:nvSpPr>
        <p:spPr>
          <a:xfrm>
            <a:off x="9417050" y="3458369"/>
            <a:ext cx="672604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customer</a:t>
            </a:r>
            <a:endParaRPr lang="en-US" sz="975" dirty="0"/>
          </a:p>
        </p:txBody>
      </p:sp>
      <p:sp>
        <p:nvSpPr>
          <p:cNvPr id="42" name="Shape 35"/>
          <p:cNvSpPr/>
          <p:nvPr/>
        </p:nvSpPr>
        <p:spPr>
          <a:xfrm>
            <a:off x="9220200" y="3686969"/>
            <a:ext cx="2076450" cy="23495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9302750" y="3775869"/>
            <a:ext cx="57150" cy="5715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4" name="Text 37"/>
          <p:cNvSpPr/>
          <p:nvPr/>
        </p:nvSpPr>
        <p:spPr>
          <a:xfrm>
            <a:off x="9417050" y="3731419"/>
            <a:ext cx="52357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orders</a:t>
            </a:r>
            <a:endParaRPr lang="en-US" sz="975" dirty="0"/>
          </a:p>
        </p:txBody>
      </p:sp>
      <p:sp>
        <p:nvSpPr>
          <p:cNvPr id="45" name="Shape 38"/>
          <p:cNvSpPr/>
          <p:nvPr/>
        </p:nvSpPr>
        <p:spPr>
          <a:xfrm>
            <a:off x="9220200" y="3960019"/>
            <a:ext cx="2076450" cy="23495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9302750" y="4048919"/>
            <a:ext cx="57150" cy="5715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7" name="Text 40"/>
          <p:cNvSpPr/>
          <p:nvPr/>
        </p:nvSpPr>
        <p:spPr>
          <a:xfrm>
            <a:off x="9417050" y="4004469"/>
            <a:ext cx="672604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lineitem</a:t>
            </a:r>
            <a:endParaRPr lang="en-US" sz="975" dirty="0"/>
          </a:p>
        </p:txBody>
      </p:sp>
      <p:sp>
        <p:nvSpPr>
          <p:cNvPr id="48" name="Shape 41"/>
          <p:cNvSpPr/>
          <p:nvPr/>
        </p:nvSpPr>
        <p:spPr>
          <a:xfrm>
            <a:off x="9220200" y="4233069"/>
            <a:ext cx="2076450" cy="234950"/>
          </a:xfrm>
          <a:prstGeom prst="rect">
            <a:avLst/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9302750" y="4321969"/>
            <a:ext cx="57150" cy="5715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0" name="Text 43"/>
          <p:cNvSpPr/>
          <p:nvPr/>
        </p:nvSpPr>
        <p:spPr>
          <a:xfrm>
            <a:off x="9417050" y="4277519"/>
            <a:ext cx="1045369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partsupp_deep</a:t>
            </a:r>
            <a:endParaRPr lang="en-US" sz="975" dirty="0"/>
          </a:p>
        </p:txBody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2850" y="3655219"/>
            <a:ext cx="133350" cy="571500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9220200" y="4582319"/>
            <a:ext cx="2286000" cy="514350"/>
          </a:xfrm>
          <a:prstGeom prst="roundRect">
            <a:avLst>
              <a:gd name="adj" fmla="val 5556"/>
            </a:avLst>
          </a:prstGeom>
          <a:solidFill>
            <a:srgbClr val="0EA5E9"/>
          </a:solidFill>
          <a:ln/>
        </p:spPr>
      </p:sp>
      <p:sp>
        <p:nvSpPr>
          <p:cNvPr id="53" name="Text 45"/>
          <p:cNvSpPr/>
          <p:nvPr/>
        </p:nvSpPr>
        <p:spPr>
          <a:xfrm>
            <a:off x="9591080" y="4677569"/>
            <a:ext cx="16203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5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유사 부품의 매출 상위 주문 도출</a:t>
            </a:r>
            <a:endParaRPr lang="en-US" sz="975" dirty="0"/>
          </a:p>
        </p:txBody>
      </p:sp>
      <p:sp>
        <p:nvSpPr>
          <p:cNvPr id="54" name="Text 46"/>
          <p:cNvSpPr/>
          <p:nvPr/>
        </p:nvSpPr>
        <p:spPr>
          <a:xfrm>
            <a:off x="9315450" y="4849019"/>
            <a:ext cx="20955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30" kern="0" dirty="0">
                <a:solidFill>
                  <a:srgbClr val="FFFFFF">
                    <a:alpha val="90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분석 결과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0EA5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배경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2554115" y="514350"/>
            <a:ext cx="7083770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카디널리티 한 곳이 잘못되면 — 최대 1만 배 느려짐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925517" y="939701"/>
            <a:ext cx="234096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벡터 테이블 100만 행 </a:t>
            </a:r>
            <a:pPr algn="ctr" indent="0" marL="0">
              <a:buNone/>
            </a:pPr>
            <a:r>
              <a:rPr lang="en-US" sz="975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같은 SQL · 같은 데이터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731393" y="1225451"/>
            <a:ext cx="135701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-5" kern="0" dirty="0">
                <a:solidFill>
                  <a:srgbClr val="DC26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❌ 카디널리티 추정 틀림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62000" y="1492151"/>
            <a:ext cx="5219700" cy="3807916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00" y="1600101"/>
            <a:ext cx="5041900" cy="36301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31442" y="5376267"/>
            <a:ext cx="2080816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spc="-4" kern="0" dirty="0">
                <a:solidFill>
                  <a:srgbClr val="DC26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행을 모두 메모리에 </a:t>
            </a:r>
            <a:pPr algn="ctr" indent="0" marL="0">
              <a:lnSpc>
                <a:spcPct val="14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100만 행 폭주</a:t>
            </a:r>
            <a:endParaRPr lang="en-US" sz="975" dirty="0"/>
          </a:p>
        </p:txBody>
      </p:sp>
      <p:sp>
        <p:nvSpPr>
          <p:cNvPr id="10" name="Shape 7"/>
          <p:cNvSpPr/>
          <p:nvPr/>
        </p:nvSpPr>
        <p:spPr>
          <a:xfrm>
            <a:off x="679450" y="5660529"/>
            <a:ext cx="5384800" cy="275034"/>
          </a:xfrm>
          <a:prstGeom prst="roundRect">
            <a:avLst>
              <a:gd name="adj" fmla="val 10390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2000" y="5714504"/>
            <a:ext cx="2639092" cy="205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spc="-4" kern="0" dirty="0">
                <a:solidFill>
                  <a:srgbClr val="DC26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Hash </a:t>
            </a:r>
            <a:pPr algn="l" indent="0" marL="0">
              <a:lnSpc>
                <a:spcPct val="13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한꺼번에 묶기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3419475" y="5714504"/>
            <a:ext cx="2639092" cy="205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spc="-4" kern="0" dirty="0">
                <a:solidFill>
                  <a:srgbClr val="DC26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Seq Scan </a:t>
            </a:r>
            <a:pPr algn="l" indent="0" marL="0">
              <a:lnSpc>
                <a:spcPct val="13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전체 행 읽기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8216404" y="1225451"/>
            <a:ext cx="128369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-5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 카디널리티 추정 정확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10300" y="1460401"/>
            <a:ext cx="5219700" cy="3807916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0" y="1568351"/>
            <a:ext cx="5041900" cy="363011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916267" y="5344517"/>
            <a:ext cx="1807666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spc="-4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인덱스로 100점만 직접 조회 </a:t>
            </a:r>
            <a:pPr algn="ctr" indent="0" marL="0">
              <a:lnSpc>
                <a:spcPct val="14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즉시</a:t>
            </a:r>
            <a:endParaRPr lang="en-US" sz="975" dirty="0"/>
          </a:p>
        </p:txBody>
      </p:sp>
      <p:sp>
        <p:nvSpPr>
          <p:cNvPr id="17" name="Shape 13"/>
          <p:cNvSpPr/>
          <p:nvPr/>
        </p:nvSpPr>
        <p:spPr>
          <a:xfrm>
            <a:off x="6127750" y="5628779"/>
            <a:ext cx="5384800" cy="275034"/>
          </a:xfrm>
          <a:prstGeom prst="roundRect">
            <a:avLst>
              <a:gd name="adj" fmla="val 10390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10300" y="5682754"/>
            <a:ext cx="2639092" cy="205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spc="-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Nested Loop </a:t>
            </a:r>
            <a:pPr algn="l" indent="0" marL="0">
              <a:lnSpc>
                <a:spcPct val="13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하나씩 인덱스로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8867775" y="5682754"/>
            <a:ext cx="2639092" cy="205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spc="-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Index Scan </a:t>
            </a:r>
            <a:pPr algn="l" indent="0" marL="0">
              <a:lnSpc>
                <a:spcPct val="13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인덱스로 부분만</a:t>
            </a:r>
            <a:endParaRPr lang="en-US" sz="975" dirty="0"/>
          </a:p>
        </p:txBody>
      </p:sp>
      <p:sp>
        <p:nvSpPr>
          <p:cNvPr id="20" name="Shape 16"/>
          <p:cNvSpPr/>
          <p:nvPr/>
        </p:nvSpPr>
        <p:spPr>
          <a:xfrm>
            <a:off x="3282057" y="6087963"/>
            <a:ext cx="5627886" cy="57904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7"/>
          <p:cNvSpPr/>
          <p:nvPr/>
        </p:nvSpPr>
        <p:spPr>
          <a:xfrm>
            <a:off x="3197639" y="6087963"/>
            <a:ext cx="5796723" cy="617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4800" b="1" spc="-24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10,000× 응답 시간 차이</a:t>
            </a:r>
            <a:endParaRPr lang="en-US" sz="4800" dirty="0"/>
          </a:p>
        </p:txBody>
      </p:sp>
      <p:sp>
        <p:nvSpPr>
          <p:cNvPr id="22" name="Text 18"/>
          <p:cNvSpPr/>
          <p:nvPr/>
        </p:nvSpPr>
        <p:spPr>
          <a:xfrm>
            <a:off x="3197639" y="6705104"/>
            <a:ext cx="579672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5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벡터 데이터셋 DEEP · 표준 분석 쿼리 예시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0EA5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배경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490939" y="514350"/>
            <a:ext cx="5210121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시스템 — 데이터 무관 고정 비율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280642"/>
            <a:ext cx="3276600" cy="191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14463" y="2521942"/>
            <a:ext cx="752574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7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pgvector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79941" y="2801342"/>
            <a:ext cx="2621719" cy="96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100" b="1" spc="-40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33.3 </a:t>
            </a:r>
            <a:pPr algn="ctr" indent="0" marL="0">
              <a:lnSpc>
                <a:spcPct val="90000"/>
              </a:lnSpc>
              <a:buNone/>
            </a:pPr>
            <a:r>
              <a:rPr lang="en-US" sz="3240" b="1" spc="-40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8100" dirty="0"/>
          </a:p>
        </p:txBody>
      </p:sp>
      <p:sp>
        <p:nvSpPr>
          <p:cNvPr id="8" name="Text 6"/>
          <p:cNvSpPr/>
          <p:nvPr/>
        </p:nvSpPr>
        <p:spPr>
          <a:xfrm>
            <a:off x="1969790" y="3803352"/>
            <a:ext cx="124202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늘 전체의 33.3%로 가정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4457700" y="2280642"/>
            <a:ext cx="3276600" cy="191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1221" y="2521942"/>
            <a:ext cx="58955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7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VBASE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225257" y="2801342"/>
            <a:ext cx="1741388" cy="96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100" b="1" spc="-40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</a:t>
            </a:r>
            <a:pPr algn="ctr" indent="0" marL="0">
              <a:lnSpc>
                <a:spcPct val="90000"/>
              </a:lnSpc>
              <a:buNone/>
            </a:pPr>
            <a:r>
              <a:rPr lang="en-US" sz="3240" b="1" spc="-40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8100" dirty="0"/>
          </a:p>
        </p:txBody>
      </p:sp>
      <p:sp>
        <p:nvSpPr>
          <p:cNvPr id="12" name="Text 10"/>
          <p:cNvSpPr/>
          <p:nvPr/>
        </p:nvSpPr>
        <p:spPr>
          <a:xfrm>
            <a:off x="5517059" y="3803352"/>
            <a:ext cx="115788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늘 전체의 50%로 가정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7962900" y="2280642"/>
            <a:ext cx="3276600" cy="191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12052" y="2521942"/>
            <a:ext cx="97829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7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DuckDB-vss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99376" y="2801342"/>
            <a:ext cx="2203549" cy="96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100" b="1" spc="-40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</a:t>
            </a:r>
            <a:pPr algn="ctr" indent="0" marL="0">
              <a:lnSpc>
                <a:spcPct val="90000"/>
              </a:lnSpc>
              <a:buNone/>
            </a:pPr>
            <a:r>
              <a:rPr lang="en-US" sz="3240" b="1" spc="-40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8100" dirty="0"/>
          </a:p>
        </p:txBody>
      </p:sp>
      <p:sp>
        <p:nvSpPr>
          <p:cNvPr id="16" name="Text 14"/>
          <p:cNvSpPr/>
          <p:nvPr/>
        </p:nvSpPr>
        <p:spPr>
          <a:xfrm>
            <a:off x="9168011" y="3803352"/>
            <a:ext cx="86627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늘 100%로 가정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981989" y="4420890"/>
            <a:ext cx="4227922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275" spc="-13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시스템 모두 — </a:t>
            </a:r>
            <a:pPr algn="ctr" indent="0" marL="0">
              <a:lnSpc>
                <a:spcPct val="155000"/>
              </a:lnSpc>
              <a:buNone/>
            </a:pPr>
            <a:r>
              <a:rPr lang="en-US" sz="1275" b="1" spc="-13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데이터·임계값과 무관</a:t>
            </a:r>
            <a:pPr algn="ctr" indent="0" marL="0">
              <a:lnSpc>
                <a:spcPct val="155000"/>
              </a:lnSpc>
              <a:buNone/>
            </a:pPr>
            <a:r>
              <a:rPr lang="en-US" sz="1275" spc="-13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하게 고정 비율로 어림한다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4785221" y="4900414"/>
            <a:ext cx="2621459" cy="501650"/>
          </a:xfrm>
          <a:prstGeom prst="roundRect">
            <a:avLst>
              <a:gd name="adj" fmla="val 5696"/>
            </a:avLst>
          </a:prstGeom>
          <a:ln w="19050">
            <a:solidFill>
              <a:srgbClr val="DC2626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069749" y="5052814"/>
            <a:ext cx="205240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spc="-19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거의 모든 쿼리에서 잘못된 plan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방법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852954" y="514350"/>
            <a:ext cx="8485992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인덱스가 없을 때 — Adaptive Sampling (적응적 표본 추출)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971550" y="1806674"/>
            <a:ext cx="1301750" cy="2145308"/>
          </a:xfrm>
          <a:prstGeom prst="rect">
            <a:avLst/>
          </a:prstGeom>
          <a:solidFill>
            <a:srgbClr val="FAFAFA">
              <a:alpha val="70000"/>
            </a:srgbClr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43844" y="1952724"/>
            <a:ext cx="157063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5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379934" y="2232124"/>
            <a:ext cx="484981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72406" y="2549624"/>
            <a:ext cx="29993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SQL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2273300" y="2869803"/>
            <a:ext cx="228600" cy="19050"/>
          </a:xfrm>
          <a:prstGeom prst="rect">
            <a:avLst/>
          </a:prstGeom>
          <a:solidFill>
            <a:srgbClr val="94A3B8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501900" y="1806674"/>
            <a:ext cx="2355850" cy="2145308"/>
          </a:xfrm>
          <a:prstGeom prst="rect">
            <a:avLst/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209550" dist="57150" dir="5400000">
              <a:srgbClr val="8B5CF6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47951" y="1698724"/>
            <a:ext cx="1263749" cy="228600"/>
          </a:xfrm>
          <a:prstGeom prst="roundRect">
            <a:avLst>
              <a:gd name="adj" fmla="val 12500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124151" y="1736824"/>
            <a:ext cx="11113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32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 연구 집중 단계 ★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382863" y="2060674"/>
            <a:ext cx="5938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50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① STEP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324622" y="2270224"/>
            <a:ext cx="71030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7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표본 추출</a:t>
            </a:r>
            <a:endParaRPr lang="en-US" sz="13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7825" y="2530574"/>
            <a:ext cx="1524000" cy="4762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839343" y="3083024"/>
            <a:ext cx="168086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무작위 균일 추출 (베르누이 방식)</a:t>
            </a:r>
            <a:endParaRPr lang="en-US" sz="975" dirty="0"/>
          </a:p>
        </p:txBody>
      </p:sp>
      <p:sp>
        <p:nvSpPr>
          <p:cNvPr id="17" name="Shape 14"/>
          <p:cNvSpPr/>
          <p:nvPr/>
        </p:nvSpPr>
        <p:spPr>
          <a:xfrm>
            <a:off x="2727325" y="3364012"/>
            <a:ext cx="1904901" cy="952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5"/>
          <p:cNvSpPr/>
          <p:nvPr/>
        </p:nvSpPr>
        <p:spPr>
          <a:xfrm>
            <a:off x="2746375" y="3408462"/>
            <a:ext cx="1866801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b="1" spc="14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쿼리당 표본 </a:t>
            </a:r>
            <a:pPr algn="ctr" indent="0" marL="0">
              <a:lnSpc>
                <a:spcPct val="140000"/>
              </a:lnSpc>
              <a:buNone/>
            </a:pPr>
            <a:r>
              <a:rPr lang="en-US" sz="975" b="1" spc="14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385 </a:t>
            </a:r>
            <a:pPr algn="ctr" indent="0" marL="0">
              <a:lnSpc>
                <a:spcPct val="140000"/>
              </a:lnSpc>
              <a:buNone/>
            </a:pPr>
            <a:r>
              <a:rPr lang="en-US" sz="975" b="1" spc="14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개 1회 추출 → 50 쿼리마다 N 갱신</a:t>
            </a:r>
            <a:endParaRPr lang="en-US" sz="975" dirty="0"/>
          </a:p>
        </p:txBody>
      </p:sp>
      <p:sp>
        <p:nvSpPr>
          <p:cNvPr id="19" name="Shape 16"/>
          <p:cNvSpPr/>
          <p:nvPr/>
        </p:nvSpPr>
        <p:spPr>
          <a:xfrm>
            <a:off x="4857750" y="2869803"/>
            <a:ext cx="228600" cy="19050"/>
          </a:xfrm>
          <a:prstGeom prst="rect">
            <a:avLst/>
          </a:prstGeom>
          <a:solidFill>
            <a:srgbClr val="94A3B8">
              <a:alpha val="5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086350" y="1806674"/>
            <a:ext cx="1892300" cy="2145308"/>
          </a:xfrm>
          <a:prstGeom prst="rect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35538" y="1952724"/>
            <a:ext cx="5938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5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② STEP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5515967" y="2162274"/>
            <a:ext cx="103306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카디널리티 추정</a:t>
            </a:r>
            <a:endParaRPr lang="en-US" sz="12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750" y="2536924"/>
            <a:ext cx="571500" cy="20955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586909" y="2956024"/>
            <a:ext cx="89118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표본 위에서 추정</a:t>
            </a:r>
            <a:endParaRPr lang="en-US" sz="975" dirty="0"/>
          </a:p>
        </p:txBody>
      </p:sp>
      <p:sp>
        <p:nvSpPr>
          <p:cNvPr id="25" name="Shape 21"/>
          <p:cNvSpPr/>
          <p:nvPr/>
        </p:nvSpPr>
        <p:spPr>
          <a:xfrm>
            <a:off x="6978650" y="2869803"/>
            <a:ext cx="228600" cy="19050"/>
          </a:xfrm>
          <a:prstGeom prst="rect">
            <a:avLst/>
          </a:prstGeom>
          <a:solidFill>
            <a:srgbClr val="94A3B8">
              <a:alpha val="55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7207250" y="1806674"/>
            <a:ext cx="1892300" cy="2145308"/>
          </a:xfrm>
          <a:prstGeom prst="rect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856438" y="1952724"/>
            <a:ext cx="5938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5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③ STEP</a:t>
            </a:r>
            <a:endParaRPr lang="en-US" sz="975" dirty="0"/>
          </a:p>
        </p:txBody>
      </p:sp>
      <p:sp>
        <p:nvSpPr>
          <p:cNvPr id="28" name="Text 24"/>
          <p:cNvSpPr/>
          <p:nvPr/>
        </p:nvSpPr>
        <p:spPr>
          <a:xfrm>
            <a:off x="7714456" y="2162274"/>
            <a:ext cx="87788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Q-error 측정</a:t>
            </a:r>
            <a:endParaRPr lang="en-US" sz="12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650" y="2536924"/>
            <a:ext cx="571500" cy="20955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761387" y="2956024"/>
            <a:ext cx="78402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추정 오차 측정</a:t>
            </a:r>
            <a:endParaRPr lang="en-US" sz="975" dirty="0"/>
          </a:p>
        </p:txBody>
      </p:sp>
      <p:sp>
        <p:nvSpPr>
          <p:cNvPr id="31" name="Shape 26"/>
          <p:cNvSpPr/>
          <p:nvPr/>
        </p:nvSpPr>
        <p:spPr>
          <a:xfrm>
            <a:off x="9099550" y="2869803"/>
            <a:ext cx="228600" cy="19050"/>
          </a:xfrm>
          <a:prstGeom prst="rect">
            <a:avLst/>
          </a:prstGeom>
          <a:solidFill>
            <a:srgbClr val="94A3B8">
              <a:alpha val="55000"/>
            </a:srgbClr>
          </a:solidFill>
          <a:ln/>
        </p:spPr>
      </p:sp>
      <p:sp>
        <p:nvSpPr>
          <p:cNvPr id="32" name="Shape 27"/>
          <p:cNvSpPr/>
          <p:nvPr/>
        </p:nvSpPr>
        <p:spPr>
          <a:xfrm>
            <a:off x="9328150" y="1806674"/>
            <a:ext cx="1892300" cy="2145308"/>
          </a:xfrm>
          <a:prstGeom prst="rect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977339" y="1952724"/>
            <a:ext cx="5938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5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④ STEP</a:t>
            </a:r>
            <a:endParaRPr lang="en-US" sz="975" dirty="0"/>
          </a:p>
        </p:txBody>
      </p:sp>
      <p:sp>
        <p:nvSpPr>
          <p:cNvPr id="34" name="Text 29"/>
          <p:cNvSpPr/>
          <p:nvPr/>
        </p:nvSpPr>
        <p:spPr>
          <a:xfrm>
            <a:off x="9803606" y="2162274"/>
            <a:ext cx="94128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표본 크기 조정</a:t>
            </a:r>
            <a:endParaRPr lang="en-US" sz="12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9526" y="2536924"/>
            <a:ext cx="209550" cy="20955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598223" y="2956024"/>
            <a:ext cx="135205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표본은 더 많이 / 적게</a:t>
            </a:r>
            <a:endParaRPr lang="en-US" sz="975" dirty="0"/>
          </a:p>
        </p:txBody>
      </p:sp>
      <p:sp>
        <p:nvSpPr>
          <p:cNvPr id="37" name="Text 31"/>
          <p:cNvSpPr/>
          <p:nvPr/>
        </p:nvSpPr>
        <p:spPr>
          <a:xfrm>
            <a:off x="4485710" y="4161532"/>
            <a:ext cx="32204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110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UPDATE PERIOD · 50 쿼리마다 N 자체가 갱신</a:t>
            </a:r>
            <a:endParaRPr lang="en-US" sz="975" dirty="0"/>
          </a:p>
        </p:txBody>
      </p:sp>
      <p:sp>
        <p:nvSpPr>
          <p:cNvPr id="38" name="Shape 32"/>
          <p:cNvSpPr/>
          <p:nvPr/>
        </p:nvSpPr>
        <p:spPr>
          <a:xfrm>
            <a:off x="1238250" y="4390132"/>
            <a:ext cx="3086100" cy="1122660"/>
          </a:xfrm>
          <a:prstGeom prst="roundRect">
            <a:avLst>
              <a:gd name="adj" fmla="val 3394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dash"/>
          </a:ln>
        </p:spPr>
      </p:sp>
      <p:sp>
        <p:nvSpPr>
          <p:cNvPr id="39" name="Text 33"/>
          <p:cNvSpPr/>
          <p:nvPr/>
        </p:nvSpPr>
        <p:spPr>
          <a:xfrm>
            <a:off x="2045593" y="4498082"/>
            <a:ext cx="147131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43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샘플링 1~50회 (1단계)</a:t>
            </a:r>
            <a:endParaRPr lang="en-US" sz="975" dirty="0"/>
          </a:p>
        </p:txBody>
      </p:sp>
      <p:sp>
        <p:nvSpPr>
          <p:cNvPr id="40" name="Text 34"/>
          <p:cNvSpPr/>
          <p:nvPr/>
        </p:nvSpPr>
        <p:spPr>
          <a:xfrm>
            <a:off x="2324596" y="4698107"/>
            <a:ext cx="9134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spc="-49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N₀ = 385</a:t>
            </a:r>
            <a:endParaRPr lang="en-US" sz="1650" dirty="0"/>
          </a:p>
        </p:txBody>
      </p:sp>
      <p:sp>
        <p:nvSpPr>
          <p:cNvPr id="41" name="Shape 35"/>
          <p:cNvSpPr/>
          <p:nvPr/>
        </p:nvSpPr>
        <p:spPr>
          <a:xfrm>
            <a:off x="13906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42" name="Shape 36"/>
          <p:cNvSpPr/>
          <p:nvPr/>
        </p:nvSpPr>
        <p:spPr>
          <a:xfrm>
            <a:off x="14478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43" name="Shape 37"/>
          <p:cNvSpPr/>
          <p:nvPr/>
        </p:nvSpPr>
        <p:spPr>
          <a:xfrm>
            <a:off x="15049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44" name="Shape 38"/>
          <p:cNvSpPr/>
          <p:nvPr/>
        </p:nvSpPr>
        <p:spPr>
          <a:xfrm>
            <a:off x="15621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45" name="Shape 39"/>
          <p:cNvSpPr/>
          <p:nvPr/>
        </p:nvSpPr>
        <p:spPr>
          <a:xfrm>
            <a:off x="16192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46" name="Shape 40"/>
          <p:cNvSpPr/>
          <p:nvPr/>
        </p:nvSpPr>
        <p:spPr>
          <a:xfrm>
            <a:off x="16764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47" name="Shape 41"/>
          <p:cNvSpPr/>
          <p:nvPr/>
        </p:nvSpPr>
        <p:spPr>
          <a:xfrm>
            <a:off x="17335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48" name="Shape 42"/>
          <p:cNvSpPr/>
          <p:nvPr/>
        </p:nvSpPr>
        <p:spPr>
          <a:xfrm>
            <a:off x="17907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49" name="Shape 43"/>
          <p:cNvSpPr/>
          <p:nvPr/>
        </p:nvSpPr>
        <p:spPr>
          <a:xfrm>
            <a:off x="18478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0" name="Shape 44"/>
          <p:cNvSpPr/>
          <p:nvPr/>
        </p:nvSpPr>
        <p:spPr>
          <a:xfrm>
            <a:off x="19050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1" name="Shape 45"/>
          <p:cNvSpPr/>
          <p:nvPr/>
        </p:nvSpPr>
        <p:spPr>
          <a:xfrm>
            <a:off x="19621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2" name="Shape 46"/>
          <p:cNvSpPr/>
          <p:nvPr/>
        </p:nvSpPr>
        <p:spPr>
          <a:xfrm>
            <a:off x="20193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3" name="Shape 47"/>
          <p:cNvSpPr/>
          <p:nvPr/>
        </p:nvSpPr>
        <p:spPr>
          <a:xfrm>
            <a:off x="20764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4" name="Shape 48"/>
          <p:cNvSpPr/>
          <p:nvPr/>
        </p:nvSpPr>
        <p:spPr>
          <a:xfrm>
            <a:off x="21336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5" name="Shape 49"/>
          <p:cNvSpPr/>
          <p:nvPr/>
        </p:nvSpPr>
        <p:spPr>
          <a:xfrm>
            <a:off x="21907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6" name="Shape 50"/>
          <p:cNvSpPr/>
          <p:nvPr/>
        </p:nvSpPr>
        <p:spPr>
          <a:xfrm>
            <a:off x="22479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7" name="Shape 51"/>
          <p:cNvSpPr/>
          <p:nvPr/>
        </p:nvSpPr>
        <p:spPr>
          <a:xfrm>
            <a:off x="23050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8" name="Shape 52"/>
          <p:cNvSpPr/>
          <p:nvPr/>
        </p:nvSpPr>
        <p:spPr>
          <a:xfrm>
            <a:off x="23622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9" name="Shape 53"/>
          <p:cNvSpPr/>
          <p:nvPr/>
        </p:nvSpPr>
        <p:spPr>
          <a:xfrm>
            <a:off x="24193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0" name="Shape 54"/>
          <p:cNvSpPr/>
          <p:nvPr/>
        </p:nvSpPr>
        <p:spPr>
          <a:xfrm>
            <a:off x="24765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1" name="Shape 55"/>
          <p:cNvSpPr/>
          <p:nvPr/>
        </p:nvSpPr>
        <p:spPr>
          <a:xfrm>
            <a:off x="25336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2" name="Shape 56"/>
          <p:cNvSpPr/>
          <p:nvPr/>
        </p:nvSpPr>
        <p:spPr>
          <a:xfrm>
            <a:off x="25908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3" name="Shape 57"/>
          <p:cNvSpPr/>
          <p:nvPr/>
        </p:nvSpPr>
        <p:spPr>
          <a:xfrm>
            <a:off x="26479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4" name="Shape 58"/>
          <p:cNvSpPr/>
          <p:nvPr/>
        </p:nvSpPr>
        <p:spPr>
          <a:xfrm>
            <a:off x="27051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5" name="Shape 59"/>
          <p:cNvSpPr/>
          <p:nvPr/>
        </p:nvSpPr>
        <p:spPr>
          <a:xfrm>
            <a:off x="27622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6" name="Shape 60"/>
          <p:cNvSpPr/>
          <p:nvPr/>
        </p:nvSpPr>
        <p:spPr>
          <a:xfrm>
            <a:off x="28194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7" name="Shape 61"/>
          <p:cNvSpPr/>
          <p:nvPr/>
        </p:nvSpPr>
        <p:spPr>
          <a:xfrm>
            <a:off x="28765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8" name="Shape 62"/>
          <p:cNvSpPr/>
          <p:nvPr/>
        </p:nvSpPr>
        <p:spPr>
          <a:xfrm>
            <a:off x="29337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9" name="Shape 63"/>
          <p:cNvSpPr/>
          <p:nvPr/>
        </p:nvSpPr>
        <p:spPr>
          <a:xfrm>
            <a:off x="29908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0" name="Shape 64"/>
          <p:cNvSpPr/>
          <p:nvPr/>
        </p:nvSpPr>
        <p:spPr>
          <a:xfrm>
            <a:off x="30480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1" name="Shape 65"/>
          <p:cNvSpPr/>
          <p:nvPr/>
        </p:nvSpPr>
        <p:spPr>
          <a:xfrm>
            <a:off x="31051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2" name="Shape 66"/>
          <p:cNvSpPr/>
          <p:nvPr/>
        </p:nvSpPr>
        <p:spPr>
          <a:xfrm>
            <a:off x="31623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3" name="Shape 67"/>
          <p:cNvSpPr/>
          <p:nvPr/>
        </p:nvSpPr>
        <p:spPr>
          <a:xfrm>
            <a:off x="32194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4" name="Shape 68"/>
          <p:cNvSpPr/>
          <p:nvPr/>
        </p:nvSpPr>
        <p:spPr>
          <a:xfrm>
            <a:off x="32766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5" name="Shape 69"/>
          <p:cNvSpPr/>
          <p:nvPr/>
        </p:nvSpPr>
        <p:spPr>
          <a:xfrm>
            <a:off x="33337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6" name="Shape 70"/>
          <p:cNvSpPr/>
          <p:nvPr/>
        </p:nvSpPr>
        <p:spPr>
          <a:xfrm>
            <a:off x="33909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7" name="Shape 71"/>
          <p:cNvSpPr/>
          <p:nvPr/>
        </p:nvSpPr>
        <p:spPr>
          <a:xfrm>
            <a:off x="34480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8" name="Shape 72"/>
          <p:cNvSpPr/>
          <p:nvPr/>
        </p:nvSpPr>
        <p:spPr>
          <a:xfrm>
            <a:off x="35052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9" name="Shape 73"/>
          <p:cNvSpPr/>
          <p:nvPr/>
        </p:nvSpPr>
        <p:spPr>
          <a:xfrm>
            <a:off x="35623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0" name="Shape 74"/>
          <p:cNvSpPr/>
          <p:nvPr/>
        </p:nvSpPr>
        <p:spPr>
          <a:xfrm>
            <a:off x="36195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1" name="Shape 75"/>
          <p:cNvSpPr/>
          <p:nvPr/>
        </p:nvSpPr>
        <p:spPr>
          <a:xfrm>
            <a:off x="36766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2" name="Shape 76"/>
          <p:cNvSpPr/>
          <p:nvPr/>
        </p:nvSpPr>
        <p:spPr>
          <a:xfrm>
            <a:off x="37338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3" name="Shape 77"/>
          <p:cNvSpPr/>
          <p:nvPr/>
        </p:nvSpPr>
        <p:spPr>
          <a:xfrm>
            <a:off x="37909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4" name="Shape 78"/>
          <p:cNvSpPr/>
          <p:nvPr/>
        </p:nvSpPr>
        <p:spPr>
          <a:xfrm>
            <a:off x="38481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5" name="Shape 79"/>
          <p:cNvSpPr/>
          <p:nvPr/>
        </p:nvSpPr>
        <p:spPr>
          <a:xfrm>
            <a:off x="39052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6" name="Shape 80"/>
          <p:cNvSpPr/>
          <p:nvPr/>
        </p:nvSpPr>
        <p:spPr>
          <a:xfrm>
            <a:off x="39624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7" name="Shape 81"/>
          <p:cNvSpPr/>
          <p:nvPr/>
        </p:nvSpPr>
        <p:spPr>
          <a:xfrm>
            <a:off x="40195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8" name="Shape 82"/>
          <p:cNvSpPr/>
          <p:nvPr/>
        </p:nvSpPr>
        <p:spPr>
          <a:xfrm>
            <a:off x="40767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9" name="Shape 83"/>
          <p:cNvSpPr/>
          <p:nvPr/>
        </p:nvSpPr>
        <p:spPr>
          <a:xfrm>
            <a:off x="41338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90" name="Shape 84"/>
          <p:cNvSpPr/>
          <p:nvPr/>
        </p:nvSpPr>
        <p:spPr>
          <a:xfrm>
            <a:off x="2762250" y="509815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91" name="Text 85"/>
          <p:cNvSpPr/>
          <p:nvPr/>
        </p:nvSpPr>
        <p:spPr>
          <a:xfrm>
            <a:off x="1778893" y="5231507"/>
            <a:ext cx="200471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초기 N · 각 쿼리 </a:t>
            </a:r>
            <a:pPr algn="ctr" indent="0" marL="0">
              <a:lnSpc>
                <a:spcPct val="140000"/>
              </a:lnSpc>
              <a:buNone/>
            </a:pPr>
            <a:r>
              <a:rPr lang="en-US" sz="975" b="1" spc="-4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sample 1회 </a:t>
            </a:r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Q-error</a:t>
            </a:r>
            <a:endParaRPr lang="en-US" sz="975" dirty="0"/>
          </a:p>
        </p:txBody>
      </p:sp>
      <p:sp>
        <p:nvSpPr>
          <p:cNvPr id="92" name="Text 86"/>
          <p:cNvSpPr/>
          <p:nvPr/>
        </p:nvSpPr>
        <p:spPr>
          <a:xfrm>
            <a:off x="4372670" y="4707632"/>
            <a:ext cx="2080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200" dirty="0"/>
          </a:p>
        </p:txBody>
      </p:sp>
      <p:sp>
        <p:nvSpPr>
          <p:cNvPr id="93" name="Text 87"/>
          <p:cNvSpPr/>
          <p:nvPr/>
        </p:nvSpPr>
        <p:spPr>
          <a:xfrm>
            <a:off x="4324350" y="4898132"/>
            <a:ext cx="30480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26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 갱신</a:t>
            </a:r>
            <a:endParaRPr lang="en-US" sz="975" dirty="0"/>
          </a:p>
        </p:txBody>
      </p:sp>
      <p:sp>
        <p:nvSpPr>
          <p:cNvPr id="94" name="Shape 88"/>
          <p:cNvSpPr/>
          <p:nvPr/>
        </p:nvSpPr>
        <p:spPr>
          <a:xfrm>
            <a:off x="4552950" y="4390132"/>
            <a:ext cx="3086100" cy="1122660"/>
          </a:xfrm>
          <a:prstGeom prst="roundRect">
            <a:avLst>
              <a:gd name="adj" fmla="val 3394"/>
            </a:avLst>
          </a:prstGeom>
          <a:solidFill>
            <a:srgbClr val="FAF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5" name="Text 89"/>
          <p:cNvSpPr/>
          <p:nvPr/>
        </p:nvSpPr>
        <p:spPr>
          <a:xfrm>
            <a:off x="5280323" y="4498082"/>
            <a:ext cx="16312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43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샘플링 51~100회 (2단계)</a:t>
            </a:r>
            <a:endParaRPr lang="en-US" sz="975" dirty="0"/>
          </a:p>
        </p:txBody>
      </p:sp>
      <p:sp>
        <p:nvSpPr>
          <p:cNvPr id="96" name="Text 90"/>
          <p:cNvSpPr/>
          <p:nvPr/>
        </p:nvSpPr>
        <p:spPr>
          <a:xfrm>
            <a:off x="5956896" y="4698107"/>
            <a:ext cx="27820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spc="-49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N₁</a:t>
            </a:r>
            <a:endParaRPr lang="en-US" sz="1650" dirty="0"/>
          </a:p>
        </p:txBody>
      </p:sp>
      <p:sp>
        <p:nvSpPr>
          <p:cNvPr id="97" name="Shape 91"/>
          <p:cNvSpPr/>
          <p:nvPr/>
        </p:nvSpPr>
        <p:spPr>
          <a:xfrm>
            <a:off x="47053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98" name="Shape 92"/>
          <p:cNvSpPr/>
          <p:nvPr/>
        </p:nvSpPr>
        <p:spPr>
          <a:xfrm>
            <a:off x="47625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99" name="Shape 93"/>
          <p:cNvSpPr/>
          <p:nvPr/>
        </p:nvSpPr>
        <p:spPr>
          <a:xfrm>
            <a:off x="48196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00" name="Shape 94"/>
          <p:cNvSpPr/>
          <p:nvPr/>
        </p:nvSpPr>
        <p:spPr>
          <a:xfrm>
            <a:off x="48768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01" name="Shape 95"/>
          <p:cNvSpPr/>
          <p:nvPr/>
        </p:nvSpPr>
        <p:spPr>
          <a:xfrm>
            <a:off x="49339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02" name="Shape 96"/>
          <p:cNvSpPr/>
          <p:nvPr/>
        </p:nvSpPr>
        <p:spPr>
          <a:xfrm>
            <a:off x="49911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03" name="Shape 97"/>
          <p:cNvSpPr/>
          <p:nvPr/>
        </p:nvSpPr>
        <p:spPr>
          <a:xfrm>
            <a:off x="50482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04" name="Shape 98"/>
          <p:cNvSpPr/>
          <p:nvPr/>
        </p:nvSpPr>
        <p:spPr>
          <a:xfrm>
            <a:off x="51054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05" name="Shape 99"/>
          <p:cNvSpPr/>
          <p:nvPr/>
        </p:nvSpPr>
        <p:spPr>
          <a:xfrm>
            <a:off x="51625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06" name="Shape 100"/>
          <p:cNvSpPr/>
          <p:nvPr/>
        </p:nvSpPr>
        <p:spPr>
          <a:xfrm>
            <a:off x="52197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07" name="Shape 101"/>
          <p:cNvSpPr/>
          <p:nvPr/>
        </p:nvSpPr>
        <p:spPr>
          <a:xfrm>
            <a:off x="52768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08" name="Shape 102"/>
          <p:cNvSpPr/>
          <p:nvPr/>
        </p:nvSpPr>
        <p:spPr>
          <a:xfrm>
            <a:off x="53340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09" name="Shape 103"/>
          <p:cNvSpPr/>
          <p:nvPr/>
        </p:nvSpPr>
        <p:spPr>
          <a:xfrm>
            <a:off x="53911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10" name="Shape 104"/>
          <p:cNvSpPr/>
          <p:nvPr/>
        </p:nvSpPr>
        <p:spPr>
          <a:xfrm>
            <a:off x="54483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11" name="Shape 105"/>
          <p:cNvSpPr/>
          <p:nvPr/>
        </p:nvSpPr>
        <p:spPr>
          <a:xfrm>
            <a:off x="55054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12" name="Shape 106"/>
          <p:cNvSpPr/>
          <p:nvPr/>
        </p:nvSpPr>
        <p:spPr>
          <a:xfrm>
            <a:off x="55626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13" name="Shape 107"/>
          <p:cNvSpPr/>
          <p:nvPr/>
        </p:nvSpPr>
        <p:spPr>
          <a:xfrm>
            <a:off x="56197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14" name="Shape 108"/>
          <p:cNvSpPr/>
          <p:nvPr/>
        </p:nvSpPr>
        <p:spPr>
          <a:xfrm>
            <a:off x="56769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15" name="Shape 109"/>
          <p:cNvSpPr/>
          <p:nvPr/>
        </p:nvSpPr>
        <p:spPr>
          <a:xfrm>
            <a:off x="57340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16" name="Shape 110"/>
          <p:cNvSpPr/>
          <p:nvPr/>
        </p:nvSpPr>
        <p:spPr>
          <a:xfrm>
            <a:off x="57912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17" name="Shape 111"/>
          <p:cNvSpPr/>
          <p:nvPr/>
        </p:nvSpPr>
        <p:spPr>
          <a:xfrm>
            <a:off x="58483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18" name="Shape 112"/>
          <p:cNvSpPr/>
          <p:nvPr/>
        </p:nvSpPr>
        <p:spPr>
          <a:xfrm>
            <a:off x="59055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19" name="Shape 113"/>
          <p:cNvSpPr/>
          <p:nvPr/>
        </p:nvSpPr>
        <p:spPr>
          <a:xfrm>
            <a:off x="59626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20" name="Shape 114"/>
          <p:cNvSpPr/>
          <p:nvPr/>
        </p:nvSpPr>
        <p:spPr>
          <a:xfrm>
            <a:off x="60198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21" name="Shape 115"/>
          <p:cNvSpPr/>
          <p:nvPr/>
        </p:nvSpPr>
        <p:spPr>
          <a:xfrm>
            <a:off x="60769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22" name="Shape 116"/>
          <p:cNvSpPr/>
          <p:nvPr/>
        </p:nvSpPr>
        <p:spPr>
          <a:xfrm>
            <a:off x="61341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23" name="Shape 117"/>
          <p:cNvSpPr/>
          <p:nvPr/>
        </p:nvSpPr>
        <p:spPr>
          <a:xfrm>
            <a:off x="61912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24" name="Shape 118"/>
          <p:cNvSpPr/>
          <p:nvPr/>
        </p:nvSpPr>
        <p:spPr>
          <a:xfrm>
            <a:off x="62484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25" name="Shape 119"/>
          <p:cNvSpPr/>
          <p:nvPr/>
        </p:nvSpPr>
        <p:spPr>
          <a:xfrm>
            <a:off x="63055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26" name="Shape 120"/>
          <p:cNvSpPr/>
          <p:nvPr/>
        </p:nvSpPr>
        <p:spPr>
          <a:xfrm>
            <a:off x="63627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27" name="Shape 121"/>
          <p:cNvSpPr/>
          <p:nvPr/>
        </p:nvSpPr>
        <p:spPr>
          <a:xfrm>
            <a:off x="64198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28" name="Shape 122"/>
          <p:cNvSpPr/>
          <p:nvPr/>
        </p:nvSpPr>
        <p:spPr>
          <a:xfrm>
            <a:off x="64770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29" name="Shape 123"/>
          <p:cNvSpPr/>
          <p:nvPr/>
        </p:nvSpPr>
        <p:spPr>
          <a:xfrm>
            <a:off x="65341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30" name="Shape 124"/>
          <p:cNvSpPr/>
          <p:nvPr/>
        </p:nvSpPr>
        <p:spPr>
          <a:xfrm>
            <a:off x="65913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31" name="Shape 125"/>
          <p:cNvSpPr/>
          <p:nvPr/>
        </p:nvSpPr>
        <p:spPr>
          <a:xfrm>
            <a:off x="66484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32" name="Shape 126"/>
          <p:cNvSpPr/>
          <p:nvPr/>
        </p:nvSpPr>
        <p:spPr>
          <a:xfrm>
            <a:off x="67056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33" name="Shape 127"/>
          <p:cNvSpPr/>
          <p:nvPr/>
        </p:nvSpPr>
        <p:spPr>
          <a:xfrm>
            <a:off x="67627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34" name="Shape 128"/>
          <p:cNvSpPr/>
          <p:nvPr/>
        </p:nvSpPr>
        <p:spPr>
          <a:xfrm>
            <a:off x="68199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35" name="Shape 129"/>
          <p:cNvSpPr/>
          <p:nvPr/>
        </p:nvSpPr>
        <p:spPr>
          <a:xfrm>
            <a:off x="68770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36" name="Shape 130"/>
          <p:cNvSpPr/>
          <p:nvPr/>
        </p:nvSpPr>
        <p:spPr>
          <a:xfrm>
            <a:off x="69342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37" name="Shape 131"/>
          <p:cNvSpPr/>
          <p:nvPr/>
        </p:nvSpPr>
        <p:spPr>
          <a:xfrm>
            <a:off x="69913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38" name="Shape 132"/>
          <p:cNvSpPr/>
          <p:nvPr/>
        </p:nvSpPr>
        <p:spPr>
          <a:xfrm>
            <a:off x="70485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39" name="Shape 133"/>
          <p:cNvSpPr/>
          <p:nvPr/>
        </p:nvSpPr>
        <p:spPr>
          <a:xfrm>
            <a:off x="71056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40" name="Shape 134"/>
          <p:cNvSpPr/>
          <p:nvPr/>
        </p:nvSpPr>
        <p:spPr>
          <a:xfrm>
            <a:off x="71628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41" name="Shape 135"/>
          <p:cNvSpPr/>
          <p:nvPr/>
        </p:nvSpPr>
        <p:spPr>
          <a:xfrm>
            <a:off x="72199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42" name="Shape 136"/>
          <p:cNvSpPr/>
          <p:nvPr/>
        </p:nvSpPr>
        <p:spPr>
          <a:xfrm>
            <a:off x="72771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43" name="Shape 137"/>
          <p:cNvSpPr/>
          <p:nvPr/>
        </p:nvSpPr>
        <p:spPr>
          <a:xfrm>
            <a:off x="73342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44" name="Shape 138"/>
          <p:cNvSpPr/>
          <p:nvPr/>
        </p:nvSpPr>
        <p:spPr>
          <a:xfrm>
            <a:off x="73914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45" name="Shape 139"/>
          <p:cNvSpPr/>
          <p:nvPr/>
        </p:nvSpPr>
        <p:spPr>
          <a:xfrm>
            <a:off x="74485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46" name="Shape 140"/>
          <p:cNvSpPr/>
          <p:nvPr/>
        </p:nvSpPr>
        <p:spPr>
          <a:xfrm>
            <a:off x="6076950" y="509815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47" name="Text 141"/>
          <p:cNvSpPr/>
          <p:nvPr/>
        </p:nvSpPr>
        <p:spPr>
          <a:xfrm>
            <a:off x="5506343" y="5231507"/>
            <a:ext cx="117921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누적 Q-error로 N 갱신</a:t>
            </a:r>
            <a:endParaRPr lang="en-US" sz="975" dirty="0"/>
          </a:p>
        </p:txBody>
      </p:sp>
      <p:sp>
        <p:nvSpPr>
          <p:cNvPr id="148" name="Text 142"/>
          <p:cNvSpPr/>
          <p:nvPr/>
        </p:nvSpPr>
        <p:spPr>
          <a:xfrm>
            <a:off x="7687370" y="4707632"/>
            <a:ext cx="2080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200" dirty="0"/>
          </a:p>
        </p:txBody>
      </p:sp>
      <p:sp>
        <p:nvSpPr>
          <p:cNvPr id="149" name="Text 143"/>
          <p:cNvSpPr/>
          <p:nvPr/>
        </p:nvSpPr>
        <p:spPr>
          <a:xfrm>
            <a:off x="7639050" y="4898132"/>
            <a:ext cx="30480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26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 갱신</a:t>
            </a:r>
            <a:endParaRPr lang="en-US" sz="975" dirty="0"/>
          </a:p>
        </p:txBody>
      </p:sp>
      <p:sp>
        <p:nvSpPr>
          <p:cNvPr id="150" name="Shape 144"/>
          <p:cNvSpPr/>
          <p:nvPr/>
        </p:nvSpPr>
        <p:spPr>
          <a:xfrm>
            <a:off x="7867650" y="4390132"/>
            <a:ext cx="3086100" cy="1122660"/>
          </a:xfrm>
          <a:prstGeom prst="roundRect">
            <a:avLst>
              <a:gd name="adj" fmla="val 3394"/>
            </a:avLst>
          </a:prstGeom>
          <a:solidFill>
            <a:srgbClr val="FAF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1" name="Text 145"/>
          <p:cNvSpPr/>
          <p:nvPr/>
        </p:nvSpPr>
        <p:spPr>
          <a:xfrm>
            <a:off x="8555038" y="4498082"/>
            <a:ext cx="17112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43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샘플링 101~150회 (3단계)</a:t>
            </a:r>
            <a:endParaRPr lang="en-US" sz="975" dirty="0"/>
          </a:p>
        </p:txBody>
      </p:sp>
      <p:sp>
        <p:nvSpPr>
          <p:cNvPr id="152" name="Text 146"/>
          <p:cNvSpPr/>
          <p:nvPr/>
        </p:nvSpPr>
        <p:spPr>
          <a:xfrm>
            <a:off x="9262666" y="4698107"/>
            <a:ext cx="29597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spc="-49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N₂</a:t>
            </a:r>
            <a:endParaRPr lang="en-US" sz="1650" dirty="0"/>
          </a:p>
        </p:txBody>
      </p:sp>
      <p:sp>
        <p:nvSpPr>
          <p:cNvPr id="153" name="Shape 147"/>
          <p:cNvSpPr/>
          <p:nvPr/>
        </p:nvSpPr>
        <p:spPr>
          <a:xfrm>
            <a:off x="80200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54" name="Shape 148"/>
          <p:cNvSpPr/>
          <p:nvPr/>
        </p:nvSpPr>
        <p:spPr>
          <a:xfrm>
            <a:off x="80772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55" name="Shape 149"/>
          <p:cNvSpPr/>
          <p:nvPr/>
        </p:nvSpPr>
        <p:spPr>
          <a:xfrm>
            <a:off x="81343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56" name="Shape 150"/>
          <p:cNvSpPr/>
          <p:nvPr/>
        </p:nvSpPr>
        <p:spPr>
          <a:xfrm>
            <a:off x="81915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57" name="Shape 151"/>
          <p:cNvSpPr/>
          <p:nvPr/>
        </p:nvSpPr>
        <p:spPr>
          <a:xfrm>
            <a:off x="82486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58" name="Shape 152"/>
          <p:cNvSpPr/>
          <p:nvPr/>
        </p:nvSpPr>
        <p:spPr>
          <a:xfrm>
            <a:off x="83058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59" name="Shape 153"/>
          <p:cNvSpPr/>
          <p:nvPr/>
        </p:nvSpPr>
        <p:spPr>
          <a:xfrm>
            <a:off x="83629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60" name="Shape 154"/>
          <p:cNvSpPr/>
          <p:nvPr/>
        </p:nvSpPr>
        <p:spPr>
          <a:xfrm>
            <a:off x="84201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61" name="Shape 155"/>
          <p:cNvSpPr/>
          <p:nvPr/>
        </p:nvSpPr>
        <p:spPr>
          <a:xfrm>
            <a:off x="84772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62" name="Shape 156"/>
          <p:cNvSpPr/>
          <p:nvPr/>
        </p:nvSpPr>
        <p:spPr>
          <a:xfrm>
            <a:off x="85344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63" name="Shape 157"/>
          <p:cNvSpPr/>
          <p:nvPr/>
        </p:nvSpPr>
        <p:spPr>
          <a:xfrm>
            <a:off x="85915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64" name="Shape 158"/>
          <p:cNvSpPr/>
          <p:nvPr/>
        </p:nvSpPr>
        <p:spPr>
          <a:xfrm>
            <a:off x="86487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65" name="Shape 159"/>
          <p:cNvSpPr/>
          <p:nvPr/>
        </p:nvSpPr>
        <p:spPr>
          <a:xfrm>
            <a:off x="87058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66" name="Shape 160"/>
          <p:cNvSpPr/>
          <p:nvPr/>
        </p:nvSpPr>
        <p:spPr>
          <a:xfrm>
            <a:off x="87630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67" name="Shape 161"/>
          <p:cNvSpPr/>
          <p:nvPr/>
        </p:nvSpPr>
        <p:spPr>
          <a:xfrm>
            <a:off x="88201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68" name="Shape 162"/>
          <p:cNvSpPr/>
          <p:nvPr/>
        </p:nvSpPr>
        <p:spPr>
          <a:xfrm>
            <a:off x="88773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69" name="Shape 163"/>
          <p:cNvSpPr/>
          <p:nvPr/>
        </p:nvSpPr>
        <p:spPr>
          <a:xfrm>
            <a:off x="89344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70" name="Shape 164"/>
          <p:cNvSpPr/>
          <p:nvPr/>
        </p:nvSpPr>
        <p:spPr>
          <a:xfrm>
            <a:off x="89916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71" name="Shape 165"/>
          <p:cNvSpPr/>
          <p:nvPr/>
        </p:nvSpPr>
        <p:spPr>
          <a:xfrm>
            <a:off x="90487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72" name="Shape 166"/>
          <p:cNvSpPr/>
          <p:nvPr/>
        </p:nvSpPr>
        <p:spPr>
          <a:xfrm>
            <a:off x="91059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73" name="Shape 167"/>
          <p:cNvSpPr/>
          <p:nvPr/>
        </p:nvSpPr>
        <p:spPr>
          <a:xfrm>
            <a:off x="91630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74" name="Shape 168"/>
          <p:cNvSpPr/>
          <p:nvPr/>
        </p:nvSpPr>
        <p:spPr>
          <a:xfrm>
            <a:off x="92202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75" name="Shape 169"/>
          <p:cNvSpPr/>
          <p:nvPr/>
        </p:nvSpPr>
        <p:spPr>
          <a:xfrm>
            <a:off x="92773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76" name="Shape 170"/>
          <p:cNvSpPr/>
          <p:nvPr/>
        </p:nvSpPr>
        <p:spPr>
          <a:xfrm>
            <a:off x="93345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77" name="Shape 171"/>
          <p:cNvSpPr/>
          <p:nvPr/>
        </p:nvSpPr>
        <p:spPr>
          <a:xfrm>
            <a:off x="93916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78" name="Shape 172"/>
          <p:cNvSpPr/>
          <p:nvPr/>
        </p:nvSpPr>
        <p:spPr>
          <a:xfrm>
            <a:off x="94488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79" name="Shape 173"/>
          <p:cNvSpPr/>
          <p:nvPr/>
        </p:nvSpPr>
        <p:spPr>
          <a:xfrm>
            <a:off x="95059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80" name="Shape 174"/>
          <p:cNvSpPr/>
          <p:nvPr/>
        </p:nvSpPr>
        <p:spPr>
          <a:xfrm>
            <a:off x="95631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81" name="Shape 175"/>
          <p:cNvSpPr/>
          <p:nvPr/>
        </p:nvSpPr>
        <p:spPr>
          <a:xfrm>
            <a:off x="96202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82" name="Shape 176"/>
          <p:cNvSpPr/>
          <p:nvPr/>
        </p:nvSpPr>
        <p:spPr>
          <a:xfrm>
            <a:off x="96774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83" name="Shape 177"/>
          <p:cNvSpPr/>
          <p:nvPr/>
        </p:nvSpPr>
        <p:spPr>
          <a:xfrm>
            <a:off x="97345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84" name="Shape 178"/>
          <p:cNvSpPr/>
          <p:nvPr/>
        </p:nvSpPr>
        <p:spPr>
          <a:xfrm>
            <a:off x="97917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85" name="Shape 179"/>
          <p:cNvSpPr/>
          <p:nvPr/>
        </p:nvSpPr>
        <p:spPr>
          <a:xfrm>
            <a:off x="98488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86" name="Shape 180"/>
          <p:cNvSpPr/>
          <p:nvPr/>
        </p:nvSpPr>
        <p:spPr>
          <a:xfrm>
            <a:off x="99060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87" name="Shape 181"/>
          <p:cNvSpPr/>
          <p:nvPr/>
        </p:nvSpPr>
        <p:spPr>
          <a:xfrm>
            <a:off x="99631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88" name="Shape 182"/>
          <p:cNvSpPr/>
          <p:nvPr/>
        </p:nvSpPr>
        <p:spPr>
          <a:xfrm>
            <a:off x="100203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89" name="Shape 183"/>
          <p:cNvSpPr/>
          <p:nvPr/>
        </p:nvSpPr>
        <p:spPr>
          <a:xfrm>
            <a:off x="100774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90" name="Shape 184"/>
          <p:cNvSpPr/>
          <p:nvPr/>
        </p:nvSpPr>
        <p:spPr>
          <a:xfrm>
            <a:off x="101346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91" name="Shape 185"/>
          <p:cNvSpPr/>
          <p:nvPr/>
        </p:nvSpPr>
        <p:spPr>
          <a:xfrm>
            <a:off x="101917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92" name="Shape 186"/>
          <p:cNvSpPr/>
          <p:nvPr/>
        </p:nvSpPr>
        <p:spPr>
          <a:xfrm>
            <a:off x="102489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93" name="Shape 187"/>
          <p:cNvSpPr/>
          <p:nvPr/>
        </p:nvSpPr>
        <p:spPr>
          <a:xfrm>
            <a:off x="103060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94" name="Shape 188"/>
          <p:cNvSpPr/>
          <p:nvPr/>
        </p:nvSpPr>
        <p:spPr>
          <a:xfrm>
            <a:off x="103632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95" name="Shape 189"/>
          <p:cNvSpPr/>
          <p:nvPr/>
        </p:nvSpPr>
        <p:spPr>
          <a:xfrm>
            <a:off x="104203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96" name="Shape 190"/>
          <p:cNvSpPr/>
          <p:nvPr/>
        </p:nvSpPr>
        <p:spPr>
          <a:xfrm>
            <a:off x="104775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97" name="Shape 191"/>
          <p:cNvSpPr/>
          <p:nvPr/>
        </p:nvSpPr>
        <p:spPr>
          <a:xfrm>
            <a:off x="105346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98" name="Shape 192"/>
          <p:cNvSpPr/>
          <p:nvPr/>
        </p:nvSpPr>
        <p:spPr>
          <a:xfrm>
            <a:off x="105918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199" name="Shape 193"/>
          <p:cNvSpPr/>
          <p:nvPr/>
        </p:nvSpPr>
        <p:spPr>
          <a:xfrm>
            <a:off x="106489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200" name="Shape 194"/>
          <p:cNvSpPr/>
          <p:nvPr/>
        </p:nvSpPr>
        <p:spPr>
          <a:xfrm>
            <a:off x="1070610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201" name="Shape 195"/>
          <p:cNvSpPr/>
          <p:nvPr/>
        </p:nvSpPr>
        <p:spPr>
          <a:xfrm>
            <a:off x="10763250" y="500290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202" name="Shape 196"/>
          <p:cNvSpPr/>
          <p:nvPr/>
        </p:nvSpPr>
        <p:spPr>
          <a:xfrm>
            <a:off x="9391650" y="5098157"/>
            <a:ext cx="38100" cy="38100"/>
          </a:xfrm>
          <a:prstGeom prst="ellipse">
            <a:avLst/>
          </a:prstGeom>
          <a:solidFill>
            <a:srgbClr val="8B5CF6">
              <a:alpha val="65000"/>
            </a:srgbClr>
          </a:solidFill>
          <a:ln/>
        </p:spPr>
      </p:sp>
      <p:sp>
        <p:nvSpPr>
          <p:cNvPr id="203" name="Text 197"/>
          <p:cNvSpPr/>
          <p:nvPr/>
        </p:nvSpPr>
        <p:spPr>
          <a:xfrm>
            <a:off x="8588276" y="5231507"/>
            <a:ext cx="1644749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누적 Q-error → N 또 갱신 · 반복</a:t>
            </a:r>
            <a:endParaRPr lang="en-US" sz="975" dirty="0"/>
          </a:p>
        </p:txBody>
      </p:sp>
      <p:sp>
        <p:nvSpPr>
          <p:cNvPr id="204" name="Shape 198"/>
          <p:cNvSpPr/>
          <p:nvPr/>
        </p:nvSpPr>
        <p:spPr>
          <a:xfrm>
            <a:off x="4098032" y="5588993"/>
            <a:ext cx="3995936" cy="325239"/>
          </a:xfrm>
          <a:prstGeom prst="roundRect">
            <a:avLst>
              <a:gd name="adj" fmla="val 8786"/>
            </a:avLst>
          </a:prstGeom>
          <a:solidFill>
            <a:srgbClr val="F5F3FF"/>
          </a:solidFill>
          <a:ln/>
        </p:spPr>
      </p:sp>
      <p:sp>
        <p:nvSpPr>
          <p:cNvPr id="205" name="Text 199"/>
          <p:cNvSpPr/>
          <p:nvPr/>
        </p:nvSpPr>
        <p:spPr>
          <a:xfrm>
            <a:off x="4190493" y="5655668"/>
            <a:ext cx="3811014" cy="229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highlight>
                  <a:srgbClr val="F5F3FF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쿼리 = N개 표본 </a:t>
            </a:r>
            <a:pPr algn="ctr" indent="0" marL="0">
              <a:lnSpc>
                <a:spcPct val="155000"/>
              </a:lnSpc>
              <a:buNone/>
            </a:pPr>
            <a:r>
              <a:rPr lang="en-US" sz="975" b="1" spc="-4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1회 </a:t>
            </a:r>
            <a:pPr algn="ctr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highlight>
                  <a:srgbClr val="F5F3FF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추출 · </a:t>
            </a:r>
            <a:pPr algn="ctr" indent="0" marL="0">
              <a:lnSpc>
                <a:spcPct val="155000"/>
              </a:lnSpc>
              <a:buNone/>
            </a:pPr>
            <a:r>
              <a:rPr lang="en-US" sz="975" b="1" spc="-4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50 쿼리 batch</a:t>
            </a:r>
            <a:pPr algn="ctr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highlight>
                  <a:srgbClr val="F5F3FF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마다 누적 오차로 N 자체가 갱신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방법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5558730" y="514350"/>
            <a:ext cx="1074539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 연구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154238"/>
            <a:ext cx="10668000" cy="910530"/>
          </a:xfrm>
          <a:prstGeom prst="roundRect">
            <a:avLst>
              <a:gd name="adj" fmla="val 6277"/>
            </a:avLst>
          </a:prstGeom>
          <a:solidFill>
            <a:srgbClr val="FAF8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3950" y="2463403"/>
            <a:ext cx="16954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RESEARCH QUESTION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3048000" y="2420938"/>
            <a:ext cx="6730008" cy="37713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3048000" y="2420938"/>
            <a:ext cx="6931908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250" b="1" spc="-56" kern="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카디널리티 추정을 더 잘할 수 있는 표본 추출 방식은 무엇일까?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762000" y="3274318"/>
            <a:ext cx="4743450" cy="234950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74268" y="3820914"/>
            <a:ext cx="5950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</a:t>
            </a:r>
            <a:endParaRPr lang="en-US" sz="112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0225" y="4068564"/>
            <a:ext cx="2667000" cy="7467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45618" y="4891485"/>
            <a:ext cx="177611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무작위 베르누이 · 균일 무작위 점들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5918895" y="4134743"/>
            <a:ext cx="43041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spc="-6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↔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5974160" y="4610993"/>
            <a:ext cx="3197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대조</a:t>
            </a:r>
            <a:endParaRPr lang="en-US" sz="975" dirty="0"/>
          </a:p>
        </p:txBody>
      </p:sp>
      <p:sp>
        <p:nvSpPr>
          <p:cNvPr id="15" name="Shape 12"/>
          <p:cNvSpPr/>
          <p:nvPr/>
        </p:nvSpPr>
        <p:spPr>
          <a:xfrm>
            <a:off x="6686550" y="3274318"/>
            <a:ext cx="4743450" cy="234950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91352" y="3820914"/>
            <a:ext cx="101004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샘플링 방식 탐색</a:t>
            </a:r>
            <a:endParaRPr lang="en-US" sz="1125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775" y="4068564"/>
            <a:ext cx="2667000" cy="7467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994055" y="4891485"/>
            <a:ext cx="212844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다양한 패턴 묶음 — 클러스터·곡선·해시 등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방법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123547" y="514350"/>
            <a:ext cx="5944906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동일 쿼리에 세 가지 추정 방식을 동시 적용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5332313" y="1891109"/>
            <a:ext cx="1527373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427563" y="1891109"/>
            <a:ext cx="14130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-4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쿼리 · 같은 데이터에서</a:t>
            </a:r>
            <a:endParaRPr lang="en-US" sz="97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024459"/>
            <a:ext cx="10668000" cy="1333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2000" y="2329259"/>
            <a:ext cx="3416300" cy="3233738"/>
          </a:xfrm>
          <a:prstGeom prst="roundRect">
            <a:avLst>
              <a:gd name="adj" fmla="val 1178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6970" y="2519760"/>
            <a:ext cx="3126359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20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06970" y="2799159"/>
            <a:ext cx="312635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4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(= 논문 원본 · 무작위 베르누이 방식)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952500" y="3080147"/>
            <a:ext cx="3035300" cy="98425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3200797"/>
            <a:ext cx="2908300" cy="7429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6970" y="4159647"/>
            <a:ext cx="312635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975" dirty="0"/>
          </a:p>
        </p:txBody>
      </p:sp>
      <p:sp>
        <p:nvSpPr>
          <p:cNvPr id="14" name="Shape 10"/>
          <p:cNvSpPr/>
          <p:nvPr/>
        </p:nvSpPr>
        <p:spPr>
          <a:xfrm>
            <a:off x="952500" y="4388247"/>
            <a:ext cx="3035300" cy="330200"/>
          </a:xfrm>
          <a:prstGeom prst="roundRect">
            <a:avLst>
              <a:gd name="adj" fmla="val 8654"/>
            </a:avLst>
          </a:prstGeom>
          <a:solidFill>
            <a:srgbClr val="E8EEF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33970" y="4477147"/>
            <a:ext cx="28723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추정값 1개</a:t>
            </a:r>
            <a:endParaRPr lang="en-US" sz="975" dirty="0"/>
          </a:p>
        </p:txBody>
      </p:sp>
      <p:sp>
        <p:nvSpPr>
          <p:cNvPr id="16" name="Shape 12"/>
          <p:cNvSpPr/>
          <p:nvPr/>
        </p:nvSpPr>
        <p:spPr>
          <a:xfrm>
            <a:off x="4387850" y="2329259"/>
            <a:ext cx="3416300" cy="3233738"/>
          </a:xfrm>
          <a:prstGeom prst="roundRect">
            <a:avLst>
              <a:gd name="adj" fmla="val 1178"/>
            </a:avLst>
          </a:prstGeom>
          <a:solidFill>
            <a:srgbClr val="FAFAFA">
              <a:alpha val="78000"/>
            </a:srgbClr>
          </a:solidFill>
          <a:ln w="12700">
            <a:solidFill>
              <a:srgbClr val="94A3B8">
                <a:alpha val="78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26280" y="2513409"/>
            <a:ext cx="313944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20" kern="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단독 대체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526280" y="2792809"/>
            <a:ext cx="313944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(= 베르누이를 분포 인지 표본으로 완전 치환)</a:t>
            </a:r>
            <a:endParaRPr lang="en-US" sz="975" dirty="0"/>
          </a:p>
        </p:txBody>
      </p:sp>
      <p:sp>
        <p:nvSpPr>
          <p:cNvPr id="19" name="Shape 15"/>
          <p:cNvSpPr/>
          <p:nvPr/>
        </p:nvSpPr>
        <p:spPr>
          <a:xfrm>
            <a:off x="4572000" y="3073797"/>
            <a:ext cx="3048000" cy="984250"/>
          </a:xfrm>
          <a:prstGeom prst="roundRect">
            <a:avLst>
              <a:gd name="adj" fmla="val 1935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5E7EB">
                <a:alpha val="85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00" y="3194447"/>
            <a:ext cx="2921000" cy="7429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526280" y="4153297"/>
            <a:ext cx="313944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975" dirty="0"/>
          </a:p>
        </p:txBody>
      </p:sp>
      <p:sp>
        <p:nvSpPr>
          <p:cNvPr id="22" name="Shape 17"/>
          <p:cNvSpPr/>
          <p:nvPr/>
        </p:nvSpPr>
        <p:spPr>
          <a:xfrm>
            <a:off x="4572000" y="4381897"/>
            <a:ext cx="3048000" cy="330200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653280" y="4470797"/>
            <a:ext cx="28854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추정값 1개 (회색)</a:t>
            </a:r>
            <a:endParaRPr lang="en-US" sz="975" dirty="0"/>
          </a:p>
        </p:txBody>
      </p:sp>
      <p:sp>
        <p:nvSpPr>
          <p:cNvPr id="24" name="Shape 19"/>
          <p:cNvSpPr/>
          <p:nvPr/>
        </p:nvSpPr>
        <p:spPr>
          <a:xfrm>
            <a:off x="8013700" y="2329259"/>
            <a:ext cx="3416300" cy="3233738"/>
          </a:xfrm>
          <a:prstGeom prst="roundRect">
            <a:avLst>
              <a:gd name="adj" fmla="val 1178"/>
            </a:avLst>
          </a:prstGeom>
          <a:solidFill>
            <a:srgbClr val="F2FAFD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421564" y="2243534"/>
            <a:ext cx="600571" cy="228600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26" name="Text 21"/>
          <p:cNvSpPr/>
          <p:nvPr/>
        </p:nvSpPr>
        <p:spPr>
          <a:xfrm>
            <a:off x="9554914" y="2281634"/>
            <a:ext cx="41007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0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CORE</a:t>
            </a:r>
            <a:endParaRPr lang="en-US" sz="975" dirty="0"/>
          </a:p>
        </p:txBody>
      </p:sp>
      <p:sp>
        <p:nvSpPr>
          <p:cNvPr id="27" name="Text 22"/>
          <p:cNvSpPr/>
          <p:nvPr/>
        </p:nvSpPr>
        <p:spPr>
          <a:xfrm>
            <a:off x="8158671" y="2519760"/>
            <a:ext cx="3126359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20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8158671" y="2799159"/>
            <a:ext cx="312635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4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(= baseline + 분포 인지 추정값의 산술 평균)</a:t>
            </a:r>
            <a:endParaRPr lang="en-US" sz="975" dirty="0"/>
          </a:p>
        </p:txBody>
      </p:sp>
      <p:sp>
        <p:nvSpPr>
          <p:cNvPr id="29" name="Shape 24"/>
          <p:cNvSpPr/>
          <p:nvPr/>
        </p:nvSpPr>
        <p:spPr>
          <a:xfrm>
            <a:off x="8204200" y="3080147"/>
            <a:ext cx="3035300" cy="98425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6350">
            <a:solidFill>
              <a:srgbClr val="E5F4FB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700" y="3200797"/>
            <a:ext cx="2908300" cy="74295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158671" y="4159647"/>
            <a:ext cx="312635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975" dirty="0"/>
          </a:p>
        </p:txBody>
      </p:sp>
      <p:sp>
        <p:nvSpPr>
          <p:cNvPr id="32" name="Shape 26"/>
          <p:cNvSpPr/>
          <p:nvPr/>
        </p:nvSpPr>
        <p:spPr>
          <a:xfrm>
            <a:off x="8204200" y="4388247"/>
            <a:ext cx="1489075" cy="330200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293100" y="4477147"/>
            <a:ext cx="13112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추정값 A</a:t>
            </a:r>
            <a:endParaRPr lang="en-US" sz="975" dirty="0"/>
          </a:p>
        </p:txBody>
      </p:sp>
      <p:sp>
        <p:nvSpPr>
          <p:cNvPr id="34" name="Shape 28"/>
          <p:cNvSpPr/>
          <p:nvPr/>
        </p:nvSpPr>
        <p:spPr>
          <a:xfrm>
            <a:off x="9750425" y="4388247"/>
            <a:ext cx="1489075" cy="330200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839325" y="4477147"/>
            <a:ext cx="13112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추정값 B</a:t>
            </a:r>
            <a:endParaRPr lang="en-US" sz="975" dirty="0"/>
          </a:p>
        </p:txBody>
      </p:sp>
      <p:sp>
        <p:nvSpPr>
          <p:cNvPr id="36" name="Text 30"/>
          <p:cNvSpPr/>
          <p:nvPr/>
        </p:nvSpPr>
        <p:spPr>
          <a:xfrm>
            <a:off x="8158671" y="4813697"/>
            <a:ext cx="312635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 산술 평균</a:t>
            </a:r>
            <a:endParaRPr lang="en-US" sz="975" dirty="0"/>
          </a:p>
        </p:txBody>
      </p:sp>
      <p:sp>
        <p:nvSpPr>
          <p:cNvPr id="37" name="Shape 31"/>
          <p:cNvSpPr/>
          <p:nvPr/>
        </p:nvSpPr>
        <p:spPr>
          <a:xfrm>
            <a:off x="8204200" y="5042297"/>
            <a:ext cx="3035300" cy="330200"/>
          </a:xfrm>
          <a:prstGeom prst="roundRect">
            <a:avLst>
              <a:gd name="adj" fmla="val 865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285671" y="5131197"/>
            <a:ext cx="28723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결합 추정값</a:t>
            </a:r>
            <a:endParaRPr lang="en-US" sz="975" dirty="0"/>
          </a:p>
        </p:txBody>
      </p:sp>
      <p:sp>
        <p:nvSpPr>
          <p:cNvPr id="39" name="Text 33"/>
          <p:cNvSpPr/>
          <p:nvPr/>
        </p:nvSpPr>
        <p:spPr>
          <a:xfrm>
            <a:off x="5280422" y="5696347"/>
            <a:ext cx="16311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18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동시 산출 → 외생 변수 통제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방법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4336299" y="514350"/>
            <a:ext cx="3519402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1,508가지 조합으로 검증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00312"/>
            <a:ext cx="3416300" cy="3766344"/>
          </a:xfrm>
          <a:prstGeom prst="roundRect">
            <a:avLst>
              <a:gd name="adj" fmla="val 1673"/>
            </a:avLst>
          </a:prstGeom>
          <a:solidFill>
            <a:srgbClr val="FAF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66305" y="1871762"/>
            <a:ext cx="748804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DATASETS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615109" y="1865412"/>
            <a:ext cx="53498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데이터셋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80809" y="2138462"/>
            <a:ext cx="31786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3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27100" y="2481362"/>
            <a:ext cx="3086100" cy="437455"/>
          </a:xfrm>
          <a:prstGeom prst="roundRect">
            <a:avLst>
              <a:gd name="adj" fmla="val 653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9650" y="258574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2623840"/>
            <a:ext cx="152400" cy="152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52550" y="2544862"/>
            <a:ext cx="265544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DEEP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1352550" y="2702917"/>
            <a:ext cx="26554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이미지 검색 · 96d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927100" y="2995017"/>
            <a:ext cx="3086100" cy="437455"/>
          </a:xfrm>
          <a:prstGeom prst="roundRect">
            <a:avLst>
              <a:gd name="adj" fmla="val 653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09650" y="3099395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137495"/>
            <a:ext cx="152400" cy="152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52550" y="3058517"/>
            <a:ext cx="265544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SIFT</a:t>
            </a:r>
            <a:endParaRPr lang="en-US" sz="975" dirty="0"/>
          </a:p>
        </p:txBody>
      </p:sp>
      <p:sp>
        <p:nvSpPr>
          <p:cNvPr id="18" name="Text 14"/>
          <p:cNvSpPr/>
          <p:nvPr/>
        </p:nvSpPr>
        <p:spPr>
          <a:xfrm>
            <a:off x="1352550" y="3216573"/>
            <a:ext cx="26554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이미지 feature · 128d</a:t>
            </a:r>
            <a:endParaRPr lang="en-US" sz="975" dirty="0"/>
          </a:p>
        </p:txBody>
      </p:sp>
      <p:sp>
        <p:nvSpPr>
          <p:cNvPr id="19" name="Shape 15"/>
          <p:cNvSpPr/>
          <p:nvPr/>
        </p:nvSpPr>
        <p:spPr>
          <a:xfrm>
            <a:off x="927100" y="3508673"/>
            <a:ext cx="3086100" cy="437455"/>
          </a:xfrm>
          <a:prstGeom prst="roundRect">
            <a:avLst>
              <a:gd name="adj" fmla="val 653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09650" y="3613051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3651151"/>
            <a:ext cx="152400" cy="1524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52550" y="3572173"/>
            <a:ext cx="265544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SSN++</a:t>
            </a:r>
            <a:endParaRPr lang="en-US" sz="975" dirty="0"/>
          </a:p>
        </p:txBody>
      </p:sp>
      <p:sp>
        <p:nvSpPr>
          <p:cNvPr id="23" name="Text 18"/>
          <p:cNvSpPr/>
          <p:nvPr/>
        </p:nvSpPr>
        <p:spPr>
          <a:xfrm>
            <a:off x="1352550" y="3730228"/>
            <a:ext cx="26554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이미지 유사도 · 256d</a:t>
            </a:r>
            <a:endParaRPr lang="en-US" sz="975" dirty="0"/>
          </a:p>
        </p:txBody>
      </p:sp>
      <p:sp>
        <p:nvSpPr>
          <p:cNvPr id="24" name="Shape 19"/>
          <p:cNvSpPr/>
          <p:nvPr/>
        </p:nvSpPr>
        <p:spPr>
          <a:xfrm>
            <a:off x="927100" y="4022328"/>
            <a:ext cx="3086100" cy="437455"/>
          </a:xfrm>
          <a:prstGeom prst="roundRect">
            <a:avLst>
              <a:gd name="adj" fmla="val 653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009650" y="4126706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4164806"/>
            <a:ext cx="152400" cy="1524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52550" y="4085828"/>
            <a:ext cx="265544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YFCC</a:t>
            </a:r>
            <a:endParaRPr lang="en-US" sz="975" dirty="0"/>
          </a:p>
        </p:txBody>
      </p:sp>
      <p:sp>
        <p:nvSpPr>
          <p:cNvPr id="28" name="Text 22"/>
          <p:cNvSpPr/>
          <p:nvPr/>
        </p:nvSpPr>
        <p:spPr>
          <a:xfrm>
            <a:off x="1352550" y="4243884"/>
            <a:ext cx="26554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멀티미디어 · 192d</a:t>
            </a:r>
            <a:endParaRPr lang="en-US" sz="975" dirty="0"/>
          </a:p>
        </p:txBody>
      </p:sp>
      <p:sp>
        <p:nvSpPr>
          <p:cNvPr id="29" name="Shape 23"/>
          <p:cNvSpPr/>
          <p:nvPr/>
        </p:nvSpPr>
        <p:spPr>
          <a:xfrm>
            <a:off x="927100" y="4535984"/>
            <a:ext cx="3086100" cy="437455"/>
          </a:xfrm>
          <a:prstGeom prst="roundRect">
            <a:avLst>
              <a:gd name="adj" fmla="val 653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009650" y="4640362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4678462"/>
            <a:ext cx="152400" cy="1524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52550" y="4599484"/>
            <a:ext cx="265544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PartSupp PK</a:t>
            </a:r>
            <a:endParaRPr lang="en-US" sz="975" dirty="0"/>
          </a:p>
        </p:txBody>
      </p:sp>
      <p:sp>
        <p:nvSpPr>
          <p:cNvPr id="33" name="Text 26"/>
          <p:cNvSpPr/>
          <p:nvPr/>
        </p:nvSpPr>
        <p:spPr>
          <a:xfrm>
            <a:off x="1352550" y="4757539"/>
            <a:ext cx="26554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TPC-H · 관계형</a:t>
            </a:r>
            <a:endParaRPr lang="en-US" sz="975" dirty="0"/>
          </a:p>
        </p:txBody>
      </p:sp>
      <p:sp>
        <p:nvSpPr>
          <p:cNvPr id="34" name="Shape 27"/>
          <p:cNvSpPr/>
          <p:nvPr/>
        </p:nvSpPr>
        <p:spPr>
          <a:xfrm>
            <a:off x="4387850" y="1700312"/>
            <a:ext cx="3416300" cy="3766344"/>
          </a:xfrm>
          <a:prstGeom prst="roundRect">
            <a:avLst>
              <a:gd name="adj" fmla="val 1673"/>
            </a:avLst>
          </a:prstGeom>
          <a:solidFill>
            <a:srgbClr val="FAF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450086" y="1871762"/>
            <a:ext cx="83294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VARIABLES</a:t>
            </a:r>
            <a:endParaRPr lang="en-US" sz="975" dirty="0"/>
          </a:p>
        </p:txBody>
      </p:sp>
      <p:sp>
        <p:nvSpPr>
          <p:cNvPr id="36" name="Text 29"/>
          <p:cNvSpPr/>
          <p:nvPr/>
        </p:nvSpPr>
        <p:spPr>
          <a:xfrm>
            <a:off x="6283028" y="1865412"/>
            <a:ext cx="53498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조작변인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4506659" y="2138462"/>
            <a:ext cx="31786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3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100" dirty="0"/>
          </a:p>
        </p:txBody>
      </p:sp>
      <p:sp>
        <p:nvSpPr>
          <p:cNvPr id="38" name="Shape 31"/>
          <p:cNvSpPr/>
          <p:nvPr/>
        </p:nvSpPr>
        <p:spPr>
          <a:xfrm>
            <a:off x="4552950" y="2481362"/>
            <a:ext cx="3086100" cy="512862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654550" y="2554387"/>
            <a:ext cx="29693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SCALE FACTOR · 데이터 크기</a:t>
            </a:r>
            <a:endParaRPr lang="en-US" sz="975" dirty="0"/>
          </a:p>
        </p:txBody>
      </p:sp>
      <p:sp>
        <p:nvSpPr>
          <p:cNvPr id="40" name="Text 33"/>
          <p:cNvSpPr/>
          <p:nvPr/>
        </p:nvSpPr>
        <p:spPr>
          <a:xfrm>
            <a:off x="4654550" y="2735362"/>
            <a:ext cx="2969387" cy="223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sf = 1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975" dirty="0"/>
          </a:p>
        </p:txBody>
      </p:sp>
      <p:sp>
        <p:nvSpPr>
          <p:cNvPr id="41" name="Shape 34"/>
          <p:cNvSpPr/>
          <p:nvPr/>
        </p:nvSpPr>
        <p:spPr>
          <a:xfrm>
            <a:off x="4552950" y="3070424"/>
            <a:ext cx="3086100" cy="512862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4654550" y="3143449"/>
            <a:ext cx="29693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SELECTIVITY · 쿼리 조건 폭</a:t>
            </a:r>
            <a:endParaRPr lang="en-US" sz="975" dirty="0"/>
          </a:p>
        </p:txBody>
      </p:sp>
      <p:sp>
        <p:nvSpPr>
          <p:cNvPr id="43" name="Text 36"/>
          <p:cNvSpPr/>
          <p:nvPr/>
        </p:nvSpPr>
        <p:spPr>
          <a:xfrm>
            <a:off x="4654550" y="3324424"/>
            <a:ext cx="2969387" cy="223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0.001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0.01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</a:t>
            </a:r>
            <a:endParaRPr lang="en-US" sz="975" dirty="0"/>
          </a:p>
        </p:txBody>
      </p:sp>
      <p:sp>
        <p:nvSpPr>
          <p:cNvPr id="44" name="Shape 37"/>
          <p:cNvSpPr/>
          <p:nvPr/>
        </p:nvSpPr>
        <p:spPr>
          <a:xfrm>
            <a:off x="4552950" y="3659485"/>
            <a:ext cx="3086100" cy="512862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4654550" y="3732510"/>
            <a:ext cx="29693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METHOD · 표본 추출 방식</a:t>
            </a:r>
            <a:endParaRPr lang="en-US" sz="975" dirty="0"/>
          </a:p>
        </p:txBody>
      </p:sp>
      <p:sp>
        <p:nvSpPr>
          <p:cNvPr id="46" name="Text 39"/>
          <p:cNvSpPr/>
          <p:nvPr/>
        </p:nvSpPr>
        <p:spPr>
          <a:xfrm>
            <a:off x="4654550" y="3913485"/>
            <a:ext cx="2969387" cy="223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 (베르누이 + 분포 탐색 15)</a:t>
            </a:r>
            <a:endParaRPr lang="en-US" sz="975" dirty="0"/>
          </a:p>
        </p:txBody>
      </p:sp>
      <p:sp>
        <p:nvSpPr>
          <p:cNvPr id="47" name="Text 40"/>
          <p:cNvSpPr/>
          <p:nvPr/>
        </p:nvSpPr>
        <p:spPr>
          <a:xfrm>
            <a:off x="4506659" y="4930080"/>
            <a:ext cx="317868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변인 = 한 차원 나머지 고정 · 비교 통제</a:t>
            </a:r>
            <a:endParaRPr lang="en-US" sz="975" dirty="0"/>
          </a:p>
        </p:txBody>
      </p:sp>
      <p:sp>
        <p:nvSpPr>
          <p:cNvPr id="48" name="Shape 41"/>
          <p:cNvSpPr/>
          <p:nvPr/>
        </p:nvSpPr>
        <p:spPr>
          <a:xfrm>
            <a:off x="8013700" y="1700312"/>
            <a:ext cx="3416300" cy="3766344"/>
          </a:xfrm>
          <a:prstGeom prst="roundRect">
            <a:avLst>
              <a:gd name="adj" fmla="val 1673"/>
            </a:avLst>
          </a:prstGeom>
          <a:solidFill>
            <a:srgbClr val="FAF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9064526" y="1871762"/>
            <a:ext cx="108515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COMBINATIONS</a:t>
            </a:r>
            <a:endParaRPr lang="en-US" sz="975" dirty="0"/>
          </a:p>
        </p:txBody>
      </p:sp>
      <p:sp>
        <p:nvSpPr>
          <p:cNvPr id="50" name="Text 43"/>
          <p:cNvSpPr/>
          <p:nvPr/>
        </p:nvSpPr>
        <p:spPr>
          <a:xfrm>
            <a:off x="10149682" y="1865412"/>
            <a:ext cx="30559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조합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8178800" y="2138462"/>
            <a:ext cx="3086100" cy="1054100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8256778" y="2240062"/>
            <a:ext cx="293014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9" kern="0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데이터셋 × sf {1·10·100} × sel {.001·.01·.1} × 16 method</a:t>
            </a:r>
            <a:endParaRPr lang="en-US" sz="975" dirty="0"/>
          </a:p>
        </p:txBody>
      </p:sp>
      <p:sp>
        <p:nvSpPr>
          <p:cNvPr id="53" name="Text 46"/>
          <p:cNvSpPr/>
          <p:nvPr/>
        </p:nvSpPr>
        <p:spPr>
          <a:xfrm>
            <a:off x="8256778" y="2595662"/>
            <a:ext cx="29301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50" b="1" spc="-67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1,508</a:t>
            </a:r>
            <a:endParaRPr lang="en-US" sz="2250" dirty="0"/>
          </a:p>
        </p:txBody>
      </p:sp>
      <p:sp>
        <p:nvSpPr>
          <p:cNvPr id="54" name="Text 47"/>
          <p:cNvSpPr/>
          <p:nvPr/>
        </p:nvSpPr>
        <p:spPr>
          <a:xfrm>
            <a:off x="8256778" y="2938562"/>
            <a:ext cx="29301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8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sf·sel·method 조합 = Q-error 측정 cell</a:t>
            </a:r>
            <a:endParaRPr lang="en-US" sz="975" dirty="0"/>
          </a:p>
        </p:txBody>
      </p:sp>
      <p:sp>
        <p:nvSpPr>
          <p:cNvPr id="55" name="Shape 48"/>
          <p:cNvSpPr/>
          <p:nvPr/>
        </p:nvSpPr>
        <p:spPr>
          <a:xfrm>
            <a:off x="8178800" y="3268762"/>
            <a:ext cx="3086100" cy="1580356"/>
          </a:xfrm>
          <a:prstGeom prst="roundRect">
            <a:avLst>
              <a:gd name="adj" fmla="val 1808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8223250" y="331321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57" name="Shape 50"/>
          <p:cNvSpPr/>
          <p:nvPr/>
        </p:nvSpPr>
        <p:spPr>
          <a:xfrm>
            <a:off x="8411468" y="331321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58" name="Shape 51"/>
          <p:cNvSpPr/>
          <p:nvPr/>
        </p:nvSpPr>
        <p:spPr>
          <a:xfrm>
            <a:off x="8599686" y="331321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59" name="Shape 52"/>
          <p:cNvSpPr/>
          <p:nvPr/>
        </p:nvSpPr>
        <p:spPr>
          <a:xfrm>
            <a:off x="8787904" y="331321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0" name="Shape 53"/>
          <p:cNvSpPr/>
          <p:nvPr/>
        </p:nvSpPr>
        <p:spPr>
          <a:xfrm>
            <a:off x="8976122" y="331321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61" name="Shape 54"/>
          <p:cNvSpPr/>
          <p:nvPr/>
        </p:nvSpPr>
        <p:spPr>
          <a:xfrm>
            <a:off x="9164340" y="331321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62" name="Shape 55"/>
          <p:cNvSpPr/>
          <p:nvPr/>
        </p:nvSpPr>
        <p:spPr>
          <a:xfrm>
            <a:off x="9352558" y="331321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3" name="Shape 56"/>
          <p:cNvSpPr/>
          <p:nvPr/>
        </p:nvSpPr>
        <p:spPr>
          <a:xfrm>
            <a:off x="9540776" y="331321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4" name="Shape 57"/>
          <p:cNvSpPr/>
          <p:nvPr/>
        </p:nvSpPr>
        <p:spPr>
          <a:xfrm>
            <a:off x="9728994" y="331321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5" name="Shape 58"/>
          <p:cNvSpPr/>
          <p:nvPr/>
        </p:nvSpPr>
        <p:spPr>
          <a:xfrm>
            <a:off x="9917212" y="331321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6" name="Shape 59"/>
          <p:cNvSpPr/>
          <p:nvPr/>
        </p:nvSpPr>
        <p:spPr>
          <a:xfrm>
            <a:off x="10105430" y="331321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7" name="Shape 60"/>
          <p:cNvSpPr/>
          <p:nvPr/>
        </p:nvSpPr>
        <p:spPr>
          <a:xfrm>
            <a:off x="10293648" y="331321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8" name="Shape 61"/>
          <p:cNvSpPr/>
          <p:nvPr/>
        </p:nvSpPr>
        <p:spPr>
          <a:xfrm>
            <a:off x="10481866" y="331321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9" name="Shape 62"/>
          <p:cNvSpPr/>
          <p:nvPr/>
        </p:nvSpPr>
        <p:spPr>
          <a:xfrm>
            <a:off x="10670084" y="331321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70" name="Shape 63"/>
          <p:cNvSpPr/>
          <p:nvPr/>
        </p:nvSpPr>
        <p:spPr>
          <a:xfrm>
            <a:off x="10858302" y="331321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1" name="Shape 64"/>
          <p:cNvSpPr/>
          <p:nvPr/>
        </p:nvSpPr>
        <p:spPr>
          <a:xfrm>
            <a:off x="11046520" y="331321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72" name="Shape 65"/>
          <p:cNvSpPr/>
          <p:nvPr/>
        </p:nvSpPr>
        <p:spPr>
          <a:xfrm>
            <a:off x="8223250" y="350143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73" name="Shape 66"/>
          <p:cNvSpPr/>
          <p:nvPr/>
        </p:nvSpPr>
        <p:spPr>
          <a:xfrm>
            <a:off x="8411468" y="350143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4" name="Shape 67"/>
          <p:cNvSpPr/>
          <p:nvPr/>
        </p:nvSpPr>
        <p:spPr>
          <a:xfrm>
            <a:off x="8599686" y="350143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5" name="Shape 68"/>
          <p:cNvSpPr/>
          <p:nvPr/>
        </p:nvSpPr>
        <p:spPr>
          <a:xfrm>
            <a:off x="8787904" y="350143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6" name="Shape 69"/>
          <p:cNvSpPr/>
          <p:nvPr/>
        </p:nvSpPr>
        <p:spPr>
          <a:xfrm>
            <a:off x="8976122" y="350143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7" name="Shape 70"/>
          <p:cNvSpPr/>
          <p:nvPr/>
        </p:nvSpPr>
        <p:spPr>
          <a:xfrm>
            <a:off x="9164340" y="350143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78" name="Shape 71"/>
          <p:cNvSpPr/>
          <p:nvPr/>
        </p:nvSpPr>
        <p:spPr>
          <a:xfrm>
            <a:off x="9352558" y="350143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79" name="Shape 72"/>
          <p:cNvSpPr/>
          <p:nvPr/>
        </p:nvSpPr>
        <p:spPr>
          <a:xfrm>
            <a:off x="9540776" y="350143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0" name="Shape 73"/>
          <p:cNvSpPr/>
          <p:nvPr/>
        </p:nvSpPr>
        <p:spPr>
          <a:xfrm>
            <a:off x="9728994" y="350143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81" name="Shape 74"/>
          <p:cNvSpPr/>
          <p:nvPr/>
        </p:nvSpPr>
        <p:spPr>
          <a:xfrm>
            <a:off x="9917212" y="350143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2" name="Shape 75"/>
          <p:cNvSpPr/>
          <p:nvPr/>
        </p:nvSpPr>
        <p:spPr>
          <a:xfrm>
            <a:off x="10105430" y="350143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3" name="Shape 76"/>
          <p:cNvSpPr/>
          <p:nvPr/>
        </p:nvSpPr>
        <p:spPr>
          <a:xfrm>
            <a:off x="10293648" y="350143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4" name="Shape 77"/>
          <p:cNvSpPr/>
          <p:nvPr/>
        </p:nvSpPr>
        <p:spPr>
          <a:xfrm>
            <a:off x="10481866" y="350143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5" name="Shape 78"/>
          <p:cNvSpPr/>
          <p:nvPr/>
        </p:nvSpPr>
        <p:spPr>
          <a:xfrm>
            <a:off x="10670084" y="350143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6" name="Shape 79"/>
          <p:cNvSpPr/>
          <p:nvPr/>
        </p:nvSpPr>
        <p:spPr>
          <a:xfrm>
            <a:off x="10858302" y="350143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7" name="Shape 80"/>
          <p:cNvSpPr/>
          <p:nvPr/>
        </p:nvSpPr>
        <p:spPr>
          <a:xfrm>
            <a:off x="11046520" y="350143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88" name="Shape 81"/>
          <p:cNvSpPr/>
          <p:nvPr/>
        </p:nvSpPr>
        <p:spPr>
          <a:xfrm>
            <a:off x="8223250" y="368964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9" name="Shape 82"/>
          <p:cNvSpPr/>
          <p:nvPr/>
        </p:nvSpPr>
        <p:spPr>
          <a:xfrm>
            <a:off x="8411468" y="368964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0" name="Shape 83"/>
          <p:cNvSpPr/>
          <p:nvPr/>
        </p:nvSpPr>
        <p:spPr>
          <a:xfrm>
            <a:off x="8599686" y="368964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91" name="Shape 84"/>
          <p:cNvSpPr/>
          <p:nvPr/>
        </p:nvSpPr>
        <p:spPr>
          <a:xfrm>
            <a:off x="8787904" y="368964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2" name="Shape 85"/>
          <p:cNvSpPr/>
          <p:nvPr/>
        </p:nvSpPr>
        <p:spPr>
          <a:xfrm>
            <a:off x="8976122" y="368964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3" name="Shape 86"/>
          <p:cNvSpPr/>
          <p:nvPr/>
        </p:nvSpPr>
        <p:spPr>
          <a:xfrm>
            <a:off x="9164340" y="368964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4" name="Shape 87"/>
          <p:cNvSpPr/>
          <p:nvPr/>
        </p:nvSpPr>
        <p:spPr>
          <a:xfrm>
            <a:off x="9352558" y="368964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95" name="Shape 88"/>
          <p:cNvSpPr/>
          <p:nvPr/>
        </p:nvSpPr>
        <p:spPr>
          <a:xfrm>
            <a:off x="9540776" y="368964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6" name="Shape 89"/>
          <p:cNvSpPr/>
          <p:nvPr/>
        </p:nvSpPr>
        <p:spPr>
          <a:xfrm>
            <a:off x="9728994" y="368964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7" name="Shape 90"/>
          <p:cNvSpPr/>
          <p:nvPr/>
        </p:nvSpPr>
        <p:spPr>
          <a:xfrm>
            <a:off x="9917212" y="368964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8" name="Shape 91"/>
          <p:cNvSpPr/>
          <p:nvPr/>
        </p:nvSpPr>
        <p:spPr>
          <a:xfrm>
            <a:off x="10105430" y="368964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9" name="Shape 92"/>
          <p:cNvSpPr/>
          <p:nvPr/>
        </p:nvSpPr>
        <p:spPr>
          <a:xfrm>
            <a:off x="10293648" y="368964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0" name="Shape 93"/>
          <p:cNvSpPr/>
          <p:nvPr/>
        </p:nvSpPr>
        <p:spPr>
          <a:xfrm>
            <a:off x="10481866" y="368964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1" name="Shape 94"/>
          <p:cNvSpPr/>
          <p:nvPr/>
        </p:nvSpPr>
        <p:spPr>
          <a:xfrm>
            <a:off x="10670084" y="368964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2" name="Shape 95"/>
          <p:cNvSpPr/>
          <p:nvPr/>
        </p:nvSpPr>
        <p:spPr>
          <a:xfrm>
            <a:off x="10858302" y="368964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3" name="Shape 96"/>
          <p:cNvSpPr/>
          <p:nvPr/>
        </p:nvSpPr>
        <p:spPr>
          <a:xfrm>
            <a:off x="11046520" y="368964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4" name="Shape 97"/>
          <p:cNvSpPr/>
          <p:nvPr/>
        </p:nvSpPr>
        <p:spPr>
          <a:xfrm>
            <a:off x="8223250" y="3877866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5" name="Shape 98"/>
          <p:cNvSpPr/>
          <p:nvPr/>
        </p:nvSpPr>
        <p:spPr>
          <a:xfrm>
            <a:off x="8411468" y="3877866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06" name="Shape 99"/>
          <p:cNvSpPr/>
          <p:nvPr/>
        </p:nvSpPr>
        <p:spPr>
          <a:xfrm>
            <a:off x="8599686" y="3877866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7" name="Shape 100"/>
          <p:cNvSpPr/>
          <p:nvPr/>
        </p:nvSpPr>
        <p:spPr>
          <a:xfrm>
            <a:off x="8787904" y="3877866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8" name="Shape 101"/>
          <p:cNvSpPr/>
          <p:nvPr/>
        </p:nvSpPr>
        <p:spPr>
          <a:xfrm>
            <a:off x="8976122" y="3877866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9" name="Shape 102"/>
          <p:cNvSpPr/>
          <p:nvPr/>
        </p:nvSpPr>
        <p:spPr>
          <a:xfrm>
            <a:off x="9164340" y="3877866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10" name="Shape 103"/>
          <p:cNvSpPr/>
          <p:nvPr/>
        </p:nvSpPr>
        <p:spPr>
          <a:xfrm>
            <a:off x="9352558" y="3877866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1" name="Shape 104"/>
          <p:cNvSpPr/>
          <p:nvPr/>
        </p:nvSpPr>
        <p:spPr>
          <a:xfrm>
            <a:off x="9540776" y="3877866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2" name="Shape 105"/>
          <p:cNvSpPr/>
          <p:nvPr/>
        </p:nvSpPr>
        <p:spPr>
          <a:xfrm>
            <a:off x="9728994" y="3877866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3" name="Shape 106"/>
          <p:cNvSpPr/>
          <p:nvPr/>
        </p:nvSpPr>
        <p:spPr>
          <a:xfrm>
            <a:off x="9917212" y="3877866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14" name="Shape 107"/>
          <p:cNvSpPr/>
          <p:nvPr/>
        </p:nvSpPr>
        <p:spPr>
          <a:xfrm>
            <a:off x="10105430" y="3877866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5" name="Shape 108"/>
          <p:cNvSpPr/>
          <p:nvPr/>
        </p:nvSpPr>
        <p:spPr>
          <a:xfrm>
            <a:off x="10293648" y="3877866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6" name="Shape 109"/>
          <p:cNvSpPr/>
          <p:nvPr/>
        </p:nvSpPr>
        <p:spPr>
          <a:xfrm>
            <a:off x="10481866" y="3877866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7" name="Shape 110"/>
          <p:cNvSpPr/>
          <p:nvPr/>
        </p:nvSpPr>
        <p:spPr>
          <a:xfrm>
            <a:off x="10670084" y="3877866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18" name="Shape 111"/>
          <p:cNvSpPr/>
          <p:nvPr/>
        </p:nvSpPr>
        <p:spPr>
          <a:xfrm>
            <a:off x="10858302" y="3877866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9" name="Shape 112"/>
          <p:cNvSpPr/>
          <p:nvPr/>
        </p:nvSpPr>
        <p:spPr>
          <a:xfrm>
            <a:off x="11046520" y="3877866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20" name="Shape 113"/>
          <p:cNvSpPr/>
          <p:nvPr/>
        </p:nvSpPr>
        <p:spPr>
          <a:xfrm>
            <a:off x="8223250" y="4066084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1" name="Shape 114"/>
          <p:cNvSpPr/>
          <p:nvPr/>
        </p:nvSpPr>
        <p:spPr>
          <a:xfrm>
            <a:off x="8411468" y="4066084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2" name="Shape 115"/>
          <p:cNvSpPr/>
          <p:nvPr/>
        </p:nvSpPr>
        <p:spPr>
          <a:xfrm>
            <a:off x="8599686" y="4066084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3" name="Shape 116"/>
          <p:cNvSpPr/>
          <p:nvPr/>
        </p:nvSpPr>
        <p:spPr>
          <a:xfrm>
            <a:off x="8787904" y="4066084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24" name="Shape 117"/>
          <p:cNvSpPr/>
          <p:nvPr/>
        </p:nvSpPr>
        <p:spPr>
          <a:xfrm>
            <a:off x="8976122" y="4066084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5" name="Shape 118"/>
          <p:cNvSpPr/>
          <p:nvPr/>
        </p:nvSpPr>
        <p:spPr>
          <a:xfrm>
            <a:off x="9164340" y="4066084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6" name="Shape 119"/>
          <p:cNvSpPr/>
          <p:nvPr/>
        </p:nvSpPr>
        <p:spPr>
          <a:xfrm>
            <a:off x="9352558" y="4066084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7" name="Shape 120"/>
          <p:cNvSpPr/>
          <p:nvPr/>
        </p:nvSpPr>
        <p:spPr>
          <a:xfrm>
            <a:off x="9540776" y="4066084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8" name="Shape 121"/>
          <p:cNvSpPr/>
          <p:nvPr/>
        </p:nvSpPr>
        <p:spPr>
          <a:xfrm>
            <a:off x="9728994" y="4066084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9" name="Shape 122"/>
          <p:cNvSpPr/>
          <p:nvPr/>
        </p:nvSpPr>
        <p:spPr>
          <a:xfrm>
            <a:off x="9917212" y="4066084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0" name="Shape 123"/>
          <p:cNvSpPr/>
          <p:nvPr/>
        </p:nvSpPr>
        <p:spPr>
          <a:xfrm>
            <a:off x="10105430" y="4066084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1" name="Shape 124"/>
          <p:cNvSpPr/>
          <p:nvPr/>
        </p:nvSpPr>
        <p:spPr>
          <a:xfrm>
            <a:off x="10293648" y="4066084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2" name="Shape 125"/>
          <p:cNvSpPr/>
          <p:nvPr/>
        </p:nvSpPr>
        <p:spPr>
          <a:xfrm>
            <a:off x="10481866" y="4066084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33" name="Shape 126"/>
          <p:cNvSpPr/>
          <p:nvPr/>
        </p:nvSpPr>
        <p:spPr>
          <a:xfrm>
            <a:off x="10670084" y="4066084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34" name="Shape 127"/>
          <p:cNvSpPr/>
          <p:nvPr/>
        </p:nvSpPr>
        <p:spPr>
          <a:xfrm>
            <a:off x="10858302" y="4066084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5" name="Shape 128"/>
          <p:cNvSpPr/>
          <p:nvPr/>
        </p:nvSpPr>
        <p:spPr>
          <a:xfrm>
            <a:off x="11046520" y="4066084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6" name="Shape 129"/>
          <p:cNvSpPr/>
          <p:nvPr/>
        </p:nvSpPr>
        <p:spPr>
          <a:xfrm>
            <a:off x="8223250" y="425430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7" name="Shape 130"/>
          <p:cNvSpPr/>
          <p:nvPr/>
        </p:nvSpPr>
        <p:spPr>
          <a:xfrm>
            <a:off x="8411468" y="425430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8" name="Shape 131"/>
          <p:cNvSpPr/>
          <p:nvPr/>
        </p:nvSpPr>
        <p:spPr>
          <a:xfrm>
            <a:off x="8599686" y="425430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39" name="Shape 132"/>
          <p:cNvSpPr/>
          <p:nvPr/>
        </p:nvSpPr>
        <p:spPr>
          <a:xfrm>
            <a:off x="8787904" y="425430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40" name="Shape 133"/>
          <p:cNvSpPr/>
          <p:nvPr/>
        </p:nvSpPr>
        <p:spPr>
          <a:xfrm>
            <a:off x="8976122" y="425430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1" name="Shape 134"/>
          <p:cNvSpPr/>
          <p:nvPr/>
        </p:nvSpPr>
        <p:spPr>
          <a:xfrm>
            <a:off x="9164340" y="425430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2" name="Shape 135"/>
          <p:cNvSpPr/>
          <p:nvPr/>
        </p:nvSpPr>
        <p:spPr>
          <a:xfrm>
            <a:off x="9352558" y="425430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3" name="Shape 136"/>
          <p:cNvSpPr/>
          <p:nvPr/>
        </p:nvSpPr>
        <p:spPr>
          <a:xfrm>
            <a:off x="9540776" y="425430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44" name="Shape 137"/>
          <p:cNvSpPr/>
          <p:nvPr/>
        </p:nvSpPr>
        <p:spPr>
          <a:xfrm>
            <a:off x="9728994" y="425430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5" name="Shape 138"/>
          <p:cNvSpPr/>
          <p:nvPr/>
        </p:nvSpPr>
        <p:spPr>
          <a:xfrm>
            <a:off x="9917212" y="425430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46" name="Shape 139"/>
          <p:cNvSpPr/>
          <p:nvPr/>
        </p:nvSpPr>
        <p:spPr>
          <a:xfrm>
            <a:off x="10105430" y="425430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7" name="Shape 140"/>
          <p:cNvSpPr/>
          <p:nvPr/>
        </p:nvSpPr>
        <p:spPr>
          <a:xfrm>
            <a:off x="10293648" y="425430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8" name="Shape 141"/>
          <p:cNvSpPr/>
          <p:nvPr/>
        </p:nvSpPr>
        <p:spPr>
          <a:xfrm>
            <a:off x="10481866" y="425430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9" name="Shape 142"/>
          <p:cNvSpPr/>
          <p:nvPr/>
        </p:nvSpPr>
        <p:spPr>
          <a:xfrm>
            <a:off x="10670084" y="425430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0" name="Shape 143"/>
          <p:cNvSpPr/>
          <p:nvPr/>
        </p:nvSpPr>
        <p:spPr>
          <a:xfrm>
            <a:off x="10858302" y="425430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51" name="Shape 144"/>
          <p:cNvSpPr/>
          <p:nvPr/>
        </p:nvSpPr>
        <p:spPr>
          <a:xfrm>
            <a:off x="11046520" y="4254302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2" name="Shape 145"/>
          <p:cNvSpPr/>
          <p:nvPr/>
        </p:nvSpPr>
        <p:spPr>
          <a:xfrm>
            <a:off x="8223250" y="444252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3" name="Shape 146"/>
          <p:cNvSpPr/>
          <p:nvPr/>
        </p:nvSpPr>
        <p:spPr>
          <a:xfrm>
            <a:off x="8411468" y="444252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4" name="Shape 147"/>
          <p:cNvSpPr/>
          <p:nvPr/>
        </p:nvSpPr>
        <p:spPr>
          <a:xfrm>
            <a:off x="8599686" y="444252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5" name="Shape 148"/>
          <p:cNvSpPr/>
          <p:nvPr/>
        </p:nvSpPr>
        <p:spPr>
          <a:xfrm>
            <a:off x="8787904" y="444252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56" name="Shape 149"/>
          <p:cNvSpPr/>
          <p:nvPr/>
        </p:nvSpPr>
        <p:spPr>
          <a:xfrm>
            <a:off x="8976122" y="444252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7" name="Shape 150"/>
          <p:cNvSpPr/>
          <p:nvPr/>
        </p:nvSpPr>
        <p:spPr>
          <a:xfrm>
            <a:off x="9164340" y="444252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8" name="Shape 151"/>
          <p:cNvSpPr/>
          <p:nvPr/>
        </p:nvSpPr>
        <p:spPr>
          <a:xfrm>
            <a:off x="9352558" y="444252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9" name="Shape 152"/>
          <p:cNvSpPr/>
          <p:nvPr/>
        </p:nvSpPr>
        <p:spPr>
          <a:xfrm>
            <a:off x="9540776" y="444252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0" name="Shape 153"/>
          <p:cNvSpPr/>
          <p:nvPr/>
        </p:nvSpPr>
        <p:spPr>
          <a:xfrm>
            <a:off x="9728994" y="444252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1" name="Shape 154"/>
          <p:cNvSpPr/>
          <p:nvPr/>
        </p:nvSpPr>
        <p:spPr>
          <a:xfrm>
            <a:off x="9917212" y="444252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2" name="Shape 155"/>
          <p:cNvSpPr/>
          <p:nvPr/>
        </p:nvSpPr>
        <p:spPr>
          <a:xfrm>
            <a:off x="10105430" y="444252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3" name="Shape 156"/>
          <p:cNvSpPr/>
          <p:nvPr/>
        </p:nvSpPr>
        <p:spPr>
          <a:xfrm>
            <a:off x="10293648" y="444252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4" name="Shape 157"/>
          <p:cNvSpPr/>
          <p:nvPr/>
        </p:nvSpPr>
        <p:spPr>
          <a:xfrm>
            <a:off x="10481866" y="444252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5" name="Shape 158"/>
          <p:cNvSpPr/>
          <p:nvPr/>
        </p:nvSpPr>
        <p:spPr>
          <a:xfrm>
            <a:off x="10670084" y="444252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6" name="Shape 159"/>
          <p:cNvSpPr/>
          <p:nvPr/>
        </p:nvSpPr>
        <p:spPr>
          <a:xfrm>
            <a:off x="10858302" y="444252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67" name="Shape 160"/>
          <p:cNvSpPr/>
          <p:nvPr/>
        </p:nvSpPr>
        <p:spPr>
          <a:xfrm>
            <a:off x="11046520" y="4442520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8" name="Shape 161"/>
          <p:cNvSpPr/>
          <p:nvPr/>
        </p:nvSpPr>
        <p:spPr>
          <a:xfrm>
            <a:off x="8223250" y="463073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9" name="Shape 162"/>
          <p:cNvSpPr/>
          <p:nvPr/>
        </p:nvSpPr>
        <p:spPr>
          <a:xfrm>
            <a:off x="8411468" y="463073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0" name="Shape 163"/>
          <p:cNvSpPr/>
          <p:nvPr/>
        </p:nvSpPr>
        <p:spPr>
          <a:xfrm>
            <a:off x="8599686" y="463073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1" name="Shape 164"/>
          <p:cNvSpPr/>
          <p:nvPr/>
        </p:nvSpPr>
        <p:spPr>
          <a:xfrm>
            <a:off x="8787904" y="463073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72" name="Shape 165"/>
          <p:cNvSpPr/>
          <p:nvPr/>
        </p:nvSpPr>
        <p:spPr>
          <a:xfrm>
            <a:off x="8976122" y="463073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3" name="Shape 166"/>
          <p:cNvSpPr/>
          <p:nvPr/>
        </p:nvSpPr>
        <p:spPr>
          <a:xfrm>
            <a:off x="9164340" y="463073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4" name="Shape 167"/>
          <p:cNvSpPr/>
          <p:nvPr/>
        </p:nvSpPr>
        <p:spPr>
          <a:xfrm>
            <a:off x="9352558" y="463073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5" name="Shape 168"/>
          <p:cNvSpPr/>
          <p:nvPr/>
        </p:nvSpPr>
        <p:spPr>
          <a:xfrm>
            <a:off x="9540776" y="463073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6" name="Shape 169"/>
          <p:cNvSpPr/>
          <p:nvPr/>
        </p:nvSpPr>
        <p:spPr>
          <a:xfrm>
            <a:off x="9728994" y="463073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7" name="Shape 170"/>
          <p:cNvSpPr/>
          <p:nvPr/>
        </p:nvSpPr>
        <p:spPr>
          <a:xfrm>
            <a:off x="9917212" y="463073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8" name="Shape 171"/>
          <p:cNvSpPr/>
          <p:nvPr/>
        </p:nvSpPr>
        <p:spPr>
          <a:xfrm>
            <a:off x="10105430" y="463073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9" name="Shape 172"/>
          <p:cNvSpPr/>
          <p:nvPr/>
        </p:nvSpPr>
        <p:spPr>
          <a:xfrm>
            <a:off x="10293648" y="463073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80" name="Shape 173"/>
          <p:cNvSpPr/>
          <p:nvPr/>
        </p:nvSpPr>
        <p:spPr>
          <a:xfrm>
            <a:off x="10481866" y="463073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81" name="Shape 174"/>
          <p:cNvSpPr/>
          <p:nvPr/>
        </p:nvSpPr>
        <p:spPr>
          <a:xfrm>
            <a:off x="10670084" y="463073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82" name="Shape 175"/>
          <p:cNvSpPr/>
          <p:nvPr/>
        </p:nvSpPr>
        <p:spPr>
          <a:xfrm>
            <a:off x="10858302" y="463073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83" name="Shape 176"/>
          <p:cNvSpPr/>
          <p:nvPr/>
        </p:nvSpPr>
        <p:spPr>
          <a:xfrm>
            <a:off x="11046520" y="4630738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84" name="Shape 177"/>
          <p:cNvSpPr/>
          <p:nvPr/>
        </p:nvSpPr>
        <p:spPr>
          <a:xfrm>
            <a:off x="8178800" y="4925318"/>
            <a:ext cx="3086100" cy="376238"/>
          </a:xfrm>
          <a:prstGeom prst="roundRect">
            <a:avLst>
              <a:gd name="adj" fmla="val 7595"/>
            </a:avLst>
          </a:prstGeom>
          <a:solidFill>
            <a:srgbClr val="8B5CF6"/>
          </a:solidFill>
          <a:ln/>
        </p:spPr>
      </p:sp>
      <p:sp>
        <p:nvSpPr>
          <p:cNvPr id="185" name="Text 178"/>
          <p:cNvSpPr/>
          <p:nvPr/>
        </p:nvSpPr>
        <p:spPr>
          <a:xfrm>
            <a:off x="8246809" y="5020568"/>
            <a:ext cx="2950083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b="1" spc="-4" kern="0" dirty="0">
                <a:solidFill>
                  <a:srgbClr val="FFFFFF"/>
                </a:solidFill>
                <a:highlight>
                  <a:srgbClr val="8B5CF6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cell 에서 </a:t>
            </a:r>
            <a:pPr algn="ctr" indent="0" marL="0">
              <a:lnSpc>
                <a:spcPct val="150000"/>
              </a:lnSpc>
              <a:buNone/>
            </a:pPr>
            <a:r>
              <a:rPr lang="en-US" sz="975" b="1" spc="-4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 · 결합 동시 산출 </a:t>
            </a:r>
            <a:pPr algn="ctr" indent="0" marL="0">
              <a:lnSpc>
                <a:spcPct val="150000"/>
              </a:lnSpc>
              <a:buNone/>
            </a:pPr>
            <a:r>
              <a:rPr lang="en-US" sz="975" b="1" spc="-4" kern="0" dirty="0">
                <a:solidFill>
                  <a:srgbClr val="FFFFFF"/>
                </a:solidFill>
                <a:highlight>
                  <a:srgbClr val="8B5CF6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직접 비교</a:t>
            </a:r>
            <a:endParaRPr lang="en-US" sz="975" dirty="0"/>
          </a:p>
        </p:txBody>
      </p:sp>
      <p:sp>
        <p:nvSpPr>
          <p:cNvPr id="186" name="Shape 179"/>
          <p:cNvSpPr/>
          <p:nvPr/>
        </p:nvSpPr>
        <p:spPr>
          <a:xfrm>
            <a:off x="3845818" y="5638106"/>
            <a:ext cx="4500265" cy="382389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7" name="Shape 180"/>
          <p:cNvSpPr/>
          <p:nvPr/>
        </p:nvSpPr>
        <p:spPr>
          <a:xfrm>
            <a:off x="3845818" y="5638106"/>
            <a:ext cx="25400" cy="38238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8" name="Text 181"/>
          <p:cNvSpPr/>
          <p:nvPr/>
        </p:nvSpPr>
        <p:spPr>
          <a:xfrm>
            <a:off x="4042668" y="5733356"/>
            <a:ext cx="4266973" cy="229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highlight>
                  <a:srgbClr val="FAFAFA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엔진 응답 시간 측정은 </a:t>
            </a:r>
            <a:pPr algn="l" indent="0" marL="0">
              <a:lnSpc>
                <a:spcPct val="155000"/>
              </a:lnSpc>
              <a:buNone/>
            </a:pPr>
            <a:r>
              <a:rPr lang="en-US" sz="975" b="1" spc="-4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별도 </a:t>
            </a:r>
            <a:pPr algn="l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highlight>
                  <a:srgbClr val="FAFAFA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DEEP sf=10 환경 · 다음 슬라이드 11 에서 156 plan 소개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방법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871655" y="514350"/>
            <a:ext cx="8448691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표본 추출 방식 — baseline vs 샘플링 방식 탐색 13 method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472730"/>
            <a:ext cx="2286000" cy="2794397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82824" y="2663230"/>
            <a:ext cx="69195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13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57250" y="2961680"/>
            <a:ext cx="1943100" cy="95250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961680"/>
            <a:ext cx="1943100" cy="952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5788" y="4009430"/>
            <a:ext cx="886023" cy="229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균일 무작위 점들</a:t>
            </a:r>
            <a:endParaRPr lang="en-US" sz="975" dirty="0"/>
          </a:p>
        </p:txBody>
      </p:sp>
      <p:sp>
        <p:nvSpPr>
          <p:cNvPr id="10" name="Shape 7"/>
          <p:cNvSpPr/>
          <p:nvPr/>
        </p:nvSpPr>
        <p:spPr>
          <a:xfrm>
            <a:off x="3181350" y="2472730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89300" y="2589709"/>
            <a:ext cx="2390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P1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4330799" y="2571155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94299" y="2587030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method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3289300" y="2801938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 곡선</a:t>
            </a:r>
            <a:endParaRPr lang="en-US" sz="975" dirty="0"/>
          </a:p>
        </p:txBody>
      </p:sp>
      <p:sp>
        <p:nvSpPr>
          <p:cNvPr id="15" name="Shape 12"/>
          <p:cNvSpPr/>
          <p:nvPr/>
        </p:nvSpPr>
        <p:spPr>
          <a:xfrm>
            <a:off x="3289300" y="2988568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875" y="3017143"/>
            <a:ext cx="1736725" cy="4762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51200" y="3560068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Hilbert · Z-order</a:t>
            </a:r>
            <a:endParaRPr lang="en-US" sz="975" dirty="0"/>
          </a:p>
        </p:txBody>
      </p:sp>
      <p:sp>
        <p:nvSpPr>
          <p:cNvPr id="18" name="Shape 14"/>
          <p:cNvSpPr/>
          <p:nvPr/>
        </p:nvSpPr>
        <p:spPr>
          <a:xfrm>
            <a:off x="5286375" y="2472730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394325" y="2589709"/>
            <a:ext cx="2390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P2</a:t>
            </a:r>
            <a:endParaRPr lang="en-US" sz="975" dirty="0"/>
          </a:p>
        </p:txBody>
      </p:sp>
      <p:sp>
        <p:nvSpPr>
          <p:cNvPr id="20" name="Shape 16"/>
          <p:cNvSpPr/>
          <p:nvPr/>
        </p:nvSpPr>
        <p:spPr>
          <a:xfrm>
            <a:off x="6435825" y="2571155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99325" y="2587030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method</a:t>
            </a:r>
            <a:endParaRPr lang="en-US" sz="975" dirty="0"/>
          </a:p>
        </p:txBody>
      </p:sp>
      <p:sp>
        <p:nvSpPr>
          <p:cNvPr id="22" name="Text 18"/>
          <p:cNvSpPr/>
          <p:nvPr/>
        </p:nvSpPr>
        <p:spPr>
          <a:xfrm>
            <a:off x="5394325" y="2801938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차원 축소</a:t>
            </a:r>
            <a:endParaRPr lang="en-US" sz="975" dirty="0"/>
          </a:p>
        </p:txBody>
      </p:sp>
      <p:sp>
        <p:nvSpPr>
          <p:cNvPr id="23" name="Shape 19"/>
          <p:cNvSpPr/>
          <p:nvPr/>
        </p:nvSpPr>
        <p:spPr>
          <a:xfrm>
            <a:off x="5394325" y="2988568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900" y="3017143"/>
            <a:ext cx="1736725" cy="47625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56225" y="3560068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PCA · rSVD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7391400" y="2472730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499350" y="2589709"/>
            <a:ext cx="2390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P3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8540850" y="2571155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604350" y="2587030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method</a:t>
            </a:r>
            <a:endParaRPr lang="en-US" sz="975" dirty="0"/>
          </a:p>
        </p:txBody>
      </p:sp>
      <p:sp>
        <p:nvSpPr>
          <p:cNvPr id="30" name="Text 25"/>
          <p:cNvSpPr/>
          <p:nvPr/>
        </p:nvSpPr>
        <p:spPr>
          <a:xfrm>
            <a:off x="7499350" y="2801938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고전 stratification</a:t>
            </a:r>
            <a:endParaRPr lang="en-US" sz="975" dirty="0"/>
          </a:p>
        </p:txBody>
      </p:sp>
      <p:sp>
        <p:nvSpPr>
          <p:cNvPr id="31" name="Shape 26"/>
          <p:cNvSpPr/>
          <p:nvPr/>
        </p:nvSpPr>
        <p:spPr>
          <a:xfrm>
            <a:off x="7499350" y="2988568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7925" y="3017143"/>
            <a:ext cx="1736725" cy="47625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61250" y="3560068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cum-√f</a:t>
            </a:r>
            <a:endParaRPr lang="en-US" sz="975" dirty="0"/>
          </a:p>
        </p:txBody>
      </p:sp>
      <p:sp>
        <p:nvSpPr>
          <p:cNvPr id="34" name="Shape 28"/>
          <p:cNvSpPr/>
          <p:nvPr/>
        </p:nvSpPr>
        <p:spPr>
          <a:xfrm>
            <a:off x="9496425" y="2472730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604375" y="2589709"/>
            <a:ext cx="2390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P4</a:t>
            </a:r>
            <a:endParaRPr lang="en-US" sz="975" dirty="0"/>
          </a:p>
        </p:txBody>
      </p:sp>
      <p:sp>
        <p:nvSpPr>
          <p:cNvPr id="36" name="Shape 30"/>
          <p:cNvSpPr/>
          <p:nvPr/>
        </p:nvSpPr>
        <p:spPr>
          <a:xfrm>
            <a:off x="10645875" y="2571155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10709375" y="2587030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method</a:t>
            </a:r>
            <a:endParaRPr lang="en-US" sz="975" dirty="0"/>
          </a:p>
        </p:txBody>
      </p:sp>
      <p:sp>
        <p:nvSpPr>
          <p:cNvPr id="38" name="Text 32"/>
          <p:cNvSpPr/>
          <p:nvPr/>
        </p:nvSpPr>
        <p:spPr>
          <a:xfrm>
            <a:off x="9604375" y="2801938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양자화</a:t>
            </a:r>
            <a:endParaRPr lang="en-US" sz="975" dirty="0"/>
          </a:p>
        </p:txBody>
      </p:sp>
      <p:sp>
        <p:nvSpPr>
          <p:cNvPr id="39" name="Shape 33"/>
          <p:cNvSpPr/>
          <p:nvPr/>
        </p:nvSpPr>
        <p:spPr>
          <a:xfrm>
            <a:off x="9604375" y="2988568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2950" y="3017143"/>
            <a:ext cx="1736725" cy="47625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566275" y="3560068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RaBitQ · grid</a:t>
            </a:r>
            <a:endParaRPr lang="en-US" sz="975" dirty="0"/>
          </a:p>
        </p:txBody>
      </p:sp>
      <p:sp>
        <p:nvSpPr>
          <p:cNvPr id="42" name="Shape 35"/>
          <p:cNvSpPr/>
          <p:nvPr/>
        </p:nvSpPr>
        <p:spPr>
          <a:xfrm>
            <a:off x="3181350" y="3917553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289300" y="4034532"/>
            <a:ext cx="2390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P5</a:t>
            </a:r>
            <a:endParaRPr lang="en-US" sz="975" dirty="0"/>
          </a:p>
        </p:txBody>
      </p:sp>
      <p:sp>
        <p:nvSpPr>
          <p:cNvPr id="44" name="Shape 37"/>
          <p:cNvSpPr/>
          <p:nvPr/>
        </p:nvSpPr>
        <p:spPr>
          <a:xfrm>
            <a:off x="4330799" y="4015978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4394299" y="4031853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method</a:t>
            </a:r>
            <a:endParaRPr lang="en-US" sz="975" dirty="0"/>
          </a:p>
        </p:txBody>
      </p:sp>
      <p:sp>
        <p:nvSpPr>
          <p:cNvPr id="46" name="Text 39"/>
          <p:cNvSpPr/>
          <p:nvPr/>
        </p:nvSpPr>
        <p:spPr>
          <a:xfrm>
            <a:off x="3289300" y="4246761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클러스터링</a:t>
            </a:r>
            <a:endParaRPr lang="en-US" sz="975" dirty="0"/>
          </a:p>
        </p:txBody>
      </p:sp>
      <p:sp>
        <p:nvSpPr>
          <p:cNvPr id="47" name="Shape 40"/>
          <p:cNvSpPr/>
          <p:nvPr/>
        </p:nvSpPr>
        <p:spPr>
          <a:xfrm>
            <a:off x="3289300" y="4433392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7875" y="4461967"/>
            <a:ext cx="1736725" cy="47625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3251200" y="5004892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KMeans · GMM</a:t>
            </a:r>
            <a:endParaRPr lang="en-US" sz="975" dirty="0"/>
          </a:p>
        </p:txBody>
      </p:sp>
      <p:sp>
        <p:nvSpPr>
          <p:cNvPr id="50" name="Shape 42"/>
          <p:cNvSpPr/>
          <p:nvPr/>
        </p:nvSpPr>
        <p:spPr>
          <a:xfrm>
            <a:off x="5286375" y="3917553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5394325" y="4034532"/>
            <a:ext cx="401836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P6 ★</a:t>
            </a:r>
            <a:endParaRPr lang="en-US" sz="975" dirty="0"/>
          </a:p>
        </p:txBody>
      </p:sp>
      <p:sp>
        <p:nvSpPr>
          <p:cNvPr id="52" name="Shape 44"/>
          <p:cNvSpPr/>
          <p:nvPr/>
        </p:nvSpPr>
        <p:spPr>
          <a:xfrm>
            <a:off x="6435825" y="4015978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6499325" y="4031853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method</a:t>
            </a:r>
            <a:endParaRPr lang="en-US" sz="975" dirty="0"/>
          </a:p>
        </p:txBody>
      </p:sp>
      <p:sp>
        <p:nvSpPr>
          <p:cNvPr id="54" name="Text 46"/>
          <p:cNvSpPr/>
          <p:nvPr/>
        </p:nvSpPr>
        <p:spPr>
          <a:xfrm>
            <a:off x="5394325" y="4246761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스트리밍</a:t>
            </a:r>
            <a:endParaRPr lang="en-US" sz="975" dirty="0"/>
          </a:p>
        </p:txBody>
      </p:sp>
      <p:sp>
        <p:nvSpPr>
          <p:cNvPr id="55" name="Shape 47"/>
          <p:cNvSpPr/>
          <p:nvPr/>
        </p:nvSpPr>
        <p:spPr>
          <a:xfrm>
            <a:off x="5394325" y="4433392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2900" y="4461967"/>
            <a:ext cx="1736725" cy="476250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5356225" y="5004892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chao_weighted</a:t>
            </a:r>
            <a:endParaRPr lang="en-US" sz="975" dirty="0"/>
          </a:p>
        </p:txBody>
      </p:sp>
      <p:sp>
        <p:nvSpPr>
          <p:cNvPr id="58" name="Shape 49"/>
          <p:cNvSpPr/>
          <p:nvPr/>
        </p:nvSpPr>
        <p:spPr>
          <a:xfrm>
            <a:off x="7391400" y="3917553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7499350" y="4034532"/>
            <a:ext cx="2390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P7</a:t>
            </a:r>
            <a:endParaRPr lang="en-US" sz="975" dirty="0"/>
          </a:p>
        </p:txBody>
      </p:sp>
      <p:sp>
        <p:nvSpPr>
          <p:cNvPr id="60" name="Shape 51"/>
          <p:cNvSpPr/>
          <p:nvPr/>
        </p:nvSpPr>
        <p:spPr>
          <a:xfrm>
            <a:off x="8540850" y="4015978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8604350" y="4031853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method</a:t>
            </a:r>
            <a:endParaRPr lang="en-US" sz="975" dirty="0"/>
          </a:p>
        </p:txBody>
      </p:sp>
      <p:sp>
        <p:nvSpPr>
          <p:cNvPr id="62" name="Text 53"/>
          <p:cNvSpPr/>
          <p:nvPr/>
        </p:nvSpPr>
        <p:spPr>
          <a:xfrm>
            <a:off x="7499350" y="4246761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해시</a:t>
            </a:r>
            <a:endParaRPr lang="en-US" sz="975" dirty="0"/>
          </a:p>
        </p:txBody>
      </p:sp>
      <p:sp>
        <p:nvSpPr>
          <p:cNvPr id="63" name="Shape 54"/>
          <p:cNvSpPr/>
          <p:nvPr/>
        </p:nvSpPr>
        <p:spPr>
          <a:xfrm>
            <a:off x="7499350" y="4433392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7925" y="4461967"/>
            <a:ext cx="1736725" cy="476250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7461250" y="5004892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md5 prefix</a:t>
            </a:r>
            <a:endParaRPr lang="en-US" sz="975" dirty="0"/>
          </a:p>
        </p:txBody>
      </p:sp>
      <p:sp>
        <p:nvSpPr>
          <p:cNvPr id="66" name="Shape 56"/>
          <p:cNvSpPr/>
          <p:nvPr/>
        </p:nvSpPr>
        <p:spPr>
          <a:xfrm>
            <a:off x="9496425" y="3917553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dash"/>
          </a:ln>
        </p:spPr>
      </p:sp>
      <p:sp>
        <p:nvSpPr>
          <p:cNvPr id="67" name="Text 57"/>
          <p:cNvSpPr/>
          <p:nvPr/>
        </p:nvSpPr>
        <p:spPr>
          <a:xfrm>
            <a:off x="10344548" y="4270673"/>
            <a:ext cx="3135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800" dirty="0"/>
          </a:p>
        </p:txBody>
      </p:sp>
      <p:sp>
        <p:nvSpPr>
          <p:cNvPr id="68" name="Text 58"/>
          <p:cNvSpPr/>
          <p:nvPr/>
        </p:nvSpPr>
        <p:spPr>
          <a:xfrm>
            <a:off x="10228064" y="4537373"/>
            <a:ext cx="54639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30" kern="0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METHOD</a:t>
            </a:r>
            <a:endParaRPr lang="en-US" sz="975" dirty="0"/>
          </a:p>
        </p:txBody>
      </p:sp>
      <p:sp>
        <p:nvSpPr>
          <p:cNvPr id="69" name="Text 59"/>
          <p:cNvSpPr/>
          <p:nvPr/>
        </p:nvSpPr>
        <p:spPr>
          <a:xfrm>
            <a:off x="10092730" y="4740573"/>
            <a:ext cx="817166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paradigm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695637" y="514350"/>
            <a:ext cx="4800727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Q-error 비교 — baseline vs 결합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478492" y="1725216"/>
            <a:ext cx="723491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500" spc="-22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결합이 baseline 을 </a:t>
            </a:r>
            <a:pPr algn="ctr" indent="0" marL="0">
              <a:lnSpc>
                <a:spcPct val="145000"/>
              </a:lnSpc>
              <a:buNone/>
            </a:pPr>
            <a:r>
              <a:rPr lang="en-US" sz="1500" b="1" spc="-22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paired 89.1% 우위 </a:t>
            </a:r>
            <a:pPr algn="ctr" indent="0" marL="0">
              <a:lnSpc>
                <a:spcPct val="145000"/>
              </a:lnSpc>
              <a:buNone/>
            </a:pPr>
            <a:r>
              <a:rPr lang="en-US" sz="1500" spc="-22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격차는 </a:t>
            </a:r>
            <a:pPr algn="ctr" indent="0" marL="0">
              <a:lnSpc>
                <a:spcPct val="145000"/>
              </a:lnSpc>
              <a:buNone/>
            </a:pPr>
            <a:r>
              <a:rPr lang="en-US" sz="1500" b="1" spc="-22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median Q-error 1.4582 → 1.4019 </a:t>
            </a:r>
            <a:pPr algn="ctr" indent="0" marL="0">
              <a:lnSpc>
                <a:spcPct val="145000"/>
              </a:lnSpc>
              <a:buNone/>
            </a:pPr>
            <a:r>
              <a:rPr lang="en-US" sz="1500" spc="-22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(−4.38%)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19476" y="2191941"/>
            <a:ext cx="3752949" cy="161161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219476" y="2191941"/>
            <a:ext cx="3865538" cy="1649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100" b="1" spc="-84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89.1</a:t>
            </a:r>
            <a:pPr algn="l" indent="0" marL="0">
              <a:lnSpc>
                <a:spcPct val="90000"/>
              </a:lnSpc>
              <a:buNone/>
            </a:pPr>
            <a:r>
              <a:rPr lang="en-US" sz="4794" b="1" spc="-84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4100" dirty="0"/>
          </a:p>
        </p:txBody>
      </p:sp>
      <p:sp>
        <p:nvSpPr>
          <p:cNvPr id="8" name="Text 6"/>
          <p:cNvSpPr/>
          <p:nvPr/>
        </p:nvSpPr>
        <p:spPr>
          <a:xfrm>
            <a:off x="5142409" y="3879751"/>
            <a:ext cx="198328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6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1,344 / 1,508 </a:t>
            </a:r>
            <a:pPr algn="l" indent="0" marL="0">
              <a:buNone/>
            </a:pPr>
            <a:r>
              <a:rPr lang="en-US" sz="1275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cell · 결합 우위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3799366" y="4209951"/>
            <a:ext cx="4593168" cy="229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1,508 측정 중 </a:t>
            </a:r>
            <a:pPr algn="ctr" indent="0" marL="0">
              <a:lnSpc>
                <a:spcPct val="155000"/>
              </a:lnSpc>
              <a:buNone/>
            </a:pPr>
            <a:r>
              <a:rPr lang="en-US" sz="975" b="1" spc="-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1,344 cell </a:t>
            </a:r>
            <a:pPr algn="ctr" indent="0" marL="0">
              <a:lnSpc>
                <a:spcPct val="155000"/>
              </a:lnSpc>
              <a:buNone/>
            </a:pPr>
            <a:r>
              <a:rPr lang="en-US" sz="975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에서 결합이 baseline 보다 더 낮은 Q-error → paired better 89.1%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1714500" y="4630440"/>
            <a:ext cx="876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9"/>
          <p:cNvSpPr/>
          <p:nvPr/>
        </p:nvSpPr>
        <p:spPr>
          <a:xfrm>
            <a:off x="1583055" y="4827290"/>
            <a:ext cx="90258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median Q-error · 낮을수로 더 정확 (가로축 구간 1.30 — 1.50)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638300" y="5201940"/>
            <a:ext cx="121920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spc="-6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3028950" y="5113040"/>
            <a:ext cx="6229350" cy="374650"/>
          </a:xfrm>
          <a:prstGeom prst="roundRect">
            <a:avLst>
              <a:gd name="adj" fmla="val 5085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35300" y="5176540"/>
            <a:ext cx="4917281" cy="247650"/>
          </a:xfrm>
          <a:prstGeom prst="roundRect">
            <a:avLst>
              <a:gd name="adj" fmla="val 3846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2913608" y="5500390"/>
            <a:ext cx="3195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1.30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018560" y="5500390"/>
            <a:ext cx="3263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1.40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9130903" y="5500390"/>
            <a:ext cx="3182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1.50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9429750" y="5160665"/>
            <a:ext cx="11239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4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1.4582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38300" y="5709940"/>
            <a:ext cx="121920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spc="-6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3028950" y="5621040"/>
            <a:ext cx="6229350" cy="374650"/>
          </a:xfrm>
          <a:prstGeom prst="roundRect">
            <a:avLst>
              <a:gd name="adj" fmla="val 5085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5300" y="5684540"/>
            <a:ext cx="3167360" cy="247650"/>
          </a:xfrm>
          <a:prstGeom prst="roundRect">
            <a:avLst>
              <a:gd name="adj" fmla="val 3846"/>
            </a:avLst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9429750" y="5668665"/>
            <a:ext cx="11239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45" kern="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1.4019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적용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2298524" y="514350"/>
            <a:ext cx="7594952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엔진 응답 시간 — 사실상 동등 · 진짜 우위는 plan 회복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11995"/>
            <a:ext cx="8157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13" b="1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pgvector 기본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685800" y="1691779"/>
            <a:ext cx="2266950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spc="3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Adaptive Sampling 적용 X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3048000" y="1529953"/>
            <a:ext cx="6572250" cy="298450"/>
          </a:xfrm>
          <a:prstGeom prst="roundRect">
            <a:avLst>
              <a:gd name="adj" fmla="val 6383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54350" y="1536303"/>
            <a:ext cx="6559550" cy="28575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10316468" y="1574403"/>
            <a:ext cx="84107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-41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5,677 </a:t>
            </a:r>
            <a:pPr algn="l" indent="0" marL="0">
              <a:lnSpc>
                <a:spcPct val="100000"/>
              </a:lnSpc>
              <a:buNone/>
            </a:pPr>
            <a:r>
              <a:rPr lang="en-US" sz="975" b="1" spc="-41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157546" y="1650603"/>
            <a:ext cx="42485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-4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(1.0×)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85800" y="1992412"/>
            <a:ext cx="5431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13" b="1" spc="-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685800" y="2172196"/>
            <a:ext cx="2266950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spc="3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논문 원본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3048000" y="2010370"/>
            <a:ext cx="6572250" cy="298450"/>
          </a:xfrm>
          <a:prstGeom prst="roundRect">
            <a:avLst>
              <a:gd name="adj" fmla="val 6383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54350" y="2016720"/>
            <a:ext cx="1129506" cy="28575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112475" y="2054820"/>
            <a:ext cx="8211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-41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977.6 </a:t>
            </a:r>
            <a:pPr algn="l" indent="0" marL="0">
              <a:lnSpc>
                <a:spcPct val="100000"/>
              </a:lnSpc>
              <a:buNone/>
            </a:pPr>
            <a:r>
              <a:rPr lang="en-US" sz="975" b="1" spc="-41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933609" y="2131020"/>
            <a:ext cx="64879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-4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(5.77× ↑)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85800" y="2472829"/>
            <a:ext cx="2974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13" b="1" spc="-5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685800" y="2652613"/>
            <a:ext cx="2266950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spc="3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본 연구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3048000" y="2490788"/>
            <a:ext cx="6572250" cy="298450"/>
          </a:xfrm>
          <a:prstGeom prst="roundRect">
            <a:avLst>
              <a:gd name="adj" fmla="val 6383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54350" y="2497138"/>
            <a:ext cx="1136055" cy="28575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3142" y="2535238"/>
            <a:ext cx="8733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-41" kern="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983.5 </a:t>
            </a:r>
            <a:pPr algn="l" indent="0" marL="0">
              <a:lnSpc>
                <a:spcPct val="100000"/>
              </a:lnSpc>
              <a:buNone/>
            </a:pPr>
            <a:r>
              <a:rPr lang="en-US" sz="975" b="1" spc="-41" kern="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926466" y="2611438"/>
            <a:ext cx="6559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-4" kern="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(5.70× ↑)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795738" y="2946896"/>
            <a:ext cx="26005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5" kern="0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 과 결합 latency 사실상 동등 </a:t>
            </a:r>
            <a:pPr algn="ctr" indent="0" marL="0">
              <a:buNone/>
            </a:pPr>
            <a:r>
              <a:rPr lang="en-US" sz="975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(0.07× 격차)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2950865" y="3232646"/>
            <a:ext cx="629017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3"/>
          <p:cNvSpPr/>
          <p:nvPr/>
        </p:nvSpPr>
        <p:spPr>
          <a:xfrm>
            <a:off x="2856512" y="3315196"/>
            <a:ext cx="6478876" cy="229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DEEP 데이터셋 sf=10 환경 · 12개 매개변수 조합 × 13개 분포 인지 method = 156개 plan · 평균 응답 시간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3196035" y="3640435"/>
            <a:ext cx="579993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3546773" y="3780135"/>
            <a:ext cx="10363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 plan 회복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3360142" y="4008735"/>
            <a:ext cx="1409700" cy="14097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3900686" y="4489748"/>
            <a:ext cx="4048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-30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827661" y="4813598"/>
            <a:ext cx="47466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spc="41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 156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3157935" y="5494636"/>
            <a:ext cx="18140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b="1" spc="16" kern="0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정답 91 </a:t>
            </a:r>
            <a:pPr algn="ctr" indent="0" marL="0">
              <a:lnSpc>
                <a:spcPct val="150000"/>
              </a:lnSpc>
              <a:buNone/>
            </a:pPr>
            <a:r>
              <a:rPr lang="en-US" sz="975" spc="16" kern="0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 오답 65 · 58.3%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5143500" y="4189611"/>
            <a:ext cx="1905000" cy="1081187"/>
          </a:xfrm>
          <a:prstGeom prst="roundRect">
            <a:avLst>
              <a:gd name="adj" fmla="val 3524"/>
            </a:avLst>
          </a:prstGeom>
          <a:solidFill>
            <a:srgbClr val="FFF7E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80658" y="4335661"/>
            <a:ext cx="103058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50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+57 plan 회복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5780881" y="4564261"/>
            <a:ext cx="6301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spc="-72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+57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690592" y="4945261"/>
            <a:ext cx="810816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91 → 148 </a:t>
            </a:r>
            <a:pPr algn="ctr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plan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7727057" y="3780135"/>
            <a:ext cx="79980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5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 plan 회복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7422158" y="4008735"/>
            <a:ext cx="1409700" cy="14097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8" name="Text 36"/>
          <p:cNvSpPr/>
          <p:nvPr/>
        </p:nvSpPr>
        <p:spPr>
          <a:xfrm>
            <a:off x="7859217" y="4489748"/>
            <a:ext cx="61168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-30" kern="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148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889677" y="4813598"/>
            <a:ext cx="47466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spc="41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 156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7219950" y="5494636"/>
            <a:ext cx="18141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b="1" spc="16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정답 148 </a:t>
            </a:r>
            <a:pPr algn="ctr" indent="0" marL="0">
              <a:lnSpc>
                <a:spcPct val="150000"/>
              </a:lnSpc>
              <a:buNone/>
            </a:pPr>
            <a:r>
              <a:rPr lang="en-US" sz="975" spc="16" kern="0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 오답 8 · 94.9%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4013994" y="5813723"/>
            <a:ext cx="4164013" cy="382389"/>
          </a:xfrm>
          <a:prstGeom prst="roundRect">
            <a:avLst>
              <a:gd name="adj" fmla="val 7473"/>
            </a:avLst>
          </a:prstGeom>
          <a:solidFill>
            <a:srgbClr val="FAFAFA"/>
          </a:solidFill>
          <a:ln/>
        </p:spPr>
      </p:sp>
      <p:sp>
        <p:nvSpPr>
          <p:cNvPr id="42" name="Text 40"/>
          <p:cNvSpPr/>
          <p:nvPr/>
        </p:nvSpPr>
        <p:spPr>
          <a:xfrm>
            <a:off x="4122984" y="5908973"/>
            <a:ext cx="3946033" cy="229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-5" kern="0" dirty="0">
                <a:solidFill>
                  <a:srgbClr val="1E293B"/>
                </a:solidFill>
                <a:highlight>
                  <a:srgbClr val="FAFAFA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plan 회복 = </a:t>
            </a:r>
            <a:pPr algn="ctr" indent="0" marL="0">
              <a:lnSpc>
                <a:spcPct val="155000"/>
              </a:lnSpc>
              <a:buNone/>
            </a:pPr>
            <a:r>
              <a:rPr lang="en-US" sz="975" b="1" spc="-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카디널리티 추정이 정확 → 정답 실행 plan 선택 </a:t>
            </a:r>
            <a:pPr algn="ctr" indent="0" marL="0">
              <a:lnSpc>
                <a:spcPct val="155000"/>
              </a:lnSpc>
              <a:buNone/>
            </a:pPr>
            <a:r>
              <a:rPr lang="en-US" sz="975" spc="-5" kern="0" dirty="0">
                <a:solidFill>
                  <a:srgbClr val="1E293B"/>
                </a:solidFill>
                <a:highlight>
                  <a:srgbClr val="FAFAFA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(latency 폭주 방지)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적용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4364812" y="514350"/>
            <a:ext cx="3462377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Future Work — 두 갈래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110284"/>
            <a:ext cx="5295900" cy="3500239"/>
          </a:xfrm>
          <a:prstGeom prst="roundRect">
            <a:avLst>
              <a:gd name="adj" fmla="val 1633"/>
            </a:avLst>
          </a:prstGeom>
          <a:solidFill>
            <a:srgbClr val="FFF7E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8050" y="2313484"/>
            <a:ext cx="49969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GROUP A — 검증 범위 확장 + 산업 자원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908050" y="2599234"/>
            <a:ext cx="499694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20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 측정 평면 → 확장 평면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08050" y="2935784"/>
            <a:ext cx="4851400" cy="2471539"/>
          </a:xfrm>
          <a:prstGeom prst="roundRect">
            <a:avLst>
              <a:gd name="adj" fmla="val 154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88108" y="3424734"/>
            <a:ext cx="863600" cy="635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26109" y="3478411"/>
            <a:ext cx="7875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30" kern="0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본 측정 평면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746250" y="3659386"/>
            <a:ext cx="747216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sf=10 sel ≤ .10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723158" y="3561259"/>
            <a:ext cx="38933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3207742" y="3208834"/>
            <a:ext cx="1771650" cy="1066800"/>
          </a:xfrm>
          <a:prstGeom prst="roundRect">
            <a:avLst>
              <a:gd name="adj" fmla="val 3571"/>
            </a:avLst>
          </a:prstGeom>
          <a:solidFill>
            <a:srgbClr val="FFF7EE"/>
          </a:solidFill>
          <a:ln w="19050">
            <a:solidFill>
              <a:srgbClr val="F97316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793431" y="3461246"/>
            <a:ext cx="6001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33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확장 평면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421757" y="3651746"/>
            <a:ext cx="13436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sf=100 · sel ≥ .5 다중 벡터 · 다른 엔진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1047750" y="4523284"/>
            <a:ext cx="4572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839" y="4605834"/>
            <a:ext cx="739775" cy="241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0439" y="4650284"/>
            <a:ext cx="6127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scale ↑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1985764" y="4605834"/>
            <a:ext cx="1199654" cy="241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87364" y="4650284"/>
            <a:ext cx="10726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selectivity ↑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3242568" y="4605834"/>
            <a:ext cx="958155" cy="241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4168" y="4650284"/>
            <a:ext cx="8311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engine 다양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4257874" y="4605834"/>
            <a:ext cx="1220688" cy="241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59474" y="4650284"/>
            <a:ext cx="10936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resource 산업적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806032" y="5075734"/>
            <a:ext cx="3055435" cy="229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더 큰 데이터 · 넓은 selectivity · 다른 엔진에서 </a:t>
            </a:r>
            <a:pPr algn="ctr" indent="0" marL="0">
              <a:lnSpc>
                <a:spcPct val="155000"/>
              </a:lnSpc>
              <a:buNone/>
            </a:pPr>
            <a:r>
              <a:rPr lang="en-US" sz="975" b="1" spc="-5" kern="0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 효과 검증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6210300" y="2110284"/>
            <a:ext cx="5295900" cy="3500239"/>
          </a:xfrm>
          <a:prstGeom prst="roundRect">
            <a:avLst>
              <a:gd name="adj" fmla="val 163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2550" y="2313484"/>
            <a:ext cx="499694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GROUP B — History-aware Adaptive Sampling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6432550" y="2592884"/>
            <a:ext cx="499694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20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과거 query → 현재 query 추정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32550" y="2929434"/>
            <a:ext cx="4851400" cy="2027039"/>
          </a:xfrm>
          <a:prstGeom prst="roundRect">
            <a:avLst>
              <a:gd name="adj" fmla="val 188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9743" y="3433366"/>
            <a:ext cx="298450" cy="1841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47993" y="3439716"/>
            <a:ext cx="361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Q-3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8106767" y="3433366"/>
            <a:ext cx="298450" cy="1841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75017" y="3439716"/>
            <a:ext cx="361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Q-2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8433792" y="3433366"/>
            <a:ext cx="298450" cy="1841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02042" y="3439716"/>
            <a:ext cx="361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Q-1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7911505" y="3646091"/>
            <a:ext cx="7651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과거 query</a:t>
            </a:r>
            <a:endParaRPr lang="en-US" sz="975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43" y="3836591"/>
            <a:ext cx="952500" cy="24765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8865593" y="3615928"/>
            <a:ext cx="3234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50" dirty="0"/>
          </a:p>
        </p:txBody>
      </p:sp>
      <p:sp>
        <p:nvSpPr>
          <p:cNvPr id="39" name="Shape 36"/>
          <p:cNvSpPr/>
          <p:nvPr/>
        </p:nvSpPr>
        <p:spPr>
          <a:xfrm>
            <a:off x="9267627" y="3415903"/>
            <a:ext cx="647700" cy="495300"/>
          </a:xfrm>
          <a:prstGeom prst="roundRect">
            <a:avLst>
              <a:gd name="adj" fmla="val 5769"/>
            </a:avLst>
          </a:prstGeom>
          <a:solidFill>
            <a:srgbClr val="F2FAFD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248577" y="3434953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Q₀</a:t>
            </a:r>
            <a:endParaRPr lang="en-US" sz="975" dirty="0"/>
          </a:p>
        </p:txBody>
      </p:sp>
      <p:sp>
        <p:nvSpPr>
          <p:cNvPr id="41" name="Text 38"/>
          <p:cNvSpPr/>
          <p:nvPr/>
        </p:nvSpPr>
        <p:spPr>
          <a:xfrm>
            <a:off x="9246196" y="3949303"/>
            <a:ext cx="7667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29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현재 query</a:t>
            </a:r>
            <a:endParaRPr lang="en-US" sz="975" dirty="0"/>
          </a:p>
        </p:txBody>
      </p:sp>
      <p:sp>
        <p:nvSpPr>
          <p:cNvPr id="42" name="Shape 39"/>
          <p:cNvSpPr/>
          <p:nvPr/>
        </p:nvSpPr>
        <p:spPr>
          <a:xfrm>
            <a:off x="6572250" y="4216003"/>
            <a:ext cx="4572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0"/>
          <p:cNvSpPr/>
          <p:nvPr/>
        </p:nvSpPr>
        <p:spPr>
          <a:xfrm>
            <a:off x="7594104" y="4317603"/>
            <a:ext cx="9556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feedback 누적</a:t>
            </a:r>
            <a:endParaRPr lang="en-US" sz="975" dirty="0"/>
          </a:p>
        </p:txBody>
      </p:sp>
      <p:sp>
        <p:nvSpPr>
          <p:cNvPr id="44" name="Text 41"/>
          <p:cNvSpPr/>
          <p:nvPr/>
        </p:nvSpPr>
        <p:spPr>
          <a:xfrm>
            <a:off x="8549779" y="4317603"/>
            <a:ext cx="1559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-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8705751" y="4320778"/>
            <a:ext cx="81647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sampling ↓</a:t>
            </a:r>
            <a:endParaRPr lang="en-US" sz="975" dirty="0"/>
          </a:p>
        </p:txBody>
      </p:sp>
      <p:sp>
        <p:nvSpPr>
          <p:cNvPr id="46" name="Text 43"/>
          <p:cNvSpPr/>
          <p:nvPr/>
        </p:nvSpPr>
        <p:spPr>
          <a:xfrm>
            <a:off x="9522222" y="4317603"/>
            <a:ext cx="1559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-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678194" y="4320778"/>
            <a:ext cx="52040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cost ↓</a:t>
            </a:r>
            <a:endParaRPr lang="en-US" sz="975" dirty="0"/>
          </a:p>
        </p:txBody>
      </p:sp>
      <p:sp>
        <p:nvSpPr>
          <p:cNvPr id="48" name="Shape 45"/>
          <p:cNvSpPr/>
          <p:nvPr/>
        </p:nvSpPr>
        <p:spPr>
          <a:xfrm>
            <a:off x="7206555" y="5146973"/>
            <a:ext cx="1150640" cy="260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327205" y="5200948"/>
            <a:ext cx="985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과거 feedback</a:t>
            </a:r>
            <a:endParaRPr lang="en-US" sz="975" dirty="0"/>
          </a:p>
        </p:txBody>
      </p:sp>
      <p:sp>
        <p:nvSpPr>
          <p:cNvPr id="50" name="Shape 47"/>
          <p:cNvSpPr/>
          <p:nvPr/>
        </p:nvSpPr>
        <p:spPr>
          <a:xfrm>
            <a:off x="8414346" y="5146973"/>
            <a:ext cx="1336675" cy="260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534996" y="5200948"/>
            <a:ext cx="11715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더 적은 sampling</a:t>
            </a:r>
            <a:endParaRPr lang="en-US" sz="975" dirty="0"/>
          </a:p>
        </p:txBody>
      </p:sp>
      <p:sp>
        <p:nvSpPr>
          <p:cNvPr id="52" name="Shape 49"/>
          <p:cNvSpPr/>
          <p:nvPr/>
        </p:nvSpPr>
        <p:spPr>
          <a:xfrm>
            <a:off x="9808171" y="5146973"/>
            <a:ext cx="701774" cy="260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928821" y="5200948"/>
            <a:ext cx="5366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cost ↓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3000" y="1242814"/>
            <a:ext cx="2286000" cy="381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2214563" y="1566664"/>
            <a:ext cx="7762875" cy="1752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098119" y="1566664"/>
            <a:ext cx="7995761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0" b="1" spc="-750" kern="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감사합니다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096371" y="3681214"/>
            <a:ext cx="199925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spc="-48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Q&amp;A 환영합니다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76300" y="5285979"/>
            <a:ext cx="104394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876300" y="5797947"/>
            <a:ext cx="2467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-22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박세은 · 강재현 · 조현빈 · 이동욱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6300" y="6093222"/>
            <a:ext cx="2467372" cy="231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-22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속도는벡터 · 연세대학교 컴퓨터과학과 캡스톤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17445" y="5578078"/>
            <a:ext cx="3098255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1200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박광현 교수 </a:t>
            </a:r>
            <a:pPr algn="r" indent="0" marL="0">
              <a:lnSpc>
                <a:spcPct val="155000"/>
              </a:lnSpc>
              <a:buNone/>
            </a:pPr>
            <a:r>
              <a:rPr lang="en-US" sz="1200" spc="-6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(BDAI 연구실) · 지도교수 지도연구원 임채림 · 멘토 박성원 (삼성전자 AI센터) </a:t>
            </a:r>
            <a:pPr algn="r" indent="0" marL="0">
              <a:lnSpc>
                <a:spcPct val="155000"/>
              </a:lnSpc>
              <a:buNone/>
            </a:pPr>
            <a:r>
              <a:rPr lang="en-US" sz="975" spc="-6" kern="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자료 · 코드 — github.com/johyunbin/Capstone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2026-05-25T16:23:41Z</dcterms:created>
  <dcterms:modified xsi:type="dcterms:W3CDTF">2026-05-25T16:23:41Z</dcterms:modified>
</cp:coreProperties>
</file>
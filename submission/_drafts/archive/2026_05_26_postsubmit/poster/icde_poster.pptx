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2" r:id="rId5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69E1"/>
    <a:srgbClr val="C00000"/>
    <a:srgbClr val="A75F0A"/>
    <a:srgbClr val="0078D4"/>
    <a:srgbClr val="46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63"/>
    <p:restoredTop sz="94652"/>
  </p:normalViewPr>
  <p:slideViewPr>
    <p:cSldViewPr snapToGrid="0">
      <p:cViewPr>
        <p:scale>
          <a:sx n="29" d="100"/>
          <a:sy n="29" d="100"/>
        </p:scale>
        <p:origin x="2568" y="80"/>
      </p:cViewPr>
      <p:guideLst>
        <p:guide orient="horz" pos="13482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D064C-F97C-3842-800D-4E4828CE9470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58151-014E-AE44-B3DF-761FE563DD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7267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BF8C-BAFF-9F19-3981-430FEFE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24C337-E22D-EC03-1983-E70D2358C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7E1E1C-17D3-6339-B74B-1A97F0EF0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AD0B28-6F75-E547-92CC-CBABF0118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358151-014E-AE44-B3DF-761FE563DD3F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500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757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73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030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848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6359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254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268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12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306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355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203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20A77-06A9-5E43-824F-34D7503CBA2B}" type="datetimeFigureOut">
              <a:rPr kumimoji="1" lang="ko-KR" altLang="en-US" smtClean="0"/>
              <a:t>2026. 5. 5.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6F9C3-6F54-464E-A7BC-7F0DC037F2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480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png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CCF5-5BE4-EE68-44A6-796E3DF1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2500349F-D367-F1E8-57C2-BF554F2B2EAB}"/>
              </a:ext>
            </a:extLst>
          </p:cNvPr>
          <p:cNvSpPr txBox="1"/>
          <p:nvPr/>
        </p:nvSpPr>
        <p:spPr>
          <a:xfrm>
            <a:off x="6556937" y="1924593"/>
            <a:ext cx="164423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" altLang="ko-KR" sz="4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Hyunjoon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Kim</a:t>
            </a:r>
            <a:r>
              <a:rPr kumimoji="1" lang="en" altLang="ko-KR" sz="40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*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en" altLang="ko-KR" sz="4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Chaerim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Lim</a:t>
            </a:r>
            <a:r>
              <a:rPr kumimoji="1" lang="en" altLang="ko-KR" sz="40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*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en" altLang="ko-KR" sz="4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Hyeonjun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An</a:t>
            </a:r>
            <a:r>
              <a:rPr kumimoji="1" lang="en" altLang="ko-KR" sz="40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*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en" altLang="ko-KR" sz="4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Rathijit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Sen</a:t>
            </a:r>
            <a:r>
              <a:rPr kumimoji="1" lang="en" altLang="ko-KR" sz="40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#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en" altLang="ko-KR" sz="4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Kwanghyun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Park</a:t>
            </a:r>
            <a:r>
              <a:rPr kumimoji="1" lang="en" altLang="ko-KR" sz="40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*</a:t>
            </a:r>
          </a:p>
          <a:p>
            <a:pPr algn="ctr"/>
            <a:r>
              <a:rPr kumimoji="1" lang="en" altLang="ko-KR" sz="40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*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Yonsei University, </a:t>
            </a:r>
            <a:r>
              <a:rPr kumimoji="1" lang="en" altLang="ko-KR" sz="4000" baseline="30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#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Microsoft Gray Systems Lab</a:t>
            </a:r>
            <a:endParaRPr kumimoji="1" lang="en" altLang="ko-KR" sz="4000" baseline="30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ED9F955-8C38-5D81-D560-BE87F0FD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35" y="36766758"/>
            <a:ext cx="10618780" cy="49440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E04145-D78A-E794-A473-240976FAA0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98" r="-1"/>
          <a:stretch/>
        </p:blipFill>
        <p:spPr>
          <a:xfrm>
            <a:off x="10700761" y="36746625"/>
            <a:ext cx="9747642" cy="4944047"/>
          </a:xfrm>
          <a:prstGeom prst="rect">
            <a:avLst/>
          </a:prstGeom>
        </p:spPr>
      </p:pic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9155491E-762F-74E1-86F8-B84746F006AE}"/>
              </a:ext>
            </a:extLst>
          </p:cNvPr>
          <p:cNvCxnSpPr>
            <a:cxnSpLocks/>
          </p:cNvCxnSpPr>
          <p:nvPr/>
        </p:nvCxnSpPr>
        <p:spPr>
          <a:xfrm>
            <a:off x="-1156614" y="18875978"/>
            <a:ext cx="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8AFDBB-A0FA-EC48-83ED-9CCD35E27227}"/>
              </a:ext>
            </a:extLst>
          </p:cNvPr>
          <p:cNvSpPr/>
          <p:nvPr/>
        </p:nvSpPr>
        <p:spPr>
          <a:xfrm>
            <a:off x="-60994" y="237533"/>
            <a:ext cx="30275213" cy="42376339"/>
          </a:xfrm>
          <a:prstGeom prst="rect">
            <a:avLst/>
          </a:prstGeom>
          <a:noFill/>
          <a:ln w="635000">
            <a:solidFill>
              <a:srgbClr val="0078D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" name="Picture 2" descr="ICDE 2026 Montreal, Canada">
            <a:extLst>
              <a:ext uri="{FF2B5EF4-FFF2-40B4-BE49-F238E27FC236}">
                <a16:creationId xmlns:a16="http://schemas.microsoft.com/office/drawing/2014/main" id="{FFD7B71E-614C-6819-A984-DD5D5DBC0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1344" y="2041769"/>
            <a:ext cx="3170110" cy="272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318E286-D7EC-CF37-2672-400E2AB60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0865" y="3686650"/>
            <a:ext cx="5040870" cy="107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37190F-3D53-8086-74A1-D25B46026512}"/>
              </a:ext>
            </a:extLst>
          </p:cNvPr>
          <p:cNvSpPr txBox="1"/>
          <p:nvPr/>
        </p:nvSpPr>
        <p:spPr>
          <a:xfrm>
            <a:off x="438522" y="452796"/>
            <a:ext cx="29357873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" altLang="ko-KR" sz="66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Exqutor: Extended Query Optimizer for Vector-augmented Analytical Queries</a:t>
            </a:r>
          </a:p>
          <a:p>
            <a:endParaRPr kumimoji="1" lang="ko-KR" altLang="en-US" sz="4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33B0E0-384A-F9A8-3E3D-7830821643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2945" y="7894193"/>
            <a:ext cx="26404790" cy="7424242"/>
          </a:xfrm>
          <a:prstGeom prst="rect">
            <a:avLst/>
          </a:prstGeom>
        </p:spPr>
      </p:pic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68C0814A-4592-C81F-A9B5-BC9994EADE38}"/>
              </a:ext>
            </a:extLst>
          </p:cNvPr>
          <p:cNvSpPr/>
          <p:nvPr/>
        </p:nvSpPr>
        <p:spPr>
          <a:xfrm>
            <a:off x="541047" y="5174008"/>
            <a:ext cx="28991894" cy="10368200"/>
          </a:xfrm>
          <a:prstGeom prst="roundRect">
            <a:avLst>
              <a:gd name="adj" fmla="val 8407"/>
            </a:avLst>
          </a:prstGeom>
          <a:noFill/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13AD56-7225-EE4E-AAE9-D42FF5C68B24}"/>
              </a:ext>
            </a:extLst>
          </p:cNvPr>
          <p:cNvSpPr txBox="1"/>
          <p:nvPr/>
        </p:nvSpPr>
        <p:spPr>
          <a:xfrm>
            <a:off x="1004762" y="5432404"/>
            <a:ext cx="2806446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ko-KR" sz="48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The Rise of Vector-augmented Analytical Queries (VAQs)</a:t>
            </a:r>
            <a:endParaRPr kumimoji="1" lang="en" altLang="ko-KR" sz="12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endParaRPr kumimoji="1" lang="en" altLang="ko-KR" sz="8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endParaRPr kumimoji="1" lang="en" altLang="ko-KR" sz="8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just"/>
            <a:r>
              <a:rPr kumimoji="1" lang="en" altLang="ko-KR" sz="40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Retrieval-Augmented Generation (RAG) workflows increasingly require 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vector-augmented analytical queries (VAQs) that combine vector similarity</a:t>
            </a:r>
            <a:r>
              <a:rPr kumimoji="1" lang="ko-KR" altLang="en-US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search (VSS)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with relational operators such as joins and filters</a:t>
            </a:r>
            <a:r>
              <a:rPr kumimoji="1"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</a:t>
            </a:r>
            <a:r>
              <a:rPr kumimoji="1" lang="ko-KR" altLang="en-US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as</a:t>
            </a:r>
            <a:r>
              <a:rPr lang="en" altLang="ko-KR" sz="4000"/>
              <a:t> </a:t>
            </a:r>
            <a:r>
              <a:rPr lang="en" altLang="ko-KR" sz="40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generalized vector databases support VSS.</a:t>
            </a:r>
          </a:p>
          <a:p>
            <a:endParaRPr lang="en" altLang="ko-KR" sz="4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8C7FB58-97D8-58C6-8B01-03AD465D67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868"/>
          <a:stretch>
            <a:fillRect/>
          </a:stretch>
        </p:blipFill>
        <p:spPr>
          <a:xfrm>
            <a:off x="1491297" y="28080842"/>
            <a:ext cx="12672194" cy="5331556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5BD95CE-C011-34C4-A366-1A3226E05722}"/>
              </a:ext>
            </a:extLst>
          </p:cNvPr>
          <p:cNvSpPr txBox="1"/>
          <p:nvPr/>
        </p:nvSpPr>
        <p:spPr>
          <a:xfrm>
            <a:off x="755364" y="23310305"/>
            <a:ext cx="140266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ko-KR" sz="48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The Problem: Cardinality Estimation of VSS</a:t>
            </a:r>
          </a:p>
          <a:p>
            <a:pPr algn="ctr"/>
            <a:endParaRPr kumimoji="1" lang="en" altLang="ko-KR" sz="8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endParaRPr kumimoji="1" lang="en" altLang="ko-KR" sz="8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just"/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Existing systems often suffer from performance degradation due to </a:t>
            </a:r>
            <a:r>
              <a:rPr kumimoji="1" lang="en" altLang="ko-KR" sz="4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inaccurate cardinality estimation for vector predicates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as query optimizers treat VSS as a black-box operator and rely on heuristic selectivity</a:t>
            </a:r>
            <a:r>
              <a:rPr kumimoji="1"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kumimoji="1" lang="ko-KR" altLang="en-US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By injecting true cardinalities, we achieved over two orders of magnitude reduction in query execution time.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6EF722C-F5C5-632F-37BF-BF98E0C4B93B}"/>
              </a:ext>
            </a:extLst>
          </p:cNvPr>
          <p:cNvSpPr txBox="1"/>
          <p:nvPr/>
        </p:nvSpPr>
        <p:spPr>
          <a:xfrm>
            <a:off x="438521" y="2094280"/>
            <a:ext cx="40103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Contact</a:t>
            </a:r>
          </a:p>
          <a:p>
            <a:r>
              <a:rPr kumimoji="1" lang="en" altLang="ko-KR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Chaerim Lim</a:t>
            </a:r>
            <a:endParaRPr kumimoji="1" lang="en" altLang="ko-KR" sz="36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2472E32C-4A7F-4406-6670-B8A04755CB04}"/>
              </a:ext>
            </a:extLst>
          </p:cNvPr>
          <p:cNvSpPr txBox="1"/>
          <p:nvPr/>
        </p:nvSpPr>
        <p:spPr>
          <a:xfrm>
            <a:off x="16276458" y="16161536"/>
            <a:ext cx="12558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8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Proposed Solution: </a:t>
            </a:r>
            <a:r>
              <a:rPr kumimoji="1" lang="en" altLang="ko-KR" sz="48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Exqutor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E712B2-C48C-8D4E-5762-039FA3799A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0682" y="26124904"/>
            <a:ext cx="14041976" cy="700506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557F183-17F4-6B22-B9C9-53E12352BA87}"/>
              </a:ext>
            </a:extLst>
          </p:cNvPr>
          <p:cNvSpPr txBox="1"/>
          <p:nvPr/>
        </p:nvSpPr>
        <p:spPr>
          <a:xfrm>
            <a:off x="15520252" y="16992533"/>
            <a:ext cx="14342214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Exqutor is an open-source, pluggable framework </a:t>
            </a:r>
            <a:b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designed to improve cardinality estimation for VAQs.</a:t>
            </a:r>
            <a:b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It seamlessly integrates into existing query optimizer </a:t>
            </a:r>
            <a:b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pipelines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ko-KR" altLang="en-US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Exqutor employs two mechanisms depending on the execution scenario of VSS, whether vector indexes are available.</a:t>
            </a:r>
          </a:p>
          <a:p>
            <a:endParaRPr lang="en" altLang="ko-KR" sz="4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" altLang="ko-KR" sz="4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(A) Exact Cardinality Query Optimization (ECQO) </a:t>
            </a:r>
          </a:p>
          <a:p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When vector indexes are available, Exqutor executes lightweight vector index search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es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(e.g., HNSW) during the query planning phase to obtain the exact number of qualifying tuples. </a:t>
            </a:r>
          </a:p>
          <a:p>
            <a:endParaRPr lang="en" altLang="ko-KR" sz="4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" altLang="ko-KR" sz="4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(B) Sampling-based Cardinality Estimation</a:t>
            </a:r>
          </a:p>
          <a:p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Exqutor estimates selectivity by evaluating similarity over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a 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subset of data when no vector indexes 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exist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The</a:t>
            </a:r>
            <a:r>
              <a:rPr lang="ko-KR" altLang="en-US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ample size is 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adjusted</a:t>
            </a:r>
            <a:r>
              <a:rPr lang="ko-KR" altLang="en-US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using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a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momentum-based algorithm 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leveraging 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Q-error.</a:t>
            </a:r>
          </a:p>
        </p:txBody>
      </p:sp>
      <p:sp>
        <p:nvSpPr>
          <p:cNvPr id="1038" name="모서리가 둥근 직사각형 1037">
            <a:extLst>
              <a:ext uri="{FF2B5EF4-FFF2-40B4-BE49-F238E27FC236}">
                <a16:creationId xmlns:a16="http://schemas.microsoft.com/office/drawing/2014/main" id="{8D1BCCCB-D555-6C8A-CD63-1087193F0FAE}"/>
              </a:ext>
            </a:extLst>
          </p:cNvPr>
          <p:cNvSpPr/>
          <p:nvPr/>
        </p:nvSpPr>
        <p:spPr>
          <a:xfrm>
            <a:off x="541047" y="15894999"/>
            <a:ext cx="14420274" cy="6810870"/>
          </a:xfrm>
          <a:prstGeom prst="roundRect">
            <a:avLst>
              <a:gd name="adj" fmla="val 9990"/>
            </a:avLst>
          </a:prstGeom>
          <a:noFill/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FB3219-0DB2-19F8-2848-C5370814A4C5}"/>
              </a:ext>
            </a:extLst>
          </p:cNvPr>
          <p:cNvSpPr txBox="1"/>
          <p:nvPr/>
        </p:nvSpPr>
        <p:spPr>
          <a:xfrm>
            <a:off x="743911" y="33968886"/>
            <a:ext cx="286654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ko-KR" sz="48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Evaluation</a:t>
            </a:r>
            <a:endParaRPr lang="en" altLang="ko-KR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Exqutor achieves significant performance gains up to four orders of magnitude speedups on </a:t>
            </a:r>
            <a:r>
              <a:rPr lang="en" altLang="ko-KR" sz="4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pgvector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and </a:t>
            </a:r>
            <a:r>
              <a:rPr lang="en" altLang="ko-KR" sz="4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VBASE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and 1.5×–37.2× on </a:t>
            </a:r>
            <a:r>
              <a:rPr lang="en" altLang="ko-KR" sz="4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DuckDB </a:t>
            </a:r>
            <a:r>
              <a:rPr lang="en-US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using</a:t>
            </a:r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TPC-H based Vector-augmented SQL Analytics (SF100). The planning overhead remains minimal in comparison to the achieved performance gains. Exqutor also maintains high accuracy (Q-error &lt; 1.2) for sampling-based cardinality estimation.</a:t>
            </a:r>
          </a:p>
        </p:txBody>
      </p:sp>
      <p:sp>
        <p:nvSpPr>
          <p:cNvPr id="1039" name="모서리가 둥근 직사각형 1038">
            <a:extLst>
              <a:ext uri="{FF2B5EF4-FFF2-40B4-BE49-F238E27FC236}">
                <a16:creationId xmlns:a16="http://schemas.microsoft.com/office/drawing/2014/main" id="{4A383B80-49B6-1CC6-4E0E-DA89D60E3D47}"/>
              </a:ext>
            </a:extLst>
          </p:cNvPr>
          <p:cNvSpPr/>
          <p:nvPr/>
        </p:nvSpPr>
        <p:spPr>
          <a:xfrm>
            <a:off x="595730" y="33813283"/>
            <a:ext cx="28986927" cy="8068764"/>
          </a:xfrm>
          <a:prstGeom prst="roundRect">
            <a:avLst>
              <a:gd name="adj" fmla="val 6811"/>
            </a:avLst>
          </a:prstGeom>
          <a:noFill/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" name="그림 1" descr="패턴, 사각형, 픽셀, 낱말맞추기 퍼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BCFE77-9B93-4C8A-96BA-011EC9FB0E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59895" y="16741520"/>
            <a:ext cx="1976526" cy="1976526"/>
          </a:xfrm>
          <a:prstGeom prst="rect">
            <a:avLst/>
          </a:prstGeom>
        </p:spPr>
      </p:pic>
      <p:pic>
        <p:nvPicPr>
          <p:cNvPr id="7" name="그림 6" descr="패턴, 사각형, 픽셀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82F887-B986-8DA4-5A62-CC3E912C21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64530" y="2039238"/>
            <a:ext cx="1446549" cy="1446549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2582B975-23FD-3BCC-1548-DDA376069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281" y="3398805"/>
            <a:ext cx="5929336" cy="159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3D8E29-029E-1FCE-4C27-D0EBD72CD8E4}"/>
              </a:ext>
            </a:extLst>
          </p:cNvPr>
          <p:cNvSpPr txBox="1"/>
          <p:nvPr/>
        </p:nvSpPr>
        <p:spPr>
          <a:xfrm>
            <a:off x="867892" y="16203213"/>
            <a:ext cx="1376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ko-KR" sz="48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Vector-augmented SQL Analytics</a:t>
            </a:r>
          </a:p>
          <a:p>
            <a:pPr algn="ctr"/>
            <a:endParaRPr kumimoji="1" lang="en" altLang="ko-KR" sz="8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endParaRPr kumimoji="1" lang="en" altLang="ko-KR" sz="8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1" name="Picture 2" descr="Vector-augmented SQL analytics Schema extended TPC-H benchmark">
            <a:extLst>
              <a:ext uri="{FF2B5EF4-FFF2-40B4-BE49-F238E27FC236}">
                <a16:creationId xmlns:a16="http://schemas.microsoft.com/office/drawing/2014/main" id="{17A5E43C-B241-AF3A-1644-4B5EED440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2580" y="17231837"/>
            <a:ext cx="5819915" cy="536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7DEAC0-F943-630F-C89A-BF319A9A2CDB}"/>
              </a:ext>
            </a:extLst>
          </p:cNvPr>
          <p:cNvSpPr txBox="1"/>
          <p:nvPr/>
        </p:nvSpPr>
        <p:spPr>
          <a:xfrm>
            <a:off x="646235" y="17087353"/>
            <a:ext cx="826757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To evaluate the performance of VAQs, we designed a new benchmark by extending analytical workload (TPC-H and TPC-DS) with vector embedding columns derived from three realistic vector datasets*. We also extended queries from the TPC-H and TPC-DS.</a:t>
            </a:r>
            <a:b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endParaRPr lang="en" altLang="ko-KR" sz="4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" altLang="ko-KR" sz="4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* DEEP, SIFT, and SimSearchNet++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CF549225-3DE0-FC06-6DEF-E42EC25E1E3B}"/>
              </a:ext>
            </a:extLst>
          </p:cNvPr>
          <p:cNvSpPr/>
          <p:nvPr/>
        </p:nvSpPr>
        <p:spPr>
          <a:xfrm>
            <a:off x="595730" y="23023271"/>
            <a:ext cx="14322323" cy="10461686"/>
          </a:xfrm>
          <a:prstGeom prst="roundRect">
            <a:avLst>
              <a:gd name="adj" fmla="val 6072"/>
            </a:avLst>
          </a:prstGeom>
          <a:noFill/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B983581-0752-C1DC-810E-65B8391824B7}"/>
              </a:ext>
            </a:extLst>
          </p:cNvPr>
          <p:cNvSpPr/>
          <p:nvPr/>
        </p:nvSpPr>
        <p:spPr>
          <a:xfrm>
            <a:off x="15336316" y="15925914"/>
            <a:ext cx="14342214" cy="17527501"/>
          </a:xfrm>
          <a:prstGeom prst="roundRect">
            <a:avLst>
              <a:gd name="adj" fmla="val 4766"/>
            </a:avLst>
          </a:prstGeom>
          <a:noFill/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022FB4-CCD2-FE07-22DD-59321877A560}"/>
              </a:ext>
            </a:extLst>
          </p:cNvPr>
          <p:cNvSpPr txBox="1"/>
          <p:nvPr/>
        </p:nvSpPr>
        <p:spPr>
          <a:xfrm>
            <a:off x="23273157" y="3398805"/>
            <a:ext cx="28962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sz="48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Research</a:t>
            </a:r>
          </a:p>
          <a:p>
            <a:r>
              <a:rPr kumimoji="1" lang="en" altLang="ko-KR" sz="48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Paper 31</a:t>
            </a:r>
            <a:endParaRPr kumimoji="1" lang="en" altLang="ko-KR" sz="4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220CF318-0FF9-24DF-BD74-F0A7033A0F9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" r="6321" b="38895"/>
          <a:stretch/>
        </p:blipFill>
        <p:spPr>
          <a:xfrm>
            <a:off x="20421268" y="36974867"/>
            <a:ext cx="8920186" cy="420033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D332C69-5199-50F4-0946-D7FE8BF0ED30}"/>
              </a:ext>
            </a:extLst>
          </p:cNvPr>
          <p:cNvSpPr txBox="1"/>
          <p:nvPr/>
        </p:nvSpPr>
        <p:spPr>
          <a:xfrm>
            <a:off x="20720631" y="41235715"/>
            <a:ext cx="85404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>
                <a:solidFill>
                  <a:schemeClr val="tx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Open Sans" panose="020B0606030504020204" pitchFamily="34" charset="0"/>
              </a:rPr>
              <a:t>TPC-H Q3 based VAQ on DEEP dataset</a:t>
            </a:r>
            <a:endParaRPr lang="ko-KR" altLang="en-US" sz="3600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A84691-5F96-2A17-91D1-9046E840B3A6}"/>
              </a:ext>
            </a:extLst>
          </p:cNvPr>
          <p:cNvSpPr txBox="1"/>
          <p:nvPr/>
        </p:nvSpPr>
        <p:spPr>
          <a:xfrm>
            <a:off x="438521" y="3708886"/>
            <a:ext cx="40103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Paper</a:t>
            </a:r>
          </a:p>
          <a:p>
            <a:r>
              <a:rPr kumimoji="1" lang="en" altLang="ko-KR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Exqutor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208B2F67-5AA5-70DD-D8EC-06F36BFEB1A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64530" y="3631532"/>
            <a:ext cx="1446549" cy="144654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463C642-3A2A-89CC-41CE-B4D2AB34E96B}"/>
              </a:ext>
            </a:extLst>
          </p:cNvPr>
          <p:cNvSpPr txBox="1"/>
          <p:nvPr/>
        </p:nvSpPr>
        <p:spPr>
          <a:xfrm>
            <a:off x="27259895" y="16081932"/>
            <a:ext cx="1935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ko-KR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761895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0A6F487DBCF9347A38A6B15F4E72795" ma:contentTypeVersion="17" ma:contentTypeDescription="새 문서를 만듭니다." ma:contentTypeScope="" ma:versionID="5fd704351268e64015d5c910c473bcbc">
  <xsd:schema xmlns:xsd="http://www.w3.org/2001/XMLSchema" xmlns:xs="http://www.w3.org/2001/XMLSchema" xmlns:p="http://schemas.microsoft.com/office/2006/metadata/properties" xmlns:ns2="43e2a589-bd6f-4b44-8003-c19953b3d6bf" xmlns:ns3="e5b54037-1c8c-4853-ab71-a40036e33f2a" targetNamespace="http://schemas.microsoft.com/office/2006/metadata/properties" ma:root="true" ma:fieldsID="7dd0fe2ba554d7ad0ae129cbaffbccd7" ns2:_="" ns3:_="">
    <xsd:import namespace="43e2a589-bd6f-4b44-8003-c19953b3d6bf"/>
    <xsd:import namespace="e5b54037-1c8c-4853-ab71-a40036e33f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LengthInSeconds" minOccurs="0"/>
                <xsd:element ref="ns2:subtopic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e2a589-bd6f-4b44-8003-c19953b3d6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9b7d9a65-e3a1-4625-8e75-06b6c1c84c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subtopic" ma:index="20" nillable="true" ma:displayName="subtopic" ma:description="sub-topic of papers" ma:format="Dropdown" ma:internalName="subtopic">
      <xsd:simpleType>
        <xsd:union memberTypes="dms:Text">
          <xsd:simpleType>
            <xsd:restriction base="dms:Choice">
              <xsd:enumeration value="survey"/>
              <xsd:enumeration value="선택 항목 2"/>
              <xsd:enumeration value="선택 항목 3"/>
            </xsd:restriction>
          </xsd:simpleType>
        </xsd:un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roperties" ma:index="24" nillable="true" ma:displayName="Properties" ma:format="Dropdown" ma:internalName="Propertie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54037-1c8c-4853-ab71-a40036e33f2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fc131ce-2232-46f4-97a6-89ee40224ae0}" ma:internalName="TaxCatchAll" ma:showField="CatchAllData" ma:web="e5b54037-1c8c-4853-ab71-a40036e33f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ubtopic xmlns="43e2a589-bd6f-4b44-8003-c19953b3d6bf" xsi:nil="true"/>
    <TaxCatchAll xmlns="e5b54037-1c8c-4853-ab71-a40036e33f2a" xsi:nil="true"/>
    <lcf76f155ced4ddcb4097134ff3c332f xmlns="43e2a589-bd6f-4b44-8003-c19953b3d6bf">
      <Terms xmlns="http://schemas.microsoft.com/office/infopath/2007/PartnerControls"/>
    </lcf76f155ced4ddcb4097134ff3c332f>
    <Properties xmlns="43e2a589-bd6f-4b44-8003-c19953b3d6bf" xsi:nil="true"/>
  </documentManagement>
</p:properties>
</file>

<file path=customXml/itemProps1.xml><?xml version="1.0" encoding="utf-8"?>
<ds:datastoreItem xmlns:ds="http://schemas.openxmlformats.org/officeDocument/2006/customXml" ds:itemID="{E727947B-5507-49E3-A1A3-D7A6134CE5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e2a589-bd6f-4b44-8003-c19953b3d6bf"/>
    <ds:schemaRef ds:uri="e5b54037-1c8c-4853-ab71-a40036e33f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1562E5-0284-4651-978D-1C65F6BB62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CDDDDD-EB4D-47A2-999A-7EFC75F12974}">
  <ds:schemaRefs>
    <ds:schemaRef ds:uri="http://purl.org/dc/terms/"/>
    <ds:schemaRef ds:uri="43e2a589-bd6f-4b44-8003-c19953b3d6bf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e5b54037-1c8c-4853-ab71-a40036e33f2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7611</TotalTime>
  <Words>397</Words>
  <Application>Microsoft Macintosh PowerPoint</Application>
  <PresentationFormat>사용자 지정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Apple SD Gothic Neo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김현준</dc:creator>
  <cp:lastModifiedBy>임채림</cp:lastModifiedBy>
  <cp:revision>15</cp:revision>
  <cp:lastPrinted>2025-12-23T08:20:59Z</cp:lastPrinted>
  <dcterms:created xsi:type="dcterms:W3CDTF">2025-12-19T08:22:29Z</dcterms:created>
  <dcterms:modified xsi:type="dcterms:W3CDTF">2026-05-05T13:57:33Z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0x010100A0A6F487DBCF9347A38A6B15F4E72795</vt:lpwstr>
  </property>
  <property fmtid="{D5CDD505-2E9C-101B-9397-08002B2CF9AE}" pid="3" name="MediaServiceImageTags">
    <vt:lpwstr/>
  </property>
</Properties>
</file>
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71" autoAdjust="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-561" y="-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323B7F-8C56-48F1-98C9-0593781F4D74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FA1FC-240D-46F1-B02C-E549D962A8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4602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BFA1FC-240D-46F1-B02C-E549D962A89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1056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2011680" cy="254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CAPSTONE 2026-1  /  MIDTERM PRESENTATION  /  </a:t>
            </a:r>
            <a:r>
              <a:rPr sz="1000" b="1" dirty="0" err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연세대학교</a:t>
            </a:r>
            <a:endParaRPr sz="1000" b="1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0" y="685800"/>
            <a:ext cx="1371600" cy="21095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2026.04</a:t>
            </a:r>
            <a:endParaRPr sz="10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139115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lang="en-US" altLang="ko-KR" sz="4400" b="1" dirty="0"/>
              <a:t>Skew-Aware Stratified Sampling </a:t>
            </a:r>
            <a:r>
              <a:rPr lang="ko-KR" altLang="ko-KR" sz="4400" b="1" dirty="0"/>
              <a:t>을 이용한</a:t>
            </a:r>
            <a:endParaRPr lang="ko-KR" altLang="ko-KR" sz="4400" dirty="0"/>
          </a:p>
          <a:p>
            <a:r>
              <a:rPr lang="en-US" altLang="ko-KR" sz="4400" b="1" dirty="0" smtClean="0"/>
              <a:t>Vector Cardinality </a:t>
            </a:r>
            <a:r>
              <a:rPr lang="ko-KR" altLang="ko-KR" sz="4400" b="1" dirty="0" smtClean="0"/>
              <a:t>추정 </a:t>
            </a:r>
            <a:r>
              <a:rPr lang="ko-KR" altLang="ko-KR" sz="4400" b="1" dirty="0"/>
              <a:t>정확도 개선 연구</a:t>
            </a:r>
            <a:endParaRPr lang="ko-KR" altLang="ko-KR" sz="4400" dirty="0"/>
          </a:p>
        </p:txBody>
      </p:sp>
      <p:sp>
        <p:nvSpPr>
          <p:cNvPr id="6" name="Rectangle 5"/>
          <p:cNvSpPr/>
          <p:nvPr/>
        </p:nvSpPr>
        <p:spPr>
          <a:xfrm>
            <a:off x="731520" y="4297680"/>
            <a:ext cx="731520" cy="254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5486400"/>
            <a:ext cx="1051560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7315200" cy="41973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dirty="0" err="1" smtClean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속도는벡터</a:t>
            </a:r>
            <a:endParaRPr sz="2200" b="1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6080760"/>
            <a:ext cx="9144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박세은 (팀장)  ·  강재현  ·  조현빈  ·  이동욱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5669280"/>
            <a:ext cx="3931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2026-04-28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080760"/>
            <a:ext cx="393192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지도교수</a:t>
            </a:r>
            <a:r>
              <a:rPr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박광현</a:t>
            </a:r>
            <a:r>
              <a:rPr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· </a:t>
            </a:r>
            <a:r>
              <a:rPr sz="10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연구원</a:t>
            </a:r>
            <a:r>
              <a:rPr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0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임</a:t>
            </a:r>
            <a:r>
              <a:rPr sz="1000" b="0" dirty="0" err="1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채림</a:t>
            </a:r>
            <a:endParaRPr sz="10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2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7772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55448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27632"/>
            <a:ext cx="6858000" cy="3323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Vector </a:t>
            </a:r>
            <a:r>
              <a:rPr lang="en-US" sz="1600" b="1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Cardinality Estimation: Blind Spots</a:t>
            </a:r>
            <a:endParaRPr sz="16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1520" y="246888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587752"/>
            <a:ext cx="7772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51460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Background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587752"/>
            <a:ext cx="6858000" cy="3323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 err="1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Exqutor</a:t>
            </a:r>
            <a:r>
              <a:rPr lang="en-US" sz="1600" b="1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: Methods &amp; Limits</a:t>
            </a:r>
            <a:endParaRPr sz="16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547872"/>
            <a:ext cx="7772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47472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Our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547872"/>
            <a:ext cx="6858000" cy="3073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Skew-Aware</a:t>
            </a:r>
            <a:r>
              <a:rPr lang="en-US" sz="1600" b="1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/Unaware</a:t>
            </a:r>
            <a:r>
              <a:rPr sz="1600" b="1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Sampling</a:t>
            </a:r>
            <a:endParaRPr sz="16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507992"/>
            <a:ext cx="7772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43484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Experiments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4507992"/>
            <a:ext cx="6858000" cy="3073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RQ1·RQ2·RQ3</a:t>
            </a:r>
            <a:r>
              <a:rPr lang="en-US" sz="1600" b="1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:</a:t>
            </a:r>
            <a:r>
              <a:rPr sz="1600" b="0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sz="1600" b="1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Design </a:t>
            </a:r>
            <a:r>
              <a:rPr lang="en-US" sz="1600" b="1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/ Results</a:t>
            </a:r>
            <a:endParaRPr sz="16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1520" y="534924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468112"/>
            <a:ext cx="7772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39496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5468112"/>
            <a:ext cx="6858000" cy="307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Current progress &amp; Future plans</a:t>
            </a:r>
            <a:endParaRPr sz="16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601249"/>
            <a:ext cx="10515600" cy="51046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28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1.Problem</a:t>
            </a:r>
            <a:endParaRPr sz="28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3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2481" y="1344669"/>
            <a:ext cx="11064240" cy="2954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벡터</a:t>
            </a:r>
            <a:r>
              <a:rPr lang="en-US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range</a:t>
            </a:r>
            <a:r>
              <a:rPr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1" dirty="0" err="1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조건의</a:t>
            </a:r>
            <a:r>
              <a:rPr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1" dirty="0" err="1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선택도</a:t>
            </a:r>
            <a:r>
              <a:rPr lang="ko-KR" altLang="en-US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는 </a:t>
            </a:r>
            <a:r>
              <a:rPr lang="en-US" altLang="ko-KR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query</a:t>
            </a:r>
            <a:r>
              <a:rPr lang="ko-KR" altLang="en-US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마다 크게 달라지지만</a:t>
            </a:r>
            <a:r>
              <a:rPr lang="en-US" altLang="ko-KR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lang="ko-KR" altLang="en-US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기존 </a:t>
            </a:r>
            <a:r>
              <a:rPr lang="en-US" altLang="ko-KR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optimizer</a:t>
            </a:r>
            <a:r>
              <a:rPr lang="ko-KR" altLang="en-US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는 벡터 공간 분포를 반영하지 못한다</a:t>
            </a:r>
            <a:r>
              <a:rPr lang="en-US" altLang="ko-KR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endParaRPr sz="14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기존</a:t>
            </a:r>
            <a:r>
              <a:rPr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시스템</a:t>
            </a:r>
            <a:r>
              <a:rPr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— </a:t>
            </a:r>
            <a:r>
              <a:rPr sz="1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고정</a:t>
            </a:r>
            <a:r>
              <a:rPr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비율</a:t>
            </a:r>
            <a:r>
              <a:rPr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추정</a:t>
            </a:r>
            <a:endParaRPr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pgvector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77440"/>
            <a:ext cx="12801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33.3%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4572000" cy="20544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fixed estimator</a:t>
            </a:r>
            <a:endParaRPr lang="en-US" altLang="ko-KR" sz="100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320040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29184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VBASE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246120"/>
            <a:ext cx="12801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50.0%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fixed estimator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79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160519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DuckDB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114799"/>
            <a:ext cx="12801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26279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scan all 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965960"/>
            <a:ext cx="5760720" cy="2585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 err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실제</a:t>
            </a:r>
            <a:r>
              <a:rPr sz="1200" b="1" dirty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1" dirty="0" smtClean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  <a:r>
              <a:rPr lang="en-US" sz="1200" b="1" dirty="0" smtClean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sz="1200" b="1" dirty="0" smtClean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Query</a:t>
            </a:r>
            <a:r>
              <a:rPr lang="ko-KR" altLang="en-US" sz="1200" b="1" dirty="0" smtClean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마다 달라지는</a:t>
            </a:r>
            <a:r>
              <a:rPr lang="ko-KR" altLang="en-US" sz="1200" b="1" dirty="0" smtClean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1" dirty="0" err="1" smtClean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분포</a:t>
            </a:r>
            <a:endParaRPr sz="1200" b="1" dirty="0">
              <a:solidFill>
                <a:srgbClr val="EA580C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943600" y="2331720"/>
            <a:ext cx="576072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0" y="2468880"/>
            <a:ext cx="5486400" cy="1652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■ </a:t>
            </a:r>
            <a:r>
              <a:rPr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실제</a:t>
            </a: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선택도는</a:t>
            </a: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0" dirty="0" err="1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query에</a:t>
            </a:r>
            <a:r>
              <a:rPr sz="1400" b="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따라</a:t>
            </a: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0.001% ~ </a:t>
            </a:r>
            <a:r>
              <a:rPr lang="en-US" sz="1400" b="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  <a:r>
              <a:rPr sz="1400" b="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0%의 </a:t>
            </a:r>
            <a:r>
              <a:rPr lang="ko-KR" altLang="en-US" sz="1400" b="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광범위한 </a:t>
            </a:r>
            <a:r>
              <a:rPr sz="1400" b="0" dirty="0" err="1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분포</a:t>
            </a:r>
            <a:endParaRPr lang="en-US" sz="1400" b="0" dirty="0" smtClean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50000"/>
              </a:lnSpc>
            </a:pPr>
            <a:endParaRPr lang="en-US" sz="1400" b="0" dirty="0" smtClean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■ 잘못된 </a:t>
            </a:r>
            <a:r>
              <a:rPr lang="en-US" altLang="ko-KR" sz="140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cardinality </a:t>
            </a:r>
            <a:r>
              <a:rPr lang="ko-KR" altLang="en-US" sz="140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추정</a:t>
            </a:r>
            <a:r>
              <a:rPr lang="ko-KR" altLang="en-US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→</a:t>
            </a:r>
            <a:r>
              <a:rPr lang="ko-KR" altLang="en-US" sz="140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altLang="ko-KR" sz="140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join, index </a:t>
            </a:r>
            <a:r>
              <a:rPr lang="ko-KR" altLang="en-US" sz="140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유무</a:t>
            </a:r>
            <a:r>
              <a:rPr lang="en-US" altLang="ko-KR" sz="140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, scan </a:t>
            </a:r>
            <a:r>
              <a:rPr lang="ko-KR" altLang="en-US" sz="140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전략 선택 왜곡</a:t>
            </a:r>
            <a:r>
              <a:rPr lang="en-US" altLang="ko-KR" sz="140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(</a:t>
            </a:r>
            <a:r>
              <a:rPr lang="ko-KR" altLang="en-US" sz="140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비효율적 실행 계획</a:t>
            </a:r>
            <a:r>
              <a:rPr lang="en-US" altLang="ko-KR" sz="140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)</a:t>
            </a:r>
            <a:endParaRPr lang="en-US" sz="1400" dirty="0" smtClean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5368793"/>
            <a:ext cx="10515600" cy="33855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lang="ko-KR" altLang="en-US" sz="1400" b="1" dirty="0" smtClean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고정 비율 추정으로는 </a:t>
            </a:r>
            <a:r>
              <a:rPr lang="en-US" altLang="ko-KR" sz="1400" b="1" dirty="0" smtClean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query-dependent vector selectivity</a:t>
            </a:r>
            <a:r>
              <a:rPr lang="ko-KR" altLang="en-US" sz="1400" b="1" dirty="0" smtClean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를 설명할 수 없다</a:t>
            </a:r>
            <a:r>
              <a:rPr lang="en-US" altLang="ko-KR" sz="1400" b="1" dirty="0" smtClean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endParaRPr sz="1400" b="1" dirty="0">
              <a:solidFill>
                <a:srgbClr val="FAFAF9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94986"/>
            <a:ext cx="10515600" cy="62786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2-</a:t>
            </a:r>
            <a:r>
              <a:rPr lang="en-US" sz="3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  <a:r>
              <a:rPr sz="28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r>
              <a:rPr lang="en-US" sz="28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Background</a:t>
            </a:r>
            <a:r>
              <a:rPr lang="en-US" sz="28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8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— </a:t>
            </a:r>
            <a:r>
              <a:rPr sz="2800" b="1" dirty="0" err="1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Exqutor</a:t>
            </a:r>
            <a:r>
              <a:rPr lang="ko-KR" altLang="en-US" sz="28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의 방법론</a:t>
            </a:r>
            <a:endParaRPr sz="28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4068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440680" cy="41148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5194" y="1463040"/>
            <a:ext cx="5229617" cy="3323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 smtClean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ECQO</a:t>
            </a:r>
            <a:r>
              <a:rPr lang="en-US" sz="1600" b="1" dirty="0" smtClean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(Exact Cardinality Query Optimization)</a:t>
            </a:r>
            <a:endParaRPr sz="1600" b="1" dirty="0">
              <a:solidFill>
                <a:srgbClr val="FAFAF9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502920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HNSW </a:t>
            </a:r>
            <a:r>
              <a:rPr sz="14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인덱스가</a:t>
            </a: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있을</a:t>
            </a: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5029200" cy="6457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실행 계획 단계에서 </a:t>
            </a:r>
            <a:r>
              <a:rPr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HNSW </a:t>
            </a: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range </a:t>
            </a:r>
            <a:r>
              <a:rPr sz="1400" b="1" dirty="0" err="1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query</a:t>
            </a:r>
            <a:r>
              <a:rPr sz="1400" b="0" dirty="0" err="1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를</a:t>
            </a:r>
            <a:r>
              <a:rPr lang="en-US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40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직접</a:t>
            </a:r>
            <a:r>
              <a:rPr sz="1400" b="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0" dirty="0" err="1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  <a:r>
              <a:rPr lang="ko-KR" altLang="en-US" sz="1400" b="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하여</a:t>
            </a:r>
            <a:r>
              <a:rPr sz="1400" b="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endParaRPr lang="en-US" sz="1400" b="0" dirty="0" smtClean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50000"/>
              </a:lnSpc>
            </a:pPr>
            <a:r>
              <a:rPr sz="1400" b="0" dirty="0" err="1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정확</a:t>
            </a:r>
            <a:r>
              <a:rPr lang="ko-KR" altLang="en-US" sz="1400" b="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한</a:t>
            </a:r>
            <a:r>
              <a:rPr sz="1400" b="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Cardinality</a:t>
            </a:r>
            <a:r>
              <a:rPr sz="1400" b="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산출</a:t>
            </a:r>
            <a:endParaRPr sz="14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4023360"/>
            <a:ext cx="4983480" cy="109728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0977" y="4114800"/>
            <a:ext cx="4983480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1~2 </a:t>
            </a:r>
            <a:r>
              <a:rPr sz="30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ms</a:t>
            </a:r>
            <a:endParaRPr sz="30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4983480" cy="2400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200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단시간 내 </a:t>
            </a:r>
            <a:r>
              <a:rPr sz="1200" b="0" dirty="0" err="1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정확</a:t>
            </a:r>
            <a:r>
              <a:rPr lang="ko-KR" altLang="en-US" sz="12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한</a:t>
            </a:r>
            <a:r>
              <a:rPr sz="1200" b="0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sz="1200" b="1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Cardinality</a:t>
            </a:r>
            <a:r>
              <a:rPr lang="en-US" sz="1200" b="0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200" b="0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획득</a:t>
            </a:r>
            <a:endParaRPr sz="12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178463" y="1417320"/>
            <a:ext cx="544068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5440680" cy="41148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Adaptive Sampling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974102"/>
            <a:ext cx="5029200" cy="27430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HNSW </a:t>
            </a:r>
            <a:r>
              <a:rPr sz="1400" b="1" dirty="0" err="1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인덱스가</a:t>
            </a:r>
            <a:r>
              <a:rPr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없을</a:t>
            </a: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12513"/>
            <a:ext cx="5029200" cy="6919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— </a:t>
            </a:r>
            <a:r>
              <a:rPr sz="1400" b="0" dirty="0" err="1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모멘텀</a:t>
            </a:r>
            <a:r>
              <a:rPr sz="1400" b="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기반</a:t>
            </a: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동적</a:t>
            </a: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sz="160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uniform sampling</a:t>
            </a:r>
            <a:endParaRPr lang="en-US" sz="140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>
              <a:lnSpc>
                <a:spcPct val="150000"/>
              </a:lnSpc>
            </a:pPr>
            <a:r>
              <a:rPr lang="en-US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</a:t>
            </a:r>
            <a:r>
              <a:rPr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ample size</a:t>
            </a:r>
            <a:r>
              <a:rPr lang="ko-KR" altLang="en-US" sz="1400" b="0" dirty="0" err="1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를</a:t>
            </a:r>
            <a:r>
              <a:rPr lang="ko-KR" altLang="en-US" sz="1400" b="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조금씩 늘려가며 </a:t>
            </a:r>
            <a:r>
              <a:rPr lang="en-US" altLang="ko-KR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Cardinality</a:t>
            </a:r>
            <a:r>
              <a:rPr lang="ko-KR" altLang="en-US" sz="1400" b="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를 근사</a:t>
            </a:r>
            <a:endParaRPr sz="14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00800" y="4023360"/>
            <a:ext cx="4983480" cy="109728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4114800"/>
            <a:ext cx="4983480" cy="5909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30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~3.2</a:t>
            </a:r>
            <a:r>
              <a:rPr sz="30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×</a:t>
            </a:r>
            <a:endParaRPr sz="30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00800" y="4663440"/>
            <a:ext cx="4983480" cy="2400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200" b="0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No index VAQ </a:t>
            </a:r>
            <a:r>
              <a:rPr lang="ko-KR" altLang="en-US" sz="1200" b="0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성능 개선</a:t>
            </a:r>
            <a:endParaRPr sz="12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5731860"/>
            <a:ext cx="10515600" cy="29546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smtClean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→  </a:t>
            </a:r>
            <a:r>
              <a:rPr lang="en-US" sz="1400" b="1" dirty="0" smtClean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No-index sampling path</a:t>
            </a:r>
            <a:r>
              <a:rPr lang="ko-KR" altLang="en-US" sz="1400" b="1" dirty="0" smtClean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에서 </a:t>
            </a:r>
            <a:r>
              <a:rPr lang="en-US" altLang="ko-KR" sz="1400" b="1" dirty="0" smtClean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uniform sample</a:t>
            </a:r>
            <a:r>
              <a:rPr lang="ko-KR" altLang="en-US" sz="1400" b="1" dirty="0" smtClean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이 </a:t>
            </a:r>
            <a:r>
              <a:rPr lang="en-US" altLang="ko-KR" sz="1400" b="1" dirty="0" smtClean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skewed vector distribution</a:t>
            </a:r>
            <a:r>
              <a:rPr lang="ko-KR" altLang="en-US" sz="1400" b="1" dirty="0" smtClean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을 대표할 수 있는가</a:t>
            </a:r>
            <a:r>
              <a:rPr lang="en-US" altLang="ko-KR" sz="1400" b="1" dirty="0" smtClean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?</a:t>
            </a:r>
            <a:endParaRPr sz="1400" b="1" dirty="0">
              <a:solidFill>
                <a:schemeClr val="bg1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6284934"/>
            <a:ext cx="10698480" cy="2954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HNSW</a:t>
            </a:r>
            <a:r>
              <a:rPr lang="en-US"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: </a:t>
            </a:r>
            <a:r>
              <a:rPr lang="ko-KR" altLang="en-US" sz="120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고차원 벡터</a:t>
            </a:r>
            <a:r>
              <a:rPr lang="en-US" altLang="ko-KR" sz="12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20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데이터에서 유사도가 가장 높은 이웃을 빠르게 찾는 그래프 기반의 근접 </a:t>
            </a:r>
            <a:r>
              <a:rPr lang="ko-KR" altLang="en-US" sz="1200" dirty="0" err="1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최근점</a:t>
            </a:r>
            <a:r>
              <a:rPr lang="ko-KR" altLang="en-US" sz="120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이웃</a:t>
            </a:r>
            <a:r>
              <a:rPr lang="en-US" altLang="ko-KR" sz="140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(ANN)</a:t>
            </a:r>
            <a:r>
              <a:rPr lang="en-US" altLang="ko-KR" sz="120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20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검색 알고리즘</a:t>
            </a:r>
            <a:endParaRPr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ounded Rectangle 22"/>
          <p:cNvSpPr/>
          <p:nvPr/>
        </p:nvSpPr>
        <p:spPr>
          <a:xfrm>
            <a:off x="548639" y="5444427"/>
            <a:ext cx="11064241" cy="59436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88723"/>
            <a:ext cx="10515600" cy="51161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20000"/>
              </a:lnSpc>
            </a:pPr>
            <a:r>
              <a:rPr sz="28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2-</a:t>
            </a:r>
            <a:r>
              <a:rPr lang="en-US" sz="28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  <a:r>
              <a:rPr sz="28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r>
              <a:rPr lang="en-US" altLang="ko-KR" sz="28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Background </a:t>
            </a:r>
            <a:r>
              <a:rPr lang="en-US" altLang="ko-KR" sz="28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— </a:t>
            </a:r>
            <a:r>
              <a:rPr sz="28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Adaptive </a:t>
            </a:r>
            <a:r>
              <a:rPr sz="2800" b="1" dirty="0" err="1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Sampling의</a:t>
            </a:r>
            <a:r>
              <a:rPr sz="28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800" b="1" dirty="0" err="1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한계</a:t>
            </a:r>
            <a:endParaRPr sz="28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23583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411480" cy="11430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4114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515023"/>
            <a:ext cx="4572000" cy="307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Hook Trigger</a:t>
            </a:r>
            <a:r>
              <a:rPr lang="ko-KR" altLang="en-US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 의한 </a:t>
            </a:r>
            <a:r>
              <a:rPr lang="en-US" altLang="ko-KR" sz="16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AS</a:t>
            </a:r>
            <a:r>
              <a:rPr lang="ko-KR" altLang="en-US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적용 범위 </a:t>
            </a:r>
            <a:r>
              <a:rPr lang="ko-KR" altLang="en-US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누</a:t>
            </a:r>
            <a:r>
              <a:rPr lang="ko-KR" alt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락</a:t>
            </a:r>
            <a:endParaRPr sz="14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51560" y="1900324"/>
            <a:ext cx="4572000" cy="43704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1000" dirty="0" err="1" smtClean="0">
                <a:latin typeface="Apple SD Gothic Neo"/>
                <a:ea typeface="Calibri" panose="020F0502020204030204" pitchFamily="34" charset="0"/>
                <a:cs typeface="Calibri" panose="020F0502020204030204" pitchFamily="34" charset="0"/>
              </a:rPr>
              <a:t>table_count</a:t>
            </a:r>
            <a:r>
              <a:rPr lang="en-US" sz="1000" dirty="0" smtClean="0">
                <a:latin typeface="Apple SD Gothic Neo"/>
                <a:ea typeface="Calibri" panose="020F0502020204030204" pitchFamily="34" charset="0"/>
                <a:cs typeface="Calibri" panose="020F0502020204030204" pitchFamily="34" charset="0"/>
              </a:rPr>
              <a:t>&gt;2 </a:t>
            </a:r>
            <a:r>
              <a:rPr lang="ko-KR" altLang="en-US" sz="1000" dirty="0" smtClean="0">
                <a:latin typeface="Apple SD Gothic Neo"/>
                <a:ea typeface="Apple SD Gothic Neo"/>
                <a:cs typeface="Calibri" panose="020F0502020204030204" pitchFamily="34" charset="0"/>
              </a:rPr>
              <a:t>조건으로 </a:t>
            </a:r>
            <a:r>
              <a:rPr lang="en-US" altLang="ko-KR" sz="1000" dirty="0" smtClean="0">
                <a:latin typeface="Apple SD Gothic Neo"/>
                <a:ea typeface="Calibri" panose="020F0502020204030204" pitchFamily="34" charset="0"/>
                <a:cs typeface="Calibri" panose="020F0502020204030204" pitchFamily="34" charset="0"/>
              </a:rPr>
              <a:t>single vector table range query</a:t>
            </a:r>
            <a:r>
              <a:rPr lang="ko-KR" altLang="en-US" sz="1000" dirty="0" smtClean="0">
                <a:latin typeface="Apple SD Gothic Neo"/>
                <a:ea typeface="Apple SD Gothic Neo"/>
                <a:cs typeface="Calibri" panose="020F0502020204030204" pitchFamily="34" charset="0"/>
              </a:rPr>
              <a:t>는 </a:t>
            </a:r>
            <a:r>
              <a:rPr lang="en-US" altLang="ko-KR" sz="1000" dirty="0" smtClean="0">
                <a:latin typeface="Apple SD Gothic Neo"/>
                <a:ea typeface="Calibri" panose="020F0502020204030204" pitchFamily="34" charset="0"/>
                <a:cs typeface="Calibri" panose="020F0502020204030204" pitchFamily="34" charset="0"/>
              </a:rPr>
              <a:t>AS </a:t>
            </a:r>
            <a:r>
              <a:rPr lang="ko-KR" altLang="en-US" sz="1000" dirty="0" err="1" smtClean="0">
                <a:latin typeface="Apple SD Gothic Neo"/>
                <a:ea typeface="Apple SD Gothic Neo"/>
                <a:cs typeface="Calibri" panose="020F0502020204030204" pitchFamily="34" charset="0"/>
              </a:rPr>
              <a:t>미진입</a:t>
            </a:r>
            <a:r>
              <a:rPr lang="ko-KR" altLang="en-US" sz="1000" dirty="0" smtClean="0">
                <a:latin typeface="Apple SD Gothic Neo"/>
                <a:ea typeface="Apple SD Gothic Neo"/>
                <a:cs typeface="Calibri" panose="020F0502020204030204" pitchFamily="34" charset="0"/>
              </a:rPr>
              <a:t> </a:t>
            </a:r>
            <a:r>
              <a:rPr sz="1000" b="0" dirty="0" smtClean="0">
                <a:latin typeface="Apple SD Gothic Neo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sz="1000" b="0" dirty="0" err="1" smtClean="0">
                <a:latin typeface="Apple SD Gothic Neo"/>
                <a:ea typeface="Calibri" panose="020F0502020204030204" pitchFamily="34" charset="0"/>
                <a:cs typeface="Calibri" panose="020F0502020204030204" pitchFamily="34" charset="0"/>
              </a:rPr>
              <a:t>Pgvecotr</a:t>
            </a:r>
            <a:r>
              <a:rPr sz="1000" b="0" dirty="0" smtClean="0">
                <a:latin typeface="Apple SD Gothic Neo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000" b="0" dirty="0">
                <a:latin typeface="Apple SD Gothic Neo"/>
                <a:ea typeface="Calibri" panose="020F0502020204030204" pitchFamily="34" charset="0"/>
                <a:cs typeface="Calibri" panose="020F0502020204030204" pitchFamily="34" charset="0"/>
              </a:rPr>
              <a:t>default selectivity 1/3 로 </a:t>
            </a:r>
            <a:r>
              <a:rPr sz="1000" b="0" dirty="0" smtClean="0">
                <a:latin typeface="Apple SD Gothic Neo"/>
                <a:ea typeface="Calibri" panose="020F0502020204030204" pitchFamily="34" charset="0"/>
                <a:cs typeface="Calibri" panose="020F0502020204030204" pitchFamily="34" charset="0"/>
              </a:rPr>
              <a:t>fall</a:t>
            </a:r>
            <a:r>
              <a:rPr lang="en-US" sz="1000" b="0" dirty="0" smtClean="0">
                <a:latin typeface="Apple SD Gothic Neo"/>
                <a:ea typeface="Calibri" panose="020F0502020204030204" pitchFamily="34" charset="0"/>
                <a:cs typeface="Calibri" panose="020F0502020204030204" pitchFamily="34" charset="0"/>
              </a:rPr>
              <a:t>back</a:t>
            </a:r>
            <a:endParaRPr sz="1000" b="0" dirty="0">
              <a:latin typeface="Apple SD Gothic Neo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269748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11480" cy="11430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063240"/>
            <a:ext cx="4114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#2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788920"/>
            <a:ext cx="4572000" cy="27430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단순 </a:t>
            </a:r>
            <a:r>
              <a:rPr lang="en-US" altLang="ko-KR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Gate</a:t>
            </a:r>
            <a:r>
              <a:rPr lang="ko-KR" altLang="en-US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altLang="ko-KR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Relaxation </a:t>
            </a:r>
            <a:r>
              <a:rPr lang="ko-KR" altLang="en-US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불</a:t>
            </a:r>
            <a:r>
              <a:rPr lang="ko-KR" alt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가</a:t>
            </a:r>
            <a:endParaRPr sz="14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51560" y="3081528"/>
            <a:ext cx="4572000" cy="1846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800" b="0" dirty="0" smtClean="0">
                <a:solidFill>
                  <a:srgbClr val="EA580C"/>
                </a:solidFill>
                <a:latin typeface="Apple SD Gothic Neo"/>
                <a:ea typeface="Menlo"/>
                <a:cs typeface="Menlo"/>
              </a:rPr>
              <a:t>H</a:t>
            </a:r>
            <a:r>
              <a:rPr sz="800" b="0" dirty="0" smtClean="0">
                <a:solidFill>
                  <a:srgbClr val="EA580C"/>
                </a:solidFill>
                <a:latin typeface="Apple SD Gothic Neo"/>
                <a:ea typeface="Menlo"/>
                <a:cs typeface="Menlo"/>
              </a:rPr>
              <a:t>ook</a:t>
            </a:r>
            <a:r>
              <a:rPr lang="en-US" sz="800" b="0" dirty="0" smtClean="0">
                <a:solidFill>
                  <a:srgbClr val="EA580C"/>
                </a:solidFill>
                <a:latin typeface="Apple SD Gothic Neo"/>
                <a:ea typeface="Menlo"/>
                <a:cs typeface="Menlo"/>
              </a:rPr>
              <a:t> </a:t>
            </a:r>
            <a:r>
              <a:rPr lang="ko-KR" altLang="en-US" sz="800" b="0" dirty="0" smtClean="0">
                <a:solidFill>
                  <a:srgbClr val="EA580C"/>
                </a:solidFill>
                <a:latin typeface="Apple SD Gothic Neo"/>
                <a:ea typeface="Menlo"/>
                <a:cs typeface="Menlo"/>
              </a:rPr>
              <a:t>조건 완화 시 추정용 </a:t>
            </a:r>
            <a:r>
              <a:rPr lang="en-US" altLang="ko-KR" sz="800" b="0" dirty="0" err="1" smtClean="0">
                <a:solidFill>
                  <a:srgbClr val="EA580C"/>
                </a:solidFill>
                <a:latin typeface="Apple SD Gothic Neo"/>
                <a:ea typeface="Menlo"/>
                <a:cs typeface="Menlo"/>
              </a:rPr>
              <a:t>Tablesample</a:t>
            </a:r>
            <a:r>
              <a:rPr lang="ko-KR" altLang="en-US" sz="800" b="0" dirty="0" smtClean="0">
                <a:solidFill>
                  <a:srgbClr val="EA580C"/>
                </a:solidFill>
                <a:latin typeface="Apple SD Gothic Neo"/>
                <a:ea typeface="Menlo"/>
                <a:cs typeface="Menlo"/>
              </a:rPr>
              <a:t>이 실제 실행 </a:t>
            </a:r>
            <a:r>
              <a:rPr lang="en-US" altLang="ko-KR" sz="800" b="0" dirty="0" smtClean="0">
                <a:solidFill>
                  <a:srgbClr val="EA580C"/>
                </a:solidFill>
                <a:latin typeface="Apple SD Gothic Neo"/>
                <a:ea typeface="Menlo"/>
                <a:cs typeface="Menlo"/>
              </a:rPr>
              <a:t>plan</a:t>
            </a:r>
            <a:r>
              <a:rPr lang="ko-KR" altLang="en-US" sz="800" b="0" dirty="0" smtClean="0">
                <a:solidFill>
                  <a:srgbClr val="EA580C"/>
                </a:solidFill>
                <a:latin typeface="Apple SD Gothic Neo"/>
                <a:ea typeface="Menlo"/>
                <a:cs typeface="Menlo"/>
              </a:rPr>
              <a:t>에 반영 </a:t>
            </a:r>
            <a:endParaRPr sz="800" b="0" dirty="0">
              <a:solidFill>
                <a:srgbClr val="EA580C"/>
              </a:solidFill>
              <a:latin typeface="Apple SD Gothic Neo"/>
              <a:ea typeface="Menlo"/>
              <a:cs typeface="Menlo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51560" y="3355848"/>
            <a:ext cx="4572000" cy="2169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Calibri" panose="020F0502020204030204" pitchFamily="34" charset="0"/>
              </a:rPr>
              <a:t>→ </a:t>
            </a:r>
            <a:r>
              <a:rPr lang="en-US" altLang="ko-KR" sz="900" dirty="0" smtClean="0">
                <a:solidFill>
                  <a:srgbClr val="171717"/>
                </a:solidFill>
                <a:latin typeface="Apple SD Gothic Neo"/>
                <a:ea typeface="Calibri" panose="020F0502020204030204" pitchFamily="34" charset="0"/>
                <a:cs typeface="Calibri" panose="020F0502020204030204" pitchFamily="34" charset="0"/>
              </a:rPr>
              <a:t>SELECT count(*)</a:t>
            </a:r>
            <a:r>
              <a:rPr lang="ko-KR" altLang="en-US" sz="900" dirty="0" smtClean="0">
                <a:solidFill>
                  <a:srgbClr val="171717"/>
                </a:solidFill>
                <a:latin typeface="Apple SD Gothic Neo"/>
                <a:ea typeface="Apple SD Gothic Neo"/>
                <a:cs typeface="Calibri" panose="020F0502020204030204" pitchFamily="34" charset="0"/>
              </a:rPr>
              <a:t>의</a:t>
            </a:r>
            <a:r>
              <a:rPr lang="en-US" altLang="ko-KR" sz="900" dirty="0">
                <a:solidFill>
                  <a:srgbClr val="171717"/>
                </a:solidFill>
                <a:latin typeface="Apple SD Gothic Neo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en-US" sz="900" dirty="0" smtClean="0">
                <a:solidFill>
                  <a:srgbClr val="171717"/>
                </a:solidFill>
                <a:latin typeface="Apple SD Gothic Neo"/>
                <a:ea typeface="Apple SD Gothic Neo"/>
                <a:cs typeface="Calibri" panose="020F0502020204030204" pitchFamily="34" charset="0"/>
              </a:rPr>
              <a:t>결과가 전체 테이블 기준이 아니라 </a:t>
            </a:r>
            <a:r>
              <a:rPr lang="en-US" altLang="ko-KR" sz="900" dirty="0" smtClean="0">
                <a:solidFill>
                  <a:srgbClr val="171717"/>
                </a:solidFill>
                <a:latin typeface="Apple SD Gothic Neo"/>
                <a:ea typeface="Calibri" panose="020F0502020204030204" pitchFamily="34" charset="0"/>
                <a:cs typeface="Calibri" panose="020F0502020204030204" pitchFamily="34" charset="0"/>
              </a:rPr>
              <a:t>sample</a:t>
            </a:r>
            <a:r>
              <a:rPr lang="ko-KR" altLang="en-US" sz="900" dirty="0" smtClean="0">
                <a:solidFill>
                  <a:srgbClr val="171717"/>
                </a:solidFill>
                <a:latin typeface="Apple SD Gothic Neo"/>
                <a:ea typeface="Apple SD Gothic Neo"/>
                <a:cs typeface="Calibri" panose="020F0502020204030204" pitchFamily="34" charset="0"/>
              </a:rPr>
              <a:t>기준으로 계산</a:t>
            </a:r>
            <a:r>
              <a:rPr lang="en-US" altLang="ko-KR" sz="900" dirty="0" smtClean="0">
                <a:solidFill>
                  <a:srgbClr val="171717"/>
                </a:solidFill>
                <a:latin typeface="Apple SD Gothic Neo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sz="900" b="0" dirty="0">
              <a:solidFill>
                <a:srgbClr val="171717"/>
              </a:solidFill>
              <a:latin typeface="Apple SD Gothic Neo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48640" y="3977639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3977639"/>
            <a:ext cx="411480" cy="11430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343399"/>
            <a:ext cx="4114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#3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069079"/>
            <a:ext cx="4572000" cy="2736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Block-level sampling bias</a:t>
            </a:r>
            <a:endParaRPr sz="14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51560" y="4361687"/>
            <a:ext cx="4572000" cy="1846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800" b="0" dirty="0" smtClean="0">
                <a:solidFill>
                  <a:srgbClr val="EA580C"/>
                </a:solidFill>
                <a:latin typeface="Apple SD Gothic Neo"/>
                <a:ea typeface="Menlo"/>
                <a:cs typeface="Menlo"/>
              </a:rPr>
              <a:t>System sampling</a:t>
            </a:r>
            <a:r>
              <a:rPr lang="ko-KR" altLang="en-US" sz="800" b="0" dirty="0" smtClean="0">
                <a:solidFill>
                  <a:srgbClr val="EA580C"/>
                </a:solidFill>
                <a:latin typeface="Apple SD Gothic Neo"/>
                <a:ea typeface="Menlo"/>
                <a:cs typeface="Menlo"/>
              </a:rPr>
              <a:t>은 </a:t>
            </a:r>
            <a:r>
              <a:rPr lang="en-US" altLang="ko-KR" sz="800" b="0" dirty="0" smtClean="0">
                <a:solidFill>
                  <a:srgbClr val="EA580C"/>
                </a:solidFill>
                <a:latin typeface="Apple SD Gothic Neo"/>
                <a:ea typeface="Menlo"/>
                <a:cs typeface="Menlo"/>
              </a:rPr>
              <a:t>page/block </a:t>
            </a:r>
            <a:r>
              <a:rPr lang="ko-KR" altLang="en-US" sz="800" b="0" dirty="0" smtClean="0">
                <a:solidFill>
                  <a:srgbClr val="EA580C"/>
                </a:solidFill>
                <a:latin typeface="Apple SD Gothic Neo"/>
                <a:ea typeface="Menlo"/>
                <a:cs typeface="Menlo"/>
              </a:rPr>
              <a:t>단위 추출</a:t>
            </a:r>
            <a:endParaRPr sz="800" b="0" dirty="0">
              <a:solidFill>
                <a:srgbClr val="EA580C"/>
              </a:solidFill>
              <a:latin typeface="Apple SD Gothic Neo"/>
              <a:ea typeface="Menlo"/>
              <a:cs typeface="Menlo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51560" y="4636007"/>
            <a:ext cx="4572000" cy="397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→ </a:t>
            </a:r>
            <a:r>
              <a:rPr lang="en-US" sz="900" b="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Row-level uniform sample</a:t>
            </a:r>
            <a:r>
              <a:rPr lang="ko-KR" altLang="en-US" sz="900" b="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을 보장하지 못해 </a:t>
            </a:r>
            <a:r>
              <a:rPr lang="en-US" altLang="ko-KR" sz="900" b="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skewed vector space</a:t>
            </a:r>
            <a:r>
              <a:rPr lang="ko-KR" altLang="en-US" sz="90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에서 대표성 저하</a:t>
            </a:r>
            <a:endParaRPr sz="9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852160" y="1371600"/>
            <a:ext cx="58521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vector.c — Hook Trigger 사각지대 (line 243)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6701" y="5600045"/>
            <a:ext cx="9096993" cy="2585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 smtClean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★</a:t>
            </a:r>
            <a:r>
              <a:rPr lang="en-US" sz="1200" b="1" dirty="0" smtClean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200" b="1" dirty="0" smtClean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단일 테이블 </a:t>
            </a:r>
            <a:r>
              <a:rPr lang="en-US" altLang="ko-KR" sz="1200" b="1" dirty="0" smtClean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range </a:t>
            </a:r>
            <a:r>
              <a:rPr lang="en-US" altLang="ko-KR" sz="1200" b="1" dirty="0" smtClean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query</a:t>
            </a:r>
            <a:r>
              <a:rPr lang="ko-KR" altLang="en-US" sz="1200" b="1" dirty="0" smtClean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에 </a:t>
            </a:r>
            <a:r>
              <a:rPr lang="ko-KR" altLang="en-US" sz="1200" b="1" dirty="0" smtClean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적용하려면</a:t>
            </a:r>
            <a:r>
              <a:rPr lang="en-US" altLang="ko-KR" sz="1200" b="1" dirty="0" smtClean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lang="ko-KR" altLang="en-US" sz="1200" b="1" dirty="0" smtClean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실행 </a:t>
            </a:r>
            <a:r>
              <a:rPr lang="en-US" altLang="ko-KR" sz="1200" b="1" dirty="0" smtClean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plan</a:t>
            </a:r>
            <a:r>
              <a:rPr lang="ko-KR" altLang="en-US" sz="1200" b="1" dirty="0" smtClean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을 바꾸지 않는 </a:t>
            </a:r>
            <a:r>
              <a:rPr lang="en-US" altLang="ko-KR" sz="1200" b="1" dirty="0" smtClean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estimation-only sampling </a:t>
            </a:r>
            <a:r>
              <a:rPr lang="ko-KR" altLang="en-US" sz="1200" b="1" dirty="0" smtClean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경로가 필요하다</a:t>
            </a:r>
            <a:r>
              <a:rPr lang="en-US" altLang="ko-KR" sz="1200" b="1" dirty="0" smtClean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endParaRPr sz="1200" b="1" dirty="0">
              <a:solidFill>
                <a:srgbClr val="FAFAF9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pic>
        <p:nvPicPr>
          <p:cNvPr id="31" name="Picture 25" descr="slide6_vector_c_snipp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760533"/>
            <a:ext cx="5167900" cy="30829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3. </a:t>
            </a:r>
            <a:r>
              <a:rPr lang="en-US" sz="2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Our Approach</a:t>
            </a:r>
            <a:r>
              <a:rPr lang="en-US" altLang="ko-KR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— </a:t>
            </a:r>
            <a:r>
              <a:rPr lang="en-US" altLang="ko-KR" sz="2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Skew-Aware Sampling</a:t>
            </a:r>
            <a:endParaRPr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25879"/>
            <a:ext cx="11064240" cy="45719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6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1" y="1755522"/>
            <a:ext cx="3591212" cy="1400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755522"/>
            <a:ext cx="157716" cy="140005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981" y="1828674"/>
            <a:ext cx="2190496" cy="22339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100" b="1" dirty="0" smtClean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기존 연구</a:t>
            </a:r>
            <a:endParaRPr sz="1100" b="1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8661" y="2313160"/>
            <a:ext cx="3281192" cy="3693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Uniform Adaptive </a:t>
            </a:r>
            <a:r>
              <a:rPr lang="en-US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Sampling</a:t>
            </a:r>
            <a:endParaRPr sz="16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48640" y="3623779"/>
            <a:ext cx="11064240" cy="54864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3752488"/>
            <a:ext cx="10515600" cy="27193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smtClean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✦</a:t>
            </a:r>
            <a:r>
              <a:rPr lang="en-US" sz="1400" b="1" dirty="0" smtClean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400" b="1" dirty="0" smtClean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본 연구는 </a:t>
            </a:r>
            <a:r>
              <a:rPr lang="en-US" altLang="ko-KR" sz="1400" b="1" dirty="0" smtClean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block bias</a:t>
            </a:r>
            <a:r>
              <a:rPr lang="ko-KR" altLang="en-US" sz="1400" b="1" dirty="0" smtClean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를 제거한 뒤 </a:t>
            </a:r>
            <a:r>
              <a:rPr lang="en-US" altLang="ko-KR" sz="1400" b="1" dirty="0" smtClean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skewed vector space</a:t>
            </a:r>
            <a:r>
              <a:rPr lang="ko-KR" altLang="en-US" sz="1400" b="1" dirty="0" smtClean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에서 </a:t>
            </a:r>
            <a:r>
              <a:rPr lang="en-US" altLang="ko-KR" sz="1400" b="1" dirty="0" smtClean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sample allocation</a:t>
            </a:r>
            <a:r>
              <a:rPr lang="ko-KR" altLang="en-US" sz="1400" b="1" dirty="0" smtClean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을 재설계한다</a:t>
            </a:r>
            <a:r>
              <a:rPr lang="en-US" altLang="ko-KR" sz="1400" b="1" dirty="0" smtClean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endParaRPr sz="1400" b="1" dirty="0">
              <a:solidFill>
                <a:schemeClr val="bg1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4397262"/>
            <a:ext cx="6400800" cy="34208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 dirty="0" err="1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핵심</a:t>
            </a:r>
            <a:r>
              <a:rPr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기여</a:t>
            </a:r>
            <a:endParaRPr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40080" y="4970578"/>
            <a:ext cx="118872" cy="11887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b="1">
              <a:latin typeface="Apple SD Gothic Neo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68679" y="4844668"/>
            <a:ext cx="10656065" cy="3570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ko-KR" sz="16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Target: </a:t>
            </a:r>
            <a:r>
              <a:rPr lang="ko-KR" altLang="en-US" sz="16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단일 테이블 </a:t>
            </a:r>
            <a:r>
              <a:rPr lang="en-US" altLang="ko-KR" sz="16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vector range query</a:t>
            </a:r>
            <a:r>
              <a:rPr lang="ko-KR" altLang="en-US" sz="16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의 </a:t>
            </a:r>
            <a:r>
              <a:rPr lang="en-US" altLang="ko-KR" sz="16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no-index sampling path</a:t>
            </a:r>
            <a:endParaRPr sz="16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633817" y="5331954"/>
            <a:ext cx="118872" cy="11887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b="1">
              <a:latin typeface="Apple SD Gothic Neo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68680" y="5212080"/>
            <a:ext cx="10656064" cy="3266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6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Decomposition &amp; : block-level sampling bias</a:t>
            </a:r>
            <a:r>
              <a:rPr lang="en-US" altLang="ko-KR" sz="16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/</a:t>
            </a:r>
            <a:r>
              <a:rPr lang="en-US" altLang="ko-KR" sz="16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spatial skew </a:t>
            </a:r>
            <a:r>
              <a:rPr lang="ko-KR" altLang="en-US" sz="16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문제 분리</a:t>
            </a:r>
            <a:endParaRPr sz="16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637637" y="5707150"/>
            <a:ext cx="118872" cy="11887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b="1">
              <a:latin typeface="Apple SD Gothic Neo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58661" y="5975985"/>
            <a:ext cx="10656064" cy="3570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16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Validation: Random20 / Two-level </a:t>
            </a:r>
            <a:r>
              <a:rPr lang="ko-KR" altLang="en-US" sz="16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분해로 공간 인식 효과 정량화</a:t>
            </a:r>
            <a:endParaRPr sz="16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4" name="Rounded Rectangle 6"/>
          <p:cNvSpPr/>
          <p:nvPr/>
        </p:nvSpPr>
        <p:spPr>
          <a:xfrm>
            <a:off x="4285154" y="1755522"/>
            <a:ext cx="3591212" cy="1400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7"/>
          <p:cNvSpPr/>
          <p:nvPr/>
        </p:nvSpPr>
        <p:spPr>
          <a:xfrm>
            <a:off x="4285153" y="1755522"/>
            <a:ext cx="157716" cy="140005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5757" y="1816148"/>
            <a:ext cx="2190496" cy="22339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100" b="1" dirty="0" smtClean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차별성</a:t>
            </a:r>
            <a:endParaRPr sz="1100" b="1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4" name="Rounded Rectangle 6"/>
          <p:cNvSpPr/>
          <p:nvPr/>
        </p:nvSpPr>
        <p:spPr>
          <a:xfrm>
            <a:off x="8021668" y="1759405"/>
            <a:ext cx="3591212" cy="1400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7"/>
          <p:cNvSpPr/>
          <p:nvPr/>
        </p:nvSpPr>
        <p:spPr>
          <a:xfrm>
            <a:off x="8021667" y="1759405"/>
            <a:ext cx="157716" cy="140005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354376" y="1832557"/>
            <a:ext cx="2190496" cy="22339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100" b="1" smtClean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제</a:t>
            </a:r>
            <a:r>
              <a:rPr lang="ko-KR" altLang="en-US" sz="11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안</a:t>
            </a:r>
            <a:endParaRPr sz="1100" b="1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933849" y="2367188"/>
            <a:ext cx="2450244" cy="3323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6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원인 분리 및 독립 측정</a:t>
            </a:r>
            <a:endParaRPr sz="16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376410" y="2146960"/>
            <a:ext cx="3078642" cy="7017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Skew-aware </a:t>
            </a:r>
            <a:r>
              <a:rPr lang="en-US" sz="16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Stratified</a:t>
            </a:r>
            <a:r>
              <a:rPr lang="en-US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Sampling</a:t>
            </a:r>
            <a:endParaRPr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63" name="Oval 29"/>
          <p:cNvSpPr/>
          <p:nvPr/>
        </p:nvSpPr>
        <p:spPr>
          <a:xfrm>
            <a:off x="633761" y="6035624"/>
            <a:ext cx="118872" cy="11887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b="1">
              <a:latin typeface="Apple SD Gothic Neo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66714" y="5569363"/>
            <a:ext cx="10656064" cy="33823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600" b="1" dirty="0" err="1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Sysyem</a:t>
            </a:r>
            <a:r>
              <a:rPr lang="ko-KR" altLang="en-US" sz="16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→ </a:t>
            </a:r>
            <a:r>
              <a:rPr lang="en-US" altLang="ko-KR" sz="16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Bernoulli </a:t>
            </a:r>
            <a:r>
              <a:rPr lang="ko-KR" altLang="en-US" sz="16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→ </a:t>
            </a:r>
            <a:r>
              <a:rPr lang="en-US" altLang="ko-KR" sz="16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KM20 ablation</a:t>
            </a:r>
            <a:endParaRPr sz="16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4-</a:t>
            </a:r>
            <a:r>
              <a:rPr 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  <a:r>
              <a:rPr sz="2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 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RQ1 — </a:t>
            </a:r>
            <a:r>
              <a:rPr lang="en-US" sz="2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Query-side </a:t>
            </a:r>
            <a:r>
              <a:rPr sz="2200" b="1" dirty="0" err="1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Skew지표는</a:t>
            </a:r>
            <a:r>
              <a:rPr sz="2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Q-</a:t>
            </a:r>
            <a:r>
              <a:rPr sz="2200" b="1" dirty="0" err="1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error를</a:t>
            </a:r>
            <a:r>
              <a:rPr sz="2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2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설</a:t>
            </a:r>
            <a:r>
              <a:rPr lang="ko-KR" alt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명</a:t>
            </a:r>
            <a:r>
              <a:rPr sz="2200" b="1" dirty="0" err="1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하지</a:t>
            </a:r>
            <a:r>
              <a:rPr sz="2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못</a:t>
            </a:r>
            <a:r>
              <a:rPr lang="ko-KR" altLang="en-US" sz="2200" b="1" dirty="0" err="1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했</a:t>
            </a:r>
            <a:r>
              <a:rPr sz="2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다</a:t>
            </a:r>
            <a:endParaRPr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7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029200" cy="27430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실험</a:t>
            </a: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셋업</a:t>
            </a:r>
            <a:endParaRPr sz="14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673352"/>
            <a:ext cx="128016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데이터셋</a:t>
            </a:r>
            <a:endParaRPr sz="105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20240" y="1655064"/>
            <a:ext cx="3657600" cy="2308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DEEP 1M subset · 96d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1280160" cy="2308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쿼리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039112"/>
            <a:ext cx="3657600" cy="2308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100 query × 6 selectivity × 5 seed = 3000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41448"/>
            <a:ext cx="128016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지표 (글로벌)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423160"/>
            <a:ext cx="3657600" cy="2308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Fisher γ, tail ratio, P99/P50, skewness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25496"/>
            <a:ext cx="128016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지표 (로컬)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36524" y="2807208"/>
            <a:ext cx="3657600" cy="4247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k-NN entropy, PCA EVR1, KDE modality, NN clustering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4903" y="3246120"/>
            <a:ext cx="5029200" cy="27430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주요</a:t>
            </a: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1" dirty="0" err="1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발견</a:t>
            </a:r>
            <a:endParaRPr sz="14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48640" y="3566160"/>
            <a:ext cx="50749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657600"/>
            <a:ext cx="4800600" cy="138961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①</a:t>
            </a:r>
            <a:r>
              <a:rPr lang="en-US" sz="11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1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글로벌</a:t>
            </a:r>
            <a:r>
              <a:rPr lang="en-US" altLang="ko-KR" sz="11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lang="ko-KR" altLang="en-US" sz="11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로컬 지표 모두 </a:t>
            </a:r>
            <a:r>
              <a:rPr lang="en-US" altLang="ko-KR" sz="11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Q-error</a:t>
            </a:r>
            <a:r>
              <a:rPr lang="ko-KR" altLang="en-US" sz="11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와 안정적인 상관을 보이지 않음</a:t>
            </a:r>
            <a:endParaRPr lang="en-US" altLang="ko-KR" sz="1100" b="1" dirty="0" smtClean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45000"/>
              </a:lnSpc>
            </a:pPr>
            <a:endParaRPr sz="11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>
              <a:spcAft>
                <a:spcPts val="600"/>
              </a:spcAft>
            </a:pPr>
            <a:r>
              <a:rPr sz="11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②</a:t>
            </a:r>
            <a:r>
              <a:rPr lang="en-US" sz="11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1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로컬 </a:t>
            </a:r>
            <a:r>
              <a:rPr lang="en-US" altLang="ko-KR" sz="11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 </a:t>
            </a:r>
            <a:r>
              <a:rPr lang="ko-KR" altLang="en-US" sz="11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지표 </a:t>
            </a:r>
            <a:r>
              <a:rPr lang="en-US" altLang="ko-KR"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x 6 selectivity</a:t>
            </a:r>
            <a:r>
              <a:rPr lang="ko-KR" altLang="en-US" sz="11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에서 </a:t>
            </a:r>
            <a:r>
              <a:rPr lang="en-US" altLang="ko-KR"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Spearman |</a:t>
            </a:r>
            <a:r>
              <a:rPr lang="el-GR" altLang="ko-KR" sz="1200" b="1" dirty="0" smtClean="0">
                <a:latin typeface="Apple SD Gothic Neo"/>
              </a:rPr>
              <a:t>ρ</a:t>
            </a:r>
            <a:r>
              <a:rPr lang="en-US" altLang="ko-KR" sz="1200" b="1" dirty="0" smtClean="0">
                <a:latin typeface="Apple SD Gothic Neo"/>
              </a:rPr>
              <a:t>| &lt;  0.2</a:t>
            </a:r>
            <a:endParaRPr lang="en-US" altLang="ko-KR" sz="1100" b="1" dirty="0" smtClean="0">
              <a:latin typeface="Apple SD Gothic Neo"/>
            </a:endParaRPr>
          </a:p>
          <a:p>
            <a:pPr>
              <a:spcAft>
                <a:spcPts val="600"/>
              </a:spcAft>
            </a:pPr>
            <a:endParaRPr sz="11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③</a:t>
            </a:r>
            <a:r>
              <a:rPr lang="en-US" sz="11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query-side feature</a:t>
            </a:r>
            <a:r>
              <a:rPr lang="ko-KR" altLang="en-US" sz="11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만으로 어떤 영역을 더 </a:t>
            </a:r>
            <a:r>
              <a:rPr lang="ko-KR" altLang="en-US" sz="1100" b="1" dirty="0" err="1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샘플링해야</a:t>
            </a:r>
            <a:r>
              <a:rPr lang="ko-KR" altLang="en-US" sz="11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할지 결정하기 어려움</a:t>
            </a:r>
            <a:endParaRPr sz="11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852160" y="1325880"/>
            <a:ext cx="58521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Phase 5 Local Skew × Selectivity Spearman ρ</a:t>
            </a:r>
          </a:p>
        </p:txBody>
      </p:sp>
      <p:pic>
        <p:nvPicPr>
          <p:cNvPr id="20" name="Picture 19" descr="figure_6_phase5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727881"/>
            <a:ext cx="5806440" cy="235067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852160" y="4160520"/>
            <a:ext cx="5806440" cy="39100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Phase 5 — </a:t>
            </a:r>
            <a:r>
              <a:rPr sz="10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로컬</a:t>
            </a:r>
            <a:r>
              <a:rPr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4 </a:t>
            </a:r>
            <a:r>
              <a:rPr sz="10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지표</a:t>
            </a:r>
            <a:r>
              <a:rPr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× 6 selectivity = 24 </a:t>
            </a:r>
            <a:r>
              <a:rPr sz="10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조합</a:t>
            </a:r>
            <a:r>
              <a:rPr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모두</a:t>
            </a:r>
            <a:r>
              <a:rPr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|ρ| &lt; </a:t>
            </a:r>
            <a:r>
              <a:rPr sz="1000" b="0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0.2</a:t>
            </a:r>
            <a:endParaRPr lang="en-US" sz="1000" b="0" dirty="0" smtClean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ctr">
              <a:lnSpc>
                <a:spcPct val="120000"/>
              </a:lnSpc>
            </a:pPr>
            <a:r>
              <a:rPr lang="en-US" sz="1000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Local Skew </a:t>
            </a:r>
            <a:r>
              <a:rPr lang="ko-KR" altLang="en-US" sz="1000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지표도 </a:t>
            </a:r>
            <a:r>
              <a:rPr lang="en-US" altLang="ko-KR" sz="1000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Q-error</a:t>
            </a:r>
            <a:r>
              <a:rPr lang="ko-KR" altLang="en-US" sz="1000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와 약한 상관만 보임</a:t>
            </a:r>
            <a:endParaRPr sz="10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4" name="Rounded Rectangle 22"/>
          <p:cNvSpPr/>
          <p:nvPr/>
        </p:nvSpPr>
        <p:spPr>
          <a:xfrm>
            <a:off x="548640" y="5606649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5716720"/>
            <a:ext cx="10515600" cy="3170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→  </a:t>
            </a:r>
            <a:r>
              <a:rPr lang="en-US" sz="1400" b="1" dirty="0" smtClean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Query-side feature</a:t>
            </a:r>
            <a:r>
              <a:rPr lang="ko-KR" altLang="en-US" sz="1400" b="1" dirty="0" smtClean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만으로 </a:t>
            </a:r>
            <a:r>
              <a:rPr lang="en-US" altLang="ko-KR" sz="1400" b="1" dirty="0" smtClean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sampling layer</a:t>
            </a:r>
            <a:r>
              <a:rPr lang="ko-KR" altLang="en-US" sz="1400" b="1" dirty="0" smtClean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를 정하기 어렵다</a:t>
            </a:r>
            <a:r>
              <a:rPr lang="en-US" altLang="ko-KR" sz="1400" b="1" dirty="0" smtClean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endParaRPr sz="1400" b="1" dirty="0">
              <a:solidFill>
                <a:srgbClr val="FAFAF9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88723"/>
            <a:ext cx="10515600" cy="5539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4-</a:t>
            </a:r>
            <a:r>
              <a:rPr lang="en-US" sz="2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  <a:r>
              <a:rPr sz="2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 </a:t>
            </a:r>
            <a:r>
              <a:rPr sz="28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RQ2(1</a:t>
            </a:r>
            <a:r>
              <a:rPr sz="2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)—</a:t>
            </a:r>
            <a:r>
              <a:rPr lang="en-US" sz="2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sz="2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Block-level SYSTEM vs Row-level BERN</a:t>
            </a:r>
            <a:endParaRPr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8 /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8703766"/>
              </p:ext>
            </p:extLst>
          </p:nvPr>
        </p:nvGraphicFramePr>
        <p:xfrm>
          <a:off x="548640" y="1417320"/>
          <a:ext cx="7315200" cy="2231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280160"/>
                <a:gridCol w="1280160"/>
                <a:gridCol w="914400"/>
                <a:gridCol w="1463040"/>
                <a:gridCol w="1463040"/>
              </a:tblGrid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200" b="1" dirty="0" smtClean="0">
                          <a:solidFill>
                            <a:srgbClr val="FAFAF9"/>
                          </a:solidFill>
                          <a:latin typeface="Apple SD Gothic Neo"/>
                        </a:rPr>
                        <a:t>select</a:t>
                      </a:r>
                      <a:endParaRPr sz="12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smtClean="0">
                          <a:solidFill>
                            <a:srgbClr val="FAFAF9"/>
                          </a:solidFill>
                          <a:latin typeface="Apple SD Gothic Neo"/>
                        </a:rPr>
                        <a:t>SYS</a:t>
                      </a:r>
                      <a:r>
                        <a:rPr lang="en-US" sz="1200" b="1" dirty="0" smtClean="0">
                          <a:solidFill>
                            <a:srgbClr val="FAFAF9"/>
                          </a:solidFill>
                          <a:latin typeface="Apple SD Gothic Neo"/>
                        </a:rPr>
                        <a:t>(</a:t>
                      </a:r>
                      <a:r>
                        <a:rPr lang="en-US" sz="1200" b="1" dirty="0" err="1" smtClean="0">
                          <a:solidFill>
                            <a:srgbClr val="FAFAF9"/>
                          </a:solidFill>
                          <a:latin typeface="Apple SD Gothic Neo"/>
                        </a:rPr>
                        <a:t>blcok</a:t>
                      </a:r>
                      <a:r>
                        <a:rPr lang="en-US" sz="1200" b="1" dirty="0" smtClean="0">
                          <a:solidFill>
                            <a:srgbClr val="FAFAF9"/>
                          </a:solidFill>
                          <a:latin typeface="Apple SD Gothic Neo"/>
                        </a:rPr>
                        <a:t>)</a:t>
                      </a:r>
                      <a:endParaRPr sz="12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smtClean="0">
                          <a:solidFill>
                            <a:srgbClr val="FAFAF9"/>
                          </a:solidFill>
                          <a:latin typeface="Apple SD Gothic Neo"/>
                        </a:rPr>
                        <a:t>BERN</a:t>
                      </a:r>
                      <a:r>
                        <a:rPr lang="en-US" sz="1200" b="1" dirty="0" smtClean="0">
                          <a:solidFill>
                            <a:srgbClr val="FAFAF9"/>
                          </a:solidFill>
                          <a:latin typeface="Apple SD Gothic Neo"/>
                        </a:rPr>
                        <a:t>(row)</a:t>
                      </a:r>
                      <a:endParaRPr sz="12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diff%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p-value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 smtClean="0">
                          <a:solidFill>
                            <a:srgbClr val="FAFAF9"/>
                          </a:solidFill>
                          <a:latin typeface="Apple SD Gothic Neo"/>
                        </a:rPr>
                        <a:t>행 단위 우위</a:t>
                      </a:r>
                      <a:endParaRPr sz="12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171717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71717"/>
                          </a:solidFill>
                          <a:latin typeface="Apple SD Gothic Neo"/>
                        </a:rPr>
                        <a:t>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71717"/>
                          </a:solidFill>
                          <a:latin typeface="Apple SD Gothic Neo"/>
                        </a:rPr>
                        <a:t>2.597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71717"/>
                          </a:solidFill>
                          <a:latin typeface="Apple SD Gothic Neo"/>
                        </a:rPr>
                        <a:t>2.597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71717"/>
                          </a:solidFill>
                          <a:latin typeface="Apple SD Gothic Neo"/>
                        </a:rPr>
                        <a:t>+0.0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71717"/>
                          </a:solidFill>
                          <a:latin typeface="Apple SD Gothic Neo"/>
                        </a:rPr>
                        <a:t>0.596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smtClean="0">
                          <a:solidFill>
                            <a:srgbClr val="171717"/>
                          </a:solidFill>
                          <a:latin typeface="Apple SD Gothic Neo"/>
                        </a:rPr>
                        <a:t>6/8</a:t>
                      </a:r>
                      <a:endParaRPr sz="1200" b="0" dirty="0">
                        <a:solidFill>
                          <a:srgbClr val="171717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71717"/>
                          </a:solidFill>
                          <a:latin typeface="Apple SD Gothic Neo"/>
                        </a:rPr>
                        <a:t>0.010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71717"/>
                          </a:solidFill>
                          <a:latin typeface="Apple SD Gothic Neo"/>
                        </a:rPr>
                        <a:t>1.558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71717"/>
                          </a:solidFill>
                          <a:latin typeface="Apple SD Gothic Neo"/>
                        </a:rPr>
                        <a:t>1.299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71717"/>
                          </a:solidFill>
                          <a:latin typeface="Apple SD Gothic Neo"/>
                        </a:rPr>
                        <a:t>+20.0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71717"/>
                          </a:solidFill>
                          <a:latin typeface="Apple SD Gothic Neo"/>
                        </a:rPr>
                        <a:t>0.240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smtClean="0">
                          <a:solidFill>
                            <a:srgbClr val="171717"/>
                          </a:solidFill>
                          <a:latin typeface="Apple SD Gothic Neo"/>
                        </a:rPr>
                        <a:t>45/40</a:t>
                      </a:r>
                      <a:endParaRPr sz="1200" b="0" dirty="0">
                        <a:solidFill>
                          <a:srgbClr val="171717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FAFAF9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71717"/>
                          </a:solidFill>
                          <a:latin typeface="Apple SD Gothic Neo"/>
                        </a:rPr>
                        <a:t>0.050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71717"/>
                          </a:solidFill>
                          <a:latin typeface="Apple SD Gothic Neo"/>
                        </a:rPr>
                        <a:t>1.203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71717"/>
                          </a:solidFill>
                          <a:latin typeface="Apple SD Gothic Neo"/>
                        </a:rPr>
                        <a:t>1.195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71717"/>
                          </a:solidFill>
                          <a:latin typeface="Apple SD Gothic Neo"/>
                        </a:rPr>
                        <a:t>+0.7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71717"/>
                          </a:solidFill>
                          <a:latin typeface="Apple SD Gothic Neo"/>
                        </a:rPr>
                        <a:t>0.0009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rgbClr val="FAFAF9"/>
                          </a:solidFill>
                          <a:latin typeface="Apple SD Gothic Neo"/>
                        </a:rPr>
                        <a:t>58/37</a:t>
                      </a:r>
                      <a:endParaRPr sz="12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DC2626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71717"/>
                          </a:solidFill>
                          <a:latin typeface="Apple SD Gothic Neo"/>
                        </a:rPr>
                        <a:t>0.100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71717"/>
                          </a:solidFill>
                          <a:latin typeface="Apple SD Gothic Neo"/>
                        </a:rPr>
                        <a:t>1.212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71717"/>
                          </a:solidFill>
                          <a:latin typeface="Apple SD Gothic Neo"/>
                        </a:rPr>
                        <a:t>1.132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71717"/>
                          </a:solidFill>
                          <a:latin typeface="Apple SD Gothic Neo"/>
                        </a:rPr>
                        <a:t>+7.0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71717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rgbClr val="FAFAF9"/>
                          </a:solidFill>
                          <a:latin typeface="Apple SD Gothic Neo"/>
                        </a:rPr>
                        <a:t>66/31</a:t>
                      </a:r>
                      <a:endParaRPr sz="12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DC2626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71717"/>
                          </a:solidFill>
                          <a:latin typeface="Apple SD Gothic Neo"/>
                        </a:rPr>
                        <a:t>0.300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71717"/>
                          </a:solidFill>
                          <a:latin typeface="Apple SD Gothic Neo"/>
                        </a:rPr>
                        <a:t>1.210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71717"/>
                          </a:solidFill>
                          <a:latin typeface="Apple SD Gothic Neo"/>
                        </a:rPr>
                        <a:t>1.079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71717"/>
                          </a:solidFill>
                          <a:latin typeface="Apple SD Gothic Neo"/>
                        </a:rPr>
                        <a:t>+12.0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71717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rgbClr val="FAFAF9"/>
                          </a:solidFill>
                          <a:latin typeface="Apple SD Gothic Neo"/>
                        </a:rPr>
                        <a:t>76/24</a:t>
                      </a:r>
                      <a:endParaRPr sz="12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DC2626"/>
                    </a:solidFill>
                  </a:tcPr>
                </a:tc>
              </a:tr>
              <a:tr h="31873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71717"/>
                          </a:solidFill>
                          <a:latin typeface="Apple SD Gothic Neo"/>
                        </a:rPr>
                        <a:t>0.500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71717"/>
                          </a:solidFill>
                          <a:latin typeface="Apple SD Gothic Neo"/>
                        </a:rPr>
                        <a:t>1.153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71717"/>
                          </a:solidFill>
                          <a:latin typeface="Apple SD Gothic Neo"/>
                        </a:rPr>
                        <a:t>1.052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71717"/>
                          </a:solidFill>
                          <a:latin typeface="Apple SD Gothic Neo"/>
                        </a:rPr>
                        <a:t>+9.6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71717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solidFill>
                            <a:srgbClr val="FAFAF9"/>
                          </a:solidFill>
                          <a:latin typeface="Apple SD Gothic Neo"/>
                        </a:rPr>
                        <a:t>78/22</a:t>
                      </a:r>
                      <a:endParaRPr sz="12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DC262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92440" y="1417320"/>
            <a:ext cx="3657600" cy="307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Takeaways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737360"/>
            <a:ext cx="3611880" cy="21018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06740" y="1832182"/>
            <a:ext cx="3383280" cy="179510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①</a:t>
            </a:r>
            <a:r>
              <a:rPr lang="en-US"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s=0.05~0.5</a:t>
            </a:r>
            <a:r>
              <a:rPr lang="ko-KR" altLang="en-US"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에서</a:t>
            </a:r>
            <a:r>
              <a:rPr lang="en-US"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BERN</a:t>
            </a:r>
            <a:r>
              <a:rPr lang="ko-KR" altLang="en-US"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이 </a:t>
            </a:r>
            <a:r>
              <a:rPr lang="en-US" altLang="ko-KR"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SYSTEM</a:t>
            </a:r>
            <a:r>
              <a:rPr lang="ko-KR" altLang="en-US"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보다 일관되게 낮은 </a:t>
            </a:r>
            <a:r>
              <a:rPr lang="en-US" altLang="ko-KR"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Q-error</a:t>
            </a:r>
            <a:endParaRPr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②</a:t>
            </a:r>
            <a:r>
              <a:rPr lang="en-US"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s=0.5: median Q-error 1.1527 </a:t>
            </a:r>
          </a:p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en-US" altLang="ko-KR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altLang="ko-KR"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→ </a:t>
            </a:r>
            <a:r>
              <a:rPr lang="en-US" altLang="ko-KR"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1.0519, +9.6%, 78/100 query </a:t>
            </a:r>
            <a:r>
              <a:rPr lang="ko-KR" altLang="en-US"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개선</a:t>
            </a:r>
            <a:endParaRPr lang="en-US" sz="1200" b="1" dirty="0" smtClean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③</a:t>
            </a:r>
            <a:r>
              <a:rPr lang="en-US"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low selectivity </a:t>
            </a:r>
            <a:r>
              <a:rPr lang="ko-KR" altLang="en-US"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에서는 </a:t>
            </a:r>
            <a:r>
              <a:rPr lang="en-US" altLang="ko-KR"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true cardinality</a:t>
            </a:r>
            <a:r>
              <a:rPr lang="ko-KR" altLang="en-US"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가 작아 </a:t>
            </a:r>
            <a:r>
              <a:rPr lang="en-US" altLang="ko-KR"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Q-error </a:t>
            </a:r>
            <a:r>
              <a:rPr lang="ko-KR" altLang="en-US"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변동이 커짐</a:t>
            </a:r>
            <a:endParaRPr lang="en-US" altLang="ko-KR" sz="1200" b="1" dirty="0" smtClean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5989320"/>
            <a:ext cx="110642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Phase 4 — SYS vs BERN paired Q-error 4 panel (s=0.05/0.10/0.30/0.50)</a:t>
            </a:r>
          </a:p>
        </p:txBody>
      </p:sp>
      <p:pic>
        <p:nvPicPr>
          <p:cNvPr id="13" name="Picture 2"/>
          <p:cNvPicPr/>
          <p:nvPr/>
        </p:nvPicPr>
        <p:blipFill rotWithShape="1">
          <a:blip r:embed="rId2"/>
          <a:srcRect b="49775"/>
          <a:stretch/>
        </p:blipFill>
        <p:spPr bwMode="auto">
          <a:xfrm>
            <a:off x="1650779" y="4027361"/>
            <a:ext cx="4542716" cy="175966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" name="Picture 2"/>
          <p:cNvPicPr/>
          <p:nvPr/>
        </p:nvPicPr>
        <p:blipFill rotWithShape="1">
          <a:blip r:embed="rId2"/>
          <a:srcRect t="50000"/>
          <a:stretch/>
        </p:blipFill>
        <p:spPr bwMode="auto">
          <a:xfrm>
            <a:off x="6218547" y="4039888"/>
            <a:ext cx="4474394" cy="173729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28614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4-</a:t>
            </a:r>
            <a:r>
              <a:rPr lang="en-US" sz="2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  <a:r>
              <a:rPr sz="2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 RQ2(2)— </a:t>
            </a:r>
            <a:r>
              <a:rPr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KM20 </a:t>
            </a:r>
            <a:r>
              <a:rPr sz="2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Stratified</a:t>
            </a:r>
            <a:r>
              <a:rPr lang="en-US" sz="2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: </a:t>
            </a:r>
            <a:r>
              <a:rPr lang="en-US" altLang="ko-KR" sz="2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spatial allocation </a:t>
            </a:r>
            <a:r>
              <a:rPr lang="ko-KR" altLang="en-US" sz="2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추가</a:t>
            </a:r>
            <a:endParaRPr sz="24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9 /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729646"/>
              </p:ext>
            </p:extLst>
          </p:nvPr>
        </p:nvGraphicFramePr>
        <p:xfrm>
          <a:off x="548640" y="1417320"/>
          <a:ext cx="6858000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22860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AFAF9"/>
                          </a:solidFill>
                          <a:latin typeface="Apple SD Gothic Neo"/>
                        </a:rPr>
                        <a:t>5-seed 평균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AFAF9"/>
                          </a:solidFill>
                          <a:latin typeface="Apple SD Gothic Neo"/>
                        </a:rPr>
                        <a:t>95% CI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AFAF9"/>
                          </a:solidFill>
                          <a:latin typeface="Apple SD Gothic Neo"/>
                        </a:rPr>
                        <a:t>유의 seed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171717"/>
                          </a:solidFill>
                          <a:latin typeface="Apple SD Gothic Neo"/>
                        </a:rP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6A34A"/>
                          </a:solidFill>
                          <a:latin typeface="Apple SD Gothic Neo"/>
                        </a:rPr>
                        <a:t>+1.64%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71717"/>
                          </a:solidFill>
                          <a:latin typeface="Apple SD Gothic Neo"/>
                        </a:rPr>
                        <a:t>[+1.11, +2.18]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71717"/>
                          </a:solidFill>
                          <a:latin typeface="Apple SD Gothic Neo"/>
                        </a:rPr>
                        <a:t>5/5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71717"/>
                          </a:solidFill>
                          <a:latin typeface="Apple SD Gothic Neo"/>
                        </a:rPr>
                        <a:t>30%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16A34A"/>
                          </a:solidFill>
                          <a:latin typeface="Apple SD Gothic Neo"/>
                        </a:rPr>
                        <a:t>+2.62%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171717"/>
                          </a:solidFill>
                          <a:latin typeface="Apple SD Gothic Neo"/>
                        </a:rPr>
                        <a:t>[+1.45, +3.80]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71717"/>
                          </a:solidFill>
                          <a:latin typeface="Apple SD Gothic Neo"/>
                        </a:rPr>
                        <a:t>5/5 (p&lt;0.001)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71717"/>
                          </a:solidFill>
                          <a:latin typeface="Apple SD Gothic Neo"/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6A34A"/>
                          </a:solidFill>
                          <a:latin typeface="Apple SD Gothic Neo"/>
                        </a:rPr>
                        <a:t>+4.19%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171717"/>
                          </a:solidFill>
                          <a:latin typeface="Apple SD Gothic Neo"/>
                        </a:rPr>
                        <a:t>[+0.72, +7.66]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171717"/>
                          </a:solidFill>
                          <a:latin typeface="Apple SD Gothic Neo"/>
                        </a:rPr>
                        <a:t>5/5 (p&lt;0.004)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171717"/>
                          </a:solidFill>
                          <a:latin typeface="Apple SD Gothic Neo"/>
                        </a:rPr>
                        <a:t>5%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171717"/>
                          </a:solidFill>
                          <a:latin typeface="Apple SD Gothic Neo"/>
                        </a:rPr>
                        <a:t>+1.85%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 smtClean="0">
                          <a:solidFill>
                            <a:srgbClr val="171717"/>
                          </a:solidFill>
                          <a:latin typeface="Apple SD Gothic Neo"/>
                        </a:rPr>
                        <a:t>단일</a:t>
                      </a:r>
                      <a:endParaRPr sz="1400" b="0" dirty="0">
                        <a:solidFill>
                          <a:srgbClr val="171717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171717"/>
                          </a:solidFill>
                          <a:latin typeface="Apple SD Gothic Neo"/>
                        </a:rPr>
                        <a:t>3/5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71717"/>
                          </a:solidFill>
                          <a:latin typeface="Apple SD Gothic Neo"/>
                        </a:rP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171717"/>
                          </a:solidFill>
                          <a:latin typeface="Apple SD Gothic Neo"/>
                        </a:rPr>
                        <a:t>+8.93%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 smtClean="0">
                          <a:solidFill>
                            <a:srgbClr val="171717"/>
                          </a:solidFill>
                          <a:latin typeface="Apple SD Gothic Neo"/>
                        </a:rPr>
                        <a:t>단일</a:t>
                      </a:r>
                      <a:endParaRPr sz="1400" b="0" dirty="0">
                        <a:solidFill>
                          <a:srgbClr val="171717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171717"/>
                          </a:solidFill>
                          <a:latin typeface="Apple SD Gothic Neo"/>
                        </a:rPr>
                        <a:t>4/5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0" y="1417320"/>
            <a:ext cx="4114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BERNOULLI vs STRATIFIED (KM20)</a:t>
            </a:r>
          </a:p>
        </p:txBody>
      </p:sp>
      <p:pic>
        <p:nvPicPr>
          <p:cNvPr id="9" name="Picture 8" descr="figure_2_phase6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489" y="1783080"/>
            <a:ext cx="3840861" cy="2331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89520" y="4160520"/>
            <a:ext cx="411480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000" b="1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Phase</a:t>
            </a:r>
            <a:r>
              <a:rPr lang="en-US"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sz="1000" b="1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  <a:r>
              <a:rPr sz="1000" b="1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— BERNOULLI vs STRATIFIED (KM20) 100 </a:t>
            </a:r>
            <a:r>
              <a:rPr sz="1000" b="1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query</a:t>
            </a:r>
            <a:endParaRPr sz="10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4644651"/>
            <a:ext cx="10515600" cy="939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45000"/>
              </a:lnSpc>
            </a:pP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① </a:t>
            </a:r>
            <a:r>
              <a:rPr lang="en-US" altLang="ko-KR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s=0.500</a:t>
            </a:r>
            <a:r>
              <a:rPr lang="ko-KR" altLang="en-US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에서 </a:t>
            </a:r>
            <a:r>
              <a:rPr lang="en-US" altLang="ko-KR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KM20</a:t>
            </a:r>
            <a:r>
              <a:rPr lang="ko-KR" altLang="en-US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은 </a:t>
            </a:r>
            <a:r>
              <a:rPr lang="en-US" altLang="ko-KR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BERN </a:t>
            </a:r>
            <a:r>
              <a:rPr lang="ko-KR" altLang="en-US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대비 </a:t>
            </a:r>
            <a:r>
              <a:rPr lang="en-US" altLang="ko-KR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+1.64%, 5-seed 95% </a:t>
            </a:r>
            <a:r>
              <a:rPr lang="ko-KR" altLang="en-US" sz="1400" b="1" dirty="0" err="1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챠</a:t>
            </a:r>
            <a:r>
              <a:rPr lang="en-US" altLang="ko-KR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[+1.11,+2.18]</a:t>
            </a:r>
          </a:p>
          <a:p>
            <a:pPr>
              <a:lnSpc>
                <a:spcPct val="145000"/>
              </a:lnSpc>
            </a:pPr>
            <a:r>
              <a:rPr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② </a:t>
            </a:r>
            <a:r>
              <a:rPr lang="en-US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s=0.050, s=0.010</a:t>
            </a:r>
            <a:r>
              <a:rPr lang="ko-KR" altLang="en-US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에서도 개선 신호는 있으나 일부는 단일 </a:t>
            </a:r>
            <a:r>
              <a:rPr lang="en-US" altLang="ko-KR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seed / low-</a:t>
            </a:r>
            <a:r>
              <a:rPr lang="en-US" altLang="ko-KR" sz="1400" b="1" dirty="0" err="1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cardinalrity</a:t>
            </a:r>
            <a:r>
              <a:rPr lang="en-US" altLang="ko-KR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noise</a:t>
            </a:r>
            <a:r>
              <a:rPr lang="ko-KR" altLang="en-US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로 해석 보류</a:t>
            </a:r>
            <a:endParaRPr lang="en-US" sz="1400" b="1" dirty="0" smtClean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>
              <a:lnSpc>
                <a:spcPct val="145000"/>
              </a:lnSpc>
            </a:pPr>
            <a:r>
              <a:rPr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③</a:t>
            </a:r>
            <a:r>
              <a:rPr lang="en-US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KM20</a:t>
            </a:r>
            <a:r>
              <a:rPr lang="ko-KR" altLang="en-US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의 역할은 </a:t>
            </a:r>
            <a:r>
              <a:rPr lang="en-US" altLang="ko-KR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sample size </a:t>
            </a:r>
            <a:r>
              <a:rPr lang="ko-KR" altLang="en-US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증가가 아니라 </a:t>
            </a:r>
            <a:r>
              <a:rPr lang="en-US" altLang="ko-KR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vector-space region</a:t>
            </a:r>
            <a:r>
              <a:rPr lang="ko-KR" altLang="en-US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별 </a:t>
            </a:r>
            <a:r>
              <a:rPr lang="en-US" altLang="ko-KR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sample allocation </a:t>
            </a:r>
            <a:r>
              <a:rPr lang="ko-KR" altLang="en-US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보정</a:t>
            </a:r>
            <a:endParaRPr sz="14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576072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5955887"/>
            <a:ext cx="10515600" cy="29546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dirty="0" smtClean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KM20</a:t>
            </a:r>
            <a:r>
              <a:rPr lang="ko-KR" altLang="en-US" sz="1400" b="1" dirty="0" smtClean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은 </a:t>
            </a:r>
            <a:r>
              <a:rPr lang="en-US" altLang="ko-KR" sz="1400" b="1" dirty="0" smtClean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vector-space skew</a:t>
            </a:r>
            <a:r>
              <a:rPr lang="ko-KR" altLang="en-US" sz="1400" b="1" dirty="0" smtClean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를 </a:t>
            </a:r>
            <a:r>
              <a:rPr lang="en-US" altLang="ko-KR" sz="1400" b="1" dirty="0" smtClean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sample allocation</a:t>
            </a:r>
            <a:r>
              <a:rPr lang="ko-KR" altLang="en-US" sz="1400" b="1" dirty="0" smtClean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에 반영하는 첫 번째 </a:t>
            </a:r>
            <a:r>
              <a:rPr lang="en-US" altLang="ko-KR" sz="1400" b="1" dirty="0" smtClean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positive res</a:t>
            </a:r>
            <a:r>
              <a:rPr lang="en-US" altLang="ko-KR" sz="1400" b="1" dirty="0" smtClean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ul</a:t>
            </a:r>
            <a:r>
              <a:rPr lang="en-US" altLang="ko-KR" sz="1400" b="1" dirty="0" smtClean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t</a:t>
            </a:r>
            <a:r>
              <a:rPr lang="ko-KR" altLang="en-US" sz="1400" b="1" dirty="0" smtClean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다</a:t>
            </a:r>
            <a:r>
              <a:rPr lang="en-US" altLang="ko-KR" sz="1400" b="1" dirty="0" smtClean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endParaRPr sz="1400" b="1" dirty="0">
              <a:solidFill>
                <a:schemeClr val="bg1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94986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4-</a:t>
            </a:r>
            <a:r>
              <a:rPr lang="en-US" sz="2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  <a:r>
              <a:rPr sz="2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 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External </a:t>
            </a:r>
            <a:r>
              <a:rPr sz="2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Validity—</a:t>
            </a:r>
            <a:r>
              <a:rPr lang="en-US" sz="2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s=0.500</a:t>
            </a:r>
            <a:r>
              <a:rPr lang="ko-KR" altLang="en-US" sz="2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에서 </a:t>
            </a:r>
            <a:r>
              <a:rPr lang="en-US" altLang="ko-KR" sz="2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  <a:r>
              <a:rPr lang="ko-KR" altLang="en-US" sz="2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개 </a:t>
            </a:r>
            <a:r>
              <a:rPr lang="ko-KR" altLang="en-US" sz="2200" b="1" dirty="0" err="1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데이터셋</a:t>
            </a:r>
            <a:r>
              <a:rPr lang="ko-KR" altLang="en-US" sz="2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교차 검증</a:t>
            </a:r>
            <a:endParaRPr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10 / 15</a:t>
            </a:r>
          </a:p>
        </p:txBody>
      </p:sp>
      <p:pic>
        <p:nvPicPr>
          <p:cNvPr id="7" name="Picture 6" descr="figure_8_cross_dataset_bar.png"/>
          <p:cNvPicPr>
            <a:picLocks noChangeAspect="1"/>
          </p:cNvPicPr>
          <p:nvPr/>
        </p:nvPicPr>
        <p:blipFill rotWithShape="1">
          <a:blip r:embed="rId2"/>
          <a:srcRect b="7834"/>
          <a:stretch/>
        </p:blipFill>
        <p:spPr>
          <a:xfrm>
            <a:off x="703138" y="1417320"/>
            <a:ext cx="4720203" cy="345530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212080"/>
            <a:ext cx="5029200" cy="2308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외적 타당성 — DEEP 1M / 8M / SIFT 1.5M, KM20 s=0.500 효과 95% CI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4173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52160" y="1417320"/>
            <a:ext cx="164592" cy="82296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0" y="1463040"/>
            <a:ext cx="29260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DEEP 1M (96d)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801368"/>
            <a:ext cx="3200400" cy="2369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CI [+1.11, +2.18]  ·  CV 0.234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1508760"/>
            <a:ext cx="20116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+1.64%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23317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52160" y="2331720"/>
            <a:ext cx="164592" cy="82296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0" y="2377440"/>
            <a:ext cx="29260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DEEP 8M (96d)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715768"/>
            <a:ext cx="3200400" cy="21762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CI [+0.65, +2.86]  </a:t>
            </a:r>
            <a:r>
              <a:rPr sz="1000" b="1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·</a:t>
            </a:r>
            <a:r>
              <a:rPr lang="en-US" sz="1000" b="1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8x scale validation</a:t>
            </a:r>
            <a:endParaRPr sz="10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509760" y="2423160"/>
            <a:ext cx="20116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+1.76%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32461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52160" y="3246120"/>
            <a:ext cx="164592" cy="8229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80" y="3291840"/>
            <a:ext cx="29260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SIFT 1.5M (128d)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630168"/>
            <a:ext cx="3200400" cy="21762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CI [+2.66, +3.48]  ·  CV 0.394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337560"/>
            <a:ext cx="20116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+3.07%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5271" y="4223150"/>
            <a:ext cx="5813329" cy="27430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주요</a:t>
            </a: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발견</a:t>
            </a: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+ </a:t>
            </a:r>
            <a:r>
              <a:rPr sz="14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시사점</a:t>
            </a:r>
            <a:endParaRPr sz="14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845271" y="4570246"/>
            <a:ext cx="5760720" cy="115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① DEEP 1M ↔ 8M : CI </a:t>
            </a:r>
            <a:r>
              <a:rPr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겹침</a:t>
            </a: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(CONSISTENT</a:t>
            </a:r>
            <a:r>
              <a:rPr sz="1400" b="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)</a:t>
            </a:r>
            <a:endParaRPr lang="en-US" sz="1400" b="0" dirty="0" smtClean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30000"/>
              </a:lnSpc>
            </a:pPr>
            <a:r>
              <a:rPr sz="1400" b="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② </a:t>
            </a:r>
            <a:r>
              <a:rPr lang="en-US" sz="1400" b="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SIFT</a:t>
            </a:r>
            <a:r>
              <a:rPr lang="en-US" sz="140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:</a:t>
            </a:r>
            <a:r>
              <a:rPr lang="en-US" altLang="ko-KR" sz="140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DEEP</a:t>
            </a:r>
            <a:r>
              <a:rPr lang="ko-KR" altLang="en-US" sz="140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보다 더 큰 </a:t>
            </a:r>
            <a:r>
              <a:rPr lang="ko-KR" altLang="en-US" sz="1400" dirty="0" err="1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개선폭</a:t>
            </a:r>
            <a:r>
              <a:rPr lang="en-US" altLang="ko-KR" sz="140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  <a:p>
            <a:pPr algn="l">
              <a:lnSpc>
                <a:spcPct val="130000"/>
              </a:lnSpc>
            </a:pPr>
            <a:r>
              <a:rPr lang="en-US" altLang="ko-KR" sz="1400" dirty="0" smtClean="0">
                <a:solidFill>
                  <a:srgbClr val="171717"/>
                </a:solidFill>
                <a:latin typeface="나눔스퀘어"/>
                <a:ea typeface="나눔스퀘어"/>
                <a:cs typeface="Apple SD Gothic Neo"/>
              </a:rPr>
              <a:t>	→ </a:t>
            </a:r>
            <a:r>
              <a:rPr lang="ko-KR" altLang="en-US" sz="140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더 </a:t>
            </a:r>
            <a:r>
              <a:rPr lang="en-US" altLang="ko-KR" sz="140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skewed </a:t>
            </a:r>
            <a:r>
              <a:rPr lang="ko-KR" altLang="en-US" sz="140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한 데이터에서 </a:t>
            </a:r>
            <a:r>
              <a:rPr lang="en-US" altLang="ko-KR" sz="140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KM20 </a:t>
            </a:r>
            <a:r>
              <a:rPr lang="ko-KR" altLang="en-US" sz="140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효과 증가 가능성</a:t>
            </a:r>
            <a:endParaRPr lang="en-US" sz="1400" b="0" dirty="0" smtClean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30000"/>
              </a:lnSpc>
            </a:pPr>
            <a:r>
              <a:rPr sz="1400" b="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③ </a:t>
            </a:r>
            <a:r>
              <a:rPr lang="en-US" sz="140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skewed</a:t>
            </a:r>
            <a:r>
              <a:rPr sz="1400" b="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↑ ⇒ </a:t>
            </a:r>
            <a:r>
              <a:rPr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공간</a:t>
            </a: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인식</a:t>
            </a: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가치</a:t>
            </a: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↑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82460"/>
            <a:ext cx="10515600" cy="51046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4-</a:t>
            </a:r>
            <a:r>
              <a:rPr lang="en-US" sz="28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  <a:r>
              <a:rPr sz="2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 RQ3(</a:t>
            </a:r>
            <a:r>
              <a:rPr lang="en-US" sz="2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Design</a:t>
            </a:r>
            <a:r>
              <a:rPr sz="2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)—</a:t>
            </a:r>
            <a:r>
              <a:rPr lang="en-US" sz="2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spatial-unawareness</a:t>
            </a:r>
            <a:r>
              <a:rPr lang="ko-KR" altLang="en-US" sz="2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에서의 </a:t>
            </a:r>
            <a:r>
              <a:rPr lang="en-US" altLang="ko-KR" sz="2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Recovery Rate</a:t>
            </a:r>
            <a:endParaRPr sz="24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11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66881"/>
            <a:ext cx="10515600" cy="28392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▣ Recovery Rate = (</a:t>
            </a:r>
            <a:r>
              <a:rPr sz="1400" b="1" dirty="0" err="1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방법X</a:t>
            </a:r>
            <a:r>
              <a:rPr sz="1400" b="1" dirty="0">
                <a:solidFill>
                  <a:schemeClr val="bg1"/>
                </a:solidFill>
                <a:latin typeface="Apple SD Gothic Neo"/>
                <a:ea typeface="Apple SD Gothic Neo"/>
                <a:cs typeface="Apple SD Gothic Neo"/>
              </a:rPr>
              <a:t> − RANDOM20) / (KM20 − RANDOM20)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457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212848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Offline Partition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697480"/>
            <a:ext cx="320040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22960" y="2944368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2880360"/>
            <a:ext cx="3108960" cy="2954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Random</a:t>
            </a:r>
            <a:r>
              <a:rPr lang="en-US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Projection</a:t>
            </a:r>
            <a:endParaRPr sz="14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822960" y="3484991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3420983"/>
            <a:ext cx="3108960" cy="2954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dirty="0" err="1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MiniBatch</a:t>
            </a:r>
            <a:r>
              <a:rPr lang="en-US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K-means</a:t>
            </a:r>
            <a:endParaRPr sz="14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822960" y="4000562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3936554"/>
            <a:ext cx="3108960" cy="2954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Hash partition (LSH)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26279" y="2194560"/>
            <a:ext cx="457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P2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19" y="2212848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Online Query-Adaptive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79" y="2697480"/>
            <a:ext cx="320040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571999" y="2944368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00599" y="2880360"/>
            <a:ext cx="3108960" cy="2954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Distance-shell sampling</a:t>
            </a:r>
            <a:endParaRPr sz="14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4571999" y="3510043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00599" y="3446035"/>
            <a:ext cx="3108960" cy="2954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KDE-pilot</a:t>
            </a:r>
            <a:endParaRPr sz="14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046719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75319" y="2194560"/>
            <a:ext cx="457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P3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59" y="2212848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Weight-based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5319" y="2697480"/>
            <a:ext cx="320040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321039" y="2944368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49639" y="2880360"/>
            <a:ext cx="3108960" cy="2728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Importance sampling</a:t>
            </a:r>
          </a:p>
        </p:txBody>
      </p:sp>
      <p:sp>
        <p:nvSpPr>
          <p:cNvPr id="35" name="Oval 34"/>
          <p:cNvSpPr/>
          <p:nvPr/>
        </p:nvSpPr>
        <p:spPr>
          <a:xfrm>
            <a:off x="8321039" y="3503780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49639" y="3439772"/>
            <a:ext cx="3108960" cy="2728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Density-base reweighting</a:t>
            </a:r>
            <a:endParaRPr sz="14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48640" y="5074920"/>
            <a:ext cx="11064240" cy="27430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평가 조건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349240"/>
            <a:ext cx="11064240" cy="28424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→  DEEP 1M · 8M · SIFT 1.5M 3 </a:t>
            </a:r>
            <a:r>
              <a:rPr sz="14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데이터셋</a:t>
            </a: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× 5 seed × 5 selectivity </a:t>
            </a:r>
            <a:r>
              <a:rPr sz="14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동일</a:t>
            </a: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조건</a:t>
            </a:r>
            <a:endParaRPr sz="14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48640" y="576072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 b="1" dirty="0">
              <a:latin typeface="Apple SD Gothic Neo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77240" y="5835065"/>
            <a:ext cx="10515600" cy="27193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smtClean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★</a:t>
            </a:r>
            <a:r>
              <a:rPr lang="en-US" sz="1400" b="1" dirty="0" smtClean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400" b="1" dirty="0" smtClean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목표</a:t>
            </a:r>
            <a:r>
              <a:rPr lang="en-US" altLang="ko-KR" sz="1400" b="1" dirty="0" smtClean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: </a:t>
            </a:r>
            <a:r>
              <a:rPr lang="ko-KR" altLang="en-US" sz="1400" b="1" dirty="0" smtClean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적어도 하나의 저비용 방법이 </a:t>
            </a:r>
            <a:r>
              <a:rPr lang="en-US" altLang="ko-KR" sz="1400" b="1" dirty="0" smtClean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KM20 </a:t>
            </a:r>
            <a:r>
              <a:rPr lang="ko-KR" altLang="en-US" sz="1400" b="1" dirty="0" smtClean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효과의 </a:t>
            </a:r>
            <a:r>
              <a:rPr lang="en-US" altLang="ko-KR" sz="1400" b="1" dirty="0" smtClean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50% </a:t>
            </a:r>
            <a:r>
              <a:rPr lang="ko-KR" altLang="en-US" sz="1400" b="1" dirty="0" smtClean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이상을 회수하는지 검증</a:t>
            </a:r>
            <a:endParaRPr sz="1400" b="1" dirty="0">
              <a:solidFill>
                <a:srgbClr val="FAFAF9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5-</a:t>
            </a:r>
            <a:r>
              <a:rPr lang="en-US" sz="2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  <a:r>
              <a:rPr sz="2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 </a:t>
            </a:r>
            <a:r>
              <a:rPr lang="en-US" sz="2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Current Progress</a:t>
            </a:r>
            <a:endParaRPr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12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269748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90472"/>
            <a:ext cx="1371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W1 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2377440" cy="2585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1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4/4 ~ 4/11</a:t>
            </a:r>
            <a:endParaRPr sz="12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237744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3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환경 인수인계</a:t>
            </a:r>
            <a:r>
              <a:rPr lang="ko-KR" altLang="en-US" sz="1300" dirty="0">
                <a:latin typeface="Apple SD Gothic Neo"/>
              </a:rPr>
              <a:t> </a:t>
            </a:r>
            <a:r>
              <a:rPr lang="en-US" altLang="ko-KR" sz="1300" dirty="0" smtClean="0">
                <a:latin typeface="Apple SD Gothic Neo"/>
              </a:rPr>
              <a:t>·</a:t>
            </a:r>
            <a:r>
              <a:rPr lang="ko-KR" altLang="en-US" sz="1300" b="1" dirty="0" err="1" smtClean="0">
                <a:latin typeface="Apple SD Gothic Neo"/>
              </a:rPr>
              <a:t>빌드</a:t>
            </a:r>
            <a:endParaRPr sz="13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2468880" cy="5265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· </a:t>
            </a:r>
            <a:r>
              <a:rPr sz="900" b="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sz="1200" b="1" dirty="0" err="1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Exqutor</a:t>
            </a:r>
            <a:r>
              <a:rPr lang="en-US"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source  /    </a:t>
            </a:r>
          </a:p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dataset / server</a:t>
            </a:r>
            <a:r>
              <a:rPr lang="en-US" altLang="ko-KR"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인계</a:t>
            </a:r>
            <a:endParaRPr lang="en-US" sz="1200" b="1" dirty="0" smtClean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2468880" cy="525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·</a:t>
            </a:r>
            <a:r>
              <a:rPr 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sz="90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PostgreSQL + </a:t>
            </a:r>
            <a:r>
              <a:rPr lang="en-US" sz="1200" b="1" dirty="0" err="1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pgvector</a:t>
            </a:r>
            <a:r>
              <a:rPr lang="en-US"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</a:p>
          <a:p>
            <a:pPr algn="l">
              <a:lnSpc>
                <a:spcPct val="140000"/>
              </a:lnSpc>
            </a:pPr>
            <a:r>
              <a:rPr lang="en-US"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  + </a:t>
            </a:r>
            <a:r>
              <a:rPr lang="en-US" sz="1200" b="1" dirty="0" err="1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Exqutor</a:t>
            </a:r>
            <a:r>
              <a:rPr lang="en-US"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build</a:t>
            </a:r>
            <a:endParaRPr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2468880" cy="24878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·</a:t>
            </a:r>
            <a:r>
              <a:rPr lang="en-US" sz="9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sz="90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1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실험 테이블 및 실행 환경 </a:t>
            </a:r>
            <a:r>
              <a:rPr lang="ko-KR" altLang="en-US" sz="1100" b="1" dirty="0" err="1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세팅</a:t>
            </a:r>
            <a:endParaRPr sz="11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337560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37560" y="1417320"/>
            <a:ext cx="269748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20440" y="1490472"/>
            <a:ext cx="1371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W2 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057400"/>
            <a:ext cx="2377440" cy="2585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4/1</a:t>
            </a:r>
            <a:r>
              <a:rPr lang="en-US" sz="1200" b="1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  <a:r>
              <a:rPr sz="1200" b="1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~4/1</a:t>
            </a:r>
            <a:r>
              <a:rPr lang="en-US" sz="1200" b="1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9</a:t>
            </a:r>
            <a:endParaRPr sz="12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20440" y="2377440"/>
            <a:ext cx="246888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RQ1</a:t>
            </a:r>
            <a:r>
              <a:rPr lang="en-US" sz="13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3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구조</a:t>
            </a:r>
            <a:r>
              <a:rPr lang="ko-KR" altLang="en-US" sz="13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분석 </a:t>
            </a:r>
            <a:r>
              <a:rPr lang="en-US" altLang="ko-KR" sz="13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+ RQ2 </a:t>
            </a:r>
            <a:r>
              <a:rPr lang="ko-KR" altLang="en-US" sz="13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본 측정</a:t>
            </a:r>
            <a:endParaRPr sz="13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20440" y="2834640"/>
            <a:ext cx="2468880" cy="5539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· </a:t>
            </a:r>
            <a:r>
              <a:rPr lang="en-US"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Single-table AS branch </a:t>
            </a:r>
          </a:p>
          <a:p>
            <a:pPr algn="l">
              <a:lnSpc>
                <a:spcPct val="140000"/>
              </a:lnSpc>
            </a:pPr>
            <a:r>
              <a:rPr lang="en-US" altLang="ko-KR"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altLang="ko-KR"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1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비활성 확인</a:t>
            </a:r>
            <a:endParaRPr sz="11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520440" y="3337560"/>
            <a:ext cx="2468880" cy="5539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·</a:t>
            </a:r>
            <a:r>
              <a:rPr lang="en-US" sz="900" b="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 </a:t>
            </a:r>
            <a:r>
              <a:rPr lang="en-US"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Forced hook </a:t>
            </a:r>
            <a:r>
              <a:rPr lang="ko-KR" altLang="en-US"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적용 시 </a:t>
            </a:r>
            <a:endParaRPr lang="en-US" altLang="ko-KR" sz="1200" b="1" dirty="0" smtClean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40000"/>
              </a:lnSpc>
            </a:pPr>
            <a:r>
              <a:rPr lang="en-US" altLang="ko-KR"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 Sample Scan </a:t>
            </a:r>
            <a:r>
              <a:rPr lang="ko-KR" altLang="en-US"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부작용 확인</a:t>
            </a:r>
            <a:endParaRPr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520440" y="3840480"/>
            <a:ext cx="2468880" cy="5539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40000"/>
              </a:lnSpc>
            </a:pPr>
            <a:r>
              <a:rPr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·  </a:t>
            </a:r>
            <a:r>
              <a:rPr lang="en-US"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SYSTEM</a:t>
            </a:r>
            <a:r>
              <a:rPr lang="ko-KR" altLang="en-US"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  <a:r>
              <a:rPr lang="en-US" altLang="ko-KR"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BERN, BERN</a:t>
            </a:r>
            <a:r>
              <a:rPr lang="ko-KR" altLang="en-US"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  <a:r>
              <a:rPr lang="en-US" altLang="ko-KR"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KM20</a:t>
            </a:r>
          </a:p>
          <a:p>
            <a:pPr>
              <a:lnSpc>
                <a:spcPct val="140000"/>
              </a:lnSpc>
            </a:pPr>
            <a:r>
              <a:rPr lang="en-US"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 </a:t>
            </a:r>
            <a:r>
              <a:rPr lang="ko-KR" altLang="en-US" sz="1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본 측정 시작</a:t>
            </a:r>
            <a:endParaRPr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126479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26479" y="1417320"/>
            <a:ext cx="269748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59" y="1490472"/>
            <a:ext cx="1371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W3  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2057400"/>
            <a:ext cx="2377440" cy="2585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4/</a:t>
            </a:r>
            <a:r>
              <a:rPr lang="en-US" sz="1200" b="1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  <a:r>
              <a:rPr sz="1200" b="1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~4/</a:t>
            </a:r>
            <a:r>
              <a:rPr lang="en-US" sz="1200" b="1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26</a:t>
            </a:r>
            <a:endParaRPr sz="12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09359" y="2377440"/>
            <a:ext cx="237744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3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외적 타당성 </a:t>
            </a:r>
            <a:r>
              <a:rPr lang="en-US" altLang="ko-KR" sz="13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+ </a:t>
            </a:r>
            <a:r>
              <a:rPr lang="ko-KR" altLang="en-US" sz="13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원인분석</a:t>
            </a:r>
            <a:endParaRPr sz="13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09359" y="2834640"/>
            <a:ext cx="2468880" cy="5539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· </a:t>
            </a:r>
            <a:r>
              <a:rPr lang="en-US" altLang="ko-KR" sz="1200" b="1" dirty="0">
                <a:latin typeface="Apple SD Gothic Neo"/>
              </a:rPr>
              <a:t>DEEP 8M / SIFT </a:t>
            </a:r>
            <a:r>
              <a:rPr lang="en-US" altLang="ko-KR" sz="1200" b="1" dirty="0" smtClean="0">
                <a:latin typeface="Apple SD Gothic Neo"/>
              </a:rPr>
              <a:t>1.5M</a:t>
            </a:r>
          </a:p>
          <a:p>
            <a:pPr>
              <a:lnSpc>
                <a:spcPct val="140000"/>
              </a:lnSpc>
            </a:pPr>
            <a:r>
              <a:rPr lang="en-US" altLang="ko-KR" sz="1200" b="1" dirty="0" smtClean="0">
                <a:latin typeface="Apple SD Gothic Neo"/>
              </a:rPr>
              <a:t>  </a:t>
            </a:r>
            <a:r>
              <a:rPr lang="ko-KR" altLang="en-US" sz="1200" b="1" dirty="0" smtClean="0">
                <a:latin typeface="Apple SD Gothic Neo"/>
              </a:rPr>
              <a:t>교차 검증</a:t>
            </a:r>
            <a:endParaRPr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09359" y="3337560"/>
            <a:ext cx="2468880" cy="2954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40000"/>
              </a:lnSpc>
            </a:pPr>
            <a:r>
              <a:rPr sz="9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· </a:t>
            </a:r>
            <a:r>
              <a:rPr lang="en-US" altLang="ko-KR" sz="1200" b="1" dirty="0">
                <a:latin typeface="Apple SD Gothic Neo"/>
              </a:rPr>
              <a:t>5-seed 95% CI </a:t>
            </a:r>
            <a:r>
              <a:rPr lang="ko-KR" altLang="en-US" sz="1200" b="1" dirty="0">
                <a:latin typeface="Apple SD Gothic Neo"/>
              </a:rPr>
              <a:t>산출</a:t>
            </a:r>
            <a:endParaRPr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309359" y="3840480"/>
            <a:ext cx="2468880" cy="5539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· </a:t>
            </a:r>
            <a:r>
              <a:rPr lang="en-US" altLang="ko-KR" sz="1200" b="1" dirty="0">
                <a:latin typeface="Apple SD Gothic Neo"/>
              </a:rPr>
              <a:t>RANDOM20 / Two-Level </a:t>
            </a:r>
            <a:r>
              <a:rPr lang="en-US" altLang="ko-KR" sz="1200" b="1" dirty="0" smtClean="0">
                <a:latin typeface="Apple SD Gothic Neo"/>
              </a:rPr>
              <a:t>/</a:t>
            </a:r>
          </a:p>
          <a:p>
            <a:pPr>
              <a:lnSpc>
                <a:spcPct val="140000"/>
              </a:lnSpc>
            </a:pPr>
            <a:r>
              <a:rPr lang="en-US" altLang="ko-KR" sz="1200" b="1" dirty="0">
                <a:latin typeface="Apple SD Gothic Neo"/>
              </a:rPr>
              <a:t> </a:t>
            </a:r>
            <a:r>
              <a:rPr lang="en-US" altLang="ko-KR" sz="1200" b="1" dirty="0" smtClean="0">
                <a:latin typeface="Apple SD Gothic Neo"/>
              </a:rPr>
              <a:t> </a:t>
            </a:r>
            <a:r>
              <a:rPr lang="en-US" altLang="ko-KR" sz="1200" b="1" dirty="0">
                <a:latin typeface="Apple SD Gothic Neo"/>
              </a:rPr>
              <a:t>HHI / CV </a:t>
            </a:r>
            <a:r>
              <a:rPr lang="ko-KR" altLang="en-US" sz="1200" b="1" dirty="0">
                <a:latin typeface="Apple SD Gothic Neo"/>
              </a:rPr>
              <a:t>분석</a:t>
            </a:r>
            <a:endParaRPr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915399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915399" y="1417320"/>
            <a:ext cx="2697480" cy="5029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98279" y="1490472"/>
            <a:ext cx="1371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W4  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79" y="2057400"/>
            <a:ext cx="2377440" cy="23993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4/</a:t>
            </a:r>
            <a:r>
              <a:rPr lang="en-US" sz="1200" b="1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  <a:r>
              <a:rPr sz="1200" b="1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7~4/28</a:t>
            </a:r>
            <a:endParaRPr sz="12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098279" y="2377440"/>
            <a:ext cx="2377440" cy="25731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3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중간 산출물 정리</a:t>
            </a:r>
            <a:endParaRPr sz="13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098279" y="2834640"/>
            <a:ext cx="2468880" cy="26635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· </a:t>
            </a:r>
            <a:r>
              <a:rPr lang="ko-KR" altLang="en-US" sz="1200" dirty="0">
                <a:latin typeface="Apple SD Gothic Neo"/>
              </a:rPr>
              <a:t>중간보고서 최종화</a:t>
            </a:r>
            <a:endParaRPr sz="12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098279" y="3337560"/>
            <a:ext cx="2468880" cy="2954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·</a:t>
            </a:r>
            <a:r>
              <a:rPr lang="en-US" sz="1200" b="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200" b="0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발표자료 정리</a:t>
            </a:r>
            <a:endParaRPr sz="12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098279" y="3840480"/>
            <a:ext cx="2468880" cy="5539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40000"/>
              </a:lnSpc>
            </a:pPr>
            <a:r>
              <a:rPr sz="12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· </a:t>
            </a:r>
            <a:r>
              <a:rPr lang="ko-KR" altLang="en-US" sz="1200" dirty="0" smtClean="0"/>
              <a:t>코드</a:t>
            </a:r>
            <a:r>
              <a:rPr lang="en-US" altLang="ko-KR" sz="1200" dirty="0"/>
              <a:t>·</a:t>
            </a:r>
            <a:r>
              <a:rPr lang="ko-KR" altLang="en-US" sz="1200" dirty="0"/>
              <a:t>결과 재현 가능 형태로 </a:t>
            </a:r>
            <a:endParaRPr lang="en-US" altLang="ko-KR" sz="1200" dirty="0" smtClean="0"/>
          </a:p>
          <a:p>
            <a:pPr>
              <a:lnSpc>
                <a:spcPct val="140000"/>
              </a:lnSpc>
            </a:pPr>
            <a:r>
              <a:rPr lang="en-US" altLang="ko-KR" sz="1200" dirty="0"/>
              <a:t> </a:t>
            </a:r>
            <a:r>
              <a:rPr lang="en-US" altLang="ko-KR" sz="1200" dirty="0" smtClean="0"/>
              <a:t>     </a:t>
            </a:r>
            <a:r>
              <a:rPr lang="ko-KR" altLang="en-US" sz="1200" dirty="0" smtClean="0"/>
              <a:t>보존</a:t>
            </a:r>
            <a:endParaRPr sz="12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5-</a:t>
            </a:r>
            <a:r>
              <a:rPr lang="en-US" sz="2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  <a:r>
              <a:rPr sz="2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 </a:t>
            </a:r>
            <a:r>
              <a:rPr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향후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200" b="1" dirty="0" err="1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계획</a:t>
            </a:r>
            <a:endParaRPr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13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463040"/>
            <a:ext cx="1554480" cy="2060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4/29~5/6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463040"/>
            <a:ext cx="320040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RQ</a:t>
            </a:r>
            <a:r>
              <a:rPr lang="en-US" sz="13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  <a:r>
              <a:rPr lang="ko-KR" altLang="en-US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3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보강 </a:t>
            </a:r>
            <a:r>
              <a:rPr lang="en-US" altLang="ko-KR" sz="13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+ RQ3 Offline Pilot</a:t>
            </a:r>
            <a:endParaRPr sz="13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46520" y="1490472"/>
            <a:ext cx="521208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Low-selectivity </a:t>
            </a:r>
            <a:r>
              <a:rPr lang="ko-KR" altLang="en-US" sz="1000" b="0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구간 반복 실험 보강</a:t>
            </a:r>
            <a:endParaRPr sz="10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251460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48640" y="201168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075688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057400"/>
            <a:ext cx="1554480" cy="2060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5/7~5/13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057400"/>
            <a:ext cx="320040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RQ3</a:t>
            </a:r>
            <a:r>
              <a:rPr lang="en-US" sz="13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Offline </a:t>
            </a:r>
            <a:r>
              <a:rPr sz="13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5-seed</a:t>
            </a:r>
            <a:endParaRPr sz="13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46520" y="2084832"/>
            <a:ext cx="5212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선별된 1~2 방법 5-seed × 3 데이터셋 — Recovery Rate 산출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0896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48640" y="260604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2670048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2651760"/>
            <a:ext cx="1554480" cy="2060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5/14~5/20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2651760"/>
            <a:ext cx="320040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RQ3</a:t>
            </a:r>
            <a:r>
              <a:rPr lang="en-US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sz="13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Online / Weight-based</a:t>
            </a:r>
            <a:endParaRPr sz="13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46520" y="2679192"/>
            <a:ext cx="521208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Distance-Shell, KDE-pilot </a:t>
            </a:r>
            <a:r>
              <a:rPr lang="ko-KR" altLang="en-US" sz="1000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등 </a:t>
            </a:r>
            <a:r>
              <a:rPr lang="en-US" altLang="ko-KR" sz="1000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query-adaptive </a:t>
            </a:r>
            <a:r>
              <a:rPr lang="ko-KR" altLang="en-US" sz="1000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후보</a:t>
            </a:r>
            <a:endParaRPr sz="10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370332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48640" y="320040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3264408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3246120"/>
            <a:ext cx="155448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5/21~5/27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3246120"/>
            <a:ext cx="320040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3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민감도 분석</a:t>
            </a:r>
            <a:r>
              <a:rPr sz="13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+ </a:t>
            </a:r>
            <a:r>
              <a:rPr sz="13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최종발표</a:t>
            </a: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준비</a:t>
            </a:r>
            <a:endParaRPr sz="13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46520" y="3273552"/>
            <a:ext cx="521208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dirty="0" err="1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Sample_size</a:t>
            </a:r>
            <a:r>
              <a:rPr lang="en-US" sz="1000" b="0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sensitivity, K sweep = 10/20/30/50, BERN </a:t>
            </a:r>
            <a:r>
              <a:rPr lang="ko-KR" altLang="en-US" sz="1000" b="0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최적화</a:t>
            </a:r>
            <a:endParaRPr sz="10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48640" y="429768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48640" y="379476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3858768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3840480"/>
            <a:ext cx="155448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5/28~6/4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3840480"/>
            <a:ext cx="320040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최종발표</a:t>
            </a: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+ </a:t>
            </a:r>
            <a:r>
              <a:rPr sz="1300" b="1" dirty="0" err="1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전시회</a:t>
            </a:r>
            <a:r>
              <a:rPr lang="en-US" sz="13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3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준비</a:t>
            </a:r>
            <a:endParaRPr sz="13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46520" y="3867912"/>
            <a:ext cx="521208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Q&amp;A </a:t>
            </a:r>
            <a:r>
              <a:rPr lang="ko-KR" altLang="en-US" sz="1000" b="0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예상 질문 정리</a:t>
            </a:r>
            <a:r>
              <a:rPr lang="en-US" altLang="ko-KR" sz="1000" b="0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lang="ko-KR" altLang="en-US" sz="1000" b="0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발표</a:t>
            </a:r>
            <a:r>
              <a:rPr lang="en-US" altLang="ko-KR" sz="1000" b="0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/</a:t>
            </a:r>
            <a:r>
              <a:rPr lang="ko-KR" altLang="en-US" sz="1000" b="0" dirty="0" smtClean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포스터 준비</a:t>
            </a:r>
            <a:endParaRPr sz="10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48640" y="489204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48640" y="438912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4453128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08760" y="4434840"/>
            <a:ext cx="1554480" cy="2060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6/5~6/11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54680" y="443484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최종보고서 작성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462272"/>
            <a:ext cx="5212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RQ1 + RQ2 + RQ3 통합 + 실험 재현 가이드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760720"/>
            <a:ext cx="2286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산출물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5760720"/>
            <a:ext cx="9601200" cy="22339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최종발표</a:t>
            </a:r>
            <a:r>
              <a:rPr sz="11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PDF (5/27~29)  ·  </a:t>
            </a:r>
            <a:r>
              <a:rPr sz="11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전시회</a:t>
            </a:r>
            <a:r>
              <a:rPr sz="11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포스터</a:t>
            </a:r>
            <a:r>
              <a:rPr sz="11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(6/5)  ·  </a:t>
            </a:r>
            <a:r>
              <a:rPr sz="11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최종보고서</a:t>
            </a:r>
            <a:r>
              <a:rPr sz="11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PDF (6/11)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5-</a:t>
            </a:r>
            <a:r>
              <a:rPr lang="en-US" sz="2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  <a:r>
              <a:rPr sz="24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r>
              <a:rPr sz="2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200" b="1" dirty="0" err="1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팀원</a:t>
            </a:r>
            <a:r>
              <a:rPr lang="en-US" sz="2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200" b="1" dirty="0" smtClean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별 </a:t>
            </a:r>
            <a:r>
              <a:rPr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역할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분담</a:t>
            </a:r>
            <a:endParaRPr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14 / 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0477486"/>
              </p:ext>
            </p:extLst>
          </p:nvPr>
        </p:nvGraphicFramePr>
        <p:xfrm>
          <a:off x="548640" y="150876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804672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rgbClr val="FAFAF9"/>
                          </a:solidFill>
                          <a:latin typeface="Apple SD Gothic Neo"/>
                        </a:rPr>
                        <a:t>이름</a:t>
                      </a:r>
                      <a:endParaRPr sz="12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AFAF9"/>
                          </a:solidFill>
                          <a:latin typeface="Apple SD Gothic Neo"/>
                        </a:rPr>
                        <a:t>역할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AFAF9"/>
                          </a:solidFill>
                          <a:latin typeface="Apple SD Gothic Neo"/>
                        </a:rPr>
                        <a:t>담당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71717"/>
                          </a:solidFill>
                          <a:latin typeface="Apple SD Gothic Neo"/>
                        </a:rPr>
                        <a:t>박세은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rgbClr val="171717"/>
                          </a:solidFill>
                          <a:latin typeface="Apple SD Gothic Neo"/>
                        </a:rPr>
                        <a:t>팀장</a:t>
                      </a:r>
                      <a:endParaRPr sz="1200" b="1" dirty="0">
                        <a:solidFill>
                          <a:srgbClr val="171717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ko-KR" sz="1200" kern="1200" dirty="0" smtClean="0">
                          <a:solidFill>
                            <a:schemeClr val="dk1"/>
                          </a:solidFill>
                          <a:effectLst/>
                          <a:latin typeface="Apple SD Gothic Neo"/>
                          <a:ea typeface="+mn-ea"/>
                          <a:cs typeface="+mn-cs"/>
                        </a:rPr>
                        <a:t>전체 일정 관리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effectLst/>
                          <a:latin typeface="Apple SD Gothic Neo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200" kern="1200" dirty="0" smtClean="0">
                          <a:solidFill>
                            <a:schemeClr val="dk1"/>
                          </a:solidFill>
                          <a:effectLst/>
                          <a:latin typeface="Apple SD Gothic Neo"/>
                          <a:ea typeface="+mn-ea"/>
                          <a:cs typeface="+mn-cs"/>
                        </a:rPr>
                        <a:t>자문 회신 정리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effectLst/>
                          <a:latin typeface="Apple SD Gothic Neo"/>
                          <a:ea typeface="+mn-ea"/>
                          <a:cs typeface="+mn-cs"/>
                        </a:rPr>
                        <a:t>, 4 </a:t>
                      </a:r>
                      <a:r>
                        <a:rPr lang="ko-KR" altLang="ko-KR" sz="1200" kern="1200" dirty="0" smtClean="0">
                          <a:solidFill>
                            <a:schemeClr val="dk1"/>
                          </a:solidFill>
                          <a:effectLst/>
                          <a:latin typeface="Apple SD Gothic Neo"/>
                          <a:ea typeface="+mn-ea"/>
                          <a:cs typeface="+mn-cs"/>
                        </a:rPr>
                        <a:t>인 합의 주재</a:t>
                      </a:r>
                      <a:endParaRPr sz="1200" b="0" dirty="0">
                        <a:solidFill>
                          <a:srgbClr val="171717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71717"/>
                          </a:solidFill>
                          <a:latin typeface="Apple SD Gothic Neo"/>
                        </a:rPr>
                        <a:t>강재현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rgbClr val="171717"/>
                          </a:solidFill>
                          <a:latin typeface="Apple SD Gothic Neo"/>
                        </a:rPr>
                        <a:t>발표자</a:t>
                      </a:r>
                      <a:endParaRPr sz="1200" b="1" dirty="0">
                        <a:solidFill>
                          <a:srgbClr val="171717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ko-KR" sz="1200" kern="1200" dirty="0" smtClean="0">
                          <a:solidFill>
                            <a:schemeClr val="dk1"/>
                          </a:solidFill>
                          <a:effectLst/>
                          <a:latin typeface="Apple SD Gothic Neo"/>
                          <a:ea typeface="+mn-ea"/>
                          <a:cs typeface="+mn-cs"/>
                        </a:rPr>
                        <a:t>중간 발표 슬라이드 제작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effectLst/>
                          <a:latin typeface="Apple SD Gothic Neo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200" kern="1200" dirty="0" smtClean="0">
                          <a:solidFill>
                            <a:schemeClr val="dk1"/>
                          </a:solidFill>
                          <a:effectLst/>
                          <a:latin typeface="Apple SD Gothic Neo"/>
                          <a:ea typeface="+mn-ea"/>
                          <a:cs typeface="+mn-cs"/>
                        </a:rPr>
                        <a:t>발표</a:t>
                      </a:r>
                      <a:endParaRPr sz="1200" b="0" dirty="0">
                        <a:solidFill>
                          <a:srgbClr val="171717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FAFA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71717"/>
                          </a:solidFill>
                          <a:latin typeface="Apple SD Gothic Neo"/>
                        </a:rPr>
                        <a:t>조현빈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rgbClr val="171717"/>
                          </a:solidFill>
                          <a:latin typeface="Apple SD Gothic Neo"/>
                        </a:rPr>
                        <a:t>실험</a:t>
                      </a:r>
                      <a:r>
                        <a:rPr sz="1200" b="1" dirty="0" smtClean="0">
                          <a:solidFill>
                            <a:srgbClr val="171717"/>
                          </a:solidFill>
                          <a:latin typeface="Apple SD Gothic Neo"/>
                        </a:rPr>
                        <a:t>·</a:t>
                      </a:r>
                      <a:r>
                        <a:rPr lang="ko-KR" altLang="en-US" sz="1200" b="1" dirty="0" smtClean="0">
                          <a:solidFill>
                            <a:srgbClr val="171717"/>
                          </a:solidFill>
                          <a:latin typeface="Apple SD Gothic Neo"/>
                        </a:rPr>
                        <a:t>분석</a:t>
                      </a:r>
                      <a:endParaRPr sz="1200" b="1" dirty="0">
                        <a:solidFill>
                          <a:srgbClr val="171717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ko-KR" sz="1200" kern="1200" dirty="0" smtClean="0">
                          <a:solidFill>
                            <a:schemeClr val="dk1"/>
                          </a:solidFill>
                          <a:effectLst/>
                          <a:latin typeface="Apple SD Gothic Neo"/>
                          <a:ea typeface="+mn-ea"/>
                          <a:cs typeface="+mn-cs"/>
                        </a:rPr>
                        <a:t>실험 구현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effectLst/>
                          <a:latin typeface="Apple SD Gothic Neo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200" kern="1200" dirty="0" smtClean="0">
                          <a:solidFill>
                            <a:schemeClr val="dk1"/>
                          </a:solidFill>
                          <a:effectLst/>
                          <a:latin typeface="Apple SD Gothic Neo"/>
                          <a:ea typeface="+mn-ea"/>
                          <a:cs typeface="+mn-cs"/>
                        </a:rPr>
                        <a:t>코드 수정 작업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effectLst/>
                          <a:latin typeface="Apple SD Gothic Neo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200" kern="1200" dirty="0" smtClean="0">
                          <a:solidFill>
                            <a:schemeClr val="dk1"/>
                          </a:solidFill>
                          <a:effectLst/>
                          <a:latin typeface="Apple SD Gothic Neo"/>
                          <a:ea typeface="+mn-ea"/>
                          <a:cs typeface="+mn-cs"/>
                        </a:rPr>
                        <a:t>보고서 작성</a:t>
                      </a:r>
                      <a:endParaRPr sz="1200" b="0" dirty="0">
                        <a:solidFill>
                          <a:srgbClr val="171717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71717"/>
                          </a:solidFill>
                          <a:latin typeface="Apple SD Gothic Neo"/>
                        </a:rPr>
                        <a:t>이동욱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1" dirty="0" smtClean="0">
                          <a:solidFill>
                            <a:srgbClr val="171717"/>
                          </a:solidFill>
                          <a:latin typeface="Apple SD Gothic Neo"/>
                        </a:rPr>
                        <a:t>문서화</a:t>
                      </a:r>
                      <a:r>
                        <a:rPr sz="1200" b="1" dirty="0" smtClean="0">
                          <a:solidFill>
                            <a:srgbClr val="171717"/>
                          </a:solidFill>
                          <a:latin typeface="Apple SD Gothic Neo"/>
                        </a:rPr>
                        <a:t>·</a:t>
                      </a:r>
                      <a:r>
                        <a:rPr lang="ko-KR" altLang="en-US" sz="1200" b="1" dirty="0" smtClean="0">
                          <a:solidFill>
                            <a:srgbClr val="171717"/>
                          </a:solidFill>
                          <a:latin typeface="Apple SD Gothic Neo"/>
                        </a:rPr>
                        <a:t>검토</a:t>
                      </a:r>
                      <a:endParaRPr sz="1200" b="1" dirty="0">
                        <a:solidFill>
                          <a:srgbClr val="171717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ko-KR" sz="1200" kern="1200" dirty="0" smtClean="0">
                          <a:solidFill>
                            <a:schemeClr val="dk1"/>
                          </a:solidFill>
                          <a:effectLst/>
                          <a:latin typeface="Apple SD Gothic Neo"/>
                          <a:ea typeface="+mn-ea"/>
                          <a:cs typeface="+mn-cs"/>
                        </a:rPr>
                        <a:t>보고서 작성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effectLst/>
                          <a:latin typeface="Apple SD Gothic Neo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200" kern="1200" dirty="0" smtClean="0">
                          <a:solidFill>
                            <a:schemeClr val="dk1"/>
                          </a:solidFill>
                          <a:effectLst/>
                          <a:latin typeface="Apple SD Gothic Neo"/>
                          <a:ea typeface="+mn-ea"/>
                          <a:cs typeface="+mn-cs"/>
                        </a:rPr>
                        <a:t>보고서 및 발표 슬라이드 검토</a:t>
                      </a:r>
                      <a:r>
                        <a:rPr lang="en-US" altLang="ko-KR" sz="1200" kern="1200" dirty="0" smtClean="0">
                          <a:solidFill>
                            <a:schemeClr val="dk1"/>
                          </a:solidFill>
                          <a:effectLst/>
                          <a:latin typeface="Apple SD Gothic Neo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200" kern="1200" dirty="0" smtClean="0">
                          <a:solidFill>
                            <a:schemeClr val="dk1"/>
                          </a:solidFill>
                          <a:effectLst/>
                          <a:latin typeface="Apple SD Gothic Neo"/>
                          <a:ea typeface="+mn-ea"/>
                          <a:cs typeface="+mn-cs"/>
                        </a:rPr>
                        <a:t>수정</a:t>
                      </a:r>
                      <a:endParaRPr sz="1200" b="0" dirty="0">
                        <a:solidFill>
                          <a:srgbClr val="171717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FAFA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0" y="2377440"/>
            <a:ext cx="219456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606040"/>
            <a:ext cx="12191695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749039"/>
            <a:ext cx="12191695" cy="35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800" b="0" smtClean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Q &amp; A</a:t>
            </a:r>
            <a:endParaRPr sz="1800" b="0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속도는벡터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440680"/>
            <a:ext cx="1219169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박세은 (팀장) · 강재현 · 조현빈 · 이동욱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1448</Words>
  <Application>Microsoft Office PowerPoint</Application>
  <PresentationFormat>사용자 지정</PresentationFormat>
  <Paragraphs>311</Paragraphs>
  <Slides>15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6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강재현</cp:lastModifiedBy>
  <cp:revision>35</cp:revision>
  <dcterms:created xsi:type="dcterms:W3CDTF">2013-01-27T09:14:16Z</dcterms:created>
  <dcterms:modified xsi:type="dcterms:W3CDTF">2026-04-28T10:47:07Z</dcterms:modified>
  <cp:category/>
</cp:coreProperties>
</file>
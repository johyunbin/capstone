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14400"/>
            <a:ext cx="2095500" cy="1333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2793008"/>
            <a:ext cx="160896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336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연세대학교 · 2026 · 캡스톤 디자인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333500" y="3459758"/>
            <a:ext cx="16089630" cy="1437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800" b="1" spc="-432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</a:t>
            </a:r>
            <a:pPr algn="l" indent="0" marL="0">
              <a:lnSpc>
                <a:spcPct val="102000"/>
              </a:lnSpc>
              <a:buNone/>
            </a:pPr>
            <a:r>
              <a:rPr lang="en-US" sz="10800" b="1" spc="-432" kern="0" dirty="0">
                <a:solidFill>
                  <a:srgbClr val="0000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1333500" y="5125442"/>
            <a:ext cx="1471612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000" spc="-30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분석 쿼리의 카디널리티 추정을 위한 분포 인지 표본 선택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3500" y="8470900"/>
            <a:ext cx="10123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팀원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841129" y="8470900"/>
            <a:ext cx="1453677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(팀장) · 강재현 · 조현빈 · 이동욱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9036050"/>
            <a:ext cx="10123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56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지도교수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841129" y="9036050"/>
            <a:ext cx="1453677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박광현 교수 (BDAI Lab)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추정이 틀리면 쿼리가 느려진다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2584450" y="4332585"/>
            <a:ext cx="312420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22415" y="4748510"/>
            <a:ext cx="5244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784005" y="5180311"/>
            <a:ext cx="801291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쿼리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3363813" y="5815310"/>
            <a:ext cx="1641673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조회 · 조건 · 결합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5350" y="5227936"/>
            <a:ext cx="1143000" cy="381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85050" y="4230985"/>
            <a:ext cx="3517900" cy="2374900"/>
          </a:xfrm>
          <a:prstGeom prst="roundRect">
            <a:avLst>
              <a:gd name="adj" fmla="val 6417"/>
            </a:avLst>
          </a:prstGeom>
          <a:solidFill>
            <a:srgbClr val="FEF3EC"/>
          </a:solidFill>
          <a:ln w="44450">
            <a:solidFill>
              <a:srgbClr val="F973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86750" y="4008735"/>
            <a:ext cx="1714500" cy="787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8496300" y="4103985"/>
            <a:ext cx="1371600" cy="635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 크기 추정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196461" y="4815185"/>
            <a:ext cx="1971278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</a:t>
            </a:r>
            <a:endParaRPr lang="en-US" sz="3450" dirty="0"/>
          </a:p>
        </p:txBody>
      </p:sp>
      <p:sp>
        <p:nvSpPr>
          <p:cNvPr id="14" name="Text 11"/>
          <p:cNvSpPr/>
          <p:nvPr/>
        </p:nvSpPr>
        <p:spPr>
          <a:xfrm>
            <a:off x="8224739" y="5475586"/>
            <a:ext cx="1838524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결과가 몇 행 나올지 미리 헤아리는 단계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651" y="5227936"/>
            <a:ext cx="1143000" cy="381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579351" y="4332585"/>
            <a:ext cx="3124200" cy="217170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3917316" y="4748510"/>
            <a:ext cx="5244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</a:t>
            </a:r>
            <a:endParaRPr lang="en-US" sz="1950" dirty="0"/>
          </a:p>
        </p:txBody>
      </p:sp>
      <p:sp>
        <p:nvSpPr>
          <p:cNvPr id="18" name="Text 14"/>
          <p:cNvSpPr/>
          <p:nvPr/>
        </p:nvSpPr>
        <p:spPr>
          <a:xfrm>
            <a:off x="13361294" y="5180311"/>
            <a:ext cx="1636514" cy="53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계획</a:t>
            </a:r>
            <a:endParaRPr lang="en-US" sz="3300" dirty="0"/>
          </a:p>
        </p:txBody>
      </p:sp>
      <p:sp>
        <p:nvSpPr>
          <p:cNvPr id="19" name="Text 15"/>
          <p:cNvSpPr/>
          <p:nvPr/>
        </p:nvSpPr>
        <p:spPr>
          <a:xfrm>
            <a:off x="12804180" y="5815310"/>
            <a:ext cx="275467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스캔 방식 · 인덱스 · 결합 순서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21" name="Shape 17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18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추정이 틀리면 실행 계획이 어긋나고, 쿼리는 몇 배씩 느려진다.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데이터와 무관한 고정 비율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1263650" y="2841625"/>
            <a:ext cx="7404100" cy="5153620"/>
          </a:xfrm>
          <a:prstGeom prst="roundRect">
            <a:avLst>
              <a:gd name="adj" fmla="val 4436"/>
            </a:avLst>
          </a:prstGeom>
          <a:solidFill>
            <a:srgbClr val="FFFFFF"/>
          </a:solidFill>
          <a:ln w="444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17700" y="3648075"/>
            <a:ext cx="161071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표본을 뽑을 때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17700" y="4213225"/>
            <a:ext cx="3787154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b="1" spc="-66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pPr algn="l" indent="0" marL="0">
              <a:lnSpc>
                <a:spcPct val="90000"/>
              </a:lnSpc>
              <a:buNone/>
            </a:pPr>
            <a:r>
              <a:rPr lang="en-US" sz="9000" b="1" spc="-660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1917700" y="6365875"/>
            <a:ext cx="2880784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종류와 무관하게 똑같이 33%만 뽑는다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20250" y="2841625"/>
            <a:ext cx="7404100" cy="5153620"/>
          </a:xfrm>
          <a:prstGeom prst="roundRect">
            <a:avLst>
              <a:gd name="adj" fmla="val 4436"/>
            </a:avLst>
          </a:prstGeom>
          <a:solidFill>
            <a:srgbClr val="FFFFFF"/>
          </a:solidFill>
          <a:ln w="4445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74301" y="3648075"/>
            <a:ext cx="206881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필터링을 가정할 때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74301" y="4213225"/>
            <a:ext cx="4804713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500" b="1" spc="-66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9000" b="1" spc="-660" kern="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6500" dirty="0"/>
          </a:p>
        </p:txBody>
      </p:sp>
      <p:sp>
        <p:nvSpPr>
          <p:cNvPr id="12" name="Text 10"/>
          <p:cNvSpPr/>
          <p:nvPr/>
        </p:nvSpPr>
        <p:spPr>
          <a:xfrm>
            <a:off x="10274301" y="6365875"/>
            <a:ext cx="3234891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조건이든 모두 통과할 거라 가정한다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FEF3E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데이터의 모양을 보지 않고 정해진 숫자만 쓰니, 추정은 자주 빗나간다.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방법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뽑는 방식 하나만 바꿨다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171700" y="3951585"/>
            <a:ext cx="3505200" cy="27432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0952" y="4567535"/>
            <a:ext cx="62279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1단계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355777" y="5018386"/>
            <a:ext cx="1213247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</a:t>
            </a:r>
            <a:endParaRPr lang="en-US" sz="3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5697835"/>
            <a:ext cx="1905000" cy="3810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5110460"/>
            <a:ext cx="952500" cy="381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086600" y="3551535"/>
            <a:ext cx="4114800" cy="3543300"/>
          </a:xfrm>
          <a:prstGeom prst="roundRect">
            <a:avLst>
              <a:gd name="adj" fmla="val 5376"/>
            </a:avLst>
          </a:prstGeom>
          <a:solidFill>
            <a:srgbClr val="ECF7FD"/>
          </a:solidFill>
          <a:ln w="57150">
            <a:solidFill>
              <a:srgbClr val="0EA5E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1896" y="3284835"/>
            <a:ext cx="2564110" cy="5270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8147646" y="3399135"/>
            <a:ext cx="206953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여기 하나만 바꿨다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8848725" y="4544417"/>
            <a:ext cx="6666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2단계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8183860" y="5014317"/>
            <a:ext cx="1920280" cy="607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9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뽑기</a:t>
            </a:r>
            <a:endParaRPr lang="en-US" sz="3900" dirty="0"/>
          </a:p>
        </p:txBody>
      </p:sp>
      <p:sp>
        <p:nvSpPr>
          <p:cNvPr id="15" name="Text 11"/>
          <p:cNvSpPr/>
          <p:nvPr/>
        </p:nvSpPr>
        <p:spPr>
          <a:xfrm>
            <a:off x="7816587" y="5755283"/>
            <a:ext cx="2654728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→ </a:t>
            </a:r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분포 반영</a:t>
            </a:r>
            <a:endParaRPr lang="en-US" sz="1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5110460"/>
            <a:ext cx="952500" cy="381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2611100" y="3951585"/>
            <a:ext cx="3505200" cy="27432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38100">
            <a:solidFill>
              <a:srgbClr val="1E3A5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4068227" y="4608810"/>
            <a:ext cx="66714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3단계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13984685" y="5059660"/>
            <a:ext cx="834231" cy="565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</a:t>
            </a:r>
            <a:endParaRPr lang="en-US" sz="3450" dirty="0"/>
          </a:p>
        </p:txBody>
      </p:sp>
      <p:sp>
        <p:nvSpPr>
          <p:cNvPr id="20" name="Text 15"/>
          <p:cNvSpPr/>
          <p:nvPr/>
        </p:nvSpPr>
        <p:spPr>
          <a:xfrm>
            <a:off x="13581361" y="5739110"/>
            <a:ext cx="16408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카디널리티 결과</a:t>
            </a:r>
            <a:endParaRPr lang="en-US" sz="1950" dirty="0"/>
          </a:p>
        </p:txBody>
      </p:sp>
      <p:sp>
        <p:nvSpPr>
          <p:cNvPr id="21" name="Shape 16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ECF7FD"/>
          </a:solidFill>
          <a:ln/>
        </p:spPr>
      </p:sp>
      <p:sp>
        <p:nvSpPr>
          <p:cNvPr id="22" name="Shape 17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18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파이프라인의 나머지는 그대로, 표본을 뽑는 한 단계만 분포를 반영하도록 바꿨다.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방법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무작위는 쏠린 곳만 뽑는다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3026371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26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— 무작위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143000" y="3578821"/>
            <a:ext cx="7620000" cy="4643239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400" y="3985220"/>
            <a:ext cx="6807200" cy="38304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8450660"/>
            <a:ext cx="7848600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큰 구간에 몰려서 뽑히고, 작은 구간은 잘 안 잡힌다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525000" y="3026371"/>
            <a:ext cx="78486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2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— 분포 반영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525000" y="3578821"/>
            <a:ext cx="7620000" cy="4989909"/>
          </a:xfrm>
          <a:prstGeom prst="roundRect">
            <a:avLst>
              <a:gd name="adj" fmla="val 3436"/>
            </a:avLst>
          </a:prstGeom>
          <a:solidFill>
            <a:srgbClr val="ECF7FD"/>
          </a:solidFill>
          <a:ln w="25400">
            <a:solidFill>
              <a:srgbClr val="0EA5E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401" y="3985220"/>
            <a:ext cx="6807200" cy="4177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5000" y="8797330"/>
            <a:ext cx="7848600" cy="3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큰 구간·작은 구간 모두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골고루 잡힌다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방법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분포 파악 → 표본 추출 → 결합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2571750" y="3145830"/>
            <a:ext cx="1143000" cy="11430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533650" y="314583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4593630"/>
            <a:ext cx="2286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83110" y="6041430"/>
            <a:ext cx="192028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분포 파악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183110" y="6651030"/>
            <a:ext cx="1920280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데이터가 어디에 얼마나 몰려 있는지 먼저 살핀다</a:t>
            </a:r>
            <a:endParaRPr lang="en-US" sz="1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227936"/>
            <a:ext cx="762000" cy="3810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477250" y="3145830"/>
            <a:ext cx="1143000" cy="11430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8"/>
          <p:cNvSpPr/>
          <p:nvPr/>
        </p:nvSpPr>
        <p:spPr>
          <a:xfrm>
            <a:off x="8439150" y="3145830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4593630"/>
            <a:ext cx="2286000" cy="1143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21154" y="6041430"/>
            <a:ext cx="18550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추출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8121154" y="6651030"/>
            <a:ext cx="1855093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분포에 맞춰 구간마다 비율대로 표본을 고른다</a:t>
            </a:r>
            <a:endParaRPr lang="en-US" sz="1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20500" y="5227936"/>
            <a:ext cx="762000" cy="3810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478000" y="3033415"/>
            <a:ext cx="1143000" cy="11430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2"/>
          <p:cNvSpPr/>
          <p:nvPr/>
        </p:nvSpPr>
        <p:spPr>
          <a:xfrm>
            <a:off x="14439900" y="3033415"/>
            <a:ext cx="121920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8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0" y="4481215"/>
            <a:ext cx="4191000" cy="1714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42604" y="6500515"/>
            <a:ext cx="241379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13842604" y="7110115"/>
            <a:ext cx="2413794" cy="731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추정과 우리 추정을 </a:t>
            </a:r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산술평균</a:t>
            </a:r>
            <a:pPr algn="ctr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합친다</a:t>
            </a:r>
            <a:endParaRPr lang="en-US" sz="1950" dirty="0"/>
          </a:p>
        </p:txBody>
      </p:sp>
      <p:sp>
        <p:nvSpPr>
          <p:cNvPr id="22" name="Shape 15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ECF7FD"/>
          </a:solidFill>
          <a:ln/>
        </p:spPr>
      </p:sp>
      <p:sp>
        <p:nvSpPr>
          <p:cNvPr id="23" name="Shape 16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17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분포를 파악하고, 거기 맞춰 표본을 뽑고, 두 추정값을 합친다.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방법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조건에서 세 방식을 비교했다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21621"/>
            <a:ext cx="4953000" cy="4593630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 w="4445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4650" y="3699470"/>
            <a:ext cx="40681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대조 · 논문 그대로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44650" y="4264621"/>
            <a:ext cx="4068191" cy="56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방식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44650" y="5057081"/>
            <a:ext cx="3949700" cy="13335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1644650" y="5457131"/>
            <a:ext cx="4068191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무작위로 표본을 뽑는 지금까지의 방법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667500" y="3121621"/>
            <a:ext cx="4953000" cy="4593630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 w="4445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9150" y="3699470"/>
            <a:ext cx="406819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대조군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169150" y="4264621"/>
            <a:ext cx="4068191" cy="56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 대체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169150" y="5057081"/>
            <a:ext cx="3949700" cy="1333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169150" y="5457131"/>
            <a:ext cx="4068191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무작위 표본을 우리 표본으로 통째로 갈아 끼움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192000" y="3121621"/>
            <a:ext cx="4953000" cy="4593630"/>
          </a:xfrm>
          <a:prstGeom prst="roundRect">
            <a:avLst>
              <a:gd name="adj" fmla="val 4976"/>
            </a:avLst>
          </a:prstGeom>
          <a:solidFill>
            <a:srgbClr val="ECF7FD"/>
          </a:solidFill>
          <a:ln w="5715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706350" y="2912071"/>
            <a:ext cx="1682651" cy="5270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12934950" y="3026371"/>
            <a:ext cx="130165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우리가 제안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706350" y="3712171"/>
            <a:ext cx="404202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제안 방식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706350" y="4277320"/>
            <a:ext cx="4042029" cy="56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2706350" y="5069781"/>
            <a:ext cx="3924300" cy="1333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12706350" y="5469831"/>
            <a:ext cx="4042029" cy="78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추정과 우리 추정을 </a:t>
            </a:r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산술평균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합침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ECF7FD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데이터·같은 쿼리·같은 조건에서 세 방식의 추정 정확도를 동시에 측정한다.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다섯 축에서 1508번 측정했다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3119438"/>
            <a:ext cx="863346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135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실험 횟수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1143000" y="3773488"/>
            <a:ext cx="8382000" cy="3429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773488"/>
            <a:ext cx="8633460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0" b="1" spc="-120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1508</a:t>
            </a:r>
            <a:endParaRPr lang="en-US" sz="30000" dirty="0"/>
          </a:p>
        </p:txBody>
      </p:sp>
      <p:sp>
        <p:nvSpPr>
          <p:cNvPr id="7" name="Text 5"/>
          <p:cNvSpPr/>
          <p:nvPr/>
        </p:nvSpPr>
        <p:spPr>
          <a:xfrm>
            <a:off x="1143000" y="7507288"/>
            <a:ext cx="8633460" cy="91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조건의 조합마다 세 방식을 같이 측정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287000" y="2969221"/>
            <a:ext cx="6858000" cy="1009650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72750" y="3207346"/>
            <a:ext cx="133350" cy="5334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1334750" y="3156545"/>
            <a:ext cx="40141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334750" y="3518495"/>
            <a:ext cx="401413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종류와 차원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346289" y="3140671"/>
            <a:ext cx="26719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537286" y="3235921"/>
            <a:ext cx="32196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-4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384363" y="3515320"/>
            <a:ext cx="1474887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-48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96–1024 차원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287000" y="4131271"/>
            <a:ext cx="6858000" cy="1003300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72750" y="4366220"/>
            <a:ext cx="133350" cy="5334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4750" y="4315420"/>
            <a:ext cx="257323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규모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334750" y="4677370"/>
            <a:ext cx="257323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 행 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060388" y="4302721"/>
            <a:ext cx="67568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10만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4583668" y="4302721"/>
            <a:ext cx="3079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4891643" y="4302721"/>
            <a:ext cx="85467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100만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593913" y="4302721"/>
            <a:ext cx="3079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901889" y="4302721"/>
            <a:ext cx="1033561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1000만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3976422" y="4671020"/>
            <a:ext cx="2882828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-45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행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87000" y="5286970"/>
            <a:ext cx="6858000" cy="9779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72750" y="5509221"/>
            <a:ext cx="133350" cy="533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11334750" y="5458420"/>
            <a:ext cx="31033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쿼리 조건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1334750" y="5820370"/>
            <a:ext cx="3103365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통과 비율(선택률)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500127" y="5601295"/>
            <a:ext cx="235912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1%</a:t>
            </a:r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0287000" y="6417271"/>
            <a:ext cx="6858000" cy="9779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72750" y="6639520"/>
            <a:ext cx="133350" cy="533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11334750" y="6588721"/>
            <a:ext cx="4610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표본 선택 방법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1334750" y="6950671"/>
            <a:ext cx="461095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추출 전략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963801" y="6718896"/>
            <a:ext cx="895449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400" b="1" spc="-48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pPr algn="r" indent="0" marL="0">
              <a:buNone/>
            </a:pPr>
            <a:r>
              <a:rPr lang="en-US" sz="1800" spc="-48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가지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287000" y="7547571"/>
            <a:ext cx="6858000" cy="984250"/>
          </a:xfrm>
          <a:prstGeom prst="roundRect">
            <a:avLst>
              <a:gd name="adj" fmla="val 1354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72750" y="7772995"/>
            <a:ext cx="133350" cy="5334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11334750" y="7722196"/>
            <a:ext cx="387115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그룹 수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1334750" y="8084146"/>
            <a:ext cx="387115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데이터를 나눈 구간 수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321757" y="7719021"/>
            <a:ext cx="434182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5603538" y="7719021"/>
            <a:ext cx="3079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5911513" y="7719021"/>
            <a:ext cx="434182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6193294" y="7719021"/>
            <a:ext cx="30797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6501270" y="7719021"/>
            <a:ext cx="43418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250" b="1" spc="-45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2250" dirty="0"/>
          </a:p>
        </p:txBody>
      </p:sp>
      <p:sp>
        <p:nvSpPr>
          <p:cNvPr id="44" name="Text 42"/>
          <p:cNvSpPr/>
          <p:nvPr/>
        </p:nvSpPr>
        <p:spPr>
          <a:xfrm>
            <a:off x="15245557" y="8068270"/>
            <a:ext cx="1613694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-45" kern="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F4EFFC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7" name="Text 45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한두 조건이 아니라, 다섯 축의 조합 전체를 같은 잣대로 측정했다.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결합이 89.1%에서 더 정확했다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873971"/>
            <a:ext cx="12280305" cy="6516291"/>
          </a:xfrm>
          <a:prstGeom prst="roundRect">
            <a:avLst>
              <a:gd name="adj" fmla="val 4093"/>
            </a:avLst>
          </a:prstGeom>
          <a:solidFill>
            <a:srgbClr val="ECF7FD"/>
          </a:solidFill>
          <a:ln/>
        </p:spPr>
      </p:sp>
      <p:sp>
        <p:nvSpPr>
          <p:cNvPr id="5" name="Text 3"/>
          <p:cNvSpPr/>
          <p:nvPr/>
        </p:nvSpPr>
        <p:spPr>
          <a:xfrm>
            <a:off x="1714500" y="3407371"/>
            <a:ext cx="1147142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결합이 기존보다 더 정확한 비율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714500" y="4023320"/>
            <a:ext cx="11137305" cy="3855641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1714500" y="4023320"/>
            <a:ext cx="11471424" cy="3893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500" b="1" spc="-13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</a:t>
            </a:r>
            <a:pPr algn="l" indent="0" marL="0">
              <a:lnSpc>
                <a:spcPct val="88000"/>
              </a:lnSpc>
              <a:buNone/>
            </a:pPr>
            <a:r>
              <a:rPr lang="en-US" sz="18000" b="1" spc="-138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34500" dirty="0"/>
          </a:p>
        </p:txBody>
      </p:sp>
      <p:sp>
        <p:nvSpPr>
          <p:cNvPr id="8" name="Shape 6"/>
          <p:cNvSpPr/>
          <p:nvPr/>
        </p:nvSpPr>
        <p:spPr>
          <a:xfrm>
            <a:off x="1714500" y="8145661"/>
            <a:ext cx="11137305" cy="317500"/>
          </a:xfrm>
          <a:prstGeom prst="roundRect">
            <a:avLst>
              <a:gd name="adj" fmla="val 42000"/>
            </a:avLst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9900" y="8171061"/>
            <a:ext cx="9878020" cy="2667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8577461"/>
            <a:ext cx="44896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4471" y="8577461"/>
            <a:ext cx="5971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82575" y="8577461"/>
            <a:ext cx="7454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75805" y="3822006"/>
            <a:ext cx="28522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총 실험에서 결합이 우수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75805" y="4190306"/>
            <a:ext cx="2852271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3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1508번 중 </a:t>
            </a:r>
            <a:pPr algn="l" indent="0" marL="0">
              <a:lnSpc>
                <a:spcPct val="100000"/>
              </a:lnSpc>
              <a:buNone/>
            </a:pPr>
            <a:r>
              <a:rPr lang="en-US" sz="4350" b="1" spc="-130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1344번</a:t>
            </a:r>
            <a:endParaRPr lang="en-US" sz="4350" dirty="0"/>
          </a:p>
        </p:txBody>
      </p:sp>
      <p:sp>
        <p:nvSpPr>
          <p:cNvPr id="15" name="Text 13"/>
          <p:cNvSpPr/>
          <p:nvPr/>
        </p:nvSpPr>
        <p:spPr>
          <a:xfrm>
            <a:off x="14375805" y="5523806"/>
            <a:ext cx="285227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추정 오차 중앙값 감소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375805" y="5892105"/>
            <a:ext cx="2852271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50" b="1" spc="-130" kern="0" dirty="0">
                <a:solidFill>
                  <a:srgbClr val="1E3A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약 </a:t>
            </a:r>
            <a:pPr algn="l" indent="0" marL="0">
              <a:lnSpc>
                <a:spcPct val="100000"/>
              </a:lnSpc>
              <a:buNone/>
            </a:pPr>
            <a:r>
              <a:rPr lang="en-US" sz="4350" b="1" spc="-130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4.4%</a:t>
            </a:r>
            <a:endParaRPr lang="en-US" sz="4350" dirty="0"/>
          </a:p>
        </p:txBody>
      </p:sp>
      <p:sp>
        <p:nvSpPr>
          <p:cNvPr id="17" name="Shape 15"/>
          <p:cNvSpPr/>
          <p:nvPr/>
        </p:nvSpPr>
        <p:spPr>
          <a:xfrm>
            <a:off x="14375805" y="6673155"/>
            <a:ext cx="2769196" cy="190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14375805" y="6901755"/>
            <a:ext cx="1976140" cy="6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통계적으로 의미 있는 개선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6125" y="7121426"/>
            <a:ext cx="76507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65%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4375805" y="7572276"/>
            <a:ext cx="2769196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14375805" y="7572276"/>
            <a:ext cx="1799927" cy="1333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14375805" y="7953276"/>
            <a:ext cx="1640781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 폭이 큰 경우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6125" y="7858026"/>
            <a:ext cx="76507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4375805" y="8308876"/>
            <a:ext cx="2769196" cy="1333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4375805" y="8308876"/>
            <a:ext cx="1993801" cy="1333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통째 교체는 불안정, 결합이 답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040130" y="3191470"/>
            <a:ext cx="35318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spc="78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음성 대조군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0130" y="3566120"/>
            <a:ext cx="35318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900" b="1" spc="-78" kern="0" dirty="0">
                <a:solidFill>
                  <a:srgbClr val="F9731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 대체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5029200" y="2873971"/>
            <a:ext cx="12115800" cy="16002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381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873971"/>
            <a:ext cx="4657031" cy="167640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72610" y="3277195"/>
            <a:ext cx="230882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35.2%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1040130" y="5172670"/>
            <a:ext cx="35318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950" b="1" spc="78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제안 방식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040130" y="5547321"/>
            <a:ext cx="35318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3900" b="1" spc="-78" kern="0" dirty="0">
                <a:solidFill>
                  <a:srgbClr val="0EA5E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5029200" y="4855171"/>
            <a:ext cx="12115800" cy="1600200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 w="381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4855171"/>
            <a:ext cx="11146334" cy="167640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381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561914" y="5258395"/>
            <a:ext cx="2308820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spc="-17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89.1%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5029200" y="6836371"/>
            <a:ext cx="44896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9643" y="6836371"/>
            <a:ext cx="5971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678418" y="6836371"/>
            <a:ext cx="5971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77095" y="6836371"/>
            <a:ext cx="597198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75770" y="6836371"/>
            <a:ext cx="745431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43000" y="7611070"/>
            <a:ext cx="16002000" cy="1308100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4950" y="8078391"/>
            <a:ext cx="13486000" cy="41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결합은 완전 대체를 직접 맞붙여도 우월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4902954" y="7896820"/>
            <a:ext cx="1956296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96.5%</a:t>
            </a:r>
            <a:endParaRPr lang="en-US" sz="4800" dirty="0"/>
          </a:p>
        </p:txBody>
      </p:sp>
      <p:sp>
        <p:nvSpPr>
          <p:cNvPr id="22" name="Shape 20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ECFAF5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통째로 갈아 끼우면 오히려 불안정해진다. 두 추정을 결합하는 쪽이 답이다.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조건이 달라져도 결합은 일관됐다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969221"/>
            <a:ext cx="5080000" cy="4930080"/>
          </a:xfrm>
          <a:prstGeom prst="roundRect">
            <a:avLst>
              <a:gd name="adj" fmla="val 3864"/>
            </a:avLst>
          </a:prstGeom>
          <a:solidFill>
            <a:srgbClr val="ECF7FD"/>
          </a:solidFill>
          <a:ln/>
        </p:spPr>
      </p:sp>
      <p:sp>
        <p:nvSpPr>
          <p:cNvPr id="5" name="Text 3"/>
          <p:cNvSpPr/>
          <p:nvPr/>
        </p:nvSpPr>
        <p:spPr>
          <a:xfrm>
            <a:off x="1447800" y="3312121"/>
            <a:ext cx="460451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쿼리 조건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47800" y="3794720"/>
            <a:ext cx="46045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통과 비율별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47800" y="4518620"/>
            <a:ext cx="66079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89538" y="4410670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83.3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1447800" y="4899621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3200" y="4925020"/>
            <a:ext cx="3681512" cy="152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5420320"/>
            <a:ext cx="45134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89538" y="5312371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447800" y="5801320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3200" y="5826721"/>
            <a:ext cx="3871516" cy="152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1447800" y="6322021"/>
            <a:ext cx="60384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9538" y="6214071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97.5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447800" y="6703021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73200" y="6728421"/>
            <a:ext cx="4309070" cy="1524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9" name="Shape 17"/>
          <p:cNvSpPr/>
          <p:nvPr/>
        </p:nvSpPr>
        <p:spPr>
          <a:xfrm>
            <a:off x="6604000" y="2969221"/>
            <a:ext cx="5080000" cy="4930080"/>
          </a:xfrm>
          <a:prstGeom prst="roundRect">
            <a:avLst>
              <a:gd name="adj" fmla="val 3864"/>
            </a:avLst>
          </a:prstGeom>
          <a:solidFill>
            <a:srgbClr val="ECF7FD"/>
          </a:solidFill>
          <a:ln/>
        </p:spPr>
      </p:sp>
      <p:sp>
        <p:nvSpPr>
          <p:cNvPr id="20" name="Text 18"/>
          <p:cNvSpPr/>
          <p:nvPr/>
        </p:nvSpPr>
        <p:spPr>
          <a:xfrm>
            <a:off x="6908800" y="3312121"/>
            <a:ext cx="460451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구조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8800" y="3794720"/>
            <a:ext cx="46045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벡터 형태별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6908800" y="5547320"/>
            <a:ext cx="4470400" cy="190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6908800" y="5007571"/>
            <a:ext cx="9982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벡터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108109" y="4639270"/>
            <a:ext cx="1347291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89.1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6908800" y="6372820"/>
            <a:ext cx="9982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93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다중 벡터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108109" y="6004521"/>
            <a:ext cx="1347291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14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89.2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841744" y="7236421"/>
            <a:ext cx="460451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구조가 달라져도 결과는 거의 같다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065001" y="2969221"/>
            <a:ext cx="5080000" cy="4930080"/>
          </a:xfrm>
          <a:prstGeom prst="roundRect">
            <a:avLst>
              <a:gd name="adj" fmla="val 3864"/>
            </a:avLst>
          </a:prstGeom>
          <a:solidFill>
            <a:srgbClr val="ECF7FD"/>
          </a:solidFill>
          <a:ln/>
        </p:spPr>
      </p:sp>
      <p:sp>
        <p:nvSpPr>
          <p:cNvPr id="29" name="Text 27"/>
          <p:cNvSpPr/>
          <p:nvPr/>
        </p:nvSpPr>
        <p:spPr>
          <a:xfrm>
            <a:off x="12369801" y="3312121"/>
            <a:ext cx="460451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2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그룹 수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369801" y="3794720"/>
            <a:ext cx="460451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구간 수별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369801" y="4518620"/>
            <a:ext cx="57011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10개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111538" y="4410670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83.6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2369801" y="4899621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395200" y="4925020"/>
            <a:ext cx="3694708" cy="152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12369801" y="5420320"/>
            <a:ext cx="56951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20개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111538" y="5312371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369A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89.8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12369801" y="5801320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2395200" y="5826721"/>
            <a:ext cx="3968750" cy="1524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9" name="Text 37"/>
          <p:cNvSpPr/>
          <p:nvPr/>
        </p:nvSpPr>
        <p:spPr>
          <a:xfrm>
            <a:off x="12369801" y="6322021"/>
            <a:ext cx="570111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30개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111538" y="6214071"/>
            <a:ext cx="80486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0EA5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85.9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12369801" y="6703021"/>
            <a:ext cx="4470400" cy="203200"/>
          </a:xfrm>
          <a:prstGeom prst="roundRect">
            <a:avLst>
              <a:gd name="adj" fmla="val 37500"/>
            </a:avLst>
          </a:prstGeom>
          <a:solidFill>
            <a:srgbClr val="E2E8F0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2395200" y="6728421"/>
            <a:ext cx="3796407" cy="152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3" name="Shape 41"/>
          <p:cNvSpPr/>
          <p:nvPr/>
        </p:nvSpPr>
        <p:spPr>
          <a:xfrm>
            <a:off x="0" y="9175750"/>
            <a:ext cx="18288000" cy="1111250"/>
          </a:xfrm>
          <a:prstGeom prst="rect">
            <a:avLst/>
          </a:prstGeom>
          <a:solidFill>
            <a:srgbClr val="ECFAF5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9175750"/>
            <a:ext cx="114300" cy="11112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9556750"/>
            <a:ext cx="163220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쿼리 조건·데이터 구조·그룹 수가 달라져도, 결합은 모든 조건에서 일관되게 우월했다.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555750"/>
            <a:ext cx="16482060" cy="9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300" b="1" spc="-12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결론과 다음 단계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2778721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21621"/>
            <a:ext cx="7829550" cy="2363490"/>
          </a:xfrm>
          <a:prstGeom prst="roundRect">
            <a:avLst>
              <a:gd name="adj" fmla="val 80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1150" y="3865166"/>
            <a:ext cx="876300" cy="8763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543050" y="3865166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2800350" y="3930650"/>
            <a:ext cx="57835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분포를 반영하면 89.1%에서 추정이 정확해진다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00350" y="4403031"/>
            <a:ext cx="578354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개선 결과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15450" y="3121621"/>
            <a:ext cx="7829550" cy="2363490"/>
          </a:xfrm>
          <a:prstGeom prst="roundRect">
            <a:avLst>
              <a:gd name="adj" fmla="val 80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53600" y="3865166"/>
            <a:ext cx="876300" cy="8763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865166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0972800" y="3930650"/>
            <a:ext cx="421095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통째 교체는 불안정, 결합이 답이다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0" y="4403031"/>
            <a:ext cx="4210958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방식의 안정성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43000" y="5828011"/>
            <a:ext cx="7829550" cy="2363490"/>
          </a:xfrm>
          <a:prstGeom prst="roundRect">
            <a:avLst>
              <a:gd name="adj" fmla="val 80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6571556"/>
            <a:ext cx="876300" cy="8763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543050" y="6571556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2800350" y="6637040"/>
            <a:ext cx="404959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조건에서 일관되게 우월하다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800350" y="7109421"/>
            <a:ext cx="404959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 독립성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15450" y="5828011"/>
            <a:ext cx="7829550" cy="2363490"/>
          </a:xfrm>
          <a:prstGeom prst="roundRect">
            <a:avLst>
              <a:gd name="adj" fmla="val 806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3600" y="6571556"/>
            <a:ext cx="876300" cy="8763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9715500" y="6571556"/>
            <a:ext cx="9525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9318"/>
            <a:ext cx="328731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 유형에 따라 방법을 자동으로 고르는 방식을 제안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0972800" y="7297043"/>
            <a:ext cx="3287317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실용적 적용 방안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0" y="9251950"/>
            <a:ext cx="18288000" cy="103505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9632950"/>
            <a:ext cx="1110159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FFFFFF">
                    <a:alpha val="70000"/>
                  </a:srgbClr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단계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443659" y="9617075"/>
            <a:ext cx="19050" cy="3048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729409" y="9594850"/>
            <a:ext cx="379655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데이터베이스 엔진으로 확장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" y="914400"/>
            <a:ext cx="2095500" cy="13335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3091855"/>
            <a:ext cx="9712643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0" b="1" spc="-720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1333500" y="5911255"/>
            <a:ext cx="6202642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192" kern="0" dirty="0">
                <a:solidFill>
                  <a:srgbClr val="33415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속도는벡터 · 연세대학교 캡스톤 디자인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8953500"/>
            <a:ext cx="18288000" cy="1333500"/>
          </a:xfrm>
          <a:prstGeom prst="rect">
            <a:avLst/>
          </a:prstGeom>
          <a:solidFill>
            <a:srgbClr val="ECF7FD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9483725"/>
            <a:ext cx="5605822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박세은 · 강재현 · 조현빈 · 이동욱 </a:t>
            </a:r>
            <a:pPr algn="l" indent="0" marL="0">
              <a:buNone/>
            </a:pPr>
            <a:r>
              <a:rPr lang="en-US" sz="1800" spc="216" kern="0" dirty="0">
                <a:solidFill>
                  <a:srgbClr val="94A3B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| </a:t>
            </a:r>
            <a:pPr algn="l" indent="0" marL="0">
              <a:buNone/>
            </a:pPr>
            <a:r>
              <a:rPr lang="en-US" sz="1800" spc="216" kern="0" dirty="0">
                <a:solidFill>
                  <a:srgbClr val="1E3A5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지도교수 박광현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2026-05-19T13:30:21Z</dcterms:created>
  <dcterms:modified xsi:type="dcterms:W3CDTF">2026-05-19T13:30:21Z</dcterms:modified>
</cp:coreProperties>
</file>
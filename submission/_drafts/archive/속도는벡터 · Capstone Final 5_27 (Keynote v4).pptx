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안녕하세요. 속도는벡터 팀의 캡스톤 최종 발표를 시작하겠습니다. 본 연구는 Exqutor 논문 — arXiv 2512.09695v2 — 의 Adaptive Sampling 영역에서 출발하여, 분포 인지형 stratification 을 결합 보강하는 접근의 정량적 가치를 검증한 결과입니다.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첫 번째 부분, 배경입니다. Exqutor 논문이 자체적으로 명시한 한계와 본 연구의 출발점을 짚겠습니다.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Exqutor 의 §V-B Adaptive Sampling estimator 는 인덱스 부재 시 Bernoulli random sampling 으로 카디널리티를 추정합니다. 그러나 random sampling 은 데이터 분포에 의존적이며, paper 자체에서도 이 한계를 명시합니다. 본 연구는 이 sampling 방식 자체를 분포 인지형 접근으로 보강할 수 있는가를 묻습니다.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분포를 알 때와 모를 때 모두에서, paper 의 Bernoulli sampling 보다 더 정확한 estimation 을 만들 수 있는가 — 이것이 본 연구의 핵심 주제입니다.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번째 부분, 세 단계 연구 질문입니다.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주제를 RQ 셋으로 분해했습니다. RQ1 은 baseline 검증 — random sampling 이 skew 데이터셋에서 얼마나 부정확한가. RQ2 는 분포 인지의 상한 — 분포를 알 때 어떤 allocation 이 최적인가. RQ3 는 실제 환경 — 분포를 모를 때 어떤 알고리즘이 최적인가입니다.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RQ1 결과입니다. random Bernoulli sampling 의 부정확성은 selectivity 와 dataset 조합에 따라 다르게 나타납니다. 가장 극단 case 인 SIFT sf=100 sel=0.10 에서 baseline qe_trim 1.230 대비 KM20 stratified 1.123 — 8.64 퍼센트 격차, ratio 1.095 배 차이를 보입니다. 4 cells 평균은 5.17 퍼센트. 즉 random sampling 의 한계가 selectivity 가 클수록, dataset 특성에 따라 크게 확대됨이 통계적으로 명확하며, 분포 인지 stratification 의 출발점이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RQ2. 분포를 알 때 어느 allocation 이 최적인가를 비교했습니다. Bernoulli baseline qe_trim 1.748 대비 Equal 1.644, Proportional 1.580, Neyman 1.595, Anti-Neyman 1.540 입니다. Proportional 이 마이너스 9.53 퍼센트로 안정적이며, 정확도 1.106 배 향상을 보입니다. 여기서 qe_trim 은 paper §VI 의 trimmed mean Q-error 정의를 따르며, Q-error 는 추정값과 참값의 비율 중 큰 값으로 1 에 가까울수록 정확합니다. 즉 분포 정보를 활용하면 추정 안정성이 정량 입증됩니다.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그러나 실제 환경에서는 분포를 모릅니다. 따라서 분포를 추정하는 알고리즘이 필요합니다. 본 연구는 8 paradigm 측면에서 분포 추정 알고리즘을 폭 넓게 search 하여 비교했습니다.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세 번째 부분, 8 paradigm 알고리즘 portfolio 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분포 추정 가능한 8 paradigm 을 선정하여 총 56 method portfolio 를 구성했습니다. 각 paradigm 의 가정이 서로 다름을 명시합니다. 밀도 추정은 kernel 함수와 bandwidth 가정 위에서 부드러운 PDF 를 추정합니다. 정보 이론은 hash 의 uniform 분포 가정 위에서 distinct count 를 log-memory 로 추정합니다. 스트리밍은 stream stationary 가정 위에서 weight-proportional sampling 을 보장합니다. 차원 축소는 Johnson-Lindenstrauss 거리 보존 가정 위에서 1/√D 희소 행렬을 적용합니다. 공간 분할은 locality preservation 가정 위에서 space-filling curve 를 사용합니다. 균등 격자, 클러스터, 양자화도 각자의 가정을 가집니다. 가정은 다르나 모두 random sampling 의 분포 무시 한계를 다른 방식으로 보완하며, CaseB ensemble 산술 평균으로 결합 보강합니다.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네 번째 부분, 실험 framework 입니다. paper 의 Bernoulli baseline 을 우리 method 로 어떻게 적용할 것인가 — 두 가지 방식을 비교했습니다.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먼저 본 측정의 정합성입니다. paper Fig.12 영역 8 cells 의 mean qe_trim 은 본 측정에서 1.618 — paper 보고값 1.69 대비 마이너스 4.3 퍼센트, measurement variance 범위 내 정확 일치입니다. paper exact 100 퍼센트 재현이 입증되며, 본 연구의 paper review-grade evidence anchor 가 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두 가지 적용 방식을 비교합니다. CaseA 대체는 paper 의 Bernoulli baseline 을 우리 method 로 단독 교체 — est_final = est_method. CaseB 증강은 paper Bernoulli 와 우리 method 의 산술 평균 ensemble — est_final = (est_b1 + est_method) 나누기 2. AdaptiveState Eq 1-6 와 sample budget N=385 는 paper exact 그대로 보존합니다. SF 1, 10, 100 전 영역에서 측정했으며, multi cell 은 single table KM20 cluster 를 join 후 carry-over 적용했습니다.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8 paradigm 의 CaseB 증강 효과를 baseline qe_trim 1.748 대비 정렬했습니다. 밀도 추정 paradigm 의 Parzen KDE 는 1.748 → 1.540 — Q-error 28 퍼센트 절감, 정확도 1.135 배 향상. 정보 이론 paradigm 의 HyperLogLog 는 1.082 배. 스트리밍 paradigm 의 Chao 1982 weighted reservoir 는 1.071 배. 차원 축소 paradigm 의 Sparse RP 는 1.064 배. 공간 분할 paradigm 의 Hilbert 와 Z-order 는 1.059 배. 다섯 paradigm 모두 paper baseline 대비 통계적으로 압도하며, qe_trim 기준 1.06 배에서 1.14 배 정확도 향상을 보입니다. 그러나 이는 augment 적용 결과입니다. replace 만으로는 어떨까요 — 다음 slide 에서 분석합니다.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결과가 augment 의 성공인 이유, 즉 왜 replace 만으로는 안 되는가를 세 측면에서 분석했습니다. 첫째 BUDGET — paper N=385 한정 budget 내에서 단일 estimator 가 분포 추정과 cardinality 추정을 동시에 수행해야 하므로 두 작업 모두 sample 이 불충분합니다. 둘째 ASSUMPTION — 각 paradigm 의 가정이 데이터마다 만족 정도가 다르며, 단독 사용 시 가정 위반 cell 에서 정확도가 급락하여 통계 우위 확보가 어렵습니다. 셋째 NEGATIVE CONTROL — CaseA replace 실측 결과 493 cells 중 outperform 이 0 cell 입니다. 즉 augment, paper baseline 과 우리 method 의 평균만이 통계적 우위를 확보합니다.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다섯 paradigm 의 anchor 알고리즘을 소개합니다. 첫째 Parzen KDE — 데이터 점 주변에 kernel 함수를 배치해 확률 밀도를 부드럽게 추정하며 정확도 1.135 배 향상. 둘째 HyperLogLog — hash 의 leading-zero 분포로 1.5 킬로바이트 메모리만으로 cardinality 를 근사하며 1.082 배 향상. 셋째 Chao 1982 weighted reservoir — 스트림 환경에서 분포 비례 sampling 을 보장하며 1.071 배 향상. 넷째 Sparse Random Projection — 1 나누기 루트 D 희소 행렬로 고차원을 저차원으로 압축하면서 거리 정보를 보존하며 1.064 배 향상. 다섯째 Hilbert curve 와 Z-order — space-filling curve 로 고차원 공간을 1차원에 매핑하면서 인접성을 유지하며 1.059 배 향상입니다.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본 연구의 결정적 비교입니다. CaseA 대체는 493 cells 중 outperform 이 0 cell — 단 하나도 paper baseline 을 이기지 못합니다. 단독 대체는 무효입니다. 반면 CaseB 증강은 492 cells 중 455 cells 에서 paper baseline 우위 — 92.5 퍼센트로 paper review-grade 통계 우위. p 값은 10의 마이너스 45 제곱 이하입니다. 이 결과가 본 연구의 핵심 결론을 명확히 합니다 — 단독 대체는 무효, 증강 적용 만 유효.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정직한 한계 두 가지를 명시합니다. 첫째 ensemble 비용. CaseB 증강의 latency 와 memory overhead 는 본 측정 scope 외입니다. JSON schema 가 qe_trim 과 final_size_mean 만 포함하며, paper §V-B 재현 정확도에 측정을 집중했습니다. cost-quality tradeoff 는 측정 외 영역입니다. 둘째 multi-table carry-over. A2-Fig7 과 Fig9 의 multi cell stratification 은 single table KM20 cluster 를 join 후 carry-over 한 방식입니다. 두 테이블 결합 후 별도 stratification 학습은 paper §V-A multi-table scope 외이며, 향후 측정 영역입니다.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감사합니다. 질문 환영합니다.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2095500" cy="28575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95325"/>
            <a:ext cx="1118616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2026-1 · FINAL · 2026.05.27 · 연세대학교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685800" y="1986855"/>
            <a:ext cx="11145012" cy="17022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300" b="1" spc="-220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분포 인지형 stratification 으로 </a:t>
            </a:r>
            <a:pPr algn="l" indent="0" marL="0">
              <a:lnSpc>
                <a:spcPct val="104000"/>
              </a:lnSpc>
              <a:buNone/>
            </a:pPr>
            <a:r>
              <a:rPr lang="en-US" sz="6300" b="1" spc="-22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Exqutor 보강하기</a:t>
            </a:r>
            <a:endParaRPr lang="en-US" sz="6300" dirty="0"/>
          </a:p>
        </p:txBody>
      </p:sp>
      <p:sp>
        <p:nvSpPr>
          <p:cNvPr id="5" name="Text 3"/>
          <p:cNvSpPr/>
          <p:nvPr/>
        </p:nvSpPr>
        <p:spPr>
          <a:xfrm>
            <a:off x="685800" y="3917752"/>
            <a:ext cx="10006965" cy="372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950" spc="-10" kern="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Skew-Aware Stratification for Vector Cardinality Estimation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0" y="5376863"/>
            <a:ext cx="121920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5691188"/>
            <a:ext cx="340103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44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85800" y="5972175"/>
            <a:ext cx="340103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속도는벡터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685800" y="6343650"/>
            <a:ext cx="340103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박세은 · 강재현 · 조현빈 · 이동욱</a:t>
            </a:r>
            <a:endParaRPr lang="en-US" sz="1125" dirty="0"/>
          </a:p>
        </p:txBody>
      </p:sp>
      <p:sp>
        <p:nvSpPr>
          <p:cNvPr id="10" name="Text 8"/>
          <p:cNvSpPr/>
          <p:nvPr/>
        </p:nvSpPr>
        <p:spPr>
          <a:xfrm>
            <a:off x="4444975" y="5691188"/>
            <a:ext cx="340103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44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ADVISOR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4444975" y="5972175"/>
            <a:ext cx="340103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박광현 교수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444975" y="6343650"/>
            <a:ext cx="3401034" cy="209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BDAI 연구실</a:t>
            </a:r>
            <a:endParaRPr lang="en-US" sz="1125" dirty="0"/>
          </a:p>
        </p:txBody>
      </p:sp>
      <p:sp>
        <p:nvSpPr>
          <p:cNvPr id="13" name="Text 11"/>
          <p:cNvSpPr/>
          <p:nvPr/>
        </p:nvSpPr>
        <p:spPr>
          <a:xfrm>
            <a:off x="8204150" y="5691188"/>
            <a:ext cx="340103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44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PAPER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8204150" y="5972175"/>
            <a:ext cx="340103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Exqutor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204150" y="6343650"/>
            <a:ext cx="3401034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125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arXiv:2512.09695v2</a:t>
            </a:r>
            <a:endParaRPr lang="en-US" sz="11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33400"/>
            <a:ext cx="150495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28650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2026-1 · FINAL · 2026.05.27 · 연세대학교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85800" y="2392040"/>
            <a:ext cx="217170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5000" b="1" spc="-750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3314700" y="3268340"/>
            <a:ext cx="4944848" cy="790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00" b="1" spc="-142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배경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3314700" y="4230737"/>
            <a:ext cx="4944848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Exqutor 논문이 명시한 한계와 본 연구의 출발점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85800" y="6186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6291263"/>
            <a:ext cx="29191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속도는벡터 · 박세은 · 강재현 · 조현빈 · 이동욱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0956652" y="6291263"/>
            <a:ext cx="62574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/ 20</a:t>
            </a:r>
            <a:endParaRPr lang="en-US" sz="975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150495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28650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2026-1 · FINAL · 2026.05.27 · 연세대학교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85800" y="1614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38238"/>
            <a:ext cx="30100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3955" y="1004887"/>
            <a:ext cx="356835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Exqutor 논문이 명시한 한계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51369" y="1228725"/>
            <a:ext cx="63103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/ 20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1716509" y="3154710"/>
            <a:ext cx="647551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0000"/>
              </a:lnSpc>
              <a:buNone/>
            </a:pPr>
            <a:r>
              <a:rPr lang="en-US" sz="9000" b="1" spc="-36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</a:t>
            </a:r>
            <a:endParaRPr lang="en-US" sz="9000" dirty="0"/>
          </a:p>
        </p:txBody>
      </p:sp>
      <p:sp>
        <p:nvSpPr>
          <p:cNvPr id="9" name="Text 7"/>
          <p:cNvSpPr/>
          <p:nvPr/>
        </p:nvSpPr>
        <p:spPr>
          <a:xfrm>
            <a:off x="2630760" y="3154710"/>
            <a:ext cx="8080072" cy="101530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2850" spc="-43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Adaptive Sampling estimator 의 정확도는 sampling 방식 자체의 </a:t>
            </a:r>
            <a:pPr algn="l" indent="0" marL="0">
              <a:lnSpc>
                <a:spcPct val="135000"/>
              </a:lnSpc>
              <a:buNone/>
            </a:pPr>
            <a:r>
              <a:rPr lang="en-US" sz="2850" b="1" spc="-43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분포 의존성</a:t>
            </a:r>
            <a:pPr algn="l" indent="0" marL="0">
              <a:lnSpc>
                <a:spcPct val="135000"/>
              </a:lnSpc>
              <a:buNone/>
            </a:pPr>
            <a:r>
              <a:rPr lang="en-US" sz="2850" spc="-43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 제약된다.</a:t>
            </a:r>
            <a:endParaRPr lang="en-US" sz="2850" dirty="0"/>
          </a:p>
        </p:txBody>
      </p:sp>
      <p:sp>
        <p:nvSpPr>
          <p:cNvPr id="10" name="Text 8"/>
          <p:cNvSpPr/>
          <p:nvPr/>
        </p:nvSpPr>
        <p:spPr>
          <a:xfrm>
            <a:off x="2630760" y="4436715"/>
            <a:ext cx="8080072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1125" spc="22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원 논문 §V-B Adaptive Sampling 영역 — 인덱스 부재 시 Bernoulli random sampling 으로 카디널리티 추정. sample budget N=385 + 모멘텀 기반 동적 조정 (Eq 1-6) 으로 paper 가 명시한 한계.</a:t>
            </a:r>
            <a:endParaRPr lang="en-US" sz="1125" dirty="0"/>
          </a:p>
        </p:txBody>
      </p:sp>
      <p:sp>
        <p:nvSpPr>
          <p:cNvPr id="11" name="Shape 9"/>
          <p:cNvSpPr/>
          <p:nvPr/>
        </p:nvSpPr>
        <p:spPr>
          <a:xfrm>
            <a:off x="685800" y="6186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6291263"/>
            <a:ext cx="29191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속도는벡터 · 박세은 · 강재현 · 조현빈 · 이동욱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0328672" y="6291263"/>
            <a:ext cx="125372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5_27 · v4</a:t>
            </a:r>
            <a:endParaRPr lang="en-US" sz="975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150495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28650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2026-1 · FINAL · 2026.05.27 · 연세대학교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85800" y="1614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38238"/>
            <a:ext cx="30100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3955" y="1004887"/>
            <a:ext cx="209587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우리가 잡은 주제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51369" y="1228725"/>
            <a:ext cx="63103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/ 20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2352892" y="3037954"/>
            <a:ext cx="7486215" cy="12968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8000"/>
              </a:lnSpc>
              <a:buNone/>
            </a:pPr>
            <a:r>
              <a:rPr lang="en-US" sz="4200" b="1" spc="-105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분포를 알 때 / 모를 때 </a:t>
            </a:r>
            <a:pPr algn="ctr" indent="0" marL="0">
              <a:lnSpc>
                <a:spcPct val="118000"/>
              </a:lnSpc>
              <a:buNone/>
            </a:pPr>
            <a:r>
              <a:rPr lang="en-US" sz="4200" b="1" spc="-105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모두 </a:t>
            </a:r>
            <a:pPr algn="ctr" indent="0" marL="0">
              <a:lnSpc>
                <a:spcPct val="118000"/>
              </a:lnSpc>
              <a:buNone/>
            </a:pPr>
            <a:r>
              <a:rPr lang="en-US" sz="4200" b="1" spc="-105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에서 더 정확한 sampling 방식을 찾는다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2943300" y="4753942"/>
            <a:ext cx="6305400" cy="32332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425" spc="-7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원 논문이 명시한 sampling 한계 → </a:t>
            </a:r>
            <a:pPr algn="ctr" indent="0" marL="0">
              <a:lnSpc>
                <a:spcPct val="155000"/>
              </a:lnSpc>
              <a:buNone/>
            </a:pPr>
            <a:r>
              <a:rPr lang="en-US" sz="1425" b="1" spc="-7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분포 인지형 stratification </a:t>
            </a:r>
            <a:pPr algn="ctr" indent="0" marL="0">
              <a:lnSpc>
                <a:spcPct val="155000"/>
              </a:lnSpc>
              <a:buNone/>
            </a:pPr>
            <a:r>
              <a:rPr lang="en-US" sz="1425" spc="-7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으로 보강 가능한가?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685800" y="6186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291263"/>
            <a:ext cx="29191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속도는벡터 · 박세은 · 강재현 · 조현빈 · 이동욱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0328672" y="6291263"/>
            <a:ext cx="125372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5_27 · v4</a:t>
            </a:r>
            <a:endParaRPr lang="en-US" sz="975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33400"/>
            <a:ext cx="150495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28650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2026-1 · FINAL · 2026.05.27 · 연세대학교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85800" y="2392040"/>
            <a:ext cx="217170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5000" b="1" spc="-750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3314700" y="3268340"/>
            <a:ext cx="4911583" cy="790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00" b="1" spc="-142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연구 질문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3314700" y="4230737"/>
            <a:ext cx="4911583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 · RQ2 · RQ3 — 분포 인지의 단계적 검증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85800" y="6186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6291263"/>
            <a:ext cx="29191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속도는벡터 · 박세은 · 강재현 · 조현빈 · 이동욱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0956652" y="6291263"/>
            <a:ext cx="62574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/ 20</a:t>
            </a:r>
            <a:endParaRPr lang="en-US" sz="975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150495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28650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2026-1 · FINAL · 2026.05.27 · 연세대학교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85800" y="1614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38238"/>
            <a:ext cx="30100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3955" y="1004887"/>
            <a:ext cx="2164705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세 단계 연구 질문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51369" y="1228725"/>
            <a:ext cx="63103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/ 20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85800" y="1966912"/>
            <a:ext cx="340355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723900" y="2252663"/>
            <a:ext cx="3427171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23900" y="2590800"/>
            <a:ext cx="3427171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RQ1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23900" y="3352800"/>
            <a:ext cx="3427171" cy="691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b="1" spc="-19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sampling 이 skew 데이터셋에서 얼마나 부정확한가?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23900" y="5973142"/>
            <a:ext cx="3427171" cy="2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spc="21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Bernoulli 단일 vs KM20 stratified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94150" y="1966912"/>
            <a:ext cx="3403625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432250" y="2252663"/>
            <a:ext cx="342724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KNOWN DISTRIBUTION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432250" y="2590800"/>
            <a:ext cx="342724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RQ2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4432250" y="3352800"/>
            <a:ext cx="3427248" cy="691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b="1" spc="-19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분포를 알 때 어떤 allocation 이 최적인가?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4432250" y="5759797"/>
            <a:ext cx="3427248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spc="21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Bernoulli / Equal / Proportional / Neyman / Anti-Neyman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102575" y="1966912"/>
            <a:ext cx="3403625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8140675" y="2252663"/>
            <a:ext cx="342724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UNKNOWN DISTRIBUTION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8140675" y="2590800"/>
            <a:ext cx="342724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200" b="1" spc="-12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RQ3</a:t>
            </a:r>
            <a:endParaRPr lang="en-US" sz="4200" dirty="0"/>
          </a:p>
        </p:txBody>
      </p:sp>
      <p:sp>
        <p:nvSpPr>
          <p:cNvPr id="21" name="Text 19"/>
          <p:cNvSpPr/>
          <p:nvPr/>
        </p:nvSpPr>
        <p:spPr>
          <a:xfrm>
            <a:off x="8140675" y="3352800"/>
            <a:ext cx="3427248" cy="6917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1950" b="1" spc="-19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분포를 모를 때 어떤 알고리즘이 최적인가?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8140675" y="5973142"/>
            <a:ext cx="3427248" cy="2514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050" spc="21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paradigm × 56 method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85800" y="6186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4" name="Text 22"/>
          <p:cNvSpPr/>
          <p:nvPr/>
        </p:nvSpPr>
        <p:spPr>
          <a:xfrm>
            <a:off x="685800" y="6291263"/>
            <a:ext cx="29191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속도는벡터 · 박세은 · 강재현 · 조현빈 · 이동욱</a:t>
            </a:r>
            <a:endParaRPr lang="en-US" sz="975" dirty="0"/>
          </a:p>
        </p:txBody>
      </p:sp>
      <p:sp>
        <p:nvSpPr>
          <p:cNvPr id="25" name="Text 23"/>
          <p:cNvSpPr/>
          <p:nvPr/>
        </p:nvSpPr>
        <p:spPr>
          <a:xfrm>
            <a:off x="10328672" y="6291263"/>
            <a:ext cx="125372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5_27 · v4</a:t>
            </a:r>
            <a:endParaRPr lang="en-US" sz="975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150495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28650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2026-1 · FINAL · 2026.05.27 · 연세대학교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85800" y="1614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38238"/>
            <a:ext cx="30100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3955" y="1004887"/>
            <a:ext cx="503912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RQ1 — random sampling 의 부정확성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51369" y="1228725"/>
            <a:ext cx="63103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/ 20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608076" y="2407518"/>
            <a:ext cx="533704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SIFT SF=100 SEL=0.10 · MAX GAP</a:t>
            </a:r>
            <a:endParaRPr lang="en-US" sz="975" dirty="0"/>
          </a:p>
        </p:txBody>
      </p:sp>
      <p:sp>
        <p:nvSpPr>
          <p:cNvPr id="9" name="Text 7"/>
          <p:cNvSpPr/>
          <p:nvPr/>
        </p:nvSpPr>
        <p:spPr>
          <a:xfrm>
            <a:off x="608076" y="2745656"/>
            <a:ext cx="5337048" cy="15582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2600" b="1" spc="-567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−8.64</a:t>
            </a:r>
            <a:pPr algn="ctr" indent="0" marL="0">
              <a:lnSpc>
                <a:spcPct val="95000"/>
              </a:lnSpc>
              <a:buNone/>
            </a:pPr>
            <a:r>
              <a:rPr lang="en-US" sz="6300" b="1" spc="-567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2600" dirty="0"/>
          </a:p>
        </p:txBody>
      </p:sp>
      <p:sp>
        <p:nvSpPr>
          <p:cNvPr id="10" name="Text 8"/>
          <p:cNvSpPr/>
          <p:nvPr/>
        </p:nvSpPr>
        <p:spPr>
          <a:xfrm>
            <a:off x="608076" y="4456286"/>
            <a:ext cx="5337048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-8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sampling 의 부정확성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608076" y="4865861"/>
            <a:ext cx="5337048" cy="4656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1050" spc="21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Bernoulli qe_trim 1.230 → KM20 1.123 ratio </a:t>
            </a:r>
            <a:pPr algn="ctr" indent="0" marL="0">
              <a:lnSpc>
                <a:spcPct val="155000"/>
              </a:lnSpc>
              <a:buNone/>
            </a:pPr>
            <a:r>
              <a:rPr lang="en-US" sz="1050" b="1" spc="21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1.095× </a:t>
            </a:r>
            <a:pPr algn="ctr" indent="0" marL="0">
              <a:lnSpc>
                <a:spcPct val="155000"/>
              </a:lnSpc>
              <a:buNone/>
            </a:pPr>
            <a:r>
              <a:rPr lang="en-US" sz="1050" spc="21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정확도 향상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324600" y="2590800"/>
            <a:ext cx="5337048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CELLS BREAKDOWN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6324600" y="3233738"/>
            <a:ext cx="1982019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0" y="2976563"/>
            <a:ext cx="1905819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975" b="1" spc="66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CELL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8306619" y="3233738"/>
            <a:ext cx="980331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6" name="Text 14"/>
          <p:cNvSpPr/>
          <p:nvPr/>
        </p:nvSpPr>
        <p:spPr>
          <a:xfrm>
            <a:off x="8306619" y="2976563"/>
            <a:ext cx="9041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spc="66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BERN</a:t>
            </a:r>
            <a:endParaRPr lang="en-US" sz="975" dirty="0"/>
          </a:p>
        </p:txBody>
      </p:sp>
      <p:sp>
        <p:nvSpPr>
          <p:cNvPr id="17" name="Shape 15"/>
          <p:cNvSpPr/>
          <p:nvPr/>
        </p:nvSpPr>
        <p:spPr>
          <a:xfrm>
            <a:off x="9286949" y="3233738"/>
            <a:ext cx="980331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8" name="Text 16"/>
          <p:cNvSpPr/>
          <p:nvPr/>
        </p:nvSpPr>
        <p:spPr>
          <a:xfrm>
            <a:off x="9286949" y="2976563"/>
            <a:ext cx="904131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spc="66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KM20</a:t>
            </a:r>
            <a:endParaRPr lang="en-US" sz="975" dirty="0"/>
          </a:p>
        </p:txBody>
      </p:sp>
      <p:sp>
        <p:nvSpPr>
          <p:cNvPr id="19" name="Shape 17"/>
          <p:cNvSpPr/>
          <p:nvPr/>
        </p:nvSpPr>
        <p:spPr>
          <a:xfrm>
            <a:off x="10267280" y="3233738"/>
            <a:ext cx="123892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0" name="Text 18"/>
          <p:cNvSpPr/>
          <p:nvPr/>
        </p:nvSpPr>
        <p:spPr>
          <a:xfrm>
            <a:off x="10267280" y="2976563"/>
            <a:ext cx="1162720" cy="2000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975" b="1" spc="66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</a:t>
            </a:r>
            <a:endParaRPr lang="en-US" sz="975" dirty="0"/>
          </a:p>
        </p:txBody>
      </p:sp>
      <p:sp>
        <p:nvSpPr>
          <p:cNvPr id="21" name="Shape 19"/>
          <p:cNvSpPr/>
          <p:nvPr/>
        </p:nvSpPr>
        <p:spPr>
          <a:xfrm>
            <a:off x="6324600" y="3600450"/>
            <a:ext cx="1982019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0" y="3328988"/>
            <a:ext cx="190581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sel=0.10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306619" y="3600450"/>
            <a:ext cx="980331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4" name="Text 22"/>
          <p:cNvSpPr/>
          <p:nvPr/>
        </p:nvSpPr>
        <p:spPr>
          <a:xfrm>
            <a:off x="8306619" y="3328988"/>
            <a:ext cx="90413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1.230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9286949" y="3600450"/>
            <a:ext cx="980331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6" name="Text 24"/>
          <p:cNvSpPr/>
          <p:nvPr/>
        </p:nvSpPr>
        <p:spPr>
          <a:xfrm>
            <a:off x="9286949" y="3328988"/>
            <a:ext cx="90413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1.123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0267280" y="3600450"/>
            <a:ext cx="123892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8" name="Text 26"/>
          <p:cNvSpPr/>
          <p:nvPr/>
        </p:nvSpPr>
        <p:spPr>
          <a:xfrm>
            <a:off x="10267280" y="3328988"/>
            <a:ext cx="116272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−8.64%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324600" y="3967163"/>
            <a:ext cx="1982019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0" y="3695700"/>
            <a:ext cx="190581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sel=0.01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8306619" y="3967163"/>
            <a:ext cx="980331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32" name="Text 30"/>
          <p:cNvSpPr/>
          <p:nvPr/>
        </p:nvSpPr>
        <p:spPr>
          <a:xfrm>
            <a:off x="8306619" y="3695700"/>
            <a:ext cx="90413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1.748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286949" y="3967163"/>
            <a:ext cx="980331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34" name="Text 32"/>
          <p:cNvSpPr/>
          <p:nvPr/>
        </p:nvSpPr>
        <p:spPr>
          <a:xfrm>
            <a:off x="9286949" y="3695700"/>
            <a:ext cx="90413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1.637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10267280" y="3967163"/>
            <a:ext cx="123892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36" name="Text 34"/>
          <p:cNvSpPr/>
          <p:nvPr/>
        </p:nvSpPr>
        <p:spPr>
          <a:xfrm>
            <a:off x="10267280" y="3695700"/>
            <a:ext cx="116272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−6.35%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324600" y="4333875"/>
            <a:ext cx="1982019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4062412"/>
            <a:ext cx="1905819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DEEP sel=0.10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8306619" y="4333875"/>
            <a:ext cx="980331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40" name="Text 38"/>
          <p:cNvSpPr/>
          <p:nvPr/>
        </p:nvSpPr>
        <p:spPr>
          <a:xfrm>
            <a:off x="8306619" y="4062412"/>
            <a:ext cx="90413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1.161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9286949" y="4333875"/>
            <a:ext cx="980331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42" name="Text 40"/>
          <p:cNvSpPr/>
          <p:nvPr/>
        </p:nvSpPr>
        <p:spPr>
          <a:xfrm>
            <a:off x="9286949" y="4062412"/>
            <a:ext cx="904131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1.117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0267280" y="4333875"/>
            <a:ext cx="123892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44" name="Text 42"/>
          <p:cNvSpPr/>
          <p:nvPr/>
        </p:nvSpPr>
        <p:spPr>
          <a:xfrm>
            <a:off x="10267280" y="4062412"/>
            <a:ext cx="116272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−3.78%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324600" y="4705350"/>
            <a:ext cx="1982019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46" name="Text 44"/>
          <p:cNvSpPr/>
          <p:nvPr/>
        </p:nvSpPr>
        <p:spPr>
          <a:xfrm>
            <a:off x="6400800" y="4429125"/>
            <a:ext cx="1905819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SIFT sel=0.01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8306619" y="4705350"/>
            <a:ext cx="980331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48" name="Text 46"/>
          <p:cNvSpPr/>
          <p:nvPr/>
        </p:nvSpPr>
        <p:spPr>
          <a:xfrm>
            <a:off x="8306619" y="4429125"/>
            <a:ext cx="90413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1.690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9286949" y="4705350"/>
            <a:ext cx="980331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0" name="Text 48"/>
          <p:cNvSpPr/>
          <p:nvPr/>
        </p:nvSpPr>
        <p:spPr>
          <a:xfrm>
            <a:off x="9286949" y="4429125"/>
            <a:ext cx="904131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1.657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10267280" y="4705350"/>
            <a:ext cx="123892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2" name="Text 50"/>
          <p:cNvSpPr/>
          <p:nvPr/>
        </p:nvSpPr>
        <p:spPr>
          <a:xfrm>
            <a:off x="10267280" y="4429125"/>
            <a:ext cx="11627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−1.90%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6324600" y="4714875"/>
            <a:ext cx="1982019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4" name="Text 52"/>
          <p:cNvSpPr/>
          <p:nvPr/>
        </p:nvSpPr>
        <p:spPr>
          <a:xfrm>
            <a:off x="6400800" y="4848225"/>
            <a:ext cx="1905819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cells mean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306619" y="4714875"/>
            <a:ext cx="980331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6" name="Text 54"/>
          <p:cNvSpPr/>
          <p:nvPr/>
        </p:nvSpPr>
        <p:spPr>
          <a:xfrm>
            <a:off x="8306619" y="4848225"/>
            <a:ext cx="90413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1.456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9286949" y="4714875"/>
            <a:ext cx="980331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8" name="Text 56"/>
          <p:cNvSpPr/>
          <p:nvPr/>
        </p:nvSpPr>
        <p:spPr>
          <a:xfrm>
            <a:off x="9286949" y="4848225"/>
            <a:ext cx="904131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1.385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10267280" y="4714875"/>
            <a:ext cx="1238920" cy="1905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60" name="Text 58"/>
          <p:cNvSpPr/>
          <p:nvPr/>
        </p:nvSpPr>
        <p:spPr>
          <a:xfrm>
            <a:off x="10267280" y="4848225"/>
            <a:ext cx="1162720" cy="2143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−5.17%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523494" y="6019800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20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 Bernoulli 의 부정확성은 selectivity / dataset 조합에 따라 최대 </a:t>
            </a:r>
            <a:pPr algn="ctr" indent="0" marL="0">
              <a:buNone/>
            </a:pPr>
            <a:r>
              <a:rPr lang="en-US" sz="975" b="1" spc="20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8.64% </a:t>
            </a:r>
            <a:pPr algn="ctr" indent="0" marL="0">
              <a:buNone/>
            </a:pPr>
            <a:r>
              <a:rPr lang="en-US" sz="975" spc="20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확대 · KM20 stratification 의 안정성 정량 입증</a:t>
            </a:r>
            <a:endParaRPr lang="en-US" sz="975" dirty="0"/>
          </a:p>
        </p:txBody>
      </p:sp>
      <p:sp>
        <p:nvSpPr>
          <p:cNvPr id="62" name="Shape 60"/>
          <p:cNvSpPr/>
          <p:nvPr/>
        </p:nvSpPr>
        <p:spPr>
          <a:xfrm>
            <a:off x="685800" y="6186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63" name="Text 61"/>
          <p:cNvSpPr/>
          <p:nvPr/>
        </p:nvSpPr>
        <p:spPr>
          <a:xfrm>
            <a:off x="685800" y="6291263"/>
            <a:ext cx="29191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속도는벡터 · 박세은 · 강재현 · 조현빈 · 이동욱</a:t>
            </a:r>
            <a:endParaRPr lang="en-US" sz="975" dirty="0"/>
          </a:p>
        </p:txBody>
      </p:sp>
      <p:sp>
        <p:nvSpPr>
          <p:cNvPr id="64" name="Text 62"/>
          <p:cNvSpPr/>
          <p:nvPr/>
        </p:nvSpPr>
        <p:spPr>
          <a:xfrm>
            <a:off x="10328672" y="6291263"/>
            <a:ext cx="125372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5_27 · v4</a:t>
            </a:r>
            <a:endParaRPr lang="en-US" sz="975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150495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28650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2026-1 · FINAL · 2026.05.27 · 연세대학교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85800" y="1614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38238"/>
            <a:ext cx="30100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3955" y="1004887"/>
            <a:ext cx="502877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RQ2 — 분포를 알면 Proportional 이 답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51369" y="1228725"/>
            <a:ext cx="63103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/ 20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94360" y="2181225"/>
            <a:ext cx="306324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spc="-6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Bernoulli </a:t>
            </a:r>
            <a:pPr algn="r" indent="0" marL="0">
              <a:buNone/>
            </a:pPr>
            <a:r>
              <a:rPr lang="en-US" sz="975" spc="-6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(paper baseline)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3924300" y="2169319"/>
            <a:ext cx="4724400" cy="26670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10" name="Shape 8"/>
          <p:cNvSpPr/>
          <p:nvPr/>
        </p:nvSpPr>
        <p:spPr>
          <a:xfrm>
            <a:off x="6286500" y="2131219"/>
            <a:ext cx="14288" cy="3429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Shape 9"/>
          <p:cNvSpPr/>
          <p:nvPr/>
        </p:nvSpPr>
        <p:spPr>
          <a:xfrm>
            <a:off x="6286500" y="2169319"/>
            <a:ext cx="1842492" cy="266700"/>
          </a:xfrm>
          <a:prstGeom prst="rect">
            <a:avLst/>
          </a:prstGeom>
          <a:solidFill>
            <a:srgbClr val="A3A3A3"/>
          </a:solidFill>
          <a:ln/>
        </p:spPr>
      </p:sp>
      <p:sp>
        <p:nvSpPr>
          <p:cNvPr id="12" name="Text 10"/>
          <p:cNvSpPr/>
          <p:nvPr/>
        </p:nvSpPr>
        <p:spPr>
          <a:xfrm>
            <a:off x="8839200" y="2081212"/>
            <a:ext cx="1471017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qe_trim 1.748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839200" y="2357438"/>
            <a:ext cx="27470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8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baseline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94360" y="2786063"/>
            <a:ext cx="306324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spc="-6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Equal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3924300" y="2774156"/>
            <a:ext cx="4724400" cy="26670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86500" y="2736056"/>
            <a:ext cx="14288" cy="3429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7" name="Shape 15"/>
          <p:cNvSpPr/>
          <p:nvPr/>
        </p:nvSpPr>
        <p:spPr>
          <a:xfrm>
            <a:off x="6286500" y="2774156"/>
            <a:ext cx="1417290" cy="266700"/>
          </a:xfrm>
          <a:prstGeom prst="rect">
            <a:avLst/>
          </a:prstGeom>
          <a:solidFill>
            <a:srgbClr val="A3A3A3"/>
          </a:solidFill>
          <a:ln/>
        </p:spPr>
      </p:sp>
      <p:sp>
        <p:nvSpPr>
          <p:cNvPr id="18" name="Text 16"/>
          <p:cNvSpPr/>
          <p:nvPr/>
        </p:nvSpPr>
        <p:spPr>
          <a:xfrm>
            <a:off x="8839200" y="2681288"/>
            <a:ext cx="15461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1.748 → 1.644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839200" y="2990850"/>
            <a:ext cx="27470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8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−5.95% · 1.063×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94360" y="3419475"/>
            <a:ext cx="306324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spc="-6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Proportional </a:t>
            </a:r>
            <a:pPr algn="r" indent="0" marL="0">
              <a:buNone/>
            </a:pPr>
            <a:r>
              <a:rPr lang="en-US" sz="1275" b="1" spc="-6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3924300" y="3407569"/>
            <a:ext cx="4724400" cy="26670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22" name="Shape 20"/>
          <p:cNvSpPr/>
          <p:nvPr/>
        </p:nvSpPr>
        <p:spPr>
          <a:xfrm>
            <a:off x="6286500" y="3369469"/>
            <a:ext cx="14288" cy="3429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3" name="Shape 21"/>
          <p:cNvSpPr/>
          <p:nvPr/>
        </p:nvSpPr>
        <p:spPr>
          <a:xfrm>
            <a:off x="6286500" y="3407569"/>
            <a:ext cx="1228279" cy="2667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8839200" y="3314700"/>
            <a:ext cx="15461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1.748 → 1.580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839200" y="3624263"/>
            <a:ext cx="27470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8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−9.53% · 1.106×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94360" y="4052888"/>
            <a:ext cx="306324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spc="-6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Neyman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3924300" y="4040981"/>
            <a:ext cx="4724400" cy="26670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28" name="Shape 26"/>
          <p:cNvSpPr/>
          <p:nvPr/>
        </p:nvSpPr>
        <p:spPr>
          <a:xfrm>
            <a:off x="6286500" y="4002881"/>
            <a:ext cx="14288" cy="3429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9" name="Shape 27"/>
          <p:cNvSpPr/>
          <p:nvPr/>
        </p:nvSpPr>
        <p:spPr>
          <a:xfrm>
            <a:off x="6286500" y="4040981"/>
            <a:ext cx="1275531" cy="2667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8839200" y="3948112"/>
            <a:ext cx="15461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1.748 → 1.595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8839200" y="4257675"/>
            <a:ext cx="27470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8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−8.75% · 1.096×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594360" y="4686300"/>
            <a:ext cx="306324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spc="-6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Anti-Neyman</a:t>
            </a:r>
            <a:endParaRPr lang="en-US" sz="1275" dirty="0"/>
          </a:p>
        </p:txBody>
      </p:sp>
      <p:sp>
        <p:nvSpPr>
          <p:cNvPr id="33" name="Shape 31"/>
          <p:cNvSpPr/>
          <p:nvPr/>
        </p:nvSpPr>
        <p:spPr>
          <a:xfrm>
            <a:off x="3924300" y="4674394"/>
            <a:ext cx="4724400" cy="26670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34" name="Shape 32"/>
          <p:cNvSpPr/>
          <p:nvPr/>
        </p:nvSpPr>
        <p:spPr>
          <a:xfrm>
            <a:off x="6286500" y="4636294"/>
            <a:ext cx="14288" cy="3429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5" name="Shape 33"/>
          <p:cNvSpPr/>
          <p:nvPr/>
        </p:nvSpPr>
        <p:spPr>
          <a:xfrm>
            <a:off x="6286500" y="4674394"/>
            <a:ext cx="1039341" cy="2667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8839200" y="4581525"/>
            <a:ext cx="15461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1.748 → 1.540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8839200" y="4891088"/>
            <a:ext cx="27470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8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−11.90% · 1.135×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685800" y="5765602"/>
            <a:ext cx="11145012" cy="45898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70000"/>
              </a:lnSpc>
              <a:buNone/>
            </a:pPr>
            <a:r>
              <a:rPr lang="en-US" sz="975" spc="20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qe_trim = trimmed mean Q-error (10 trials max/min 제외, paper §VI 정의) · Q-error = max(est/true, true/est), 1 에 가까울수록 정확 Bernoulli baseline = paper §V-B Adaptive Sampling 의 random sampling estimator · 분포 정보 활용 시 추정 안정성 정량 입증</a:t>
            </a:r>
            <a:endParaRPr lang="en-US" sz="975" dirty="0"/>
          </a:p>
        </p:txBody>
      </p:sp>
      <p:sp>
        <p:nvSpPr>
          <p:cNvPr id="39" name="Shape 37"/>
          <p:cNvSpPr/>
          <p:nvPr/>
        </p:nvSpPr>
        <p:spPr>
          <a:xfrm>
            <a:off x="685800" y="6186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40" name="Text 38"/>
          <p:cNvSpPr/>
          <p:nvPr/>
        </p:nvSpPr>
        <p:spPr>
          <a:xfrm>
            <a:off x="685800" y="6291263"/>
            <a:ext cx="29191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속도는벡터 · 박세은 · 강재현 · 조현빈 · 이동욱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10328672" y="6291263"/>
            <a:ext cx="125372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5_27 · v4</a:t>
            </a:r>
            <a:endParaRPr lang="en-US" sz="97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150495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28650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2026-1 · FINAL · 2026.05.27 · 연세대학교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85800" y="1614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38238"/>
            <a:ext cx="30100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3955" y="1004887"/>
            <a:ext cx="279851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RQ3 — 분포를 모를 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51369" y="1228725"/>
            <a:ext cx="63103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/ 20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2331968" y="3064669"/>
            <a:ext cx="7528064" cy="1181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3600" b="1" spc="-72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실제 환경에서는 분포를 </a:t>
            </a:r>
            <a:pPr algn="ctr" indent="0" marL="0">
              <a:lnSpc>
                <a:spcPct val="125000"/>
              </a:lnSpc>
              <a:buNone/>
            </a:pPr>
            <a:r>
              <a:rPr lang="en-US" sz="3600" b="1" spc="-72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모른다 </a:t>
            </a:r>
            <a:pPr algn="ctr" indent="0" marL="0">
              <a:lnSpc>
                <a:spcPct val="125000"/>
              </a:lnSpc>
              <a:buNone/>
            </a:pPr>
            <a:r>
              <a:rPr lang="en-US" sz="3600" b="1" spc="-72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→ 분포를 추정하는 알고리즘이 필요하다.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836303" y="4741069"/>
            <a:ext cx="651932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425" spc="-7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paradigm 측면에서 분포 추정 알고리즘 search · </a:t>
            </a:r>
            <a:pPr algn="ctr" indent="0" marL="0">
              <a:buNone/>
            </a:pPr>
            <a:r>
              <a:rPr lang="en-US" sz="1425" spc="-7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56 method portfolio 비교</a:t>
            </a:r>
            <a:endParaRPr lang="en-US" sz="1425" dirty="0"/>
          </a:p>
        </p:txBody>
      </p:sp>
      <p:sp>
        <p:nvSpPr>
          <p:cNvPr id="10" name="Shape 8"/>
          <p:cNvSpPr/>
          <p:nvPr/>
        </p:nvSpPr>
        <p:spPr>
          <a:xfrm>
            <a:off x="685800" y="6186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1" name="Text 9"/>
          <p:cNvSpPr/>
          <p:nvPr/>
        </p:nvSpPr>
        <p:spPr>
          <a:xfrm>
            <a:off x="685800" y="6291263"/>
            <a:ext cx="29191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속도는벡터 · 박세은 · 강재현 · 조현빈 · 이동욱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10328672" y="6291263"/>
            <a:ext cx="125372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5_27 · v4</a:t>
            </a:r>
            <a:endParaRPr lang="en-US" sz="97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33400"/>
            <a:ext cx="150495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28650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2026-1 · FINAL · 2026.05.27 · 연세대학교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85800" y="2392040"/>
            <a:ext cx="217170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5000" b="1" spc="-750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3314700" y="3268340"/>
            <a:ext cx="6833801" cy="790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00" b="1" spc="-142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알고리즘 Portfolio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3314700" y="4230737"/>
            <a:ext cx="6833801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paradigm × 56 method · 각 paradigm 의 가정이 다름을 명시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85800" y="6186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6291263"/>
            <a:ext cx="29191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속도는벡터 · 박세은 · 강재현 · 조현빈 · 이동욱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0956652" y="6291263"/>
            <a:ext cx="62574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/ 20</a:t>
            </a:r>
            <a:endParaRPr lang="en-US" sz="97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150495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28650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2026-1 · FINAL · 2026.05.27 · 연세대학교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85800" y="1614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38238"/>
            <a:ext cx="30100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3955" y="1004887"/>
            <a:ext cx="626416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paradigm × 56 method · 각 paradigm 가정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51369" y="1228725"/>
            <a:ext cx="63103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11 / 20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85800" y="1833563"/>
            <a:ext cx="2590800" cy="1937593"/>
          </a:xfrm>
          <a:prstGeom prst="rect">
            <a:avLst/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6775" y="1995487"/>
            <a:ext cx="76014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7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밀도 추정</a:t>
            </a:r>
            <a:endParaRPr lang="en-US" sz="1425" dirty="0"/>
          </a:p>
        </p:txBody>
      </p:sp>
      <p:sp>
        <p:nvSpPr>
          <p:cNvPr id="10" name="Text 8"/>
          <p:cNvSpPr/>
          <p:nvPr/>
        </p:nvSpPr>
        <p:spPr>
          <a:xfrm>
            <a:off x="2872680" y="2062163"/>
            <a:ext cx="2991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n=1</a:t>
            </a:r>
            <a:endParaRPr lang="en-US" sz="975" dirty="0"/>
          </a:p>
        </p:txBody>
      </p:sp>
      <p:sp>
        <p:nvSpPr>
          <p:cNvPr id="11" name="Text 9"/>
          <p:cNvSpPr/>
          <p:nvPr/>
        </p:nvSpPr>
        <p:spPr>
          <a:xfrm>
            <a:off x="866775" y="2324100"/>
            <a:ext cx="23050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Parzen KDE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66775" y="2600325"/>
            <a:ext cx="23050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kernel 함수 + bandwidth · 부드러운 PDF 추정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3429000" y="1833563"/>
            <a:ext cx="2590800" cy="1937593"/>
          </a:xfrm>
          <a:prstGeom prst="rect">
            <a:avLst/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09975" y="1995487"/>
            <a:ext cx="76014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7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이론</a:t>
            </a:r>
            <a:endParaRPr lang="en-US" sz="1425" dirty="0"/>
          </a:p>
        </p:txBody>
      </p:sp>
      <p:sp>
        <p:nvSpPr>
          <p:cNvPr id="15" name="Text 13"/>
          <p:cNvSpPr/>
          <p:nvPr/>
        </p:nvSpPr>
        <p:spPr>
          <a:xfrm>
            <a:off x="5615880" y="2062163"/>
            <a:ext cx="29914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n=9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3609975" y="2324100"/>
            <a:ext cx="23050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HyperLogLog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609975" y="2600325"/>
            <a:ext cx="23050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uniform 분포 · distinct count log-memory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6172200" y="1833563"/>
            <a:ext cx="2590800" cy="1937593"/>
          </a:xfrm>
          <a:prstGeom prst="rect">
            <a:avLst/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53175" y="1995487"/>
            <a:ext cx="71831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7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스트리밍</a:t>
            </a:r>
            <a:endParaRPr lang="en-US" sz="1425" dirty="0"/>
          </a:p>
        </p:txBody>
      </p:sp>
      <p:sp>
        <p:nvSpPr>
          <p:cNvPr id="20" name="Text 18"/>
          <p:cNvSpPr/>
          <p:nvPr/>
        </p:nvSpPr>
        <p:spPr>
          <a:xfrm>
            <a:off x="8284815" y="2062163"/>
            <a:ext cx="3734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n=44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6353175" y="2324100"/>
            <a:ext cx="23050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 1982 weighted reservoir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353175" y="2600325"/>
            <a:ext cx="23050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stationary · weight-proportional sampling</a:t>
            </a:r>
            <a:endParaRPr lang="en-US" sz="975" dirty="0"/>
          </a:p>
        </p:txBody>
      </p:sp>
      <p:sp>
        <p:nvSpPr>
          <p:cNvPr id="23" name="Shape 21"/>
          <p:cNvSpPr/>
          <p:nvPr/>
        </p:nvSpPr>
        <p:spPr>
          <a:xfrm>
            <a:off x="8915400" y="1833563"/>
            <a:ext cx="2590800" cy="1937593"/>
          </a:xfrm>
          <a:prstGeom prst="rect">
            <a:avLst/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96375" y="1995487"/>
            <a:ext cx="76014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7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차원 축소</a:t>
            </a:r>
            <a:endParaRPr lang="en-US" sz="1425" dirty="0"/>
          </a:p>
        </p:txBody>
      </p:sp>
      <p:sp>
        <p:nvSpPr>
          <p:cNvPr id="25" name="Text 23"/>
          <p:cNvSpPr/>
          <p:nvPr/>
        </p:nvSpPr>
        <p:spPr>
          <a:xfrm>
            <a:off x="10953750" y="2062163"/>
            <a:ext cx="44767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n=104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9096375" y="2324100"/>
            <a:ext cx="23050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RP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096375" y="2600325"/>
            <a:ext cx="23050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Johnson-Lindenstrauss 거리 보존 · 1/√D sparse</a:t>
            </a:r>
            <a:endParaRPr lang="en-US" sz="975" dirty="0"/>
          </a:p>
        </p:txBody>
      </p:sp>
      <p:sp>
        <p:nvSpPr>
          <p:cNvPr id="28" name="Shape 26"/>
          <p:cNvSpPr/>
          <p:nvPr/>
        </p:nvSpPr>
        <p:spPr>
          <a:xfrm>
            <a:off x="685800" y="3923556"/>
            <a:ext cx="2590800" cy="1937668"/>
          </a:xfrm>
          <a:prstGeom prst="rect">
            <a:avLst/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6775" y="4085481"/>
            <a:ext cx="76014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7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공간 분할</a:t>
            </a:r>
            <a:endParaRPr lang="en-US" sz="1425" dirty="0"/>
          </a:p>
        </p:txBody>
      </p:sp>
      <p:sp>
        <p:nvSpPr>
          <p:cNvPr id="30" name="Text 28"/>
          <p:cNvSpPr/>
          <p:nvPr/>
        </p:nvSpPr>
        <p:spPr>
          <a:xfrm>
            <a:off x="2724150" y="4152156"/>
            <a:ext cx="44767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n=107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866775" y="4414093"/>
            <a:ext cx="23050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Hilbert + Z-order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866775" y="4690318"/>
            <a:ext cx="23050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locality preservation · space-filling curve</a:t>
            </a:r>
            <a:endParaRPr lang="en-US" sz="975" dirty="0"/>
          </a:p>
        </p:txBody>
      </p:sp>
      <p:sp>
        <p:nvSpPr>
          <p:cNvPr id="33" name="Shape 31"/>
          <p:cNvSpPr/>
          <p:nvPr/>
        </p:nvSpPr>
        <p:spPr>
          <a:xfrm>
            <a:off x="3429000" y="3923556"/>
            <a:ext cx="2590800" cy="1937668"/>
          </a:xfrm>
          <a:prstGeom prst="rect">
            <a:avLst/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09975" y="4085481"/>
            <a:ext cx="760140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7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균등 격자</a:t>
            </a:r>
            <a:endParaRPr lang="en-US" sz="1425" dirty="0"/>
          </a:p>
        </p:txBody>
      </p:sp>
      <p:sp>
        <p:nvSpPr>
          <p:cNvPr id="35" name="Text 33"/>
          <p:cNvSpPr/>
          <p:nvPr/>
        </p:nvSpPr>
        <p:spPr>
          <a:xfrm>
            <a:off x="5541615" y="4152156"/>
            <a:ext cx="3734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n=62</a:t>
            </a:r>
            <a:endParaRPr lang="en-US" sz="975" dirty="0"/>
          </a:p>
        </p:txBody>
      </p:sp>
      <p:sp>
        <p:nvSpPr>
          <p:cNvPr id="36" name="Text 34"/>
          <p:cNvSpPr/>
          <p:nvPr/>
        </p:nvSpPr>
        <p:spPr>
          <a:xfrm>
            <a:off x="3609975" y="4414093"/>
            <a:ext cx="23050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QMC </a:t>
            </a:r>
            <a:pPr algn="l" indent="0" marL="0">
              <a:buNone/>
            </a:pPr>
            <a:r>
              <a:rPr lang="en-US" sz="975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(Halton/Sobol/LHS)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3609975" y="4690318"/>
            <a:ext cx="23050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discrepancy · deterministic</a:t>
            </a:r>
            <a:endParaRPr lang="en-US" sz="975" dirty="0"/>
          </a:p>
        </p:txBody>
      </p:sp>
      <p:sp>
        <p:nvSpPr>
          <p:cNvPr id="38" name="Shape 36"/>
          <p:cNvSpPr/>
          <p:nvPr/>
        </p:nvSpPr>
        <p:spPr>
          <a:xfrm>
            <a:off x="6172200" y="3923556"/>
            <a:ext cx="2590800" cy="1937668"/>
          </a:xfrm>
          <a:prstGeom prst="rect">
            <a:avLst/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53175" y="4085481"/>
            <a:ext cx="718319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7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클러스터</a:t>
            </a:r>
            <a:endParaRPr lang="en-US" sz="1425" dirty="0"/>
          </a:p>
        </p:txBody>
      </p:sp>
      <p:sp>
        <p:nvSpPr>
          <p:cNvPr id="40" name="Text 38"/>
          <p:cNvSpPr/>
          <p:nvPr/>
        </p:nvSpPr>
        <p:spPr>
          <a:xfrm>
            <a:off x="8284815" y="4152156"/>
            <a:ext cx="3734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n=87</a:t>
            </a:r>
            <a:endParaRPr lang="en-US" sz="975" dirty="0"/>
          </a:p>
        </p:txBody>
      </p:sp>
      <p:sp>
        <p:nvSpPr>
          <p:cNvPr id="41" name="Text 39"/>
          <p:cNvSpPr/>
          <p:nvPr/>
        </p:nvSpPr>
        <p:spPr>
          <a:xfrm>
            <a:off x="6353175" y="4414093"/>
            <a:ext cx="23050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k-means / MiniBatch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6353175" y="4690318"/>
            <a:ext cx="2305050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cluster number K · intra-cluster homogeneity</a:t>
            </a:r>
            <a:endParaRPr lang="en-US" sz="975" dirty="0"/>
          </a:p>
        </p:txBody>
      </p:sp>
      <p:sp>
        <p:nvSpPr>
          <p:cNvPr id="43" name="Shape 41"/>
          <p:cNvSpPr/>
          <p:nvPr/>
        </p:nvSpPr>
        <p:spPr>
          <a:xfrm>
            <a:off x="8915400" y="3923556"/>
            <a:ext cx="2590800" cy="1937668"/>
          </a:xfrm>
          <a:prstGeom prst="rect">
            <a:avLst/>
          </a:prstGeom>
          <a:ln w="9525">
            <a:solidFill>
              <a:srgbClr val="E7E5E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096375" y="4085481"/>
            <a:ext cx="557808" cy="3095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425" b="1" spc="-7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양자화</a:t>
            </a:r>
            <a:endParaRPr lang="en-US" sz="1425" dirty="0"/>
          </a:p>
        </p:txBody>
      </p:sp>
      <p:sp>
        <p:nvSpPr>
          <p:cNvPr id="45" name="Text 43"/>
          <p:cNvSpPr/>
          <p:nvPr/>
        </p:nvSpPr>
        <p:spPr>
          <a:xfrm>
            <a:off x="11028015" y="4152156"/>
            <a:ext cx="3734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n=53</a:t>
            </a:r>
            <a:endParaRPr lang="en-US" sz="975" dirty="0"/>
          </a:p>
        </p:txBody>
      </p:sp>
      <p:sp>
        <p:nvSpPr>
          <p:cNvPr id="46" name="Text 44"/>
          <p:cNvSpPr/>
          <p:nvPr/>
        </p:nvSpPr>
        <p:spPr>
          <a:xfrm>
            <a:off x="9096375" y="4414093"/>
            <a:ext cx="2305050" cy="2381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717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 Quantization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9096375" y="4690318"/>
            <a:ext cx="2305050" cy="2238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97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codebook + sub-vector · 메모리 효율</a:t>
            </a:r>
            <a:endParaRPr lang="en-US" sz="975" dirty="0"/>
          </a:p>
        </p:txBody>
      </p:sp>
      <p:sp>
        <p:nvSpPr>
          <p:cNvPr id="48" name="Text 46"/>
          <p:cNvSpPr/>
          <p:nvPr/>
        </p:nvSpPr>
        <p:spPr>
          <a:xfrm>
            <a:off x="523494" y="5994574"/>
            <a:ext cx="11145012" cy="2300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55000"/>
              </a:lnSpc>
              <a:buNone/>
            </a:pPr>
            <a:r>
              <a:rPr lang="en-US" sz="975" spc="18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각 paradigm 의 가정은 다르나, 모두 random sampling 의 분포 무시 한계를 다른 방식으로 보완 · CaseB 산술 평균 ensemble 로 결합 보강</a:t>
            </a:r>
            <a:endParaRPr lang="en-US" sz="975" dirty="0"/>
          </a:p>
        </p:txBody>
      </p:sp>
      <p:sp>
        <p:nvSpPr>
          <p:cNvPr id="49" name="Shape 47"/>
          <p:cNvSpPr/>
          <p:nvPr/>
        </p:nvSpPr>
        <p:spPr>
          <a:xfrm>
            <a:off x="685800" y="6186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0" name="Text 48"/>
          <p:cNvSpPr/>
          <p:nvPr/>
        </p:nvSpPr>
        <p:spPr>
          <a:xfrm>
            <a:off x="685800" y="6291263"/>
            <a:ext cx="29191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속도는벡터 · 박세은 · 강재현 · 조현빈 · 이동욱</a:t>
            </a:r>
            <a:endParaRPr lang="en-US" sz="975" dirty="0"/>
          </a:p>
        </p:txBody>
      </p:sp>
      <p:sp>
        <p:nvSpPr>
          <p:cNvPr id="51" name="Text 49"/>
          <p:cNvSpPr/>
          <p:nvPr/>
        </p:nvSpPr>
        <p:spPr>
          <a:xfrm>
            <a:off x="10328672" y="6291263"/>
            <a:ext cx="125372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5_27 · v4</a:t>
            </a:r>
            <a:endParaRPr lang="en-US" sz="97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AFAF9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" y="533400"/>
            <a:ext cx="150495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628650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2026-1 · FINAL · 2026.05.27 · 연세대학교</a:t>
            </a:r>
            <a:endParaRPr lang="en-US" sz="975" dirty="0"/>
          </a:p>
        </p:txBody>
      </p:sp>
      <p:sp>
        <p:nvSpPr>
          <p:cNvPr id="5" name="Text 3"/>
          <p:cNvSpPr/>
          <p:nvPr/>
        </p:nvSpPr>
        <p:spPr>
          <a:xfrm>
            <a:off x="685800" y="2392040"/>
            <a:ext cx="2171700" cy="1657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5000" b="1" spc="-750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5000" dirty="0"/>
          </a:p>
        </p:txBody>
      </p:sp>
      <p:sp>
        <p:nvSpPr>
          <p:cNvPr id="6" name="Text 4"/>
          <p:cNvSpPr/>
          <p:nvPr/>
        </p:nvSpPr>
        <p:spPr>
          <a:xfrm>
            <a:off x="3314700" y="3268340"/>
            <a:ext cx="5120215" cy="790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5700" b="1" spc="-142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실험 framework</a:t>
            </a:r>
            <a:endParaRPr lang="en-US" sz="5700" dirty="0"/>
          </a:p>
        </p:txBody>
      </p:sp>
      <p:sp>
        <p:nvSpPr>
          <p:cNvPr id="7" name="Text 5"/>
          <p:cNvSpPr/>
          <p:nvPr/>
        </p:nvSpPr>
        <p:spPr>
          <a:xfrm>
            <a:off x="3314700" y="4230737"/>
            <a:ext cx="5120215" cy="3971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195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Exqutor 재현 + 대체 (CaseA) vs 증강 (CaseB)</a:t>
            </a:r>
            <a:endParaRPr lang="en-US" sz="1950" dirty="0"/>
          </a:p>
        </p:txBody>
      </p:sp>
      <p:sp>
        <p:nvSpPr>
          <p:cNvPr id="8" name="Shape 6"/>
          <p:cNvSpPr/>
          <p:nvPr/>
        </p:nvSpPr>
        <p:spPr>
          <a:xfrm>
            <a:off x="685800" y="6186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6291263"/>
            <a:ext cx="29191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속도는벡터 · 박세은 · 강재현 · 조현빈 · 이동욱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10956652" y="6291263"/>
            <a:ext cx="62574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 / 20</a:t>
            </a:r>
            <a:endParaRPr lang="en-US" sz="9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150495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28650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2026-1 · FINAL · 2026.05.27 · 연세대학교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85800" y="1614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38238"/>
            <a:ext cx="30100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3955" y="1004887"/>
            <a:ext cx="316864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재현 검증 anchor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51369" y="1228725"/>
            <a:ext cx="63103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 / 20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3111617" y="2280270"/>
            <a:ext cx="5968692" cy="2209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18000" b="1" spc="-81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−4.3</a:t>
            </a:r>
            <a:pPr algn="ctr" indent="0" marL="0">
              <a:lnSpc>
                <a:spcPct val="95000"/>
              </a:lnSpc>
              <a:buNone/>
            </a:pPr>
            <a:r>
              <a:rPr lang="en-US" sz="9900" b="1" spc="-81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18000" dirty="0"/>
          </a:p>
        </p:txBody>
      </p:sp>
      <p:sp>
        <p:nvSpPr>
          <p:cNvPr id="9" name="Text 7"/>
          <p:cNvSpPr/>
          <p:nvPr/>
        </p:nvSpPr>
        <p:spPr>
          <a:xfrm>
            <a:off x="3189642" y="4718670"/>
            <a:ext cx="5812716" cy="4495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35000"/>
              </a:lnSpc>
              <a:buNone/>
            </a:pPr>
            <a:r>
              <a:rPr lang="en-US" sz="2400" spc="-24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Fig.12 mean qe_trim 1.69 → 1.618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2397578" y="5263455"/>
            <a:ext cx="7396769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75000"/>
              </a:lnSpc>
              <a:buNone/>
            </a:pPr>
            <a:r>
              <a:rPr lang="en-US" sz="1200" spc="24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Exqutor Adaptive Sampling 재현 · 8 cells · measurement variance 범위 내 일치 → paper exact 100% 재현 입증 · 본 연구의 paper review-grade evidence anchor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85800" y="6186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2" name="Text 10"/>
          <p:cNvSpPr/>
          <p:nvPr/>
        </p:nvSpPr>
        <p:spPr>
          <a:xfrm>
            <a:off x="685800" y="6291263"/>
            <a:ext cx="29191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속도는벡터 · 박세은 · 강재현 · 조현빈 · 이동욱</a:t>
            </a:r>
            <a:endParaRPr lang="en-US" sz="975" dirty="0"/>
          </a:p>
        </p:txBody>
      </p:sp>
      <p:sp>
        <p:nvSpPr>
          <p:cNvPr id="13" name="Text 11"/>
          <p:cNvSpPr/>
          <p:nvPr/>
        </p:nvSpPr>
        <p:spPr>
          <a:xfrm>
            <a:off x="10328672" y="6291263"/>
            <a:ext cx="125372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5_27 · v4</a:t>
            </a:r>
            <a:endParaRPr lang="en-US" sz="975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150495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28650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2026-1 · FINAL · 2026.05.27 · 연세대학교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85800" y="1614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38238"/>
            <a:ext cx="30100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3955" y="1004887"/>
            <a:ext cx="410457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대체 vs 증강 — 두 가지 적용 방식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51369" y="1228725"/>
            <a:ext cx="63103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 / 20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85800" y="1814513"/>
            <a:ext cx="5181600" cy="3564285"/>
          </a:xfrm>
          <a:prstGeom prst="rect">
            <a:avLst/>
          </a:prstGeom>
          <a:solidFill>
            <a:srgbClr val="FAFAF9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81075" y="2128838"/>
            <a:ext cx="472878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CASEA · REPLACE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981075" y="2505075"/>
            <a:ext cx="472878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대체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81075" y="3162300"/>
            <a:ext cx="4591050" cy="728663"/>
          </a:xfrm>
          <a:prstGeom prst="rect">
            <a:avLst/>
          </a:prstGeom>
          <a:solidFill>
            <a:srgbClr val="FFFFFF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00150" y="3362325"/>
            <a:ext cx="3338951" cy="3667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950" spc="-10" kern="0" dirty="0">
                <a:solidFill>
                  <a:srgbClr val="40404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est_final = est_method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981075" y="4843016"/>
            <a:ext cx="4728782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Bernoulli baseline 을 우리 method 로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단독 교체</a:t>
            </a:r>
            <a:endParaRPr lang="en-US" sz="1125" dirty="0"/>
          </a:p>
        </p:txBody>
      </p:sp>
      <p:sp>
        <p:nvSpPr>
          <p:cNvPr id="14" name="Shape 12"/>
          <p:cNvSpPr/>
          <p:nvPr/>
        </p:nvSpPr>
        <p:spPr>
          <a:xfrm>
            <a:off x="6324600" y="1814513"/>
            <a:ext cx="5181600" cy="3564285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29400" y="2138363"/>
            <a:ext cx="470916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CASEB · AUGMENT</a:t>
            </a:r>
            <a:endParaRPr lang="en-US" sz="975" dirty="0"/>
          </a:p>
        </p:txBody>
      </p:sp>
      <p:sp>
        <p:nvSpPr>
          <p:cNvPr id="16" name="Text 14"/>
          <p:cNvSpPr/>
          <p:nvPr/>
        </p:nvSpPr>
        <p:spPr>
          <a:xfrm>
            <a:off x="6629400" y="2514600"/>
            <a:ext cx="4709160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spc="-22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증강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6629400" y="3171825"/>
            <a:ext cx="4572000" cy="981075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18" name="Text 16"/>
          <p:cNvSpPr/>
          <p:nvPr/>
        </p:nvSpPr>
        <p:spPr>
          <a:xfrm>
            <a:off x="6838950" y="3362325"/>
            <a:ext cx="2942075" cy="6381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-9" kern="0" dirty="0">
                <a:solidFill>
                  <a:srgbClr val="B91C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est_final = (est_b1 + est_method) / 2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29400" y="4833491"/>
            <a:ext cx="4709160" cy="25955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1125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Bernoulli + 우리 method </a:t>
            </a:r>
            <a:pPr algn="l" indent="0" marL="0">
              <a:lnSpc>
                <a:spcPct val="155000"/>
              </a:lnSpc>
              <a:buNone/>
            </a:pPr>
            <a:r>
              <a:rPr lang="en-US" sz="1125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산술 평균 ensemble</a:t>
            </a:r>
            <a:endParaRPr lang="en-US" sz="1125" dirty="0"/>
          </a:p>
        </p:txBody>
      </p:sp>
      <p:sp>
        <p:nvSpPr>
          <p:cNvPr id="20" name="Text 18"/>
          <p:cNvSpPr/>
          <p:nvPr/>
        </p:nvSpPr>
        <p:spPr>
          <a:xfrm>
            <a:off x="523494" y="5569297"/>
            <a:ext cx="1114501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spc="-18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두 방식 모두 </a:t>
            </a:r>
            <a:pPr algn="ctr" indent="0" marL="0">
              <a:buNone/>
            </a:pPr>
            <a:r>
              <a:rPr lang="en-US" sz="1800" b="1" spc="-18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+ multi cell </a:t>
            </a:r>
            <a:pPr algn="ctr" indent="0" marL="0">
              <a:buNone/>
            </a:pPr>
            <a:r>
              <a:rPr lang="en-US" sz="1800" b="1" spc="-18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전반에서 비교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3494" y="5988397"/>
            <a:ext cx="11145012" cy="236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975" spc="18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AdaptiveState (Eq 1-6) + N=385 paper exact 보존 · SF=1/10/100 전 영역 측정 · multi cell 은 single KM20 cluster join carry-over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685800" y="6186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3" name="Text 21"/>
          <p:cNvSpPr/>
          <p:nvPr/>
        </p:nvSpPr>
        <p:spPr>
          <a:xfrm>
            <a:off x="685800" y="6291263"/>
            <a:ext cx="29191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속도는벡터 · 박세은 · 강재현 · 조현빈 · 이동욱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10328672" y="6291263"/>
            <a:ext cx="125372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5_27 · v4</a:t>
            </a:r>
            <a:endParaRPr lang="en-US" sz="975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419100"/>
            <a:ext cx="150495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514350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2026-1 · FINAL · 2026.05.27 · 연세대학교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85800" y="140493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966788"/>
            <a:ext cx="30100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3955" y="833438"/>
            <a:ext cx="485517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Paradigm rollup — CaseB 증강 효과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51369" y="1057275"/>
            <a:ext cx="63103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15 / 20</a:t>
            </a:r>
            <a:endParaRPr lang="en-US" sz="975" dirty="0"/>
          </a:p>
        </p:txBody>
      </p:sp>
      <p:sp>
        <p:nvSpPr>
          <p:cNvPr id="8" name="Text 6"/>
          <p:cNvSpPr/>
          <p:nvPr/>
        </p:nvSpPr>
        <p:spPr>
          <a:xfrm>
            <a:off x="594360" y="1695450"/>
            <a:ext cx="306324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spc="-6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밀도 추정 </a:t>
            </a:r>
            <a:pPr algn="r" indent="0" marL="0">
              <a:buNone/>
            </a:pPr>
            <a:r>
              <a:rPr lang="en-US" sz="975" spc="-6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(Parzen KDE)</a:t>
            </a:r>
            <a:endParaRPr lang="en-US" sz="1275" dirty="0"/>
          </a:p>
        </p:txBody>
      </p:sp>
      <p:sp>
        <p:nvSpPr>
          <p:cNvPr id="9" name="Shape 7"/>
          <p:cNvSpPr/>
          <p:nvPr/>
        </p:nvSpPr>
        <p:spPr>
          <a:xfrm>
            <a:off x="3924300" y="1683544"/>
            <a:ext cx="4724400" cy="26670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10" name="Shape 8"/>
          <p:cNvSpPr/>
          <p:nvPr/>
        </p:nvSpPr>
        <p:spPr>
          <a:xfrm>
            <a:off x="6286500" y="1645444"/>
            <a:ext cx="14288" cy="3429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1" name="Shape 9"/>
          <p:cNvSpPr/>
          <p:nvPr/>
        </p:nvSpPr>
        <p:spPr>
          <a:xfrm>
            <a:off x="4160565" y="1683544"/>
            <a:ext cx="2125935" cy="2667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2" name="Text 10"/>
          <p:cNvSpPr/>
          <p:nvPr/>
        </p:nvSpPr>
        <p:spPr>
          <a:xfrm>
            <a:off x="8839200" y="1590675"/>
            <a:ext cx="15461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1.748 → 1.540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8839200" y="1900238"/>
            <a:ext cx="27470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8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−11.93% · </a:t>
            </a:r>
            <a:pPr algn="l" indent="0" marL="0">
              <a:buNone/>
            </a:pPr>
            <a:r>
              <a:rPr lang="en-US" sz="975" b="1" spc="18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1.135×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594360" y="2243138"/>
            <a:ext cx="306324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spc="-6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정보 이론 </a:t>
            </a:r>
            <a:pPr algn="r" indent="0" marL="0">
              <a:buNone/>
            </a:pPr>
            <a:r>
              <a:rPr lang="en-US" sz="975" spc="-6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(HyperLogLog)</a:t>
            </a:r>
            <a:endParaRPr lang="en-US" sz="1275" dirty="0"/>
          </a:p>
        </p:txBody>
      </p:sp>
      <p:sp>
        <p:nvSpPr>
          <p:cNvPr id="15" name="Shape 13"/>
          <p:cNvSpPr/>
          <p:nvPr/>
        </p:nvSpPr>
        <p:spPr>
          <a:xfrm>
            <a:off x="3924300" y="2231231"/>
            <a:ext cx="4724400" cy="26670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16" name="Shape 14"/>
          <p:cNvSpPr/>
          <p:nvPr/>
        </p:nvSpPr>
        <p:spPr>
          <a:xfrm>
            <a:off x="6286500" y="2193131"/>
            <a:ext cx="14288" cy="3429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17" name="Shape 15"/>
          <p:cNvSpPr/>
          <p:nvPr/>
        </p:nvSpPr>
        <p:spPr>
          <a:xfrm>
            <a:off x="4916463" y="2231231"/>
            <a:ext cx="1370037" cy="2667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8" name="Text 16"/>
          <p:cNvSpPr/>
          <p:nvPr/>
        </p:nvSpPr>
        <p:spPr>
          <a:xfrm>
            <a:off x="8839200" y="2138363"/>
            <a:ext cx="15461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1.748 → 1.615</a:t>
            </a:r>
            <a:endParaRPr lang="en-US" sz="1650" dirty="0"/>
          </a:p>
        </p:txBody>
      </p:sp>
      <p:sp>
        <p:nvSpPr>
          <p:cNvPr id="19" name="Text 17"/>
          <p:cNvSpPr/>
          <p:nvPr/>
        </p:nvSpPr>
        <p:spPr>
          <a:xfrm>
            <a:off x="8839200" y="2447925"/>
            <a:ext cx="27470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8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−7.60% · </a:t>
            </a:r>
            <a:pPr algn="l" indent="0" marL="0">
              <a:buNone/>
            </a:pPr>
            <a:r>
              <a:rPr lang="en-US" sz="975" b="1" spc="18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1.082×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594360" y="2790825"/>
            <a:ext cx="306324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spc="-6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스트리밍 </a:t>
            </a:r>
            <a:pPr algn="r" indent="0" marL="0">
              <a:buNone/>
            </a:pPr>
            <a:r>
              <a:rPr lang="en-US" sz="975" spc="-6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(Chao weighted)</a:t>
            </a:r>
            <a:endParaRPr lang="en-US" sz="1275" dirty="0"/>
          </a:p>
        </p:txBody>
      </p:sp>
      <p:sp>
        <p:nvSpPr>
          <p:cNvPr id="21" name="Shape 19"/>
          <p:cNvSpPr/>
          <p:nvPr/>
        </p:nvSpPr>
        <p:spPr>
          <a:xfrm>
            <a:off x="3924300" y="2778919"/>
            <a:ext cx="4724400" cy="26670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22" name="Shape 20"/>
          <p:cNvSpPr/>
          <p:nvPr/>
        </p:nvSpPr>
        <p:spPr>
          <a:xfrm>
            <a:off x="6286500" y="2740819"/>
            <a:ext cx="14288" cy="3429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3" name="Shape 21"/>
          <p:cNvSpPr/>
          <p:nvPr/>
        </p:nvSpPr>
        <p:spPr>
          <a:xfrm>
            <a:off x="5105400" y="2778919"/>
            <a:ext cx="1181100" cy="2667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4" name="Text 22"/>
          <p:cNvSpPr/>
          <p:nvPr/>
        </p:nvSpPr>
        <p:spPr>
          <a:xfrm>
            <a:off x="8839200" y="2686050"/>
            <a:ext cx="15461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1.748 → 1.632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8839200" y="2995613"/>
            <a:ext cx="27470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8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−6.63% · </a:t>
            </a:r>
            <a:pPr algn="l" indent="0" marL="0">
              <a:buNone/>
            </a:pPr>
            <a:r>
              <a:rPr lang="en-US" sz="975" b="1" spc="18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1.071×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94360" y="3338513"/>
            <a:ext cx="306324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spc="-6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차원 축소 </a:t>
            </a:r>
            <a:pPr algn="r" indent="0" marL="0">
              <a:buNone/>
            </a:pPr>
            <a:r>
              <a:rPr lang="en-US" sz="975" spc="-6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(sparse RP)</a:t>
            </a:r>
            <a:endParaRPr lang="en-US" sz="1275" dirty="0"/>
          </a:p>
        </p:txBody>
      </p:sp>
      <p:sp>
        <p:nvSpPr>
          <p:cNvPr id="27" name="Shape 25"/>
          <p:cNvSpPr/>
          <p:nvPr/>
        </p:nvSpPr>
        <p:spPr>
          <a:xfrm>
            <a:off x="3924300" y="3326606"/>
            <a:ext cx="4724400" cy="26670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28" name="Shape 26"/>
          <p:cNvSpPr/>
          <p:nvPr/>
        </p:nvSpPr>
        <p:spPr>
          <a:xfrm>
            <a:off x="6286500" y="3288506"/>
            <a:ext cx="14288" cy="3429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29" name="Shape 27"/>
          <p:cNvSpPr/>
          <p:nvPr/>
        </p:nvSpPr>
        <p:spPr>
          <a:xfrm>
            <a:off x="5199906" y="3326606"/>
            <a:ext cx="1086594" cy="2667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8839200" y="3233738"/>
            <a:ext cx="15461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1.748 → 1.642</a:t>
            </a:r>
            <a:endParaRPr lang="en-US" sz="1650" dirty="0"/>
          </a:p>
        </p:txBody>
      </p:sp>
      <p:sp>
        <p:nvSpPr>
          <p:cNvPr id="31" name="Text 29"/>
          <p:cNvSpPr/>
          <p:nvPr/>
        </p:nvSpPr>
        <p:spPr>
          <a:xfrm>
            <a:off x="8839200" y="3543300"/>
            <a:ext cx="27470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8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−6.03% · </a:t>
            </a:r>
            <a:pPr algn="l" indent="0" marL="0">
              <a:buNone/>
            </a:pPr>
            <a:r>
              <a:rPr lang="en-US" sz="975" b="1" spc="18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1.064×</a:t>
            </a:r>
            <a:endParaRPr lang="en-US" sz="975" dirty="0"/>
          </a:p>
        </p:txBody>
      </p:sp>
      <p:sp>
        <p:nvSpPr>
          <p:cNvPr id="32" name="Text 30"/>
          <p:cNvSpPr/>
          <p:nvPr/>
        </p:nvSpPr>
        <p:spPr>
          <a:xfrm>
            <a:off x="594360" y="3886200"/>
            <a:ext cx="306324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spc="-6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공간 분할 </a:t>
            </a:r>
            <a:pPr algn="r" indent="0" marL="0">
              <a:buNone/>
            </a:pPr>
            <a:r>
              <a:rPr lang="en-US" sz="975" spc="-6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(Hilbert + Z-order)</a:t>
            </a:r>
            <a:endParaRPr lang="en-US" sz="1275" dirty="0"/>
          </a:p>
        </p:txBody>
      </p:sp>
      <p:sp>
        <p:nvSpPr>
          <p:cNvPr id="33" name="Shape 31"/>
          <p:cNvSpPr/>
          <p:nvPr/>
        </p:nvSpPr>
        <p:spPr>
          <a:xfrm>
            <a:off x="3924300" y="3874294"/>
            <a:ext cx="4724400" cy="26670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34" name="Shape 32"/>
          <p:cNvSpPr/>
          <p:nvPr/>
        </p:nvSpPr>
        <p:spPr>
          <a:xfrm>
            <a:off x="6286500" y="3836194"/>
            <a:ext cx="14288" cy="3429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35" name="Shape 33"/>
          <p:cNvSpPr/>
          <p:nvPr/>
        </p:nvSpPr>
        <p:spPr>
          <a:xfrm>
            <a:off x="5294412" y="3874294"/>
            <a:ext cx="992088" cy="26670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6" name="Text 34"/>
          <p:cNvSpPr/>
          <p:nvPr/>
        </p:nvSpPr>
        <p:spPr>
          <a:xfrm>
            <a:off x="8839200" y="3781425"/>
            <a:ext cx="1546175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1.748 → 1.651</a:t>
            </a:r>
            <a:endParaRPr lang="en-US" sz="1650" dirty="0"/>
          </a:p>
        </p:txBody>
      </p:sp>
      <p:sp>
        <p:nvSpPr>
          <p:cNvPr id="37" name="Text 35"/>
          <p:cNvSpPr/>
          <p:nvPr/>
        </p:nvSpPr>
        <p:spPr>
          <a:xfrm>
            <a:off x="8839200" y="4090987"/>
            <a:ext cx="27470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8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−5.57% · </a:t>
            </a:r>
            <a:pPr algn="l" indent="0" marL="0">
              <a:buNone/>
            </a:pPr>
            <a:r>
              <a:rPr lang="en-US" sz="975" b="1" spc="18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1.059×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594360" y="4405313"/>
            <a:ext cx="306324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spc="-6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균등 격자 </a:t>
            </a:r>
            <a:pPr algn="r" indent="0" marL="0">
              <a:buNone/>
            </a:pPr>
            <a:r>
              <a:rPr lang="en-US" sz="975" spc="-6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(QMC)</a:t>
            </a:r>
            <a:endParaRPr lang="en-US" sz="1275" dirty="0"/>
          </a:p>
        </p:txBody>
      </p:sp>
      <p:sp>
        <p:nvSpPr>
          <p:cNvPr id="39" name="Shape 37"/>
          <p:cNvSpPr/>
          <p:nvPr/>
        </p:nvSpPr>
        <p:spPr>
          <a:xfrm>
            <a:off x="3924300" y="4393406"/>
            <a:ext cx="4724400" cy="26670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40" name="Shape 38"/>
          <p:cNvSpPr/>
          <p:nvPr/>
        </p:nvSpPr>
        <p:spPr>
          <a:xfrm>
            <a:off x="6286500" y="4355306"/>
            <a:ext cx="14288" cy="3429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1" name="Shape 39"/>
          <p:cNvSpPr/>
          <p:nvPr/>
        </p:nvSpPr>
        <p:spPr>
          <a:xfrm>
            <a:off x="6286500" y="4393406"/>
            <a:ext cx="283443" cy="266700"/>
          </a:xfrm>
          <a:prstGeom prst="rect">
            <a:avLst/>
          </a:prstGeom>
          <a:solidFill>
            <a:srgbClr val="A3A3A3"/>
          </a:solidFill>
          <a:ln/>
        </p:spPr>
      </p:sp>
      <p:sp>
        <p:nvSpPr>
          <p:cNvPr id="42" name="Text 40"/>
          <p:cNvSpPr/>
          <p:nvPr/>
        </p:nvSpPr>
        <p:spPr>
          <a:xfrm>
            <a:off x="8839200" y="4305300"/>
            <a:ext cx="8744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+1.47%</a:t>
            </a:r>
            <a:endParaRPr lang="en-US" sz="1650" dirty="0"/>
          </a:p>
        </p:txBody>
      </p:sp>
      <p:sp>
        <p:nvSpPr>
          <p:cNvPr id="43" name="Text 41"/>
          <p:cNvSpPr/>
          <p:nvPr/>
        </p:nvSpPr>
        <p:spPr>
          <a:xfrm>
            <a:off x="8839200" y="4581525"/>
            <a:ext cx="27470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8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effect</a:t>
            </a:r>
            <a:endParaRPr lang="en-US" sz="975" dirty="0"/>
          </a:p>
        </p:txBody>
      </p:sp>
      <p:sp>
        <p:nvSpPr>
          <p:cNvPr id="44" name="Text 42"/>
          <p:cNvSpPr/>
          <p:nvPr/>
        </p:nvSpPr>
        <p:spPr>
          <a:xfrm>
            <a:off x="594360" y="4895850"/>
            <a:ext cx="306324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spc="-6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클러스터 </a:t>
            </a:r>
            <a:pPr algn="r" indent="0" marL="0">
              <a:buNone/>
            </a:pPr>
            <a:r>
              <a:rPr lang="en-US" sz="975" spc="-6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(k-means)</a:t>
            </a:r>
            <a:endParaRPr lang="en-US" sz="1275" dirty="0"/>
          </a:p>
        </p:txBody>
      </p:sp>
      <p:sp>
        <p:nvSpPr>
          <p:cNvPr id="45" name="Shape 43"/>
          <p:cNvSpPr/>
          <p:nvPr/>
        </p:nvSpPr>
        <p:spPr>
          <a:xfrm>
            <a:off x="3924300" y="4883944"/>
            <a:ext cx="4724400" cy="26670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46" name="Shape 44"/>
          <p:cNvSpPr/>
          <p:nvPr/>
        </p:nvSpPr>
        <p:spPr>
          <a:xfrm>
            <a:off x="6286500" y="4845844"/>
            <a:ext cx="14288" cy="3429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47" name="Shape 45"/>
          <p:cNvSpPr/>
          <p:nvPr/>
        </p:nvSpPr>
        <p:spPr>
          <a:xfrm>
            <a:off x="6286500" y="4883944"/>
            <a:ext cx="377949" cy="266700"/>
          </a:xfrm>
          <a:prstGeom prst="rect">
            <a:avLst/>
          </a:prstGeom>
          <a:solidFill>
            <a:srgbClr val="A3A3A3"/>
          </a:solidFill>
          <a:ln/>
        </p:spPr>
      </p:sp>
      <p:sp>
        <p:nvSpPr>
          <p:cNvPr id="48" name="Text 46"/>
          <p:cNvSpPr/>
          <p:nvPr/>
        </p:nvSpPr>
        <p:spPr>
          <a:xfrm>
            <a:off x="8839200" y="4795838"/>
            <a:ext cx="8744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+2.04%</a:t>
            </a:r>
            <a:endParaRPr lang="en-US" sz="1650" dirty="0"/>
          </a:p>
        </p:txBody>
      </p:sp>
      <p:sp>
        <p:nvSpPr>
          <p:cNvPr id="49" name="Text 47"/>
          <p:cNvSpPr/>
          <p:nvPr/>
        </p:nvSpPr>
        <p:spPr>
          <a:xfrm>
            <a:off x="8839200" y="5072063"/>
            <a:ext cx="27470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8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effect</a:t>
            </a:r>
            <a:endParaRPr lang="en-US" sz="975" dirty="0"/>
          </a:p>
        </p:txBody>
      </p:sp>
      <p:sp>
        <p:nvSpPr>
          <p:cNvPr id="50" name="Text 48"/>
          <p:cNvSpPr/>
          <p:nvPr/>
        </p:nvSpPr>
        <p:spPr>
          <a:xfrm>
            <a:off x="594360" y="5386388"/>
            <a:ext cx="3063240" cy="2809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buNone/>
            </a:pPr>
            <a:r>
              <a:rPr lang="en-US" sz="1275" spc="-6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양자화 </a:t>
            </a:r>
            <a:pPr algn="r" indent="0" marL="0">
              <a:buNone/>
            </a:pPr>
            <a:r>
              <a:rPr lang="en-US" sz="975" spc="-6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(Product Quantization)</a:t>
            </a:r>
            <a:endParaRPr lang="en-US" sz="1275" dirty="0"/>
          </a:p>
        </p:txBody>
      </p:sp>
      <p:sp>
        <p:nvSpPr>
          <p:cNvPr id="51" name="Shape 49"/>
          <p:cNvSpPr/>
          <p:nvPr/>
        </p:nvSpPr>
        <p:spPr>
          <a:xfrm>
            <a:off x="3924300" y="5374481"/>
            <a:ext cx="4724400" cy="266700"/>
          </a:xfrm>
          <a:prstGeom prst="rect">
            <a:avLst/>
          </a:prstGeom>
          <a:solidFill>
            <a:srgbClr val="F5F5F4"/>
          </a:solidFill>
          <a:ln/>
        </p:spPr>
      </p:sp>
      <p:sp>
        <p:nvSpPr>
          <p:cNvPr id="52" name="Shape 50"/>
          <p:cNvSpPr/>
          <p:nvPr/>
        </p:nvSpPr>
        <p:spPr>
          <a:xfrm>
            <a:off x="6286500" y="5336381"/>
            <a:ext cx="14288" cy="342900"/>
          </a:xfrm>
          <a:prstGeom prst="rect">
            <a:avLst/>
          </a:prstGeom>
          <a:solidFill>
            <a:srgbClr val="0A0A0A"/>
          </a:solidFill>
          <a:ln/>
        </p:spPr>
      </p:sp>
      <p:sp>
        <p:nvSpPr>
          <p:cNvPr id="53" name="Shape 51"/>
          <p:cNvSpPr/>
          <p:nvPr/>
        </p:nvSpPr>
        <p:spPr>
          <a:xfrm>
            <a:off x="6286500" y="5374481"/>
            <a:ext cx="1511796" cy="266700"/>
          </a:xfrm>
          <a:prstGeom prst="rect">
            <a:avLst/>
          </a:prstGeom>
          <a:solidFill>
            <a:srgbClr val="A3A3A3"/>
          </a:solidFill>
          <a:ln/>
        </p:spPr>
      </p:sp>
      <p:sp>
        <p:nvSpPr>
          <p:cNvPr id="54" name="Text 52"/>
          <p:cNvSpPr/>
          <p:nvPr/>
        </p:nvSpPr>
        <p:spPr>
          <a:xfrm>
            <a:off x="8839200" y="5286375"/>
            <a:ext cx="874440" cy="2952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650" b="1" spc="-16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+8.44%</a:t>
            </a:r>
            <a:endParaRPr lang="en-US" sz="1650" dirty="0"/>
          </a:p>
        </p:txBody>
      </p:sp>
      <p:sp>
        <p:nvSpPr>
          <p:cNvPr id="55" name="Text 53"/>
          <p:cNvSpPr/>
          <p:nvPr/>
        </p:nvSpPr>
        <p:spPr>
          <a:xfrm>
            <a:off x="8839200" y="5562600"/>
            <a:ext cx="274701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8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 effect</a:t>
            </a:r>
            <a:endParaRPr lang="en-US" sz="975" dirty="0"/>
          </a:p>
        </p:txBody>
      </p:sp>
      <p:sp>
        <p:nvSpPr>
          <p:cNvPr id="56" name="Text 54"/>
          <p:cNvSpPr/>
          <p:nvPr/>
        </p:nvSpPr>
        <p:spPr>
          <a:xfrm>
            <a:off x="685800" y="6088410"/>
            <a:ext cx="11145012" cy="25047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975" spc="18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Bernoulli baseline qe_trim 1.748 → 5 paradigm 증강 시 1.540 ~ 1.651 · </a:t>
            </a:r>
            <a:pPr algn="l" indent="0" marL="0">
              <a:lnSpc>
                <a:spcPct val="160000"/>
              </a:lnSpc>
              <a:buNone/>
            </a:pPr>
            <a:r>
              <a:rPr lang="en-US" sz="975" b="1" spc="18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Q-error 28% ~ 16% 절감, 정확도 1.06× ~ 1.14× 향상</a:t>
            </a:r>
            <a:endParaRPr lang="en-US" sz="975" dirty="0"/>
          </a:p>
        </p:txBody>
      </p:sp>
      <p:sp>
        <p:nvSpPr>
          <p:cNvPr id="57" name="Shape 55"/>
          <p:cNvSpPr/>
          <p:nvPr/>
        </p:nvSpPr>
        <p:spPr>
          <a:xfrm>
            <a:off x="685800" y="63007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8" name="Text 56"/>
          <p:cNvSpPr/>
          <p:nvPr/>
        </p:nvSpPr>
        <p:spPr>
          <a:xfrm>
            <a:off x="685800" y="6405563"/>
            <a:ext cx="29191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속도는벡터 · 박세은 · 강재현 · 조현빈 · 이동욱</a:t>
            </a:r>
            <a:endParaRPr lang="en-US" sz="975" dirty="0"/>
          </a:p>
        </p:txBody>
      </p:sp>
      <p:sp>
        <p:nvSpPr>
          <p:cNvPr id="59" name="Text 57"/>
          <p:cNvSpPr/>
          <p:nvPr/>
        </p:nvSpPr>
        <p:spPr>
          <a:xfrm>
            <a:off x="10328672" y="6405563"/>
            <a:ext cx="125372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5_27 · v4</a:t>
            </a:r>
            <a:endParaRPr lang="en-US" sz="975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150495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28650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2026-1 · FINAL · 2026.05.27 · 연세대학교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85800" y="1614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38238"/>
            <a:ext cx="30100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3955" y="1004887"/>
            <a:ext cx="3857464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왜 replace 만으로는 안 되는가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51369" y="1228725"/>
            <a:ext cx="63103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16 / 20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85800" y="1852612"/>
            <a:ext cx="3454375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723900" y="2081212"/>
            <a:ext cx="347952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23900" y="2400300"/>
            <a:ext cx="347952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spc="-19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sample budget 공유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23900" y="2868885"/>
            <a:ext cx="34795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paper N=385 한정 budget 내에서 단일 estimator 가 분포 추정과 cardinality 추정을 동시에 수행 → 두 작업 모두 불충분 sample</a:t>
            </a:r>
            <a:endParaRPr lang="en-US" sz="1125" dirty="0"/>
          </a:p>
        </p:txBody>
      </p:sp>
      <p:sp>
        <p:nvSpPr>
          <p:cNvPr id="12" name="Text 10"/>
          <p:cNvSpPr/>
          <p:nvPr/>
        </p:nvSpPr>
        <p:spPr>
          <a:xfrm>
            <a:off x="723900" y="5476875"/>
            <a:ext cx="347952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CONSTRAINT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4368775" y="1852612"/>
            <a:ext cx="3454375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4406875" y="2081212"/>
            <a:ext cx="347952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ASSUMPTION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4406875" y="2400300"/>
            <a:ext cx="347952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spc="-19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paradigm 가정 부정확</a:t>
            </a:r>
            <a:endParaRPr lang="en-US" sz="1950" dirty="0"/>
          </a:p>
        </p:txBody>
      </p:sp>
      <p:sp>
        <p:nvSpPr>
          <p:cNvPr id="16" name="Text 14"/>
          <p:cNvSpPr/>
          <p:nvPr/>
        </p:nvSpPr>
        <p:spPr>
          <a:xfrm>
            <a:off x="4406875" y="2868885"/>
            <a:ext cx="3479520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각 paradigm 가정은 데이터마다 만족 정도가 다름. 단독 사용 시 가정 위반 cell 에서 정확도 급락 → 통계 우위 확보 X</a:t>
            </a:r>
            <a:endParaRPr lang="en-US" sz="1125" dirty="0"/>
          </a:p>
        </p:txBody>
      </p:sp>
      <p:sp>
        <p:nvSpPr>
          <p:cNvPr id="17" name="Text 15"/>
          <p:cNvSpPr/>
          <p:nvPr/>
        </p:nvSpPr>
        <p:spPr>
          <a:xfrm>
            <a:off x="4406875" y="5476875"/>
            <a:ext cx="347952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VARIANCE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8051750" y="1852612"/>
            <a:ext cx="3454375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9" name="Text 17"/>
          <p:cNvSpPr/>
          <p:nvPr/>
        </p:nvSpPr>
        <p:spPr>
          <a:xfrm>
            <a:off x="8089850" y="2081212"/>
            <a:ext cx="347952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NEGATIVE CONTROL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8089850" y="2400300"/>
            <a:ext cx="3479520" cy="33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950" b="1" spc="-19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실측 결과 무효</a:t>
            </a:r>
            <a:endParaRPr lang="en-US" sz="1950" dirty="0"/>
          </a:p>
        </p:txBody>
      </p:sp>
      <p:sp>
        <p:nvSpPr>
          <p:cNvPr id="21" name="Text 19"/>
          <p:cNvSpPr/>
          <p:nvPr/>
        </p:nvSpPr>
        <p:spPr>
          <a:xfrm>
            <a:off x="8089850" y="2868885"/>
            <a:ext cx="3479520" cy="723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CaseA replace 측정 결과 493 cells 중 </a:t>
            </a:r>
            <a:pPr algn="l" indent="0" marL="0">
              <a:lnSpc>
                <a:spcPct val="160000"/>
              </a:lnSpc>
              <a:buNone/>
            </a:pPr>
            <a:r>
              <a:rPr lang="en-US" sz="1125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outperform 0 cell </a:t>
            </a:r>
            <a:pPr algn="l" indent="0" marL="0">
              <a:lnSpc>
                <a:spcPct val="160000"/>
              </a:lnSpc>
              <a:buNone/>
            </a:pPr>
            <a:r>
              <a:rPr lang="en-US" sz="112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paper baseline 을 우리 method 로 단독 교체 시 단 하나도 우위 X</a:t>
            </a:r>
            <a:endParaRPr lang="en-US" sz="1125" dirty="0"/>
          </a:p>
        </p:txBody>
      </p:sp>
      <p:sp>
        <p:nvSpPr>
          <p:cNvPr id="22" name="Text 20"/>
          <p:cNvSpPr/>
          <p:nvPr/>
        </p:nvSpPr>
        <p:spPr>
          <a:xfrm>
            <a:off x="8089850" y="5476875"/>
            <a:ext cx="347952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EVIDENCE</a:t>
            </a:r>
            <a:endParaRPr lang="en-US" sz="975" dirty="0"/>
          </a:p>
        </p:txBody>
      </p:sp>
      <p:sp>
        <p:nvSpPr>
          <p:cNvPr id="23" name="Text 21"/>
          <p:cNvSpPr/>
          <p:nvPr/>
        </p:nvSpPr>
        <p:spPr>
          <a:xfrm>
            <a:off x="523494" y="5872163"/>
            <a:ext cx="11145012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-8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</a:t>
            </a:r>
            <a:pPr algn="ctr" indent="0" marL="0">
              <a:buNone/>
            </a:pPr>
            <a:r>
              <a:rPr lang="en-US" sz="1650" b="1" spc="-8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augment </a:t>
            </a:r>
            <a:pPr algn="ctr" indent="0" marL="0">
              <a:buNone/>
            </a:pPr>
            <a:r>
              <a:rPr lang="en-US" sz="1650" b="1" spc="-8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(paper baseline + 우리 method 평균) 만이 통계적 우위 확보</a:t>
            </a:r>
            <a:endParaRPr lang="en-US" sz="1650" dirty="0"/>
          </a:p>
        </p:txBody>
      </p:sp>
      <p:sp>
        <p:nvSpPr>
          <p:cNvPr id="24" name="Shape 22"/>
          <p:cNvSpPr/>
          <p:nvPr/>
        </p:nvSpPr>
        <p:spPr>
          <a:xfrm>
            <a:off x="685800" y="6186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5" name="Text 23"/>
          <p:cNvSpPr/>
          <p:nvPr/>
        </p:nvSpPr>
        <p:spPr>
          <a:xfrm>
            <a:off x="685800" y="6291263"/>
            <a:ext cx="29191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속도는벡터 · 박세은 · 강재현 · 조현빈 · 이동욱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10328672" y="6291263"/>
            <a:ext cx="125372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5_27 · v4</a:t>
            </a:r>
            <a:endParaRPr lang="en-US" sz="975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150495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28650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2026-1 · FINAL · 2026.05.27 · 연세대학교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85800" y="1614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38238"/>
            <a:ext cx="30100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3955" y="1004887"/>
            <a:ext cx="2890186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가장 우수 알고리즘 5선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51369" y="1228725"/>
            <a:ext cx="63103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17 / 20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85800" y="1852612"/>
            <a:ext cx="205740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723900" y="2043113"/>
            <a:ext cx="20574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2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밀도 추정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23900" y="2324100"/>
            <a:ext cx="2057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-72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−11.93%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23900" y="2667000"/>
            <a:ext cx="20574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1.135× 정확도</a:t>
            </a:r>
            <a:endParaRPr lang="en-US" sz="975" dirty="0"/>
          </a:p>
        </p:txBody>
      </p:sp>
      <p:sp>
        <p:nvSpPr>
          <p:cNvPr id="12" name="Text 10"/>
          <p:cNvSpPr/>
          <p:nvPr/>
        </p:nvSpPr>
        <p:spPr>
          <a:xfrm>
            <a:off x="723900" y="2967038"/>
            <a:ext cx="2057400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spc="-13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Parzen KDE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723900" y="3210818"/>
            <a:ext cx="2057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PARZEN 1962</a:t>
            </a:r>
            <a:endParaRPr lang="en-US" sz="975" dirty="0"/>
          </a:p>
        </p:txBody>
      </p:sp>
      <p:sp>
        <p:nvSpPr>
          <p:cNvPr id="14" name="Text 12"/>
          <p:cNvSpPr/>
          <p:nvPr/>
        </p:nvSpPr>
        <p:spPr>
          <a:xfrm>
            <a:off x="723900" y="3467993"/>
            <a:ext cx="20574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점 주변 kernel 함수로 PDF 추정 → cluster 분포를 부드럽게 추정</a:t>
            </a:r>
            <a:endParaRPr lang="en-US" sz="975" dirty="0"/>
          </a:p>
        </p:txBody>
      </p:sp>
      <p:sp>
        <p:nvSpPr>
          <p:cNvPr id="15" name="Shape 13"/>
          <p:cNvSpPr/>
          <p:nvPr/>
        </p:nvSpPr>
        <p:spPr>
          <a:xfrm>
            <a:off x="2876550" y="1852612"/>
            <a:ext cx="205740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6" name="Text 14"/>
          <p:cNvSpPr/>
          <p:nvPr/>
        </p:nvSpPr>
        <p:spPr>
          <a:xfrm>
            <a:off x="2914650" y="2043113"/>
            <a:ext cx="20574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2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정보 이론</a:t>
            </a:r>
            <a:endParaRPr lang="en-US" sz="975" dirty="0"/>
          </a:p>
        </p:txBody>
      </p:sp>
      <p:sp>
        <p:nvSpPr>
          <p:cNvPr id="17" name="Text 15"/>
          <p:cNvSpPr/>
          <p:nvPr/>
        </p:nvSpPr>
        <p:spPr>
          <a:xfrm>
            <a:off x="2914650" y="2324100"/>
            <a:ext cx="2057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-72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−7.60%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2914650" y="2667000"/>
            <a:ext cx="20574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1.082× 정확도</a:t>
            </a:r>
            <a:endParaRPr lang="en-US" sz="975" dirty="0"/>
          </a:p>
        </p:txBody>
      </p:sp>
      <p:sp>
        <p:nvSpPr>
          <p:cNvPr id="19" name="Text 17"/>
          <p:cNvSpPr/>
          <p:nvPr/>
        </p:nvSpPr>
        <p:spPr>
          <a:xfrm>
            <a:off x="2914650" y="2967038"/>
            <a:ext cx="2057400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spc="-13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HyperLogLog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2914650" y="3210818"/>
            <a:ext cx="2057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FLAJOLET 2007</a:t>
            </a:r>
            <a:endParaRPr lang="en-US" sz="975" dirty="0"/>
          </a:p>
        </p:txBody>
      </p:sp>
      <p:sp>
        <p:nvSpPr>
          <p:cNvPr id="21" name="Text 19"/>
          <p:cNvSpPr/>
          <p:nvPr/>
        </p:nvSpPr>
        <p:spPr>
          <a:xfrm>
            <a:off x="2914650" y="3467993"/>
            <a:ext cx="20574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hash leading-zero 분포로 distinct count 추정 → 1.5KB cardinality</a:t>
            </a:r>
            <a:endParaRPr lang="en-US" sz="975" dirty="0"/>
          </a:p>
        </p:txBody>
      </p:sp>
      <p:sp>
        <p:nvSpPr>
          <p:cNvPr id="22" name="Shape 20"/>
          <p:cNvSpPr/>
          <p:nvPr/>
        </p:nvSpPr>
        <p:spPr>
          <a:xfrm>
            <a:off x="5067300" y="1852612"/>
            <a:ext cx="205740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23" name="Text 21"/>
          <p:cNvSpPr/>
          <p:nvPr/>
        </p:nvSpPr>
        <p:spPr>
          <a:xfrm>
            <a:off x="5105400" y="2043113"/>
            <a:ext cx="20574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2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스트리밍</a:t>
            </a:r>
            <a:endParaRPr lang="en-US" sz="975" dirty="0"/>
          </a:p>
        </p:txBody>
      </p:sp>
      <p:sp>
        <p:nvSpPr>
          <p:cNvPr id="24" name="Text 22"/>
          <p:cNvSpPr/>
          <p:nvPr/>
        </p:nvSpPr>
        <p:spPr>
          <a:xfrm>
            <a:off x="5105400" y="2324100"/>
            <a:ext cx="2057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-72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−6.63%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5105400" y="2667000"/>
            <a:ext cx="20574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1.071× 정확도</a:t>
            </a:r>
            <a:endParaRPr lang="en-US" sz="975" dirty="0"/>
          </a:p>
        </p:txBody>
      </p:sp>
      <p:sp>
        <p:nvSpPr>
          <p:cNvPr id="26" name="Text 24"/>
          <p:cNvSpPr/>
          <p:nvPr/>
        </p:nvSpPr>
        <p:spPr>
          <a:xfrm>
            <a:off x="5105400" y="2967038"/>
            <a:ext cx="2057400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spc="-13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Chao weighted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105400" y="3210818"/>
            <a:ext cx="2057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CHAO 1982</a:t>
            </a:r>
            <a:endParaRPr lang="en-US" sz="975" dirty="0"/>
          </a:p>
        </p:txBody>
      </p:sp>
      <p:sp>
        <p:nvSpPr>
          <p:cNvPr id="28" name="Text 26"/>
          <p:cNvSpPr/>
          <p:nvPr/>
        </p:nvSpPr>
        <p:spPr>
          <a:xfrm>
            <a:off x="5105400" y="3467993"/>
            <a:ext cx="20574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weighted reservoir sampling → stream 환경에서 분포 비례 sample</a:t>
            </a:r>
            <a:endParaRPr lang="en-US" sz="975" dirty="0"/>
          </a:p>
        </p:txBody>
      </p:sp>
      <p:sp>
        <p:nvSpPr>
          <p:cNvPr id="29" name="Shape 27"/>
          <p:cNvSpPr/>
          <p:nvPr/>
        </p:nvSpPr>
        <p:spPr>
          <a:xfrm>
            <a:off x="7258050" y="1852612"/>
            <a:ext cx="205740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0" name="Text 28"/>
          <p:cNvSpPr/>
          <p:nvPr/>
        </p:nvSpPr>
        <p:spPr>
          <a:xfrm>
            <a:off x="7296150" y="2043113"/>
            <a:ext cx="20574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2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차원 축소</a:t>
            </a:r>
            <a:endParaRPr lang="en-US" sz="975" dirty="0"/>
          </a:p>
        </p:txBody>
      </p:sp>
      <p:sp>
        <p:nvSpPr>
          <p:cNvPr id="31" name="Text 29"/>
          <p:cNvSpPr/>
          <p:nvPr/>
        </p:nvSpPr>
        <p:spPr>
          <a:xfrm>
            <a:off x="7296150" y="2324100"/>
            <a:ext cx="2057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-72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−6.03%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296150" y="2667000"/>
            <a:ext cx="20574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1.064× 정확도</a:t>
            </a:r>
            <a:endParaRPr lang="en-US" sz="975" dirty="0"/>
          </a:p>
        </p:txBody>
      </p:sp>
      <p:sp>
        <p:nvSpPr>
          <p:cNvPr id="33" name="Text 31"/>
          <p:cNvSpPr/>
          <p:nvPr/>
        </p:nvSpPr>
        <p:spPr>
          <a:xfrm>
            <a:off x="7296150" y="2967038"/>
            <a:ext cx="2057400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spc="-13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Sparse RP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296150" y="3210818"/>
            <a:ext cx="2057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 · HASTIE · CHURCH 2006</a:t>
            </a:r>
            <a:endParaRPr lang="en-US" sz="975" dirty="0"/>
          </a:p>
        </p:txBody>
      </p:sp>
      <p:sp>
        <p:nvSpPr>
          <p:cNvPr id="35" name="Text 33"/>
          <p:cNvSpPr/>
          <p:nvPr/>
        </p:nvSpPr>
        <p:spPr>
          <a:xfrm>
            <a:off x="7296150" y="3467993"/>
            <a:ext cx="20574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1/√D 희소 random matrix → 고차원을 저차원으로 (JL 보장)</a:t>
            </a:r>
            <a:endParaRPr lang="en-US" sz="975" dirty="0"/>
          </a:p>
        </p:txBody>
      </p:sp>
      <p:sp>
        <p:nvSpPr>
          <p:cNvPr id="36" name="Shape 34"/>
          <p:cNvSpPr/>
          <p:nvPr/>
        </p:nvSpPr>
        <p:spPr>
          <a:xfrm>
            <a:off x="9448800" y="1852612"/>
            <a:ext cx="205740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7" name="Text 35"/>
          <p:cNvSpPr/>
          <p:nvPr/>
        </p:nvSpPr>
        <p:spPr>
          <a:xfrm>
            <a:off x="9486900" y="2043113"/>
            <a:ext cx="20574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32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공간 분할</a:t>
            </a:r>
            <a:endParaRPr lang="en-US" sz="975" dirty="0"/>
          </a:p>
        </p:txBody>
      </p:sp>
      <p:sp>
        <p:nvSpPr>
          <p:cNvPr id="38" name="Text 36"/>
          <p:cNvSpPr/>
          <p:nvPr/>
        </p:nvSpPr>
        <p:spPr>
          <a:xfrm>
            <a:off x="9486900" y="2324100"/>
            <a:ext cx="2057400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2400" b="1" spc="-72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−5.57%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486900" y="2667000"/>
            <a:ext cx="205740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1.059× 정확도</a:t>
            </a:r>
            <a:endParaRPr lang="en-US" sz="975" dirty="0"/>
          </a:p>
        </p:txBody>
      </p:sp>
      <p:sp>
        <p:nvSpPr>
          <p:cNvPr id="40" name="Text 38"/>
          <p:cNvSpPr/>
          <p:nvPr/>
        </p:nvSpPr>
        <p:spPr>
          <a:xfrm>
            <a:off x="9486900" y="2967038"/>
            <a:ext cx="2057400" cy="2437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spc="-13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Hilbert + Z-order</a:t>
            </a:r>
            <a:endParaRPr lang="en-US" sz="1350" dirty="0"/>
          </a:p>
        </p:txBody>
      </p:sp>
      <p:sp>
        <p:nvSpPr>
          <p:cNvPr id="41" name="Text 39"/>
          <p:cNvSpPr/>
          <p:nvPr/>
        </p:nvSpPr>
        <p:spPr>
          <a:xfrm>
            <a:off x="9486900" y="3210818"/>
            <a:ext cx="2057400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MORTON 1966</a:t>
            </a:r>
            <a:endParaRPr lang="en-US" sz="975" dirty="0"/>
          </a:p>
        </p:txBody>
      </p:sp>
      <p:sp>
        <p:nvSpPr>
          <p:cNvPr id="42" name="Text 40"/>
          <p:cNvSpPr/>
          <p:nvPr/>
        </p:nvSpPr>
        <p:spPr>
          <a:xfrm>
            <a:off x="9486900" y="3467993"/>
            <a:ext cx="2057400" cy="421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5000"/>
              </a:lnSpc>
              <a:buNone/>
            </a:pPr>
            <a:r>
              <a:rPr lang="en-US" sz="975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space-filling curve → 고차원 공간을 1D 로 보존, 인접성 유지</a:t>
            </a:r>
            <a:endParaRPr lang="en-US" sz="975" dirty="0"/>
          </a:p>
        </p:txBody>
      </p:sp>
      <p:sp>
        <p:nvSpPr>
          <p:cNvPr id="43" name="Shape 41"/>
          <p:cNvSpPr/>
          <p:nvPr/>
        </p:nvSpPr>
        <p:spPr>
          <a:xfrm>
            <a:off x="685800" y="6186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44" name="Text 42"/>
          <p:cNvSpPr/>
          <p:nvPr/>
        </p:nvSpPr>
        <p:spPr>
          <a:xfrm>
            <a:off x="685800" y="6291263"/>
            <a:ext cx="29191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속도는벡터 · 박세은 · 강재현 · 조현빈 · 이동욱</a:t>
            </a:r>
            <a:endParaRPr lang="en-US" sz="975" dirty="0"/>
          </a:p>
        </p:txBody>
      </p:sp>
      <p:sp>
        <p:nvSpPr>
          <p:cNvPr id="45" name="Text 43"/>
          <p:cNvSpPr/>
          <p:nvPr/>
        </p:nvSpPr>
        <p:spPr>
          <a:xfrm>
            <a:off x="10328672" y="6291263"/>
            <a:ext cx="125372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5_27 · v4</a:t>
            </a:r>
            <a:endParaRPr lang="en-US" sz="975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150495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28650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2026-1 · FINAL · 2026.05.27 · 연세대학교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85800" y="1614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38238"/>
            <a:ext cx="30100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3955" y="1004887"/>
            <a:ext cx="3408852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대체 vs 증강 — 결정적 비교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51369" y="1228725"/>
            <a:ext cx="63103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 / 20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85800" y="1939305"/>
            <a:ext cx="5238750" cy="3188940"/>
          </a:xfrm>
          <a:prstGeom prst="rect">
            <a:avLst/>
          </a:prstGeom>
          <a:solidFill>
            <a:srgbClr val="FAFAF9"/>
          </a:solidFill>
          <a:ln w="9525">
            <a:solidFill>
              <a:srgbClr val="E7E5E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2488" y="2215530"/>
            <a:ext cx="4905375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156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CASEA · REPLACE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852488" y="2648917"/>
            <a:ext cx="4905375" cy="121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750" b="1" spc="-39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 </a:t>
            </a:r>
            <a:pPr algn="ctr" indent="0" marL="0">
              <a:lnSpc>
                <a:spcPct val="95000"/>
              </a:lnSpc>
              <a:buNone/>
            </a:pPr>
            <a:r>
              <a:rPr lang="en-US" sz="9750" spc="-390" kern="0" dirty="0">
                <a:solidFill>
                  <a:srgbClr val="7373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 </a:t>
            </a:r>
            <a:pPr algn="ctr" indent="0" marL="0">
              <a:lnSpc>
                <a:spcPct val="95000"/>
              </a:lnSpc>
              <a:buNone/>
            </a:pPr>
            <a:r>
              <a:rPr lang="en-US" sz="9750" b="1" spc="-39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493</a:t>
            </a:r>
            <a:endParaRPr lang="en-US" sz="9750" dirty="0"/>
          </a:p>
        </p:txBody>
      </p:sp>
      <p:sp>
        <p:nvSpPr>
          <p:cNvPr id="11" name="Text 9"/>
          <p:cNvSpPr/>
          <p:nvPr/>
        </p:nvSpPr>
        <p:spPr>
          <a:xfrm>
            <a:off x="852488" y="3996705"/>
            <a:ext cx="4905375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-8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outperform 0 cell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852488" y="4425330"/>
            <a:ext cx="490537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Bernoulli 단독 교체 시 단 하나도 우위 X → 단독 대체 무효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267450" y="1929780"/>
            <a:ext cx="5238750" cy="3207990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3948" y="2215530"/>
            <a:ext cx="4885754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CASEB · AUGMENT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443948" y="2648917"/>
            <a:ext cx="4885754" cy="12144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95000"/>
              </a:lnSpc>
              <a:buNone/>
            </a:pPr>
            <a:r>
              <a:rPr lang="en-US" sz="9750" b="1" spc="-39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92.5</a:t>
            </a:r>
            <a:pPr algn="ctr" indent="0" marL="0">
              <a:lnSpc>
                <a:spcPct val="95000"/>
              </a:lnSpc>
              <a:buNone/>
            </a:pPr>
            <a:r>
              <a:rPr lang="en-US" sz="5363" b="1" spc="-390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%</a:t>
            </a:r>
            <a:endParaRPr lang="en-US" sz="9750" dirty="0"/>
          </a:p>
        </p:txBody>
      </p:sp>
      <p:sp>
        <p:nvSpPr>
          <p:cNvPr id="16" name="Text 14"/>
          <p:cNvSpPr/>
          <p:nvPr/>
        </p:nvSpPr>
        <p:spPr>
          <a:xfrm>
            <a:off x="6443948" y="3996705"/>
            <a:ext cx="4885754" cy="3524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1650" b="1" spc="-8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paired better (455 / 492)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443948" y="4425330"/>
            <a:ext cx="4885754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60000"/>
              </a:lnSpc>
              <a:buNone/>
            </a:pPr>
            <a:r>
              <a:rPr lang="en-US" sz="105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증강이 거의 모든 cell 에서 paper baseline 우위 → p &lt; 1×10⁻⁴⁵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23494" y="5519738"/>
            <a:ext cx="11145012" cy="4667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b="1" spc="-22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단독 대체 </a:t>
            </a:r>
            <a:pPr algn="ctr" indent="0" marL="0">
              <a:buNone/>
            </a:pPr>
            <a:r>
              <a:rPr lang="en-US" sz="2250" b="1" spc="-22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 </a:t>
            </a:r>
            <a:pPr algn="ctr" indent="0" marL="0">
              <a:buNone/>
            </a:pPr>
            <a:r>
              <a:rPr lang="en-US" sz="2250" b="1" spc="-22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증강 적용 </a:t>
            </a:r>
            <a:pPr algn="ctr" indent="0" marL="0">
              <a:buNone/>
            </a:pPr>
            <a:r>
              <a:rPr lang="en-US" sz="2250" b="1" spc="-22" kern="0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 유효</a:t>
            </a:r>
            <a:endParaRPr lang="en-US" sz="2250" dirty="0"/>
          </a:p>
        </p:txBody>
      </p:sp>
      <p:sp>
        <p:nvSpPr>
          <p:cNvPr id="19" name="Text 17"/>
          <p:cNvSpPr/>
          <p:nvPr/>
        </p:nvSpPr>
        <p:spPr>
          <a:xfrm>
            <a:off x="523494" y="6043613"/>
            <a:ext cx="11145012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20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paper review-grade evidence · Cliff’s δ large 63.0% · Hedges’ g large 55.7%</a:t>
            </a:r>
            <a:endParaRPr lang="en-US" sz="975" dirty="0"/>
          </a:p>
        </p:txBody>
      </p:sp>
      <p:sp>
        <p:nvSpPr>
          <p:cNvPr id="20" name="Shape 18"/>
          <p:cNvSpPr/>
          <p:nvPr/>
        </p:nvSpPr>
        <p:spPr>
          <a:xfrm>
            <a:off x="685800" y="6186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21" name="Text 19"/>
          <p:cNvSpPr/>
          <p:nvPr/>
        </p:nvSpPr>
        <p:spPr>
          <a:xfrm>
            <a:off x="685800" y="6291263"/>
            <a:ext cx="29191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속도는벡터 · 박세은 · 강재현 · 조현빈 · 이동욱</a:t>
            </a:r>
            <a:endParaRPr lang="en-US" sz="975" dirty="0"/>
          </a:p>
        </p:txBody>
      </p:sp>
      <p:sp>
        <p:nvSpPr>
          <p:cNvPr id="22" name="Text 20"/>
          <p:cNvSpPr/>
          <p:nvPr/>
        </p:nvSpPr>
        <p:spPr>
          <a:xfrm>
            <a:off x="10328672" y="6291263"/>
            <a:ext cx="125372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5_27 · v4</a:t>
            </a:r>
            <a:endParaRPr lang="en-US" sz="975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150495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28650"/>
            <a:ext cx="1114501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2026-1 · FINAL · 2026.05.27 · 연세대학교</a:t>
            </a:r>
            <a:endParaRPr lang="en-US" sz="975" dirty="0"/>
          </a:p>
        </p:txBody>
      </p:sp>
      <p:sp>
        <p:nvSpPr>
          <p:cNvPr id="4" name="Shape 2"/>
          <p:cNvSpPr/>
          <p:nvPr/>
        </p:nvSpPr>
        <p:spPr>
          <a:xfrm>
            <a:off x="685800" y="1614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138238"/>
            <a:ext cx="301005" cy="2905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spc="-15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43955" y="1004887"/>
            <a:ext cx="3365547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spc="-24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측정 외 영역 — 정직한 한계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0951369" y="1228725"/>
            <a:ext cx="631031" cy="180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9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 / 20</a:t>
            </a:r>
            <a:endParaRPr lang="en-US" sz="975" dirty="0"/>
          </a:p>
        </p:txBody>
      </p:sp>
      <p:sp>
        <p:nvSpPr>
          <p:cNvPr id="8" name="Shape 6"/>
          <p:cNvSpPr/>
          <p:nvPr/>
        </p:nvSpPr>
        <p:spPr>
          <a:xfrm>
            <a:off x="685800" y="1890713"/>
            <a:ext cx="518160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9" name="Text 7"/>
          <p:cNvSpPr/>
          <p:nvPr/>
        </p:nvSpPr>
        <p:spPr>
          <a:xfrm>
            <a:off x="723900" y="2138363"/>
            <a:ext cx="525856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 OVERHEAD</a:t>
            </a:r>
            <a:endParaRPr lang="en-US" sz="975" dirty="0"/>
          </a:p>
        </p:txBody>
      </p:sp>
      <p:sp>
        <p:nvSpPr>
          <p:cNvPr id="10" name="Text 8"/>
          <p:cNvSpPr/>
          <p:nvPr/>
        </p:nvSpPr>
        <p:spPr>
          <a:xfrm>
            <a:off x="723900" y="2476500"/>
            <a:ext cx="52585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spc="-22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비용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723900" y="3009900"/>
            <a:ext cx="5258562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CaseB 증강의 </a:t>
            </a:r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latency / memory overhead 측정 X </a:t>
            </a:r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paper §V-B 재현 scope 한정으로 </a:t>
            </a:r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정확도 (qe_trim) </a:t>
            </a:r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 측정.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23900" y="3722340"/>
            <a:ext cx="5258562" cy="3286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8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JSON schema = qe_trim + final_size_mean only cost-quality tradeoff = 측정 외 영역</a:t>
            </a:r>
            <a:endParaRPr lang="en-US" sz="975" dirty="0"/>
          </a:p>
        </p:txBody>
      </p:sp>
      <p:sp>
        <p:nvSpPr>
          <p:cNvPr id="13" name="Shape 11"/>
          <p:cNvSpPr/>
          <p:nvPr/>
        </p:nvSpPr>
        <p:spPr>
          <a:xfrm>
            <a:off x="6324600" y="1890713"/>
            <a:ext cx="5181600" cy="19050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14" name="Text 12"/>
          <p:cNvSpPr/>
          <p:nvPr/>
        </p:nvSpPr>
        <p:spPr>
          <a:xfrm>
            <a:off x="6362700" y="2138363"/>
            <a:ext cx="5258562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MULTI-TABLE</a:t>
            </a:r>
            <a:endParaRPr lang="en-US" sz="975" dirty="0"/>
          </a:p>
        </p:txBody>
      </p:sp>
      <p:sp>
        <p:nvSpPr>
          <p:cNvPr id="15" name="Text 13"/>
          <p:cNvSpPr/>
          <p:nvPr/>
        </p:nvSpPr>
        <p:spPr>
          <a:xfrm>
            <a:off x="6362700" y="2476500"/>
            <a:ext cx="5258562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250" b="1" spc="-22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multi-table carry-over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6362700" y="3009900"/>
            <a:ext cx="5258562" cy="792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 cell (A2-Fig7/Fig9) 의 stratification 은 </a:t>
            </a:r>
            <a:pPr algn="l" indent="0" marL="0">
              <a:lnSpc>
                <a:spcPct val="165000"/>
              </a:lnSpc>
              <a:buNone/>
            </a:pPr>
            <a:r>
              <a:rPr lang="en-US" sz="1200" b="1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single table KM20 cluster 의 join carry-over </a:t>
            </a:r>
            <a:pPr algn="l" indent="0" marL="0">
              <a:lnSpc>
                <a:spcPct val="165000"/>
              </a:lnSpc>
              <a:buNone/>
            </a:pPr>
            <a:r>
              <a:rPr lang="en-US" sz="120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두 테이블 결합 후 별도 stratification 학습은 paper §V-A scope 외.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362700" y="3973785"/>
            <a:ext cx="5258562" cy="3333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18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single 결과와 유사 패턴 multi-aware stratification = 측정 외 영역</a:t>
            </a:r>
            <a:endParaRPr lang="en-US" sz="975" dirty="0"/>
          </a:p>
        </p:txBody>
      </p:sp>
      <p:sp>
        <p:nvSpPr>
          <p:cNvPr id="18" name="Shape 16"/>
          <p:cNvSpPr/>
          <p:nvPr/>
        </p:nvSpPr>
        <p:spPr>
          <a:xfrm>
            <a:off x="685800" y="618648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19" name="Text 17"/>
          <p:cNvSpPr/>
          <p:nvPr/>
        </p:nvSpPr>
        <p:spPr>
          <a:xfrm>
            <a:off x="685800" y="6291263"/>
            <a:ext cx="291915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속도는벡터 · 박세은 · 강재현 · 조현빈 · 이동욱</a:t>
            </a:r>
            <a:endParaRPr lang="en-US" sz="975" dirty="0"/>
          </a:p>
        </p:txBody>
      </p:sp>
      <p:sp>
        <p:nvSpPr>
          <p:cNvPr id="20" name="Text 18"/>
          <p:cNvSpPr/>
          <p:nvPr/>
        </p:nvSpPr>
        <p:spPr>
          <a:xfrm>
            <a:off x="10328672" y="6291263"/>
            <a:ext cx="1253728" cy="18573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spc="33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FINAL 5_27 · v4</a:t>
            </a:r>
            <a:endParaRPr lang="en-US" sz="975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533400"/>
            <a:ext cx="2095500" cy="28575"/>
          </a:xfrm>
          <a:prstGeom prst="rect">
            <a:avLst/>
          </a:prstGeom>
          <a:solidFill>
            <a:srgbClr val="DC2626"/>
          </a:solidFill>
          <a:ln/>
        </p:spPr>
      </p:sp>
      <p:sp>
        <p:nvSpPr>
          <p:cNvPr id="3" name="Text 1"/>
          <p:cNvSpPr/>
          <p:nvPr/>
        </p:nvSpPr>
        <p:spPr>
          <a:xfrm>
            <a:off x="685800" y="695325"/>
            <a:ext cx="11186160" cy="20478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75" b="1" spc="156" kern="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CAPSTONE 2026-1 · FINAL · 2026.05.27 · 연세대학교</a:t>
            </a:r>
            <a:endParaRPr lang="en-US" sz="975" dirty="0"/>
          </a:p>
        </p:txBody>
      </p:sp>
      <p:sp>
        <p:nvSpPr>
          <p:cNvPr id="4" name="Text 2"/>
          <p:cNvSpPr/>
          <p:nvPr/>
        </p:nvSpPr>
        <p:spPr>
          <a:xfrm>
            <a:off x="2585284" y="2314575"/>
            <a:ext cx="7021431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2600" b="1" spc="-504" kern="0" dirty="0">
                <a:solidFill>
                  <a:srgbClr val="0A0A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감사합니다</a:t>
            </a:r>
            <a:endParaRPr lang="en-US" sz="12600" dirty="0"/>
          </a:p>
        </p:txBody>
      </p:sp>
      <p:sp>
        <p:nvSpPr>
          <p:cNvPr id="5" name="Text 3"/>
          <p:cNvSpPr/>
          <p:nvPr/>
        </p:nvSpPr>
        <p:spPr>
          <a:xfrm>
            <a:off x="5070053" y="4257675"/>
            <a:ext cx="2051893" cy="495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spc="-12" kern="0" dirty="0">
                <a:solidFill>
                  <a:srgbClr val="4040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환영합니다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685800" y="6167438"/>
            <a:ext cx="10820400" cy="9525"/>
          </a:xfrm>
          <a:prstGeom prst="rect">
            <a:avLst/>
          </a:prstGeom>
          <a:solidFill>
            <a:srgbClr val="E7E5E4"/>
          </a:solidFill>
          <a:ln/>
        </p:spPr>
      </p:sp>
      <p:sp>
        <p:nvSpPr>
          <p:cNvPr id="7" name="Text 5"/>
          <p:cNvSpPr/>
          <p:nvPr/>
        </p:nvSpPr>
        <p:spPr>
          <a:xfrm>
            <a:off x="523494" y="6367463"/>
            <a:ext cx="11145012" cy="18573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975" spc="45" kern="0" dirty="0">
                <a:solidFill>
                  <a:srgbClr val="73737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속도는벡터 · 박세은 · 강재현 · 조현빈 · 이동욱 · github.com/johyunbin/Capstone · arXiv:2512.09695v2</a:t>
            </a:r>
            <a:endParaRPr lang="en-US" sz="9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2026-05-12T14:08:29Z</dcterms:created>
  <dcterms:modified xsi:type="dcterms:W3CDTF">2026-05-12T14:08:29Z</dcterms:modified>
</cp:coreProperties>
</file>
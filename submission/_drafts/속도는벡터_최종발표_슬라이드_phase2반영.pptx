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속도는벡터 팀입니다. 벡터 데이터베이스가 쿼리 결과 크기를 더 정확히 예측하도록, 표본을 뽑는 방식을 바꿔 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데이터베이스는 쿼리를 실행하기 전에 조건을 만족하는 행이 몇 개일지 추정합니다. 이를 카디널리티라고 합니다. 이 추정이 틀리면 잘못된 실행 계획을 세워 쿼리가 느려집니다. 그런데 기존 벡터 데이터베이스들은 이 값을 데이터와 무관하게 고정된 비율로 어림하고 있었습니다. 예를 들어 pgvector는 늘 전체의 33%, DuckDB는 100%로 가정합니다. 실제 데이터가 어떻든 같은 값을 쓰는 것이라, 추정이 크게 어긋날 수밖에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연구는 논문 Exqutor에서 출발합니다. 이 논문은 인덱스가 없을 때 데이터에서 표본을 뽑아 카디널리티를 추정합니다. 추정 알고리즘 자체는 논문의 성과로 인정하고 그대로 둡니다. 저희가 손댄 곳은 그 앞 단계 하나, 표본을 뽑는 방식입니다. 논문은 무작위로 뽑았지만, 저희는 데이터 분포를 반영해 뽑습니다.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연구가 어떻게 진행됐는지 먼저 보여 드리겠습니다. 시작은 논문의 무작위 표본 추출이었습니다. 중간 발표에서는 무작위 표본이 한쪽으로 쏠린 데이터에서 부정확하다는 것을 확인하고, 데이터 분포를 반영한 표본 추출이 더 정확하다는 것을 한 가지 방법으로 보였습니다. 최종 발표를 향해서는 측정을 16가지 방법과 세 방식 비교로 크게 넓혔습니다. 단계마다 측정 범위가 넓어지며, 초점이 '특정 방법'에서 '표본 선택 단계 개입의 효과'로 분명해졌습니다.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방법은 세 단계입니다. 먼저 데이터를 비슷한 것끼리 스무 개 그룹으로 나눕니다. 데이터가 쏠려 있어도 모든 구간이 표본에 들어오게 하기 위해서입니다. 다음으로 각 그룹에서 표본을 골고루 뽑고, 마지막으로 논문 방식의 추정값과 우리 방식의 추정값을 평균 냅니다. 추정 알고리즘과 표본 크기 보정 과정은 논문 것을 그대로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방식을 비교했습니다. 기존 방식은 논문 그대로의 무작위 방식으로 비교 기준입니다. 완전 대체는 무작위 표본을 우리 표본으로 통째 바꾼 것, 결합은 두 추정값을 평균 낸 것입니다. 한 번의 측정에서 세 방식을 똑같은 데이터·조건으로 동시에 비교했기 때문에, 차이가 방식 때문임을 분명히 말할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측정을 어떻게 설계했는지 말씀드립니다. 다섯 가지 축이 있습니다. 데이터셋은 96차원부터 1024차원까지 아홉 종, 데이터 규모는 10만 행부터 1000만 행까지, 선택도는 0.1%에서 10%까지, 방법은 16가지, 계층 수는 논문 기본값 20을 중심으로 10·20·30개입니다. 이 다섯 축을 빠짐없이 교차해 1508번을 측정했습니다.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측정에 사용한 데이터셋입니다. 단일 벡터 데이터셋과, 한 행에 여러 벡터가 있는 다중 벡터 데이터셋을 함께 다뤘습니다. 차원은 96차원부터 1024차원까지로, 작은 데이터부터 큰 데이터까지 폭넓게 포함합니다.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분포를 반영해야 하는지 보겠습니다. 데이터가 한쪽으로 쏠려 있을 때 무작위로 뽑으면 표본이 쏠린 곳에만 몰립니다. 드문 구간은 표본에 거의 들어오지 않습니다. 분포를 반영하면 드문 구간까지 골고루 표본에 들어옵니다. 그래서 추정이 더 정확해집니다.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 분포를 반영해 표본을 뽑는 방법은 한 가지가 아닙니다. 저희는 일곱 가지 접근에서 대표 방법 열여섯 가지를 골라 모두 측정했습니다. 각 접근은 데이터를 한 줄로 펼치거나, 핵심 축으로 압축하거나, 같은 양씩 자르거나, 짧은 코드로 묶거나, 군집으로 묶거나, 한 번에 훑어 뽑거나, 해시로 요약하는 식으로 분포를 반영합니다. 알고리즘의 자세한 설명은 6월 11일 최종 보고서에 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결과입니다. 결합 방식은 1508번의 측정 중 1344번, 89.1%에서 기존 무작위 방식보다 추정 오차가 작았습니다. 줄어든 정도는 중앙값으로 약 4.4%입니다. 통계적으로 의미 있게 개선된 경우가 65%, 개선 폭이 뚜렷하게 큰 경우가 72%로 신호가 견고했습니다.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무작위 표본을 우리 표본으로 통째 바꾸면 어떨까요? 그렇게 한 완전 대체는 기존 방식보다 나은 경우가 35%뿐이었습니다. 우리 방법이 강할 때는 좋지만 약할 때는 크게 나빠집니다. 반면 두 추정값을 결합하면 89%에서 개선됩니다. 그리고 결합 방식은 완전 대체와 직접 맞붙여 비교해도 96.5%에서 더 낫습니다. 논문 방식이 안전망 역할을 하기 때문입니다. 그래서 통째 교체가 아니라 결합이 답입니다.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열여섯 가지 방법을 정확도 순으로 줄 세운 결과입니다. 열세 가지는 거의 모든 측정 조건에서 안정적으로 기존 방식을 이겼습니다. 공간 곡선과 차원 축소 계열이 특히 좋았습니다. 권장에서 제외한 것은 세 가지입니다. 가우시안 혼합 모델은 기존 방식보다 정확도가 낮았고, 미니배치 K-means는 가장 큰 데이터에서 파탄났으며, IVF 클러스터링은 — 앞서 공간 곡선 계열로 분류했지만 내부적으로 데이터를 군집으로 묶는 방식이라 — 기존 방식을 이기는 비율이 낮았습니다.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조건이 달라져도 개선이 일관되는지 세 축으로 점검했습니다. 첫째 선택도입니다. 조건을 만족하는 비율이 0.1%일 때 83%, 1%일 때 88%, 10%일 때 98%로, 조건이 넓을수록 결합 방식이 기존 방식을 이기는 비율이 꾸준히 올라갑니다. 둘째 데이터 구조입니다. 단일 벡터에서 89.1%, 다중 벡터에서 89.2%로 거의 같았습니다. 한 행에 벡터가 하나든 여럿이든 효과가 흔들리지 않습니다. 셋째 계층 수입니다. 열 개일 때 83.6%, 스무 개일 때 89.8%, 서른 개일 때 85.9%로 스무 개가 균형점이었습니다. 너무 적으면 쏠린 분포를 충분히 못 나누고, 너무 많으면 계층마다 표본이 얇아집니다. 논문 기본값과도 일치합니다.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오프라인 측정에서 결합 방식이 더 정확하다는 것을 확인했습니다. 그러면 검증된 그 추정치를 실제 데이터베이스 엔진에 넣으면 어떻게 될까요? 실제 쿼리가 얼마나 빨라지는지, 정답 실행 계획을 얼마나 잘 되찾는지를 측정했습니다. TPC-H의 Q3·Q9·Q10·Q12 네 쿼리에 대해 질의 벡터 3개와 16가지 변형, 15회 반복으로 총 2,880회를 측정했고 12 구간으로 나누어 봤습니다. 추정치를 PostgreSQL에 주입해 실행 계획 변화를 보고 시간을 잰 결과, 모든 12 구간에서 기본 엔진보다 3배에서 7배까지 빨라졌습니다. 쿼리별 평균으로는 Q3이 7배, Q9이 3배, Q10과 Q12가 6배였고, 12 구간 평균은 5.7배입니다. 기본 엔진 대비 짝지은 통계 검정 180건 모두에서 유의한 차이가 나왔습니다. 추정치를 정확히 주입하기만 하면 의심의 여지 없는 가속이 일어난다는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그런데 실행 시간만큼 중요한 것이 있습니다. 정답 실행 계획을 얼마나 잘 회복하느냐입니다. 베이스라인 방식은 12 구간 중 7 구간에서만 정답 계획을 되찾았고, 질의 벡터가 무엇이냐에 따라 결과가 흔들렸습니다. 질의 0에서는 4 구간 중 한 구간도 못 맞췄고, 질의 1에서는 모두 맞췄고, 질의 2에서는 4 중 3입니다. 반면 결합 방식 13종의 평균은 156 구간 중 148, 즉 94.9% 회복했습니다. 질의 벡터와 무관하게 견고했고, 회복에 실패한 8건도 모두 Q3 한정이었습니다. 실행 시간 자체는 두 방식이 거의 같습니다. 결합 방식의 진짜 가치는 정답 계획을 더 흔들림 없이 짚는다는 그 견고함입니다. 추정 오차를 89% 줄인 것이 엔진 위에서 돌아오는 모습은, 더 빠른 쿼리가 아니라 더 흔들림 없는 실행 계획이었습니다.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방법을 고를 때는 정확도뿐 아니라 데이터가 들어올 때 분포를 파악하는 시간도 봐야 합니다. 분포 파악이 가장 빨라야 하는 상황이면 희소 랜덤 투영이 2.9초로 가장 짧습니다. 그 외에는 가중 표본 추출이 11초로 빠른 편이면서 정확도도 가장 높아 권장됩니다. 가우시안 혼합 모델은 느리고 부정확해 쓸 이유가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측정 결과를 종합해, 데이터 유형에 따라 표본 선택 방법을 자동으로 고르는 방식을 제안합니다. 데이터가 들어오면 크기·구조·차원을 보고 유형을 판별하고, 그 유형에 맞는 방법을 골라 결합 방식으로 추정합니다.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분포를 반영해 표본을 뽑으면 추정이 89%에서 더 정확해졌고, 통째 교체는 불안정하며 결합이 답이었습니다. 이 효과는 선택도·데이터 구조·계층 수 어느 조건에서도 일관됐고, 데이터 유형에 따라 방법을 자동으로 고르는 방식을 제안했습니다. 추정 알고리즘은 그대로 두고 표본 뽑는 방식만 바꾼 결과입니다.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한계와 다음 단계를 말씀드립니다. 정직하게 남기는 점이 두 가지 있습니다. 첫째, 검증 중 비교 기준이 되는 기존 방식 측정에서 작은 결함을 발견해 바로잡았습니다. 그래서 오늘 보여드린 개선 수치는 처음보다 보수적이지만, 더 엄정한 기준 위의 값입니다. 둘째, 가장 큰 규모의 다중 벡터 데이터는 일부 조합만 측정했습니다. 전수 조합은 6월 11일 최종 보고서에서 보강하겠습니다. 다음 단계는 두 갈래입니다. 산업 적용으로는 pgvector·DuckDB·PostgreSQL의 데이터와 무관한 33%·100% 고정값을 본 연구의 결합 방식으로 대체할 수 있습니다. 논문 적용으로는 Exqutor 논문의 추정 알고리즘은 그대로 두고 표본 선택 단계만 바꾸는 방식이라, 별도 논문이 아닌 기존 논문의 자연스러운 확장으로 통합할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발표를 마치겠습니다.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1218208"/>
            <a:ext cx="2286000" cy="38100"/>
          </a:xfrm>
          <a:prstGeom prst="rect">
            <a:avLst/>
          </a:prstGeom>
          <a:solidFill>
            <a:srgbClr val="1E3A5F"/>
          </a:solidFill>
          <a:ln/>
        </p:spPr>
      </p:sp>
      <p:sp>
        <p:nvSpPr>
          <p:cNvPr id="3" name="Text 1"/>
          <p:cNvSpPr/>
          <p:nvPr/>
        </p:nvSpPr>
        <p:spPr>
          <a:xfrm>
            <a:off x="914400" y="1503958"/>
            <a:ext cx="10674096" cy="1510209"/>
          </a:xfrm>
          <a:prstGeom prst="rect">
            <a:avLst/>
          </a:prstGeom>
          <a:noFill/>
          <a:ln/>
        </p:spPr>
        <p:txBody>
          <a:bodyPr wrap="square" lIns="25400" tIns="25400" rIns="25400" bIns="25400" rtlCol="0" anchor="t">
            <a:normAutofit/>
          </a:bodyPr>
          <a:lstStyle/>
          <a:p>
            <a:pPr algn="l" indent="0" marL="0">
              <a:lnSpc>
                <a:spcPct val="92000"/>
              </a:lnSpc>
              <a:buNone/>
            </a:pPr>
            <a:r>
              <a:rPr lang="en-US" sz="12600" b="1" spc="-630" kern="0" dirty="0">
                <a:solidFill>
                  <a:srgbClr val="1E3A5F"/>
                </a:solidFill>
                <a:latin typeface="Inter" pitchFamily="34" charset="0"/>
                <a:ea typeface="Inter" pitchFamily="34" charset="-122"/>
                <a:cs typeface="Inter" pitchFamily="34" charset="-120"/>
              </a:rPr>
              <a:t>속도는</a:t>
            </a:r>
            <a:pPr algn="l" indent="0" marL="0">
              <a:lnSpc>
                <a:spcPct val="92000"/>
              </a:lnSpc>
              <a:buNone/>
            </a:pPr>
            <a:r>
              <a:rPr lang="en-US" sz="12600" b="1" spc="-630" kern="0" dirty="0">
                <a:solidFill>
                  <a:srgbClr val="000000"/>
                </a:solidFill>
                <a:latin typeface="Inter" pitchFamily="34" charset="0"/>
                <a:ea typeface="Inter" pitchFamily="34" charset="-122"/>
                <a:cs typeface="Inter" pitchFamily="34" charset="-120"/>
              </a:rPr>
              <a:t>벡터</a:t>
            </a:r>
            <a:endParaRPr lang="en-US" sz="12600" dirty="0"/>
          </a:p>
        </p:txBody>
      </p:sp>
      <p:sp>
        <p:nvSpPr>
          <p:cNvPr id="4" name="Text 2"/>
          <p:cNvSpPr/>
          <p:nvPr/>
        </p:nvSpPr>
        <p:spPr>
          <a:xfrm>
            <a:off x="914400" y="3261817"/>
            <a:ext cx="9614535" cy="809625"/>
          </a:xfrm>
          <a:prstGeom prst="rect">
            <a:avLst/>
          </a:prstGeom>
          <a:noFill/>
          <a:ln/>
        </p:spPr>
        <p:txBody>
          <a:bodyPr wrap="square" lIns="25400" tIns="25400" rIns="25400" bIns="25400" rtlCol="0" anchor="t">
            <a:normAutofit/>
          </a:bodyPr>
          <a:lstStyle/>
          <a:p>
            <a:pPr algn="l" indent="0" marL="0">
              <a:lnSpc>
                <a:spcPct val="135000"/>
              </a:lnSpc>
              <a:buNone/>
            </a:pPr>
            <a:r>
              <a:rPr lang="en-US" sz="2250" spc="-22" kern="0" dirty="0">
                <a:solidFill>
                  <a:srgbClr val="475569"/>
                </a:solidFill>
                <a:latin typeface="Inter" pitchFamily="34" charset="0"/>
                <a:ea typeface="Inter" pitchFamily="34" charset="-122"/>
                <a:cs typeface="Inter" pitchFamily="34" charset="-120"/>
              </a:rPr>
              <a:t>벡터 분석 쿼리의 카디널리티 추정을 위한 분포 인지 표본 선택</a:t>
            </a:r>
            <a:endParaRPr lang="en-US" sz="2250" dirty="0"/>
          </a:p>
        </p:txBody>
      </p:sp>
      <p:sp>
        <p:nvSpPr>
          <p:cNvPr id="5" name="Shape 3"/>
          <p:cNvSpPr/>
          <p:nvPr/>
        </p:nvSpPr>
        <p:spPr>
          <a:xfrm>
            <a:off x="914400" y="5251549"/>
            <a:ext cx="10363200" cy="9525"/>
          </a:xfrm>
          <a:prstGeom prst="rect">
            <a:avLst/>
          </a:prstGeom>
          <a:solidFill>
            <a:srgbClr val="E5E7EB"/>
          </a:solidFill>
          <a:ln/>
        </p:spPr>
      </p:sp>
      <p:sp>
        <p:nvSpPr>
          <p:cNvPr id="6" name="Text 4"/>
          <p:cNvSpPr/>
          <p:nvPr/>
        </p:nvSpPr>
        <p:spPr>
          <a:xfrm>
            <a:off x="914400" y="5619849"/>
            <a:ext cx="2774705" cy="292100"/>
          </a:xfrm>
          <a:prstGeom prst="rect">
            <a:avLst/>
          </a:prstGeom>
          <a:noFill/>
          <a:ln/>
        </p:spPr>
        <p:txBody>
          <a:bodyPr wrap="square" lIns="0" tIns="0" rIns="0" bIns="0" rtlCol="0" anchor="t">
            <a:normAutofit/>
          </a:bodyPr>
          <a:lstStyle/>
          <a:p>
            <a:pPr algn="l" indent="0" marL="0">
              <a:lnSpc>
                <a:spcPct val="140000"/>
              </a:lnSpc>
              <a:buNone/>
            </a:pPr>
            <a:r>
              <a:rPr lang="en-US" sz="1650" b="1" spc="-25" kern="0" dirty="0">
                <a:solidFill>
                  <a:srgbClr val="1E293B"/>
                </a:solidFill>
                <a:latin typeface="Inter" pitchFamily="34" charset="0"/>
                <a:ea typeface="Inter" pitchFamily="34" charset="-122"/>
                <a:cs typeface="Inter" pitchFamily="34" charset="-120"/>
              </a:rPr>
              <a:t>박세은 · 강재현 · 조현빈 · 이동욱</a:t>
            </a:r>
            <a:endParaRPr lang="en-US" sz="1650" dirty="0"/>
          </a:p>
        </p:txBody>
      </p:sp>
      <p:sp>
        <p:nvSpPr>
          <p:cNvPr id="7" name="Text 5"/>
          <p:cNvSpPr/>
          <p:nvPr/>
        </p:nvSpPr>
        <p:spPr>
          <a:xfrm>
            <a:off x="914400" y="5951240"/>
            <a:ext cx="2774705" cy="278110"/>
          </a:xfrm>
          <a:prstGeom prst="rect">
            <a:avLst/>
          </a:prstGeom>
          <a:noFill/>
          <a:ln/>
        </p:spPr>
        <p:txBody>
          <a:bodyPr wrap="square" lIns="25400" tIns="25400" rIns="25400" bIns="25400" rtlCol="0" anchor="t">
            <a:normAutofit/>
          </a:bodyPr>
          <a:lstStyle/>
          <a:p>
            <a:pPr algn="l" indent="0" marL="0">
              <a:lnSpc>
                <a:spcPct val="140000"/>
              </a:lnSpc>
              <a:buNone/>
            </a:pPr>
            <a:r>
              <a:rPr lang="en-US" sz="1350" spc="-25" kern="0" dirty="0">
                <a:solidFill>
                  <a:srgbClr val="475569"/>
                </a:solidFill>
                <a:latin typeface="Inter" pitchFamily="34" charset="0"/>
                <a:ea typeface="Inter" pitchFamily="34" charset="-122"/>
                <a:cs typeface="Inter" pitchFamily="34" charset="-120"/>
              </a:rPr>
              <a:t>속도는벡터</a:t>
            </a:r>
            <a:endParaRPr lang="en-US" sz="1350" dirty="0"/>
          </a:p>
        </p:txBody>
      </p:sp>
      <p:sp>
        <p:nvSpPr>
          <p:cNvPr id="8" name="Text 6"/>
          <p:cNvSpPr/>
          <p:nvPr/>
        </p:nvSpPr>
        <p:spPr>
          <a:xfrm>
            <a:off x="9356428" y="5604669"/>
            <a:ext cx="1921173" cy="331391"/>
          </a:xfrm>
          <a:prstGeom prst="rect">
            <a:avLst/>
          </a:prstGeom>
          <a:noFill/>
          <a:ln/>
        </p:spPr>
        <p:txBody>
          <a:bodyPr wrap="square" lIns="25400" tIns="25400" rIns="25400" bIns="25400" rtlCol="0" anchor="t">
            <a:normAutofit/>
          </a:bodyPr>
          <a:lstStyle/>
          <a:p>
            <a:pPr algn="r" indent="0" marL="0">
              <a:lnSpc>
                <a:spcPct val="140000"/>
              </a:lnSpc>
              <a:buNone/>
            </a:pPr>
            <a:r>
              <a:rPr lang="en-US" sz="1650" b="1" spc="-8" kern="0" dirty="0">
                <a:solidFill>
                  <a:srgbClr val="1E293B"/>
                </a:solidFill>
                <a:latin typeface="Inter" pitchFamily="34" charset="0"/>
                <a:ea typeface="Inter" pitchFamily="34" charset="-122"/>
                <a:cs typeface="Inter" pitchFamily="34" charset="-120"/>
              </a:rPr>
              <a:t>박광현 교수</a:t>
            </a:r>
            <a:endParaRPr lang="en-US" sz="1650" dirty="0"/>
          </a:p>
        </p:txBody>
      </p:sp>
      <p:sp>
        <p:nvSpPr>
          <p:cNvPr id="9" name="Text 7"/>
          <p:cNvSpPr/>
          <p:nvPr/>
        </p:nvSpPr>
        <p:spPr>
          <a:xfrm>
            <a:off x="9432628" y="5917010"/>
            <a:ext cx="1921172" cy="292100"/>
          </a:xfrm>
          <a:prstGeom prst="rect">
            <a:avLst/>
          </a:prstGeom>
          <a:noFill/>
          <a:ln/>
        </p:spPr>
        <p:txBody>
          <a:bodyPr wrap="square" lIns="0" tIns="0" rIns="0" bIns="0" rtlCol="0" anchor="t">
            <a:normAutofit/>
          </a:bodyPr>
          <a:lstStyle/>
          <a:p>
            <a:pPr algn="r" indent="0" marL="0">
              <a:lnSpc>
                <a:spcPct val="140000"/>
              </a:lnSpc>
              <a:buNone/>
            </a:pPr>
            <a:r>
              <a:rPr lang="en-US" sz="1650" spc="-8" kern="0" dirty="0">
                <a:solidFill>
                  <a:srgbClr val="475569"/>
                </a:solidFill>
                <a:latin typeface="Inter" pitchFamily="34" charset="0"/>
                <a:ea typeface="Inter" pitchFamily="34" charset="-122"/>
                <a:cs typeface="Inter" pitchFamily="34" charset="-120"/>
              </a:rPr>
              <a:t>연세대학교 · 지도교수</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285750"/>
            <a:ext cx="497979" cy="222250"/>
          </a:xfrm>
          <a:prstGeom prst="rect">
            <a:avLst/>
          </a:prstGeom>
          <a:noFill/>
          <a:ln/>
        </p:spPr>
        <p:txBody>
          <a:bodyPr wrap="square" lIns="25400" tIns="25400" rIns="25400" bIns="25400" rtlCol="0" anchor="ctr">
            <a:normAutofit/>
          </a:bodyPr>
          <a:lstStyle/>
          <a:p>
            <a:pPr algn="l" indent="0" marL="0">
              <a:buNone/>
            </a:pPr>
            <a:r>
              <a:rPr lang="en-US" sz="975" b="1" spc="116" kern="0" dirty="0">
                <a:solidFill>
                  <a:srgbClr val="0EA5E9"/>
                </a:solidFill>
                <a:latin typeface="Inter" pitchFamily="34" charset="0"/>
                <a:ea typeface="Inter" pitchFamily="34" charset="-122"/>
                <a:cs typeface="Inter" pitchFamily="34" charset="-120"/>
              </a:rPr>
              <a:t>배경</a:t>
            </a:r>
            <a:endParaRPr lang="en-US" sz="975" dirty="0"/>
          </a:p>
        </p:txBody>
      </p:sp>
      <p:sp>
        <p:nvSpPr>
          <p:cNvPr id="3" name="Text 1"/>
          <p:cNvSpPr/>
          <p:nvPr/>
        </p:nvSpPr>
        <p:spPr>
          <a:xfrm>
            <a:off x="723900" y="533400"/>
            <a:ext cx="10791825" cy="520005"/>
          </a:xfrm>
          <a:prstGeom prst="rect">
            <a:avLst/>
          </a:prstGeom>
          <a:noFill/>
          <a:ln/>
        </p:spPr>
        <p:txBody>
          <a:bodyPr wrap="square" lIns="25400" tIns="25400" rIns="25400" bIns="25400" rtlCol="0" anchor="t">
            <a:normAutofit/>
          </a:bodyPr>
          <a:lstStyle/>
          <a:p>
            <a:pPr algn="l" indent="0" marL="0">
              <a:lnSpc>
                <a:spcPct val="115000"/>
              </a:lnSpc>
              <a:buNone/>
            </a:pPr>
            <a:r>
              <a:rPr lang="en-US" sz="3300" b="1" spc="-82" kern="0" dirty="0">
                <a:solidFill>
                  <a:srgbClr val="1E3A5F"/>
                </a:solidFill>
                <a:latin typeface="Inter" pitchFamily="34" charset="0"/>
                <a:ea typeface="Inter" pitchFamily="34" charset="-122"/>
                <a:cs typeface="Inter" pitchFamily="34" charset="-120"/>
              </a:rPr>
              <a:t>왜 카디널리티 추정이 중요한가</a:t>
            </a:r>
            <a:endParaRPr lang="en-US" sz="3300" dirty="0"/>
          </a:p>
        </p:txBody>
      </p:sp>
      <p:sp>
        <p:nvSpPr>
          <p:cNvPr id="4" name="Shape 2"/>
          <p:cNvSpPr/>
          <p:nvPr/>
        </p:nvSpPr>
        <p:spPr>
          <a:xfrm>
            <a:off x="723900" y="1148655"/>
            <a:ext cx="381000" cy="28575"/>
          </a:xfrm>
          <a:prstGeom prst="rect">
            <a:avLst/>
          </a:prstGeom>
          <a:solidFill>
            <a:srgbClr val="0EA5E9"/>
          </a:solidFill>
          <a:ln/>
        </p:spPr>
      </p:sp>
      <p:sp>
        <p:nvSpPr>
          <p:cNvPr id="5" name="Shape 3"/>
          <p:cNvSpPr/>
          <p:nvPr/>
        </p:nvSpPr>
        <p:spPr>
          <a:xfrm>
            <a:off x="2930723" y="2082403"/>
            <a:ext cx="854373" cy="647700"/>
          </a:xfrm>
          <a:prstGeom prst="rect">
            <a:avLst/>
          </a:prstGeom>
          <a:ln w="12700">
            <a:solidFill>
              <a:srgbClr val="1E293B"/>
            </a:solidFill>
            <a:prstDash val="solid"/>
          </a:ln>
        </p:spPr>
      </p:sp>
      <p:sp>
        <p:nvSpPr>
          <p:cNvPr id="6" name="Text 4"/>
          <p:cNvSpPr/>
          <p:nvPr/>
        </p:nvSpPr>
        <p:spPr>
          <a:xfrm>
            <a:off x="3172023" y="2247503"/>
            <a:ext cx="447973" cy="355600"/>
          </a:xfrm>
          <a:prstGeom prst="rect">
            <a:avLst/>
          </a:prstGeom>
          <a:noFill/>
          <a:ln/>
        </p:spPr>
        <p:txBody>
          <a:bodyPr wrap="square" lIns="25400" tIns="25400" rIns="25400" bIns="25400" rtlCol="0" anchor="t">
            <a:normAutofit/>
          </a:bodyPr>
          <a:lstStyle/>
          <a:p>
            <a:pPr algn="l" indent="0" marL="0">
              <a:buNone/>
            </a:pPr>
            <a:r>
              <a:rPr lang="en-US" sz="1650" b="1" spc="-8" kern="0" dirty="0">
                <a:solidFill>
                  <a:srgbClr val="1E293B"/>
                </a:solidFill>
                <a:latin typeface="Inter" pitchFamily="34" charset="0"/>
                <a:ea typeface="Inter" pitchFamily="34" charset="-122"/>
                <a:cs typeface="Inter" pitchFamily="34" charset="-120"/>
              </a:rPr>
              <a:t>쿼리</a:t>
            </a:r>
            <a:endParaRPr lang="en-US" sz="1650" dirty="0"/>
          </a:p>
        </p:txBody>
      </p:sp>
      <p:sp>
        <p:nvSpPr>
          <p:cNvPr id="7" name="Text 5"/>
          <p:cNvSpPr/>
          <p:nvPr/>
        </p:nvSpPr>
        <p:spPr>
          <a:xfrm>
            <a:off x="3956546" y="2234803"/>
            <a:ext cx="263723" cy="381000"/>
          </a:xfrm>
          <a:prstGeom prst="rect">
            <a:avLst/>
          </a:prstGeom>
          <a:noFill/>
          <a:ln/>
        </p:spPr>
        <p:txBody>
          <a:bodyPr wrap="square" lIns="25400" tIns="25400" rIns="25400" bIns="25400" rtlCol="0" anchor="t">
            <a:normAutofit/>
          </a:bodyPr>
          <a:lstStyle/>
          <a:p>
            <a:pPr algn="l" indent="0" marL="0">
              <a:buNone/>
            </a:pPr>
            <a:r>
              <a:rPr lang="en-US" sz="1800" dirty="0">
                <a:solidFill>
                  <a:srgbClr val="64748B"/>
                </a:solidFill>
                <a:latin typeface="Inter" pitchFamily="34" charset="0"/>
                <a:ea typeface="Inter" pitchFamily="34" charset="-122"/>
                <a:cs typeface="Inter" pitchFamily="34" charset="-120"/>
              </a:rPr>
              <a:t>→</a:t>
            </a:r>
            <a:endParaRPr lang="en-US" sz="1800" dirty="0"/>
          </a:p>
        </p:txBody>
      </p:sp>
      <p:sp>
        <p:nvSpPr>
          <p:cNvPr id="8" name="Shape 6"/>
          <p:cNvSpPr/>
          <p:nvPr/>
        </p:nvSpPr>
        <p:spPr>
          <a:xfrm>
            <a:off x="4315520" y="2076053"/>
            <a:ext cx="1845072" cy="660400"/>
          </a:xfrm>
          <a:prstGeom prst="rect">
            <a:avLst/>
          </a:prstGeom>
          <a:solidFill>
            <a:srgbClr val="E8EEF6"/>
          </a:solidFill>
          <a:ln w="19050">
            <a:solidFill>
              <a:srgbClr val="1E3A5F"/>
            </a:solidFill>
            <a:prstDash val="solid"/>
          </a:ln>
        </p:spPr>
      </p:sp>
      <p:sp>
        <p:nvSpPr>
          <p:cNvPr id="9" name="Text 7"/>
          <p:cNvSpPr/>
          <p:nvPr/>
        </p:nvSpPr>
        <p:spPr>
          <a:xfrm>
            <a:off x="4563170" y="2247503"/>
            <a:ext cx="1425972" cy="355600"/>
          </a:xfrm>
          <a:prstGeom prst="rect">
            <a:avLst/>
          </a:prstGeom>
          <a:noFill/>
          <a:ln/>
        </p:spPr>
        <p:txBody>
          <a:bodyPr wrap="square" lIns="25400" tIns="25400" rIns="25400" bIns="25400" rtlCol="0" anchor="t">
            <a:normAutofit/>
          </a:bodyPr>
          <a:lstStyle/>
          <a:p>
            <a:pPr algn="l" indent="0" marL="0">
              <a:buNone/>
            </a:pPr>
            <a:r>
              <a:rPr lang="en-US" sz="1650" b="1" spc="-8" kern="0" dirty="0">
                <a:solidFill>
                  <a:srgbClr val="1E3A5F"/>
                </a:solidFill>
                <a:latin typeface="Inter" pitchFamily="34" charset="0"/>
                <a:ea typeface="Inter" pitchFamily="34" charset="-122"/>
                <a:cs typeface="Inter" pitchFamily="34" charset="-120"/>
              </a:rPr>
              <a:t>카디널리티 추정</a:t>
            </a:r>
            <a:endParaRPr lang="en-US" sz="1650" dirty="0"/>
          </a:p>
        </p:txBody>
      </p:sp>
      <p:sp>
        <p:nvSpPr>
          <p:cNvPr id="10" name="Text 8"/>
          <p:cNvSpPr/>
          <p:nvPr/>
        </p:nvSpPr>
        <p:spPr>
          <a:xfrm>
            <a:off x="6332041" y="2234803"/>
            <a:ext cx="263723" cy="381000"/>
          </a:xfrm>
          <a:prstGeom prst="rect">
            <a:avLst/>
          </a:prstGeom>
          <a:noFill/>
          <a:ln/>
        </p:spPr>
        <p:txBody>
          <a:bodyPr wrap="square" lIns="25400" tIns="25400" rIns="25400" bIns="25400" rtlCol="0" anchor="t">
            <a:normAutofit/>
          </a:bodyPr>
          <a:lstStyle/>
          <a:p>
            <a:pPr algn="l" indent="0" marL="0">
              <a:buNone/>
            </a:pPr>
            <a:r>
              <a:rPr lang="en-US" sz="1800" dirty="0">
                <a:solidFill>
                  <a:srgbClr val="64748B"/>
                </a:solidFill>
                <a:latin typeface="Inter" pitchFamily="34" charset="0"/>
                <a:ea typeface="Inter" pitchFamily="34" charset="-122"/>
                <a:cs typeface="Inter" pitchFamily="34" charset="-120"/>
              </a:rPr>
              <a:t>→</a:t>
            </a:r>
            <a:endParaRPr lang="en-US" sz="1800" dirty="0"/>
          </a:p>
        </p:txBody>
      </p:sp>
      <p:sp>
        <p:nvSpPr>
          <p:cNvPr id="11" name="Shape 9"/>
          <p:cNvSpPr/>
          <p:nvPr/>
        </p:nvSpPr>
        <p:spPr>
          <a:xfrm>
            <a:off x="6691015" y="2082403"/>
            <a:ext cx="1277838" cy="647700"/>
          </a:xfrm>
          <a:prstGeom prst="rect">
            <a:avLst/>
          </a:prstGeom>
          <a:ln w="12700">
            <a:solidFill>
              <a:srgbClr val="1E293B"/>
            </a:solidFill>
            <a:prstDash val="solid"/>
          </a:ln>
        </p:spPr>
      </p:sp>
      <p:sp>
        <p:nvSpPr>
          <p:cNvPr id="12" name="Text 10"/>
          <p:cNvSpPr/>
          <p:nvPr/>
        </p:nvSpPr>
        <p:spPr>
          <a:xfrm>
            <a:off x="6932315" y="2247503"/>
            <a:ext cx="871438" cy="355600"/>
          </a:xfrm>
          <a:prstGeom prst="rect">
            <a:avLst/>
          </a:prstGeom>
          <a:noFill/>
          <a:ln/>
        </p:spPr>
        <p:txBody>
          <a:bodyPr wrap="square" lIns="25400" tIns="25400" rIns="25400" bIns="25400" rtlCol="0" anchor="t">
            <a:normAutofit/>
          </a:bodyPr>
          <a:lstStyle/>
          <a:p>
            <a:pPr algn="l" indent="0" marL="0">
              <a:buNone/>
            </a:pPr>
            <a:r>
              <a:rPr lang="en-US" sz="1650" b="1" spc="-8" kern="0" dirty="0">
                <a:solidFill>
                  <a:srgbClr val="1E293B"/>
                </a:solidFill>
                <a:latin typeface="Inter" pitchFamily="34" charset="0"/>
                <a:ea typeface="Inter" pitchFamily="34" charset="-122"/>
                <a:cs typeface="Inter" pitchFamily="34" charset="-120"/>
              </a:rPr>
              <a:t>실행 계획</a:t>
            </a:r>
            <a:endParaRPr lang="en-US" sz="1650" dirty="0"/>
          </a:p>
        </p:txBody>
      </p:sp>
      <p:sp>
        <p:nvSpPr>
          <p:cNvPr id="13" name="Text 11"/>
          <p:cNvSpPr/>
          <p:nvPr/>
        </p:nvSpPr>
        <p:spPr>
          <a:xfrm>
            <a:off x="8140303" y="2234803"/>
            <a:ext cx="263723" cy="381000"/>
          </a:xfrm>
          <a:prstGeom prst="rect">
            <a:avLst/>
          </a:prstGeom>
          <a:noFill/>
          <a:ln/>
        </p:spPr>
        <p:txBody>
          <a:bodyPr wrap="square" lIns="25400" tIns="25400" rIns="25400" bIns="25400" rtlCol="0" anchor="t">
            <a:normAutofit/>
          </a:bodyPr>
          <a:lstStyle/>
          <a:p>
            <a:pPr algn="l" indent="0" marL="0">
              <a:buNone/>
            </a:pPr>
            <a:r>
              <a:rPr lang="en-US" sz="1800" dirty="0">
                <a:solidFill>
                  <a:srgbClr val="64748B"/>
                </a:solidFill>
                <a:latin typeface="Inter" pitchFamily="34" charset="0"/>
                <a:ea typeface="Inter" pitchFamily="34" charset="-122"/>
                <a:cs typeface="Inter" pitchFamily="34" charset="-120"/>
              </a:rPr>
              <a:t>→</a:t>
            </a:r>
            <a:endParaRPr lang="en-US" sz="1800" dirty="0"/>
          </a:p>
        </p:txBody>
      </p:sp>
      <p:sp>
        <p:nvSpPr>
          <p:cNvPr id="14" name="Text 12"/>
          <p:cNvSpPr/>
          <p:nvPr/>
        </p:nvSpPr>
        <p:spPr>
          <a:xfrm>
            <a:off x="8499277" y="2069703"/>
            <a:ext cx="838200" cy="336550"/>
          </a:xfrm>
          <a:prstGeom prst="rect">
            <a:avLst/>
          </a:prstGeom>
          <a:noFill/>
          <a:ln/>
        </p:spPr>
        <p:txBody>
          <a:bodyPr wrap="square" lIns="25400" tIns="25400" rIns="25400" bIns="25400" rtlCol="0" anchor="t">
            <a:normAutofit/>
          </a:bodyPr>
          <a:lstStyle/>
          <a:p>
            <a:pPr algn="l" indent="0" marL="0">
              <a:buNone/>
            </a:pPr>
            <a:r>
              <a:rPr lang="en-US" sz="1575" b="1" spc="-8" kern="0" dirty="0">
                <a:solidFill>
                  <a:srgbClr val="1E3A5F"/>
                </a:solidFill>
                <a:latin typeface="Inter" pitchFamily="34" charset="0"/>
                <a:ea typeface="Inter" pitchFamily="34" charset="-122"/>
                <a:cs typeface="Inter" pitchFamily="34" charset="-120"/>
              </a:rPr>
              <a:t>빠른 쿼리</a:t>
            </a:r>
            <a:endParaRPr lang="en-US" sz="1575" dirty="0"/>
          </a:p>
        </p:txBody>
      </p:sp>
      <p:sp>
        <p:nvSpPr>
          <p:cNvPr id="15" name="Text 13"/>
          <p:cNvSpPr/>
          <p:nvPr/>
        </p:nvSpPr>
        <p:spPr>
          <a:xfrm>
            <a:off x="8499277" y="2444353"/>
            <a:ext cx="838200" cy="336550"/>
          </a:xfrm>
          <a:prstGeom prst="rect">
            <a:avLst/>
          </a:prstGeom>
          <a:noFill/>
          <a:ln/>
        </p:spPr>
        <p:txBody>
          <a:bodyPr wrap="square" lIns="25400" tIns="25400" rIns="25400" bIns="25400" rtlCol="0" anchor="t">
            <a:normAutofit/>
          </a:bodyPr>
          <a:lstStyle/>
          <a:p>
            <a:pPr algn="l" indent="0" marL="0">
              <a:buNone/>
            </a:pPr>
            <a:r>
              <a:rPr lang="en-US" sz="1575" spc="-8" kern="0" dirty="0">
                <a:solidFill>
                  <a:srgbClr val="64748B"/>
                </a:solidFill>
                <a:latin typeface="Inter" pitchFamily="34" charset="0"/>
                <a:ea typeface="Inter" pitchFamily="34" charset="-122"/>
                <a:cs typeface="Inter" pitchFamily="34" charset="-120"/>
              </a:rPr>
              <a:t>느린 쿼리</a:t>
            </a:r>
            <a:endParaRPr lang="en-US" sz="1575" dirty="0"/>
          </a:p>
        </p:txBody>
      </p:sp>
      <p:sp>
        <p:nvSpPr>
          <p:cNvPr id="16" name="Text 14"/>
          <p:cNvSpPr/>
          <p:nvPr/>
        </p:nvSpPr>
        <p:spPr>
          <a:xfrm>
            <a:off x="3583836" y="3066653"/>
            <a:ext cx="5024229" cy="838200"/>
          </a:xfrm>
          <a:prstGeom prst="rect">
            <a:avLst/>
          </a:prstGeom>
          <a:noFill/>
          <a:ln/>
        </p:spPr>
        <p:txBody>
          <a:bodyPr wrap="square" lIns="25400" tIns="25400" rIns="25400" bIns="25400" rtlCol="0" anchor="t">
            <a:normAutofit/>
          </a:bodyPr>
          <a:lstStyle/>
          <a:p>
            <a:pPr algn="ctr" indent="0" marL="0">
              <a:lnSpc>
                <a:spcPct val="140000"/>
              </a:lnSpc>
              <a:buNone/>
            </a:pPr>
            <a:r>
              <a:rPr lang="en-US" sz="2250" b="1" spc="-45" kern="0" dirty="0">
                <a:solidFill>
                  <a:srgbClr val="1E293B"/>
                </a:solidFill>
                <a:latin typeface="Inter" pitchFamily="34" charset="0"/>
                <a:ea typeface="Inter" pitchFamily="34" charset="-122"/>
                <a:cs typeface="Inter" pitchFamily="34" charset="-120"/>
              </a:rPr>
              <a:t>조건을 만족하는 행의 수를 잘못 추정하면 → </a:t>
            </a:r>
            <a:pPr algn="ctr" indent="0" marL="0">
              <a:lnSpc>
                <a:spcPct val="140000"/>
              </a:lnSpc>
              <a:buNone/>
            </a:pPr>
            <a:r>
              <a:rPr lang="en-US" sz="2250" b="1" spc="-45" kern="0" dirty="0">
                <a:solidFill>
                  <a:srgbClr val="1E3A5F"/>
                </a:solidFill>
                <a:latin typeface="Inter" pitchFamily="34" charset="0"/>
                <a:ea typeface="Inter" pitchFamily="34" charset="-122"/>
                <a:cs typeface="Inter" pitchFamily="34" charset="-120"/>
              </a:rPr>
              <a:t>잘못된 실행 계획 </a:t>
            </a:r>
            <a:pPr algn="ctr" indent="0" marL="0">
              <a:lnSpc>
                <a:spcPct val="140000"/>
              </a:lnSpc>
              <a:buNone/>
            </a:pPr>
            <a:r>
              <a:rPr lang="en-US" sz="2250" b="1" spc="-45" kern="0" dirty="0">
                <a:solidFill>
                  <a:srgbClr val="1E293B"/>
                </a:solidFill>
                <a:latin typeface="Inter" pitchFamily="34" charset="0"/>
                <a:ea typeface="Inter" pitchFamily="34" charset="-122"/>
                <a:cs typeface="Inter" pitchFamily="34" charset="-120"/>
              </a:rPr>
              <a:t>→ 느린 쿼리</a:t>
            </a:r>
            <a:endParaRPr lang="en-US" sz="2250" dirty="0"/>
          </a:p>
        </p:txBody>
      </p:sp>
      <p:sp>
        <p:nvSpPr>
          <p:cNvPr id="17" name="Shape 15"/>
          <p:cNvSpPr/>
          <p:nvPr/>
        </p:nvSpPr>
        <p:spPr>
          <a:xfrm>
            <a:off x="723900" y="4190603"/>
            <a:ext cx="5286375" cy="869950"/>
          </a:xfrm>
          <a:prstGeom prst="rect">
            <a:avLst/>
          </a:prstGeom>
          <a:solidFill>
            <a:srgbClr val="FAFAFA"/>
          </a:solidFill>
          <a:ln w="6350">
            <a:solidFill>
              <a:srgbClr val="E5E7EB"/>
            </a:solidFill>
            <a:prstDash val="solid"/>
          </a:ln>
        </p:spPr>
      </p:sp>
      <p:sp>
        <p:nvSpPr>
          <p:cNvPr id="18" name="Text 16"/>
          <p:cNvSpPr/>
          <p:nvPr/>
        </p:nvSpPr>
        <p:spPr>
          <a:xfrm>
            <a:off x="958850" y="4368403"/>
            <a:ext cx="958652" cy="552450"/>
          </a:xfrm>
          <a:prstGeom prst="rect">
            <a:avLst/>
          </a:prstGeom>
          <a:noFill/>
          <a:ln/>
        </p:spPr>
        <p:txBody>
          <a:bodyPr wrap="square" lIns="25400" tIns="25400" rIns="25400" bIns="25400" rtlCol="0" anchor="t">
            <a:normAutofit/>
          </a:bodyPr>
          <a:lstStyle/>
          <a:p>
            <a:pPr algn="l" indent="0" marL="0">
              <a:lnSpc>
                <a:spcPct val="100000"/>
              </a:lnSpc>
              <a:buNone/>
            </a:pPr>
            <a:r>
              <a:rPr lang="en-US" sz="4050" b="1" spc="-122" kern="0" dirty="0">
                <a:solidFill>
                  <a:srgbClr val="1E3A5F"/>
                </a:solidFill>
                <a:latin typeface="Inter" pitchFamily="34" charset="0"/>
                <a:ea typeface="Inter" pitchFamily="34" charset="-122"/>
                <a:cs typeface="Inter" pitchFamily="34" charset="-120"/>
              </a:rPr>
              <a:t>33</a:t>
            </a:r>
            <a:pPr algn="l" indent="0" marL="0">
              <a:lnSpc>
                <a:spcPct val="100000"/>
              </a:lnSpc>
              <a:buNone/>
            </a:pPr>
            <a:r>
              <a:rPr lang="en-US" sz="2025" b="1" spc="-122" kern="0" dirty="0">
                <a:solidFill>
                  <a:srgbClr val="1E3A5F"/>
                </a:solidFill>
                <a:latin typeface="Inter" pitchFamily="34" charset="0"/>
                <a:ea typeface="Inter" pitchFamily="34" charset="-122"/>
                <a:cs typeface="Inter" pitchFamily="34" charset="-120"/>
              </a:rPr>
              <a:t>%</a:t>
            </a:r>
            <a:endParaRPr lang="en-US" sz="4050" dirty="0"/>
          </a:p>
        </p:txBody>
      </p:sp>
      <p:sp>
        <p:nvSpPr>
          <p:cNvPr id="19" name="Text 17"/>
          <p:cNvSpPr/>
          <p:nvPr/>
        </p:nvSpPr>
        <p:spPr>
          <a:xfrm>
            <a:off x="2069902" y="4515049"/>
            <a:ext cx="2385516" cy="259060"/>
          </a:xfrm>
          <a:prstGeom prst="rect">
            <a:avLst/>
          </a:prstGeom>
          <a:noFill/>
          <a:ln/>
        </p:spPr>
        <p:txBody>
          <a:bodyPr wrap="square" lIns="25400" tIns="25400" rIns="25400" bIns="25400" rtlCol="0" anchor="t">
            <a:normAutofit/>
          </a:bodyPr>
          <a:lstStyle/>
          <a:p>
            <a:pPr algn="l" indent="0" marL="0">
              <a:lnSpc>
                <a:spcPct val="145000"/>
              </a:lnSpc>
              <a:buNone/>
            </a:pPr>
            <a:r>
              <a:rPr lang="en-US" sz="1200" b="1" spc="-6" kern="0" dirty="0">
                <a:solidFill>
                  <a:srgbClr val="1E3A5F"/>
                </a:solidFill>
                <a:latin typeface="Inter" pitchFamily="34" charset="0"/>
                <a:ea typeface="Inter" pitchFamily="34" charset="-122"/>
                <a:cs typeface="Inter" pitchFamily="34" charset="-120"/>
              </a:rPr>
              <a:t>pgvector </a:t>
            </a:r>
            <a:pPr algn="l" indent="0" marL="0">
              <a:lnSpc>
                <a:spcPct val="145000"/>
              </a:lnSpc>
              <a:buNone/>
            </a:pPr>
            <a:r>
              <a:rPr lang="en-US" sz="1200" spc="-6" kern="0" dirty="0">
                <a:solidFill>
                  <a:srgbClr val="475569"/>
                </a:solidFill>
                <a:latin typeface="Inter" pitchFamily="34" charset="0"/>
                <a:ea typeface="Inter" pitchFamily="34" charset="-122"/>
                <a:cs typeface="Inter" pitchFamily="34" charset="-120"/>
              </a:rPr>
              <a:t>— 늘 전체의 33%로 가정</a:t>
            </a:r>
            <a:endParaRPr lang="en-US" sz="1200" dirty="0"/>
          </a:p>
        </p:txBody>
      </p:sp>
      <p:sp>
        <p:nvSpPr>
          <p:cNvPr id="20" name="Shape 18"/>
          <p:cNvSpPr/>
          <p:nvPr/>
        </p:nvSpPr>
        <p:spPr>
          <a:xfrm>
            <a:off x="6181725" y="4190603"/>
            <a:ext cx="5286375" cy="869950"/>
          </a:xfrm>
          <a:prstGeom prst="rect">
            <a:avLst/>
          </a:prstGeom>
          <a:solidFill>
            <a:srgbClr val="FAFAFA"/>
          </a:solidFill>
          <a:ln w="6350">
            <a:solidFill>
              <a:srgbClr val="E5E7EB"/>
            </a:solidFill>
            <a:prstDash val="solid"/>
          </a:ln>
        </p:spPr>
      </p:sp>
      <p:sp>
        <p:nvSpPr>
          <p:cNvPr id="21" name="Text 19"/>
          <p:cNvSpPr/>
          <p:nvPr/>
        </p:nvSpPr>
        <p:spPr>
          <a:xfrm>
            <a:off x="6416675" y="4368403"/>
            <a:ext cx="1275159" cy="552450"/>
          </a:xfrm>
          <a:prstGeom prst="rect">
            <a:avLst/>
          </a:prstGeom>
          <a:noFill/>
          <a:ln/>
        </p:spPr>
        <p:txBody>
          <a:bodyPr wrap="square" lIns="25400" tIns="25400" rIns="25400" bIns="25400" rtlCol="0" anchor="t">
            <a:normAutofit/>
          </a:bodyPr>
          <a:lstStyle/>
          <a:p>
            <a:pPr algn="l" indent="0" marL="0">
              <a:lnSpc>
                <a:spcPct val="100000"/>
              </a:lnSpc>
              <a:buNone/>
            </a:pPr>
            <a:r>
              <a:rPr lang="en-US" sz="4050" b="1" spc="-122" kern="0" dirty="0">
                <a:solidFill>
                  <a:srgbClr val="1E3A5F"/>
                </a:solidFill>
                <a:latin typeface="Inter" pitchFamily="34" charset="0"/>
                <a:ea typeface="Inter" pitchFamily="34" charset="-122"/>
                <a:cs typeface="Inter" pitchFamily="34" charset="-120"/>
              </a:rPr>
              <a:t>100</a:t>
            </a:r>
            <a:pPr algn="l" indent="0" marL="0">
              <a:lnSpc>
                <a:spcPct val="100000"/>
              </a:lnSpc>
              <a:buNone/>
            </a:pPr>
            <a:r>
              <a:rPr lang="en-US" sz="2025" b="1" spc="-122" kern="0" dirty="0">
                <a:solidFill>
                  <a:srgbClr val="1E3A5F"/>
                </a:solidFill>
                <a:latin typeface="Inter" pitchFamily="34" charset="0"/>
                <a:ea typeface="Inter" pitchFamily="34" charset="-122"/>
                <a:cs typeface="Inter" pitchFamily="34" charset="-120"/>
              </a:rPr>
              <a:t>%</a:t>
            </a:r>
            <a:endParaRPr lang="en-US" sz="4050" dirty="0"/>
          </a:p>
        </p:txBody>
      </p:sp>
      <p:sp>
        <p:nvSpPr>
          <p:cNvPr id="22" name="Text 20"/>
          <p:cNvSpPr/>
          <p:nvPr/>
        </p:nvSpPr>
        <p:spPr>
          <a:xfrm>
            <a:off x="7844235" y="4515049"/>
            <a:ext cx="1927225" cy="259060"/>
          </a:xfrm>
          <a:prstGeom prst="rect">
            <a:avLst/>
          </a:prstGeom>
          <a:noFill/>
          <a:ln/>
        </p:spPr>
        <p:txBody>
          <a:bodyPr wrap="square" lIns="25400" tIns="25400" rIns="25400" bIns="25400" rtlCol="0" anchor="t">
            <a:normAutofit/>
          </a:bodyPr>
          <a:lstStyle/>
          <a:p>
            <a:pPr algn="l" indent="0" marL="0">
              <a:lnSpc>
                <a:spcPct val="145000"/>
              </a:lnSpc>
              <a:buNone/>
            </a:pPr>
            <a:r>
              <a:rPr lang="en-US" sz="1200" b="1" spc="-6" kern="0" dirty="0">
                <a:solidFill>
                  <a:srgbClr val="1E3A5F"/>
                </a:solidFill>
                <a:latin typeface="Inter" pitchFamily="34" charset="0"/>
                <a:ea typeface="Inter" pitchFamily="34" charset="-122"/>
                <a:cs typeface="Inter" pitchFamily="34" charset="-120"/>
              </a:rPr>
              <a:t>DuckDB </a:t>
            </a:r>
            <a:pPr algn="l" indent="0" marL="0">
              <a:lnSpc>
                <a:spcPct val="145000"/>
              </a:lnSpc>
              <a:buNone/>
            </a:pPr>
            <a:r>
              <a:rPr lang="en-US" sz="1200" spc="-6" kern="0" dirty="0">
                <a:solidFill>
                  <a:srgbClr val="475569"/>
                </a:solidFill>
                <a:latin typeface="Inter" pitchFamily="34" charset="0"/>
                <a:ea typeface="Inter" pitchFamily="34" charset="-122"/>
                <a:cs typeface="Inter" pitchFamily="34" charset="-120"/>
              </a:rPr>
              <a:t>— 늘 100%로 가정</a:t>
            </a:r>
            <a:endParaRPr lang="en-US" sz="1200" dirty="0"/>
          </a:p>
        </p:txBody>
      </p:sp>
      <p:sp>
        <p:nvSpPr>
          <p:cNvPr id="23" name="Text 21"/>
          <p:cNvSpPr/>
          <p:nvPr/>
        </p:nvSpPr>
        <p:spPr>
          <a:xfrm>
            <a:off x="562737" y="5384403"/>
            <a:ext cx="11066526" cy="247650"/>
          </a:xfrm>
          <a:prstGeom prst="rect">
            <a:avLst/>
          </a:prstGeom>
          <a:noFill/>
          <a:ln/>
        </p:spPr>
        <p:txBody>
          <a:bodyPr wrap="square" lIns="25400" tIns="25400" rIns="25400" bIns="25400" rtlCol="0" anchor="t">
            <a:normAutofit/>
          </a:bodyPr>
          <a:lstStyle/>
          <a:p>
            <a:pPr algn="ctr" indent="0" marL="0">
              <a:buNone/>
            </a:pPr>
            <a:r>
              <a:rPr lang="en-US" sz="1125" spc="-6" kern="0" dirty="0">
                <a:solidFill>
                  <a:srgbClr val="64748B"/>
                </a:solidFill>
                <a:latin typeface="Inter" pitchFamily="34" charset="0"/>
                <a:ea typeface="Inter" pitchFamily="34" charset="-122"/>
                <a:cs typeface="Inter" pitchFamily="34" charset="-120"/>
              </a:rPr>
              <a:t>기존 벡터 데이터베이스는 이 값을 데이터와 무관하게 고정 비율로 어림한다</a:t>
            </a:r>
            <a:endParaRPr lang="en-US" sz="11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285750"/>
            <a:ext cx="497979" cy="222250"/>
          </a:xfrm>
          <a:prstGeom prst="rect">
            <a:avLst/>
          </a:prstGeom>
          <a:noFill/>
          <a:ln/>
        </p:spPr>
        <p:txBody>
          <a:bodyPr wrap="square" lIns="25400" tIns="25400" rIns="25400" bIns="25400" rtlCol="0" anchor="ctr">
            <a:normAutofit/>
          </a:bodyPr>
          <a:lstStyle/>
          <a:p>
            <a:pPr algn="l" indent="0" marL="0">
              <a:buNone/>
            </a:pPr>
            <a:r>
              <a:rPr lang="en-US" sz="975" b="1" spc="116" kern="0" dirty="0">
                <a:solidFill>
                  <a:srgbClr val="0EA5E9"/>
                </a:solidFill>
                <a:latin typeface="Inter" pitchFamily="34" charset="0"/>
                <a:ea typeface="Inter" pitchFamily="34" charset="-122"/>
                <a:cs typeface="Inter" pitchFamily="34" charset="-120"/>
              </a:rPr>
              <a:t>배경</a:t>
            </a:r>
            <a:endParaRPr lang="en-US" sz="975" dirty="0"/>
          </a:p>
        </p:txBody>
      </p:sp>
      <p:sp>
        <p:nvSpPr>
          <p:cNvPr id="3" name="Text 1"/>
          <p:cNvSpPr/>
          <p:nvPr/>
        </p:nvSpPr>
        <p:spPr>
          <a:xfrm>
            <a:off x="723900" y="533400"/>
            <a:ext cx="10791825" cy="520005"/>
          </a:xfrm>
          <a:prstGeom prst="rect">
            <a:avLst/>
          </a:prstGeom>
          <a:noFill/>
          <a:ln/>
        </p:spPr>
        <p:txBody>
          <a:bodyPr wrap="square" lIns="25400" tIns="25400" rIns="25400" bIns="25400" rtlCol="0" anchor="t">
            <a:normAutofit/>
          </a:bodyPr>
          <a:lstStyle/>
          <a:p>
            <a:pPr algn="l" indent="0" marL="0">
              <a:lnSpc>
                <a:spcPct val="115000"/>
              </a:lnSpc>
              <a:buNone/>
            </a:pPr>
            <a:r>
              <a:rPr lang="en-US" sz="3300" b="1" spc="-82" kern="0" dirty="0">
                <a:solidFill>
                  <a:srgbClr val="1E3A5F"/>
                </a:solidFill>
                <a:latin typeface="Inter" pitchFamily="34" charset="0"/>
                <a:ea typeface="Inter" pitchFamily="34" charset="-122"/>
                <a:cs typeface="Inter" pitchFamily="34" charset="-120"/>
              </a:rPr>
              <a:t>논문이 푼 것, 우리가 바꾼 것</a:t>
            </a:r>
            <a:endParaRPr lang="en-US" sz="3300" dirty="0"/>
          </a:p>
        </p:txBody>
      </p:sp>
      <p:sp>
        <p:nvSpPr>
          <p:cNvPr id="4" name="Shape 2"/>
          <p:cNvSpPr/>
          <p:nvPr/>
        </p:nvSpPr>
        <p:spPr>
          <a:xfrm>
            <a:off x="723900" y="1148655"/>
            <a:ext cx="381000" cy="28575"/>
          </a:xfrm>
          <a:prstGeom prst="rect">
            <a:avLst/>
          </a:prstGeom>
          <a:solidFill>
            <a:srgbClr val="0EA5E9"/>
          </a:solidFill>
          <a:ln/>
        </p:spPr>
      </p:sp>
      <p:sp>
        <p:nvSpPr>
          <p:cNvPr id="5" name="Shape 3"/>
          <p:cNvSpPr/>
          <p:nvPr/>
        </p:nvSpPr>
        <p:spPr>
          <a:xfrm>
            <a:off x="723900" y="2114848"/>
            <a:ext cx="3200400" cy="2706886"/>
          </a:xfrm>
          <a:prstGeom prst="rect">
            <a:avLst/>
          </a:prstGeom>
          <a:solidFill>
            <a:srgbClr val="FFFFFF"/>
          </a:solidFill>
          <a:ln w="12700">
            <a:solidFill>
              <a:srgbClr val="1E293B"/>
            </a:solidFill>
            <a:prstDash val="solid"/>
          </a:ln>
        </p:spPr>
      </p:sp>
      <p:sp>
        <p:nvSpPr>
          <p:cNvPr id="6" name="Text 4"/>
          <p:cNvSpPr/>
          <p:nvPr/>
        </p:nvSpPr>
        <p:spPr>
          <a:xfrm>
            <a:off x="2121198" y="2432348"/>
            <a:ext cx="405705" cy="228600"/>
          </a:xfrm>
          <a:prstGeom prst="rect">
            <a:avLst/>
          </a:prstGeom>
          <a:noFill/>
          <a:ln/>
        </p:spPr>
        <p:txBody>
          <a:bodyPr wrap="square" lIns="25400" tIns="25400" rIns="25400" bIns="25400" rtlCol="0" anchor="t">
            <a:normAutofit/>
          </a:bodyPr>
          <a:lstStyle/>
          <a:p>
            <a:pPr algn="ctr" indent="0" marL="0">
              <a:buNone/>
            </a:pPr>
            <a:r>
              <a:rPr lang="en-US" sz="975" b="1" spc="-5" kern="0" dirty="0">
                <a:solidFill>
                  <a:srgbClr val="64748B"/>
                </a:solidFill>
                <a:latin typeface="Inter" pitchFamily="34" charset="0"/>
                <a:ea typeface="Inter" pitchFamily="34" charset="-122"/>
                <a:cs typeface="Inter" pitchFamily="34" charset="-120"/>
              </a:rPr>
              <a:t>데이터</a:t>
            </a:r>
            <a:endParaRPr lang="en-US" sz="975" dirty="0"/>
          </a:p>
        </p:txBody>
      </p:sp>
      <p:pic>
        <p:nvPicPr>
          <p:cNvPr id="7" name="Image 0" descr="preencoded.png">    </p:cNvPr>
          <p:cNvPicPr>
            <a:picLocks noChangeAspect="1"/>
          </p:cNvPicPr>
          <p:nvPr/>
        </p:nvPicPr>
        <p:blipFill>
          <a:blip r:embed="rId1"/>
          <a:stretch>
            <a:fillRect/>
          </a:stretch>
        </p:blipFill>
        <p:spPr>
          <a:xfrm>
            <a:off x="1371600" y="2746772"/>
            <a:ext cx="1905000" cy="1309688"/>
          </a:xfrm>
          <a:prstGeom prst="rect">
            <a:avLst/>
          </a:prstGeom>
        </p:spPr>
      </p:pic>
      <p:sp>
        <p:nvSpPr>
          <p:cNvPr id="8" name="Text 5"/>
          <p:cNvSpPr/>
          <p:nvPr/>
        </p:nvSpPr>
        <p:spPr>
          <a:xfrm>
            <a:off x="2032496" y="4275634"/>
            <a:ext cx="583208" cy="323850"/>
          </a:xfrm>
          <a:prstGeom prst="rect">
            <a:avLst/>
          </a:prstGeom>
          <a:noFill/>
          <a:ln/>
        </p:spPr>
        <p:txBody>
          <a:bodyPr wrap="square" lIns="25400" tIns="25400" rIns="25400" bIns="25400" rtlCol="0" anchor="t">
            <a:normAutofit/>
          </a:bodyPr>
          <a:lstStyle/>
          <a:p>
            <a:pPr algn="ctr" indent="0" marL="0">
              <a:buNone/>
            </a:pPr>
            <a:r>
              <a:rPr lang="en-US" sz="1500" b="1" spc="-8" kern="0" dirty="0">
                <a:solidFill>
                  <a:srgbClr val="1E293B"/>
                </a:solidFill>
                <a:latin typeface="Inter" pitchFamily="34" charset="0"/>
                <a:ea typeface="Inter" pitchFamily="34" charset="-122"/>
                <a:cs typeface="Inter" pitchFamily="34" charset="-120"/>
              </a:rPr>
              <a:t>데이터</a:t>
            </a:r>
            <a:endParaRPr lang="en-US" sz="1500" dirty="0"/>
          </a:p>
        </p:txBody>
      </p:sp>
      <p:sp>
        <p:nvSpPr>
          <p:cNvPr id="9" name="Text 6"/>
          <p:cNvSpPr/>
          <p:nvPr/>
        </p:nvSpPr>
        <p:spPr>
          <a:xfrm>
            <a:off x="3886200" y="2114848"/>
            <a:ext cx="647700" cy="2744986"/>
          </a:xfrm>
          <a:prstGeom prst="rect">
            <a:avLst/>
          </a:prstGeom>
          <a:noFill/>
          <a:ln/>
        </p:spPr>
        <p:txBody>
          <a:bodyPr wrap="square" lIns="25400" tIns="25400" rIns="25400" bIns="25400" rtlCol="0" anchor="ctr">
            <a:normAutofit/>
          </a:bodyPr>
          <a:lstStyle/>
          <a:p>
            <a:pPr algn="ctr" indent="0" marL="0">
              <a:buNone/>
            </a:pPr>
            <a:r>
              <a:rPr lang="en-US" sz="2250" dirty="0">
                <a:solidFill>
                  <a:srgbClr val="64748B"/>
                </a:solidFill>
                <a:latin typeface="Inter" pitchFamily="34" charset="0"/>
                <a:ea typeface="Inter" pitchFamily="34" charset="-122"/>
                <a:cs typeface="Inter" pitchFamily="34" charset="-120"/>
              </a:rPr>
              <a:t>→</a:t>
            </a:r>
            <a:endParaRPr lang="en-US" sz="2250" dirty="0"/>
          </a:p>
        </p:txBody>
      </p:sp>
      <p:sp>
        <p:nvSpPr>
          <p:cNvPr id="10" name="Shape 7"/>
          <p:cNvSpPr/>
          <p:nvPr/>
        </p:nvSpPr>
        <p:spPr>
          <a:xfrm>
            <a:off x="4495800" y="2114848"/>
            <a:ext cx="3200400" cy="2706886"/>
          </a:xfrm>
          <a:prstGeom prst="rect">
            <a:avLst/>
          </a:prstGeom>
          <a:solidFill>
            <a:srgbClr val="E8EEF6"/>
          </a:solidFill>
          <a:ln w="25400">
            <a:solidFill>
              <a:srgbClr val="1E3A5F"/>
            </a:solidFill>
            <a:prstDash val="solid"/>
          </a:ln>
        </p:spPr>
      </p:sp>
      <p:sp>
        <p:nvSpPr>
          <p:cNvPr id="11" name="Shape 8"/>
          <p:cNvSpPr/>
          <p:nvPr/>
        </p:nvSpPr>
        <p:spPr>
          <a:xfrm>
            <a:off x="5583635" y="2006898"/>
            <a:ext cx="1024731" cy="260350"/>
          </a:xfrm>
          <a:prstGeom prst="rect">
            <a:avLst/>
          </a:prstGeom>
          <a:solidFill>
            <a:srgbClr val="1E3A5F"/>
          </a:solidFill>
          <a:ln/>
        </p:spPr>
      </p:sp>
      <p:sp>
        <p:nvSpPr>
          <p:cNvPr id="12" name="Text 9"/>
          <p:cNvSpPr/>
          <p:nvPr/>
        </p:nvSpPr>
        <p:spPr>
          <a:xfrm>
            <a:off x="5678885" y="2044998"/>
            <a:ext cx="834231" cy="222250"/>
          </a:xfrm>
          <a:prstGeom prst="rect">
            <a:avLst/>
          </a:prstGeom>
          <a:noFill/>
          <a:ln/>
        </p:spPr>
        <p:txBody>
          <a:bodyPr wrap="square" lIns="25400" tIns="25400" rIns="25400" bIns="25400" rtlCol="0" anchor="t">
            <a:normAutofit/>
          </a:bodyPr>
          <a:lstStyle/>
          <a:p>
            <a:pPr algn="ctr" indent="0" marL="0">
              <a:buNone/>
            </a:pPr>
            <a:r>
              <a:rPr lang="en-US" sz="975" b="1" spc="36" kern="0" dirty="0">
                <a:solidFill>
                  <a:srgbClr val="FFFFFF"/>
                </a:solidFill>
                <a:latin typeface="Inter" pitchFamily="34" charset="0"/>
                <a:ea typeface="Inter" pitchFamily="34" charset="-122"/>
                <a:cs typeface="Inter" pitchFamily="34" charset="-120"/>
              </a:rPr>
              <a:t>우리가 바꾼 곳</a:t>
            </a:r>
            <a:endParaRPr lang="en-US" sz="975" dirty="0"/>
          </a:p>
        </p:txBody>
      </p:sp>
      <p:sp>
        <p:nvSpPr>
          <p:cNvPr id="13" name="Text 10"/>
          <p:cNvSpPr/>
          <p:nvPr/>
        </p:nvSpPr>
        <p:spPr>
          <a:xfrm>
            <a:off x="5948065" y="2445048"/>
            <a:ext cx="295870" cy="228600"/>
          </a:xfrm>
          <a:prstGeom prst="rect">
            <a:avLst/>
          </a:prstGeom>
          <a:noFill/>
          <a:ln/>
        </p:spPr>
        <p:txBody>
          <a:bodyPr wrap="square" lIns="25400" tIns="25400" rIns="25400" bIns="25400" rtlCol="0" anchor="t">
            <a:normAutofit/>
          </a:bodyPr>
          <a:lstStyle/>
          <a:p>
            <a:pPr algn="ctr" indent="0" marL="0">
              <a:buNone/>
            </a:pPr>
            <a:r>
              <a:rPr lang="en-US" sz="975" b="1" spc="-5" kern="0" dirty="0">
                <a:solidFill>
                  <a:srgbClr val="1E3A5F"/>
                </a:solidFill>
                <a:latin typeface="Inter" pitchFamily="34" charset="0"/>
                <a:ea typeface="Inter" pitchFamily="34" charset="-122"/>
                <a:cs typeface="Inter" pitchFamily="34" charset="-120"/>
              </a:rPr>
              <a:t>표본</a:t>
            </a:r>
            <a:endParaRPr lang="en-US" sz="975" dirty="0"/>
          </a:p>
        </p:txBody>
      </p:sp>
      <p:sp>
        <p:nvSpPr>
          <p:cNvPr id="14" name="Shape 11"/>
          <p:cNvSpPr/>
          <p:nvPr/>
        </p:nvSpPr>
        <p:spPr>
          <a:xfrm>
            <a:off x="4749800" y="2711748"/>
            <a:ext cx="1298575" cy="1379736"/>
          </a:xfrm>
          <a:prstGeom prst="rect">
            <a:avLst/>
          </a:prstGeom>
          <a:solidFill>
            <a:srgbClr val="FFFFFF"/>
          </a:solidFill>
          <a:ln w="6350">
            <a:solidFill>
              <a:srgbClr val="CBD5E1"/>
            </a:solidFill>
            <a:prstDash val="dash"/>
          </a:ln>
        </p:spPr>
      </p:sp>
      <p:pic>
        <p:nvPicPr>
          <p:cNvPr id="15" name="Image 1" descr="preencoded.png">    </p:cNvPr>
          <p:cNvPicPr>
            <a:picLocks noChangeAspect="1"/>
          </p:cNvPicPr>
          <p:nvPr/>
        </p:nvPicPr>
        <p:blipFill>
          <a:blip r:embed="rId2"/>
          <a:stretch>
            <a:fillRect/>
          </a:stretch>
        </p:blipFill>
        <p:spPr>
          <a:xfrm>
            <a:off x="4832350" y="2794298"/>
            <a:ext cx="1133475" cy="971550"/>
          </a:xfrm>
          <a:prstGeom prst="rect">
            <a:avLst/>
          </a:prstGeom>
        </p:spPr>
      </p:pic>
      <p:sp>
        <p:nvSpPr>
          <p:cNvPr id="16" name="Text 12"/>
          <p:cNvSpPr/>
          <p:nvPr/>
        </p:nvSpPr>
        <p:spPr>
          <a:xfrm>
            <a:off x="5195292" y="3822998"/>
            <a:ext cx="407591" cy="222250"/>
          </a:xfrm>
          <a:prstGeom prst="rect">
            <a:avLst/>
          </a:prstGeom>
          <a:noFill/>
          <a:ln/>
        </p:spPr>
        <p:txBody>
          <a:bodyPr wrap="square" lIns="25400" tIns="25400" rIns="25400" bIns="25400" rtlCol="0" anchor="t">
            <a:normAutofit/>
          </a:bodyPr>
          <a:lstStyle/>
          <a:p>
            <a:pPr algn="ctr" indent="0" marL="0">
              <a:buNone/>
            </a:pPr>
            <a:r>
              <a:rPr lang="en-US" sz="975" b="1" dirty="0">
                <a:solidFill>
                  <a:srgbClr val="64748B"/>
                </a:solidFill>
                <a:latin typeface="Inter" pitchFamily="34" charset="0"/>
                <a:ea typeface="Inter" pitchFamily="34" charset="-122"/>
                <a:cs typeface="Inter" pitchFamily="34" charset="-120"/>
              </a:rPr>
              <a:t>무작위</a:t>
            </a:r>
            <a:endParaRPr lang="en-US" sz="975" dirty="0"/>
          </a:p>
        </p:txBody>
      </p:sp>
      <p:sp>
        <p:nvSpPr>
          <p:cNvPr id="17" name="Shape 13"/>
          <p:cNvSpPr/>
          <p:nvPr/>
        </p:nvSpPr>
        <p:spPr>
          <a:xfrm>
            <a:off x="6143625" y="2711748"/>
            <a:ext cx="1298575" cy="1379736"/>
          </a:xfrm>
          <a:prstGeom prst="rect">
            <a:avLst/>
          </a:prstGeom>
          <a:solidFill>
            <a:srgbClr val="FFFFFF"/>
          </a:solidFill>
          <a:ln w="12700">
            <a:solidFill>
              <a:srgbClr val="1E3A5F"/>
            </a:solidFill>
            <a:prstDash val="solid"/>
          </a:ln>
        </p:spPr>
      </p:sp>
      <p:pic>
        <p:nvPicPr>
          <p:cNvPr id="18" name="Image 2" descr="preencoded.png">    </p:cNvPr>
          <p:cNvPicPr>
            <a:picLocks noChangeAspect="1"/>
          </p:cNvPicPr>
          <p:nvPr/>
        </p:nvPicPr>
        <p:blipFill>
          <a:blip r:embed="rId3"/>
          <a:stretch>
            <a:fillRect/>
          </a:stretch>
        </p:blipFill>
        <p:spPr>
          <a:xfrm>
            <a:off x="6232525" y="2800648"/>
            <a:ext cx="1120775" cy="960636"/>
          </a:xfrm>
          <a:prstGeom prst="rect">
            <a:avLst/>
          </a:prstGeom>
        </p:spPr>
      </p:pic>
      <p:sp>
        <p:nvSpPr>
          <p:cNvPr id="19" name="Text 14"/>
          <p:cNvSpPr/>
          <p:nvPr/>
        </p:nvSpPr>
        <p:spPr>
          <a:xfrm>
            <a:off x="6519168" y="3818434"/>
            <a:ext cx="547390" cy="222250"/>
          </a:xfrm>
          <a:prstGeom prst="rect">
            <a:avLst/>
          </a:prstGeom>
          <a:noFill/>
          <a:ln/>
        </p:spPr>
        <p:txBody>
          <a:bodyPr wrap="square" lIns="25400" tIns="25400" rIns="25400" bIns="25400" rtlCol="0" anchor="t">
            <a:normAutofit/>
          </a:bodyPr>
          <a:lstStyle/>
          <a:p>
            <a:pPr algn="ctr" indent="0" marL="0">
              <a:buNone/>
            </a:pPr>
            <a:r>
              <a:rPr lang="en-US" sz="975" b="1" dirty="0">
                <a:solidFill>
                  <a:srgbClr val="1E3A5F"/>
                </a:solidFill>
                <a:latin typeface="Inter" pitchFamily="34" charset="0"/>
                <a:ea typeface="Inter" pitchFamily="34" charset="-122"/>
                <a:cs typeface="Inter" pitchFamily="34" charset="-120"/>
              </a:rPr>
              <a:t>분포 인지</a:t>
            </a:r>
            <a:endParaRPr lang="en-US" sz="975" dirty="0"/>
          </a:p>
        </p:txBody>
      </p:sp>
      <p:sp>
        <p:nvSpPr>
          <p:cNvPr id="20" name="Text 15"/>
          <p:cNvSpPr/>
          <p:nvPr/>
        </p:nvSpPr>
        <p:spPr>
          <a:xfrm>
            <a:off x="5697835" y="4262934"/>
            <a:ext cx="796330" cy="323850"/>
          </a:xfrm>
          <a:prstGeom prst="rect">
            <a:avLst/>
          </a:prstGeom>
          <a:noFill/>
          <a:ln/>
        </p:spPr>
        <p:txBody>
          <a:bodyPr wrap="square" lIns="25400" tIns="25400" rIns="25400" bIns="25400" rtlCol="0" anchor="t">
            <a:normAutofit/>
          </a:bodyPr>
          <a:lstStyle/>
          <a:p>
            <a:pPr algn="ctr" indent="0" marL="0">
              <a:buNone/>
            </a:pPr>
            <a:r>
              <a:rPr lang="en-US" sz="1500" b="1" spc="-8" kern="0" dirty="0">
                <a:solidFill>
                  <a:srgbClr val="1E3A5F"/>
                </a:solidFill>
                <a:latin typeface="Inter" pitchFamily="34" charset="0"/>
                <a:ea typeface="Inter" pitchFamily="34" charset="-122"/>
                <a:cs typeface="Inter" pitchFamily="34" charset="-120"/>
              </a:rPr>
              <a:t>표본 뽑기</a:t>
            </a:r>
            <a:endParaRPr lang="en-US" sz="1500" dirty="0"/>
          </a:p>
        </p:txBody>
      </p:sp>
      <p:sp>
        <p:nvSpPr>
          <p:cNvPr id="21" name="Text 16"/>
          <p:cNvSpPr/>
          <p:nvPr/>
        </p:nvSpPr>
        <p:spPr>
          <a:xfrm>
            <a:off x="7658100" y="2114848"/>
            <a:ext cx="647700" cy="2744986"/>
          </a:xfrm>
          <a:prstGeom prst="rect">
            <a:avLst/>
          </a:prstGeom>
          <a:noFill/>
          <a:ln/>
        </p:spPr>
        <p:txBody>
          <a:bodyPr wrap="square" lIns="25400" tIns="25400" rIns="25400" bIns="25400" rtlCol="0" anchor="ctr">
            <a:normAutofit/>
          </a:bodyPr>
          <a:lstStyle/>
          <a:p>
            <a:pPr algn="ctr" indent="0" marL="0">
              <a:buNone/>
            </a:pPr>
            <a:r>
              <a:rPr lang="en-US" sz="2250" dirty="0">
                <a:solidFill>
                  <a:srgbClr val="64748B"/>
                </a:solidFill>
                <a:latin typeface="Inter" pitchFamily="34" charset="0"/>
                <a:ea typeface="Inter" pitchFamily="34" charset="-122"/>
                <a:cs typeface="Inter" pitchFamily="34" charset="-120"/>
              </a:rPr>
              <a:t>→</a:t>
            </a:r>
            <a:endParaRPr lang="en-US" sz="2250" dirty="0"/>
          </a:p>
        </p:txBody>
      </p:sp>
      <p:sp>
        <p:nvSpPr>
          <p:cNvPr id="22" name="Shape 17"/>
          <p:cNvSpPr/>
          <p:nvPr/>
        </p:nvSpPr>
        <p:spPr>
          <a:xfrm>
            <a:off x="8267700" y="2114848"/>
            <a:ext cx="3200400" cy="2706886"/>
          </a:xfrm>
          <a:prstGeom prst="rect">
            <a:avLst/>
          </a:prstGeom>
          <a:solidFill>
            <a:srgbClr val="FFFFFF"/>
          </a:solidFill>
          <a:ln w="12700">
            <a:solidFill>
              <a:srgbClr val="1E293B"/>
            </a:solidFill>
            <a:prstDash val="solid"/>
          </a:ln>
        </p:spPr>
      </p:sp>
      <p:sp>
        <p:nvSpPr>
          <p:cNvPr id="23" name="Shape 18"/>
          <p:cNvSpPr/>
          <p:nvPr/>
        </p:nvSpPr>
        <p:spPr>
          <a:xfrm>
            <a:off x="9422755" y="1994198"/>
            <a:ext cx="890290" cy="273050"/>
          </a:xfrm>
          <a:prstGeom prst="rect">
            <a:avLst/>
          </a:prstGeom>
          <a:solidFill>
            <a:srgbClr val="FAFAFA"/>
          </a:solidFill>
          <a:ln w="6350">
            <a:solidFill>
              <a:srgbClr val="E5E7EB"/>
            </a:solidFill>
            <a:prstDash val="solid"/>
          </a:ln>
        </p:spPr>
      </p:sp>
      <p:sp>
        <p:nvSpPr>
          <p:cNvPr id="24" name="Text 19"/>
          <p:cNvSpPr/>
          <p:nvPr/>
        </p:nvSpPr>
        <p:spPr>
          <a:xfrm>
            <a:off x="9524355" y="2038648"/>
            <a:ext cx="687090" cy="222250"/>
          </a:xfrm>
          <a:prstGeom prst="rect">
            <a:avLst/>
          </a:prstGeom>
          <a:noFill/>
          <a:ln/>
        </p:spPr>
        <p:txBody>
          <a:bodyPr wrap="square" lIns="25400" tIns="25400" rIns="25400" bIns="25400" rtlCol="0" anchor="t">
            <a:normAutofit/>
          </a:bodyPr>
          <a:lstStyle/>
          <a:p>
            <a:pPr algn="ctr" indent="0" marL="0">
              <a:buNone/>
            </a:pPr>
            <a:r>
              <a:rPr lang="en-US" sz="975" b="1" spc="36" kern="0" dirty="0">
                <a:solidFill>
                  <a:srgbClr val="475569"/>
                </a:solidFill>
                <a:latin typeface="Inter" pitchFamily="34" charset="0"/>
                <a:ea typeface="Inter" pitchFamily="34" charset="-122"/>
                <a:cs typeface="Inter" pitchFamily="34" charset="-120"/>
              </a:rPr>
              <a:t>논문 그대로</a:t>
            </a:r>
            <a:endParaRPr lang="en-US" sz="975" dirty="0"/>
          </a:p>
        </p:txBody>
      </p:sp>
      <p:sp>
        <p:nvSpPr>
          <p:cNvPr id="25" name="Text 20"/>
          <p:cNvSpPr/>
          <p:nvPr/>
        </p:nvSpPr>
        <p:spPr>
          <a:xfrm>
            <a:off x="9719965" y="2432348"/>
            <a:ext cx="295870" cy="228600"/>
          </a:xfrm>
          <a:prstGeom prst="rect">
            <a:avLst/>
          </a:prstGeom>
          <a:noFill/>
          <a:ln/>
        </p:spPr>
        <p:txBody>
          <a:bodyPr wrap="square" lIns="25400" tIns="25400" rIns="25400" bIns="25400" rtlCol="0" anchor="t">
            <a:normAutofit/>
          </a:bodyPr>
          <a:lstStyle/>
          <a:p>
            <a:pPr algn="ctr" indent="0" marL="0">
              <a:buNone/>
            </a:pPr>
            <a:r>
              <a:rPr lang="en-US" sz="975" b="1" spc="-5" kern="0" dirty="0">
                <a:solidFill>
                  <a:srgbClr val="64748B"/>
                </a:solidFill>
                <a:latin typeface="Inter" pitchFamily="34" charset="0"/>
                <a:ea typeface="Inter" pitchFamily="34" charset="-122"/>
                <a:cs typeface="Inter" pitchFamily="34" charset="-120"/>
              </a:rPr>
              <a:t>추정</a:t>
            </a:r>
            <a:endParaRPr lang="en-US" sz="975" dirty="0"/>
          </a:p>
        </p:txBody>
      </p:sp>
      <p:sp>
        <p:nvSpPr>
          <p:cNvPr id="26" name="Shape 21"/>
          <p:cNvSpPr/>
          <p:nvPr/>
        </p:nvSpPr>
        <p:spPr>
          <a:xfrm>
            <a:off x="9305925" y="3401616"/>
            <a:ext cx="171450" cy="523875"/>
          </a:xfrm>
          <a:prstGeom prst="rect">
            <a:avLst/>
          </a:prstGeom>
          <a:solidFill>
            <a:srgbClr val="7794BC"/>
          </a:solidFill>
          <a:ln/>
        </p:spPr>
      </p:sp>
      <p:sp>
        <p:nvSpPr>
          <p:cNvPr id="27" name="Shape 22"/>
          <p:cNvSpPr/>
          <p:nvPr/>
        </p:nvSpPr>
        <p:spPr>
          <a:xfrm>
            <a:off x="9544050" y="3068241"/>
            <a:ext cx="171450" cy="857250"/>
          </a:xfrm>
          <a:prstGeom prst="rect">
            <a:avLst/>
          </a:prstGeom>
          <a:solidFill>
            <a:srgbClr val="1E3A5F"/>
          </a:solidFill>
          <a:ln/>
        </p:spPr>
      </p:sp>
      <p:sp>
        <p:nvSpPr>
          <p:cNvPr id="28" name="Shape 23"/>
          <p:cNvSpPr/>
          <p:nvPr/>
        </p:nvSpPr>
        <p:spPr>
          <a:xfrm>
            <a:off x="9782175" y="3544491"/>
            <a:ext cx="171450" cy="381000"/>
          </a:xfrm>
          <a:prstGeom prst="rect">
            <a:avLst/>
          </a:prstGeom>
          <a:solidFill>
            <a:srgbClr val="7794BC"/>
          </a:solidFill>
          <a:ln/>
        </p:spPr>
      </p:sp>
      <p:sp>
        <p:nvSpPr>
          <p:cNvPr id="29" name="Shape 24"/>
          <p:cNvSpPr/>
          <p:nvPr/>
        </p:nvSpPr>
        <p:spPr>
          <a:xfrm>
            <a:off x="10020300" y="3239691"/>
            <a:ext cx="171450" cy="685800"/>
          </a:xfrm>
          <a:prstGeom prst="rect">
            <a:avLst/>
          </a:prstGeom>
          <a:solidFill>
            <a:srgbClr val="7794BC"/>
          </a:solidFill>
          <a:ln/>
        </p:spPr>
      </p:sp>
      <p:sp>
        <p:nvSpPr>
          <p:cNvPr id="30" name="Shape 25"/>
          <p:cNvSpPr/>
          <p:nvPr/>
        </p:nvSpPr>
        <p:spPr>
          <a:xfrm>
            <a:off x="10258425" y="3601641"/>
            <a:ext cx="171450" cy="323850"/>
          </a:xfrm>
          <a:prstGeom prst="rect">
            <a:avLst/>
          </a:prstGeom>
          <a:solidFill>
            <a:srgbClr val="7794BC"/>
          </a:solidFill>
          <a:ln/>
        </p:spPr>
      </p:sp>
      <p:sp>
        <p:nvSpPr>
          <p:cNvPr id="31" name="Text 26"/>
          <p:cNvSpPr/>
          <p:nvPr/>
        </p:nvSpPr>
        <p:spPr>
          <a:xfrm>
            <a:off x="9216232" y="4275634"/>
            <a:ext cx="1303238" cy="323850"/>
          </a:xfrm>
          <a:prstGeom prst="rect">
            <a:avLst/>
          </a:prstGeom>
          <a:noFill/>
          <a:ln/>
        </p:spPr>
        <p:txBody>
          <a:bodyPr wrap="square" lIns="25400" tIns="25400" rIns="25400" bIns="25400" rtlCol="0" anchor="t">
            <a:normAutofit/>
          </a:bodyPr>
          <a:lstStyle/>
          <a:p>
            <a:pPr algn="ctr" indent="0" marL="0">
              <a:buNone/>
            </a:pPr>
            <a:r>
              <a:rPr lang="en-US" sz="1500" b="1" spc="-8" kern="0" dirty="0">
                <a:solidFill>
                  <a:srgbClr val="1E293B"/>
                </a:solidFill>
                <a:latin typeface="Inter" pitchFamily="34" charset="0"/>
                <a:ea typeface="Inter" pitchFamily="34" charset="-122"/>
                <a:cs typeface="Inter" pitchFamily="34" charset="-120"/>
              </a:rPr>
              <a:t>카디널리티 추정</a:t>
            </a:r>
            <a:endParaRPr lang="en-US" sz="1500" dirty="0"/>
          </a:p>
        </p:txBody>
      </p:sp>
      <p:sp>
        <p:nvSpPr>
          <p:cNvPr id="32" name="Shape 27"/>
          <p:cNvSpPr/>
          <p:nvPr/>
        </p:nvSpPr>
        <p:spPr>
          <a:xfrm>
            <a:off x="723900" y="5031284"/>
            <a:ext cx="5267325" cy="517624"/>
          </a:xfrm>
          <a:prstGeom prst="rect">
            <a:avLst/>
          </a:prstGeom>
          <a:solidFill>
            <a:srgbClr val="FAFAFA"/>
          </a:solidFill>
          <a:ln/>
        </p:spPr>
      </p:sp>
      <p:sp>
        <p:nvSpPr>
          <p:cNvPr id="33" name="Shape 28"/>
          <p:cNvSpPr/>
          <p:nvPr/>
        </p:nvSpPr>
        <p:spPr>
          <a:xfrm>
            <a:off x="723900" y="5031284"/>
            <a:ext cx="25400" cy="517624"/>
          </a:xfrm>
          <a:prstGeom prst="rect">
            <a:avLst/>
          </a:prstGeom>
          <a:solidFill>
            <a:srgbClr val="64748B"/>
          </a:solidFill>
          <a:ln/>
        </p:spPr>
      </p:sp>
      <p:sp>
        <p:nvSpPr>
          <p:cNvPr id="34" name="Text 29"/>
          <p:cNvSpPr/>
          <p:nvPr/>
        </p:nvSpPr>
        <p:spPr>
          <a:xfrm>
            <a:off x="958850" y="5164634"/>
            <a:ext cx="4980845" cy="289024"/>
          </a:xfrm>
          <a:prstGeom prst="rect">
            <a:avLst/>
          </a:prstGeom>
          <a:noFill/>
          <a:ln/>
        </p:spPr>
        <p:txBody>
          <a:bodyPr wrap="square" lIns="25400" tIns="25400" rIns="25400" bIns="25400" rtlCol="0" anchor="t">
            <a:normAutofit/>
          </a:bodyPr>
          <a:lstStyle/>
          <a:p>
            <a:pPr algn="l" indent="0" marL="0">
              <a:lnSpc>
                <a:spcPct val="155000"/>
              </a:lnSpc>
              <a:buNone/>
            </a:pPr>
            <a:r>
              <a:rPr lang="en-US" sz="1275" spc="-6" kern="0" dirty="0">
                <a:solidFill>
                  <a:srgbClr val="475569"/>
                </a:solidFill>
                <a:highlight>
                  <a:srgbClr val="FAFAFA"/>
                </a:highlight>
                <a:latin typeface="Inter" pitchFamily="34" charset="0"/>
                <a:ea typeface="Inter" pitchFamily="34" charset="-122"/>
                <a:cs typeface="Inter" pitchFamily="34" charset="-120"/>
              </a:rPr>
              <a:t>논문 </a:t>
            </a:r>
            <a:pPr algn="l" indent="0" marL="0">
              <a:lnSpc>
                <a:spcPct val="155000"/>
              </a:lnSpc>
              <a:buNone/>
            </a:pPr>
            <a:r>
              <a:rPr lang="en-US" sz="1275" b="1" spc="-6" kern="0" dirty="0">
                <a:solidFill>
                  <a:srgbClr val="1E3A5F"/>
                </a:solidFill>
                <a:latin typeface="Inter" pitchFamily="34" charset="0"/>
                <a:ea typeface="Inter" pitchFamily="34" charset="-122"/>
                <a:cs typeface="Inter" pitchFamily="34" charset="-120"/>
              </a:rPr>
              <a:t>Exqutor</a:t>
            </a:r>
            <a:pPr algn="l" indent="0" marL="0">
              <a:lnSpc>
                <a:spcPct val="155000"/>
              </a:lnSpc>
              <a:buNone/>
            </a:pPr>
            <a:r>
              <a:rPr lang="en-US" sz="1275" spc="-6" kern="0" dirty="0">
                <a:solidFill>
                  <a:srgbClr val="475569"/>
                </a:solidFill>
                <a:highlight>
                  <a:srgbClr val="FAFAFA"/>
                </a:highlight>
                <a:latin typeface="Inter" pitchFamily="34" charset="0"/>
                <a:ea typeface="Inter" pitchFamily="34" charset="-122"/>
                <a:cs typeface="Inter" pitchFamily="34" charset="-120"/>
              </a:rPr>
              <a:t>의 추정 알고리즘은 그대로 인정한다</a:t>
            </a:r>
            <a:endParaRPr lang="en-US" sz="1275" dirty="0"/>
          </a:p>
        </p:txBody>
      </p:sp>
      <p:sp>
        <p:nvSpPr>
          <p:cNvPr id="35" name="Shape 30"/>
          <p:cNvSpPr/>
          <p:nvPr/>
        </p:nvSpPr>
        <p:spPr>
          <a:xfrm>
            <a:off x="6200775" y="5031284"/>
            <a:ext cx="5267325" cy="517624"/>
          </a:xfrm>
          <a:prstGeom prst="rect">
            <a:avLst/>
          </a:prstGeom>
          <a:solidFill>
            <a:srgbClr val="E8EEF6"/>
          </a:solidFill>
          <a:ln/>
        </p:spPr>
      </p:sp>
      <p:sp>
        <p:nvSpPr>
          <p:cNvPr id="36" name="Shape 31"/>
          <p:cNvSpPr/>
          <p:nvPr/>
        </p:nvSpPr>
        <p:spPr>
          <a:xfrm>
            <a:off x="6200775" y="5031284"/>
            <a:ext cx="25400" cy="517624"/>
          </a:xfrm>
          <a:prstGeom prst="rect">
            <a:avLst/>
          </a:prstGeom>
          <a:solidFill>
            <a:srgbClr val="1E3A5F"/>
          </a:solidFill>
          <a:ln/>
        </p:spPr>
      </p:sp>
      <p:sp>
        <p:nvSpPr>
          <p:cNvPr id="37" name="Text 32"/>
          <p:cNvSpPr/>
          <p:nvPr/>
        </p:nvSpPr>
        <p:spPr>
          <a:xfrm>
            <a:off x="6435725" y="5164634"/>
            <a:ext cx="4980845" cy="289024"/>
          </a:xfrm>
          <a:prstGeom prst="rect">
            <a:avLst/>
          </a:prstGeom>
          <a:noFill/>
          <a:ln/>
        </p:spPr>
        <p:txBody>
          <a:bodyPr wrap="square" lIns="25400" tIns="25400" rIns="25400" bIns="25400" rtlCol="0" anchor="t">
            <a:normAutofit/>
          </a:bodyPr>
          <a:lstStyle/>
          <a:p>
            <a:pPr algn="l" indent="0" marL="0">
              <a:lnSpc>
                <a:spcPct val="155000"/>
              </a:lnSpc>
              <a:buNone/>
            </a:pPr>
            <a:r>
              <a:rPr lang="en-US" sz="1275" b="1" spc="-6" kern="0" dirty="0">
                <a:solidFill>
                  <a:srgbClr val="1E3A5F"/>
                </a:solidFill>
                <a:latin typeface="Inter" pitchFamily="34" charset="0"/>
                <a:ea typeface="Inter" pitchFamily="34" charset="-122"/>
                <a:cs typeface="Inter" pitchFamily="34" charset="-120"/>
              </a:rPr>
              <a:t>표본 뽑는 방식</a:t>
            </a:r>
            <a:pPr algn="l" indent="0" marL="0">
              <a:lnSpc>
                <a:spcPct val="155000"/>
              </a:lnSpc>
              <a:buNone/>
            </a:pPr>
            <a:r>
              <a:rPr lang="en-US" sz="1275" spc="-6" kern="0" dirty="0">
                <a:solidFill>
                  <a:srgbClr val="475569"/>
                </a:solidFill>
                <a:highlight>
                  <a:srgbClr val="E8EEF6"/>
                </a:highlight>
                <a:latin typeface="Inter" pitchFamily="34" charset="0"/>
                <a:ea typeface="Inter" pitchFamily="34" charset="-122"/>
                <a:cs typeface="Inter" pitchFamily="34" charset="-120"/>
              </a:rPr>
              <a:t>만 — 무작위 → 분포 반영</a:t>
            </a:r>
            <a:endParaRPr lang="en-US" sz="12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285750"/>
            <a:ext cx="497979" cy="222250"/>
          </a:xfrm>
          <a:prstGeom prst="rect">
            <a:avLst/>
          </a:prstGeom>
          <a:noFill/>
          <a:ln/>
        </p:spPr>
        <p:txBody>
          <a:bodyPr wrap="square" lIns="25400" tIns="25400" rIns="25400" bIns="25400" rtlCol="0" anchor="ctr">
            <a:normAutofit/>
          </a:bodyPr>
          <a:lstStyle/>
          <a:p>
            <a:pPr algn="l" indent="0" marL="0">
              <a:buNone/>
            </a:pPr>
            <a:r>
              <a:rPr lang="en-US" sz="975" b="1" spc="116" kern="0" dirty="0">
                <a:solidFill>
                  <a:srgbClr val="0EA5E9"/>
                </a:solidFill>
                <a:latin typeface="Inter" pitchFamily="34" charset="0"/>
                <a:ea typeface="Inter" pitchFamily="34" charset="-122"/>
                <a:cs typeface="Inter" pitchFamily="34" charset="-120"/>
              </a:rPr>
              <a:t>배경</a:t>
            </a:r>
            <a:endParaRPr lang="en-US" sz="975" dirty="0"/>
          </a:p>
        </p:txBody>
      </p:sp>
      <p:sp>
        <p:nvSpPr>
          <p:cNvPr id="3" name="Text 1"/>
          <p:cNvSpPr/>
          <p:nvPr/>
        </p:nvSpPr>
        <p:spPr>
          <a:xfrm>
            <a:off x="723900" y="533400"/>
            <a:ext cx="10791825" cy="520005"/>
          </a:xfrm>
          <a:prstGeom prst="rect">
            <a:avLst/>
          </a:prstGeom>
          <a:noFill/>
          <a:ln/>
        </p:spPr>
        <p:txBody>
          <a:bodyPr wrap="square" lIns="25400" tIns="25400" rIns="25400" bIns="25400" rtlCol="0" anchor="t">
            <a:normAutofit/>
          </a:bodyPr>
          <a:lstStyle/>
          <a:p>
            <a:pPr algn="l" indent="0" marL="0">
              <a:lnSpc>
                <a:spcPct val="115000"/>
              </a:lnSpc>
              <a:buNone/>
            </a:pPr>
            <a:r>
              <a:rPr lang="en-US" sz="3300" b="1" spc="-82" kern="0" dirty="0">
                <a:solidFill>
                  <a:srgbClr val="1E3A5F"/>
                </a:solidFill>
                <a:latin typeface="Inter" pitchFamily="34" charset="0"/>
                <a:ea typeface="Inter" pitchFamily="34" charset="-122"/>
                <a:cs typeface="Inter" pitchFamily="34" charset="-120"/>
              </a:rPr>
              <a:t>연구가 걸어온 길</a:t>
            </a:r>
            <a:endParaRPr lang="en-US" sz="3300" dirty="0"/>
          </a:p>
        </p:txBody>
      </p:sp>
      <p:sp>
        <p:nvSpPr>
          <p:cNvPr id="4" name="Shape 2"/>
          <p:cNvSpPr/>
          <p:nvPr/>
        </p:nvSpPr>
        <p:spPr>
          <a:xfrm>
            <a:off x="723900" y="1148655"/>
            <a:ext cx="381000" cy="28575"/>
          </a:xfrm>
          <a:prstGeom prst="rect">
            <a:avLst/>
          </a:prstGeom>
          <a:solidFill>
            <a:srgbClr val="0EA5E9"/>
          </a:solidFill>
          <a:ln/>
        </p:spPr>
      </p:sp>
      <p:sp>
        <p:nvSpPr>
          <p:cNvPr id="5" name="Shape 3"/>
          <p:cNvSpPr/>
          <p:nvPr/>
        </p:nvSpPr>
        <p:spPr>
          <a:xfrm>
            <a:off x="1583432" y="2191842"/>
            <a:ext cx="9025136" cy="19050"/>
          </a:xfrm>
          <a:prstGeom prst="rect">
            <a:avLst/>
          </a:prstGeom>
          <a:solidFill>
            <a:srgbClr val="E5E7EB"/>
          </a:solidFill>
          <a:ln/>
        </p:spPr>
      </p:sp>
      <p:sp>
        <p:nvSpPr>
          <p:cNvPr id="6" name="Shape 4"/>
          <p:cNvSpPr/>
          <p:nvPr/>
        </p:nvSpPr>
        <p:spPr>
          <a:xfrm>
            <a:off x="2374900" y="2077542"/>
            <a:ext cx="279400" cy="279400"/>
          </a:xfrm>
          <a:prstGeom prst="ellipse">
            <a:avLst/>
          </a:prstGeom>
          <a:solidFill>
            <a:srgbClr val="FFFFFF"/>
          </a:solidFill>
          <a:ln w="25400">
            <a:solidFill>
              <a:srgbClr val="64748B"/>
            </a:solidFill>
            <a:prstDash val="solid"/>
          </a:ln>
        </p:spPr>
      </p:sp>
      <p:sp>
        <p:nvSpPr>
          <p:cNvPr id="7" name="Text 5"/>
          <p:cNvSpPr/>
          <p:nvPr/>
        </p:nvSpPr>
        <p:spPr>
          <a:xfrm>
            <a:off x="2368352" y="2433141"/>
            <a:ext cx="368598" cy="241300"/>
          </a:xfrm>
          <a:prstGeom prst="rect">
            <a:avLst/>
          </a:prstGeom>
          <a:noFill/>
          <a:ln/>
        </p:spPr>
        <p:txBody>
          <a:bodyPr wrap="square" lIns="25400" tIns="25400" rIns="25400" bIns="25400" rtlCol="0" anchor="t">
            <a:normAutofit/>
          </a:bodyPr>
          <a:lstStyle/>
          <a:p>
            <a:pPr algn="l" indent="0" marL="0">
              <a:buNone/>
            </a:pPr>
            <a:r>
              <a:rPr lang="en-US" sz="1050" b="1" spc="-5" kern="0" dirty="0">
                <a:solidFill>
                  <a:srgbClr val="64748B"/>
                </a:solidFill>
                <a:latin typeface="Inter" pitchFamily="34" charset="0"/>
                <a:ea typeface="Inter" pitchFamily="34" charset="-122"/>
                <a:cs typeface="Inter" pitchFamily="34" charset="-120"/>
              </a:rPr>
              <a:t>1단계</a:t>
            </a:r>
            <a:endParaRPr lang="en-US" sz="1050" dirty="0"/>
          </a:p>
        </p:txBody>
      </p:sp>
      <p:sp>
        <p:nvSpPr>
          <p:cNvPr id="8" name="Text 6"/>
          <p:cNvSpPr/>
          <p:nvPr/>
        </p:nvSpPr>
        <p:spPr>
          <a:xfrm>
            <a:off x="2123777" y="2693491"/>
            <a:ext cx="857845" cy="355600"/>
          </a:xfrm>
          <a:prstGeom prst="rect">
            <a:avLst/>
          </a:prstGeom>
          <a:noFill/>
          <a:ln/>
        </p:spPr>
        <p:txBody>
          <a:bodyPr wrap="square" lIns="25400" tIns="25400" rIns="25400" bIns="25400" rtlCol="0" anchor="t">
            <a:normAutofit/>
          </a:bodyPr>
          <a:lstStyle/>
          <a:p>
            <a:pPr algn="l" indent="0" marL="0">
              <a:buNone/>
            </a:pPr>
            <a:r>
              <a:rPr lang="en-US" sz="1650" b="1" spc="-25" kern="0" dirty="0">
                <a:solidFill>
                  <a:srgbClr val="1E293B"/>
                </a:solidFill>
                <a:latin typeface="Inter" pitchFamily="34" charset="0"/>
                <a:ea typeface="Inter" pitchFamily="34" charset="-122"/>
                <a:cs typeface="Inter" pitchFamily="34" charset="-120"/>
              </a:rPr>
              <a:t>연구 시작</a:t>
            </a:r>
            <a:endParaRPr lang="en-US" sz="1650" dirty="0"/>
          </a:p>
        </p:txBody>
      </p:sp>
      <p:sp>
        <p:nvSpPr>
          <p:cNvPr id="9" name="Shape 7"/>
          <p:cNvSpPr/>
          <p:nvPr/>
        </p:nvSpPr>
        <p:spPr>
          <a:xfrm>
            <a:off x="895350" y="3182442"/>
            <a:ext cx="3238500" cy="1300361"/>
          </a:xfrm>
          <a:prstGeom prst="rect">
            <a:avLst/>
          </a:prstGeom>
          <a:solidFill>
            <a:srgbClr val="FAFAFA"/>
          </a:solidFill>
          <a:ln w="6350">
            <a:solidFill>
              <a:srgbClr val="E5E7EB"/>
            </a:solidFill>
            <a:prstDash val="solid"/>
          </a:ln>
        </p:spPr>
      </p:sp>
      <p:pic>
        <p:nvPicPr>
          <p:cNvPr id="10" name="Image 0" descr="preencoded.png">    </p:cNvPr>
          <p:cNvPicPr>
            <a:picLocks noChangeAspect="1"/>
          </p:cNvPicPr>
          <p:nvPr/>
        </p:nvPicPr>
        <p:blipFill>
          <a:blip r:embed="rId1"/>
          <a:stretch>
            <a:fillRect/>
          </a:stretch>
        </p:blipFill>
        <p:spPr>
          <a:xfrm>
            <a:off x="2133600" y="3453507"/>
            <a:ext cx="762000" cy="476250"/>
          </a:xfrm>
          <a:prstGeom prst="rect">
            <a:avLst/>
          </a:prstGeom>
        </p:spPr>
      </p:pic>
      <p:sp>
        <p:nvSpPr>
          <p:cNvPr id="11" name="Text 8"/>
          <p:cNvSpPr/>
          <p:nvPr/>
        </p:nvSpPr>
        <p:spPr>
          <a:xfrm>
            <a:off x="1831380" y="4025007"/>
            <a:ext cx="1366441" cy="224730"/>
          </a:xfrm>
          <a:prstGeom prst="rect">
            <a:avLst/>
          </a:prstGeom>
          <a:noFill/>
          <a:ln/>
        </p:spPr>
        <p:txBody>
          <a:bodyPr wrap="square" lIns="25400" tIns="25400" rIns="25400" bIns="25400" rtlCol="0" anchor="t">
            <a:normAutofit/>
          </a:bodyPr>
          <a:lstStyle/>
          <a:p>
            <a:pPr algn="ctr" indent="0" marL="0">
              <a:lnSpc>
                <a:spcPct val="140000"/>
              </a:lnSpc>
              <a:buNone/>
            </a:pPr>
            <a:r>
              <a:rPr lang="en-US" sz="1050" b="1" dirty="0">
                <a:solidFill>
                  <a:srgbClr val="1E293B"/>
                </a:solidFill>
                <a:latin typeface="Inter" pitchFamily="34" charset="0"/>
                <a:ea typeface="Inter" pitchFamily="34" charset="-122"/>
                <a:cs typeface="Inter" pitchFamily="34" charset="-120"/>
              </a:rPr>
              <a:t>논문의 무작위 표본 추출</a:t>
            </a:r>
            <a:endParaRPr lang="en-US" sz="1050" dirty="0"/>
          </a:p>
        </p:txBody>
      </p:sp>
      <p:sp>
        <p:nvSpPr>
          <p:cNvPr id="12" name="Shape 9"/>
          <p:cNvSpPr/>
          <p:nvPr/>
        </p:nvSpPr>
        <p:spPr>
          <a:xfrm>
            <a:off x="5956300" y="2077542"/>
            <a:ext cx="279400" cy="279400"/>
          </a:xfrm>
          <a:prstGeom prst="ellipse">
            <a:avLst/>
          </a:prstGeom>
          <a:solidFill>
            <a:srgbClr val="7794BC"/>
          </a:solidFill>
          <a:ln w="25400">
            <a:solidFill>
              <a:srgbClr val="1E3A5F"/>
            </a:solidFill>
            <a:prstDash val="solid"/>
          </a:ln>
        </p:spPr>
      </p:sp>
      <p:sp>
        <p:nvSpPr>
          <p:cNvPr id="13" name="Text 10"/>
          <p:cNvSpPr/>
          <p:nvPr/>
        </p:nvSpPr>
        <p:spPr>
          <a:xfrm>
            <a:off x="5936456" y="2433141"/>
            <a:ext cx="395188" cy="241300"/>
          </a:xfrm>
          <a:prstGeom prst="rect">
            <a:avLst/>
          </a:prstGeom>
          <a:noFill/>
          <a:ln/>
        </p:spPr>
        <p:txBody>
          <a:bodyPr wrap="square" lIns="25400" tIns="25400" rIns="25400" bIns="25400" rtlCol="0" anchor="t">
            <a:normAutofit/>
          </a:bodyPr>
          <a:lstStyle/>
          <a:p>
            <a:pPr algn="l" indent="0" marL="0">
              <a:buNone/>
            </a:pPr>
            <a:r>
              <a:rPr lang="en-US" sz="1050" b="1" spc="-5" kern="0" dirty="0">
                <a:solidFill>
                  <a:srgbClr val="1E3A5F"/>
                </a:solidFill>
                <a:latin typeface="Inter" pitchFamily="34" charset="0"/>
                <a:ea typeface="Inter" pitchFamily="34" charset="-122"/>
                <a:cs typeface="Inter" pitchFamily="34" charset="-120"/>
              </a:rPr>
              <a:t>2단계</a:t>
            </a:r>
            <a:endParaRPr lang="en-US" sz="1050" dirty="0"/>
          </a:p>
        </p:txBody>
      </p:sp>
      <p:sp>
        <p:nvSpPr>
          <p:cNvPr id="14" name="Text 11"/>
          <p:cNvSpPr/>
          <p:nvPr/>
        </p:nvSpPr>
        <p:spPr>
          <a:xfrm>
            <a:off x="5705177" y="2693491"/>
            <a:ext cx="857845" cy="355600"/>
          </a:xfrm>
          <a:prstGeom prst="rect">
            <a:avLst/>
          </a:prstGeom>
          <a:noFill/>
          <a:ln/>
        </p:spPr>
        <p:txBody>
          <a:bodyPr wrap="square" lIns="25400" tIns="25400" rIns="25400" bIns="25400" rtlCol="0" anchor="t">
            <a:normAutofit/>
          </a:bodyPr>
          <a:lstStyle/>
          <a:p>
            <a:pPr algn="l" indent="0" marL="0">
              <a:buNone/>
            </a:pPr>
            <a:r>
              <a:rPr lang="en-US" sz="1650" b="1" spc="-25" kern="0" dirty="0">
                <a:solidFill>
                  <a:srgbClr val="1E293B"/>
                </a:solidFill>
                <a:latin typeface="Inter" pitchFamily="34" charset="0"/>
                <a:ea typeface="Inter" pitchFamily="34" charset="-122"/>
                <a:cs typeface="Inter" pitchFamily="34" charset="-120"/>
              </a:rPr>
              <a:t>중간 발표</a:t>
            </a:r>
            <a:endParaRPr lang="en-US" sz="1650" dirty="0"/>
          </a:p>
        </p:txBody>
      </p:sp>
      <p:sp>
        <p:nvSpPr>
          <p:cNvPr id="15" name="Shape 12"/>
          <p:cNvSpPr/>
          <p:nvPr/>
        </p:nvSpPr>
        <p:spPr>
          <a:xfrm>
            <a:off x="4476750" y="3182442"/>
            <a:ext cx="3238500" cy="1300361"/>
          </a:xfrm>
          <a:prstGeom prst="rect">
            <a:avLst/>
          </a:prstGeom>
          <a:solidFill>
            <a:srgbClr val="E8EEF6"/>
          </a:solidFill>
          <a:ln w="6350">
            <a:solidFill>
              <a:srgbClr val="E5E7EB"/>
            </a:solidFill>
            <a:prstDash val="solid"/>
          </a:ln>
        </p:spPr>
      </p:sp>
      <p:pic>
        <p:nvPicPr>
          <p:cNvPr id="16" name="Image 1" descr="preencoded.png">    </p:cNvPr>
          <p:cNvPicPr>
            <a:picLocks noChangeAspect="1"/>
          </p:cNvPicPr>
          <p:nvPr/>
        </p:nvPicPr>
        <p:blipFill>
          <a:blip r:embed="rId2"/>
          <a:stretch>
            <a:fillRect/>
          </a:stretch>
        </p:blipFill>
        <p:spPr>
          <a:xfrm>
            <a:off x="5715000" y="3360241"/>
            <a:ext cx="762000" cy="476250"/>
          </a:xfrm>
          <a:prstGeom prst="rect">
            <a:avLst/>
          </a:prstGeom>
        </p:spPr>
      </p:pic>
      <p:sp>
        <p:nvSpPr>
          <p:cNvPr id="17" name="Text 13"/>
          <p:cNvSpPr/>
          <p:nvPr/>
        </p:nvSpPr>
        <p:spPr>
          <a:xfrm>
            <a:off x="5531743" y="3931741"/>
            <a:ext cx="1128514" cy="411361"/>
          </a:xfrm>
          <a:prstGeom prst="rect">
            <a:avLst/>
          </a:prstGeom>
          <a:noFill/>
          <a:ln/>
        </p:spPr>
        <p:txBody>
          <a:bodyPr wrap="square" lIns="25400" tIns="25400" rIns="25400" bIns="25400" rtlCol="0" anchor="t">
            <a:normAutofit/>
          </a:bodyPr>
          <a:lstStyle/>
          <a:p>
            <a:pPr algn="ctr" indent="0" marL="0">
              <a:lnSpc>
                <a:spcPct val="140000"/>
              </a:lnSpc>
              <a:buNone/>
            </a:pPr>
            <a:r>
              <a:rPr lang="en-US" sz="1050" b="1" dirty="0">
                <a:solidFill>
                  <a:srgbClr val="1E293B"/>
                </a:solidFill>
                <a:latin typeface="Inter" pitchFamily="34" charset="0"/>
                <a:ea typeface="Inter" pitchFamily="34" charset="-122"/>
                <a:cs typeface="Inter" pitchFamily="34" charset="-120"/>
              </a:rPr>
              <a:t>한 가지 분포 인지 표본 추출 방법 검증</a:t>
            </a:r>
            <a:endParaRPr lang="en-US" sz="1050" dirty="0"/>
          </a:p>
        </p:txBody>
      </p:sp>
      <p:sp>
        <p:nvSpPr>
          <p:cNvPr id="18" name="Shape 14"/>
          <p:cNvSpPr/>
          <p:nvPr/>
        </p:nvSpPr>
        <p:spPr>
          <a:xfrm>
            <a:off x="9537700" y="2077542"/>
            <a:ext cx="279400" cy="279400"/>
          </a:xfrm>
          <a:prstGeom prst="ellipse">
            <a:avLst/>
          </a:prstGeom>
          <a:solidFill>
            <a:srgbClr val="1E3A5F"/>
          </a:solidFill>
          <a:ln w="25400">
            <a:solidFill>
              <a:srgbClr val="1E3A5F"/>
            </a:solidFill>
            <a:prstDash val="solid"/>
          </a:ln>
        </p:spPr>
      </p:sp>
      <p:sp>
        <p:nvSpPr>
          <p:cNvPr id="19" name="Text 15"/>
          <p:cNvSpPr/>
          <p:nvPr/>
        </p:nvSpPr>
        <p:spPr>
          <a:xfrm>
            <a:off x="9345216" y="2433141"/>
            <a:ext cx="740470" cy="241300"/>
          </a:xfrm>
          <a:prstGeom prst="rect">
            <a:avLst/>
          </a:prstGeom>
          <a:noFill/>
          <a:ln/>
        </p:spPr>
        <p:txBody>
          <a:bodyPr wrap="square" lIns="25400" tIns="25400" rIns="25400" bIns="25400" rtlCol="0" anchor="t">
            <a:normAutofit/>
          </a:bodyPr>
          <a:lstStyle/>
          <a:p>
            <a:pPr algn="l" indent="0" marL="0">
              <a:buNone/>
            </a:pPr>
            <a:r>
              <a:rPr lang="en-US" sz="1050" b="1" spc="-5" kern="0" dirty="0">
                <a:solidFill>
                  <a:srgbClr val="1E3A5F"/>
                </a:solidFill>
                <a:latin typeface="Inter" pitchFamily="34" charset="0"/>
                <a:ea typeface="Inter" pitchFamily="34" charset="-122"/>
                <a:cs typeface="Inter" pitchFamily="34" charset="-120"/>
              </a:rPr>
              <a:t>3단계 · 오늘</a:t>
            </a:r>
            <a:endParaRPr lang="en-US" sz="1050" dirty="0"/>
          </a:p>
        </p:txBody>
      </p:sp>
      <p:sp>
        <p:nvSpPr>
          <p:cNvPr id="20" name="Text 16"/>
          <p:cNvSpPr/>
          <p:nvPr/>
        </p:nvSpPr>
        <p:spPr>
          <a:xfrm>
            <a:off x="9286577" y="2693491"/>
            <a:ext cx="857845" cy="355600"/>
          </a:xfrm>
          <a:prstGeom prst="rect">
            <a:avLst/>
          </a:prstGeom>
          <a:noFill/>
          <a:ln/>
        </p:spPr>
        <p:txBody>
          <a:bodyPr wrap="square" lIns="25400" tIns="25400" rIns="25400" bIns="25400" rtlCol="0" anchor="t">
            <a:normAutofit/>
          </a:bodyPr>
          <a:lstStyle/>
          <a:p>
            <a:pPr algn="l" indent="0" marL="0">
              <a:buNone/>
            </a:pPr>
            <a:r>
              <a:rPr lang="en-US" sz="1650" b="1" spc="-25" kern="0" dirty="0">
                <a:solidFill>
                  <a:srgbClr val="1E3A5F"/>
                </a:solidFill>
                <a:latin typeface="Inter" pitchFamily="34" charset="0"/>
                <a:ea typeface="Inter" pitchFamily="34" charset="-122"/>
                <a:cs typeface="Inter" pitchFamily="34" charset="-120"/>
              </a:rPr>
              <a:t>최종 발표</a:t>
            </a:r>
            <a:endParaRPr lang="en-US" sz="1650" dirty="0"/>
          </a:p>
        </p:txBody>
      </p:sp>
      <p:sp>
        <p:nvSpPr>
          <p:cNvPr id="21" name="Shape 17"/>
          <p:cNvSpPr/>
          <p:nvPr/>
        </p:nvSpPr>
        <p:spPr>
          <a:xfrm>
            <a:off x="8058150" y="3182442"/>
            <a:ext cx="3238500" cy="1300361"/>
          </a:xfrm>
          <a:prstGeom prst="rect">
            <a:avLst/>
          </a:prstGeom>
          <a:solidFill>
            <a:srgbClr val="E8EEF6"/>
          </a:solidFill>
          <a:ln w="19050">
            <a:solidFill>
              <a:srgbClr val="1E3A5F"/>
            </a:solidFill>
            <a:prstDash val="solid"/>
          </a:ln>
        </p:spPr>
      </p:sp>
      <p:sp>
        <p:nvSpPr>
          <p:cNvPr id="22" name="Shape 18"/>
          <p:cNvSpPr/>
          <p:nvPr/>
        </p:nvSpPr>
        <p:spPr>
          <a:xfrm>
            <a:off x="9405938" y="3469779"/>
            <a:ext cx="114300" cy="114300"/>
          </a:xfrm>
          <a:prstGeom prst="rect">
            <a:avLst/>
          </a:prstGeom>
          <a:solidFill>
            <a:srgbClr val="1E3A5F"/>
          </a:solidFill>
          <a:ln/>
        </p:spPr>
      </p:sp>
      <p:sp>
        <p:nvSpPr>
          <p:cNvPr id="23" name="Shape 19"/>
          <p:cNvSpPr/>
          <p:nvPr/>
        </p:nvSpPr>
        <p:spPr>
          <a:xfrm>
            <a:off x="9548813" y="3469779"/>
            <a:ext cx="114300" cy="114300"/>
          </a:xfrm>
          <a:prstGeom prst="rect">
            <a:avLst/>
          </a:prstGeom>
          <a:solidFill>
            <a:srgbClr val="7794BC"/>
          </a:solidFill>
          <a:ln/>
        </p:spPr>
      </p:sp>
      <p:sp>
        <p:nvSpPr>
          <p:cNvPr id="24" name="Shape 20"/>
          <p:cNvSpPr/>
          <p:nvPr/>
        </p:nvSpPr>
        <p:spPr>
          <a:xfrm>
            <a:off x="9691688" y="3469779"/>
            <a:ext cx="114300" cy="114300"/>
          </a:xfrm>
          <a:prstGeom prst="rect">
            <a:avLst/>
          </a:prstGeom>
          <a:solidFill>
            <a:srgbClr val="1E3A5F"/>
          </a:solidFill>
          <a:ln/>
        </p:spPr>
      </p:sp>
      <p:sp>
        <p:nvSpPr>
          <p:cNvPr id="25" name="Shape 21"/>
          <p:cNvSpPr/>
          <p:nvPr/>
        </p:nvSpPr>
        <p:spPr>
          <a:xfrm>
            <a:off x="9834563" y="3469779"/>
            <a:ext cx="114300" cy="114300"/>
          </a:xfrm>
          <a:prstGeom prst="rect">
            <a:avLst/>
          </a:prstGeom>
          <a:solidFill>
            <a:srgbClr val="7794BC"/>
          </a:solidFill>
          <a:ln/>
        </p:spPr>
      </p:sp>
      <p:sp>
        <p:nvSpPr>
          <p:cNvPr id="26" name="Shape 22"/>
          <p:cNvSpPr/>
          <p:nvPr/>
        </p:nvSpPr>
        <p:spPr>
          <a:xfrm>
            <a:off x="9405938" y="3612654"/>
            <a:ext cx="114300" cy="114300"/>
          </a:xfrm>
          <a:prstGeom prst="rect">
            <a:avLst/>
          </a:prstGeom>
          <a:solidFill>
            <a:srgbClr val="7794BC"/>
          </a:solidFill>
          <a:ln/>
        </p:spPr>
      </p:sp>
      <p:sp>
        <p:nvSpPr>
          <p:cNvPr id="27" name="Shape 23"/>
          <p:cNvSpPr/>
          <p:nvPr/>
        </p:nvSpPr>
        <p:spPr>
          <a:xfrm>
            <a:off x="9548813" y="3612654"/>
            <a:ext cx="114300" cy="114300"/>
          </a:xfrm>
          <a:prstGeom prst="rect">
            <a:avLst/>
          </a:prstGeom>
          <a:solidFill>
            <a:srgbClr val="1E3A5F"/>
          </a:solidFill>
          <a:ln/>
        </p:spPr>
      </p:sp>
      <p:sp>
        <p:nvSpPr>
          <p:cNvPr id="28" name="Shape 24"/>
          <p:cNvSpPr/>
          <p:nvPr/>
        </p:nvSpPr>
        <p:spPr>
          <a:xfrm>
            <a:off x="9691688" y="3612654"/>
            <a:ext cx="114300" cy="114300"/>
          </a:xfrm>
          <a:prstGeom prst="rect">
            <a:avLst/>
          </a:prstGeom>
          <a:solidFill>
            <a:srgbClr val="7794BC"/>
          </a:solidFill>
          <a:ln/>
        </p:spPr>
      </p:sp>
      <p:sp>
        <p:nvSpPr>
          <p:cNvPr id="29" name="Shape 25"/>
          <p:cNvSpPr/>
          <p:nvPr/>
        </p:nvSpPr>
        <p:spPr>
          <a:xfrm>
            <a:off x="9834563" y="3612654"/>
            <a:ext cx="114300" cy="114300"/>
          </a:xfrm>
          <a:prstGeom prst="rect">
            <a:avLst/>
          </a:prstGeom>
          <a:solidFill>
            <a:srgbClr val="1E3A5F"/>
          </a:solidFill>
          <a:ln/>
        </p:spPr>
      </p:sp>
      <p:sp>
        <p:nvSpPr>
          <p:cNvPr id="30" name="Text 26"/>
          <p:cNvSpPr/>
          <p:nvPr/>
        </p:nvSpPr>
        <p:spPr>
          <a:xfrm>
            <a:off x="8871744" y="3822204"/>
            <a:ext cx="1611313" cy="411361"/>
          </a:xfrm>
          <a:prstGeom prst="rect">
            <a:avLst/>
          </a:prstGeom>
          <a:noFill/>
          <a:ln/>
        </p:spPr>
        <p:txBody>
          <a:bodyPr wrap="square" lIns="25400" tIns="25400" rIns="25400" bIns="25400" rtlCol="0" anchor="t">
            <a:normAutofit/>
          </a:bodyPr>
          <a:lstStyle/>
          <a:p>
            <a:pPr algn="ctr" indent="0" marL="0">
              <a:lnSpc>
                <a:spcPct val="140000"/>
              </a:lnSpc>
              <a:buNone/>
            </a:pPr>
            <a:r>
              <a:rPr lang="en-US" sz="1050" b="1" dirty="0">
                <a:solidFill>
                  <a:srgbClr val="1E3A5F"/>
                </a:solidFill>
                <a:latin typeface="Inter" pitchFamily="34" charset="0"/>
                <a:ea typeface="Inter" pitchFamily="34" charset="-122"/>
                <a:cs typeface="Inter" pitchFamily="34" charset="-120"/>
              </a:rPr>
              <a:t>16가지 방법 · 세 방식 모든 데이터셋·조건에서 검증</a:t>
            </a:r>
            <a:endParaRPr lang="en-US" sz="1050" dirty="0"/>
          </a:p>
        </p:txBody>
      </p:sp>
      <p:sp>
        <p:nvSpPr>
          <p:cNvPr id="31" name="Shape 27"/>
          <p:cNvSpPr/>
          <p:nvPr/>
        </p:nvSpPr>
        <p:spPr>
          <a:xfrm>
            <a:off x="723900" y="4768553"/>
            <a:ext cx="3467100" cy="76200"/>
          </a:xfrm>
          <a:prstGeom prst="rect">
            <a:avLst/>
          </a:prstGeom>
          <a:solidFill>
            <a:srgbClr val="E5E7EB"/>
          </a:solidFill>
          <a:ln/>
        </p:spPr>
      </p:sp>
      <p:sp>
        <p:nvSpPr>
          <p:cNvPr id="32" name="Shape 28"/>
          <p:cNvSpPr/>
          <p:nvPr/>
        </p:nvSpPr>
        <p:spPr>
          <a:xfrm>
            <a:off x="723900" y="4768553"/>
            <a:ext cx="1040209" cy="76200"/>
          </a:xfrm>
          <a:prstGeom prst="rect">
            <a:avLst/>
          </a:prstGeom>
          <a:solidFill>
            <a:srgbClr val="64748B"/>
          </a:solidFill>
          <a:ln/>
        </p:spPr>
      </p:sp>
      <p:sp>
        <p:nvSpPr>
          <p:cNvPr id="33" name="Shape 29"/>
          <p:cNvSpPr/>
          <p:nvPr/>
        </p:nvSpPr>
        <p:spPr>
          <a:xfrm>
            <a:off x="4362450" y="4768553"/>
            <a:ext cx="3467100" cy="76200"/>
          </a:xfrm>
          <a:prstGeom prst="rect">
            <a:avLst/>
          </a:prstGeom>
          <a:solidFill>
            <a:srgbClr val="E5E7EB"/>
          </a:solidFill>
          <a:ln/>
        </p:spPr>
      </p:sp>
      <p:sp>
        <p:nvSpPr>
          <p:cNvPr id="34" name="Shape 30"/>
          <p:cNvSpPr/>
          <p:nvPr/>
        </p:nvSpPr>
        <p:spPr>
          <a:xfrm>
            <a:off x="4362450" y="4768553"/>
            <a:ext cx="2080320" cy="76200"/>
          </a:xfrm>
          <a:prstGeom prst="rect">
            <a:avLst/>
          </a:prstGeom>
          <a:solidFill>
            <a:srgbClr val="7794BC"/>
          </a:solidFill>
          <a:ln/>
        </p:spPr>
      </p:sp>
      <p:sp>
        <p:nvSpPr>
          <p:cNvPr id="35" name="Shape 31"/>
          <p:cNvSpPr/>
          <p:nvPr/>
        </p:nvSpPr>
        <p:spPr>
          <a:xfrm>
            <a:off x="8001000" y="4768553"/>
            <a:ext cx="3467100" cy="76200"/>
          </a:xfrm>
          <a:prstGeom prst="rect">
            <a:avLst/>
          </a:prstGeom>
          <a:solidFill>
            <a:srgbClr val="E5E7EB"/>
          </a:solidFill>
          <a:ln/>
        </p:spPr>
      </p:sp>
      <p:sp>
        <p:nvSpPr>
          <p:cNvPr id="36" name="Shape 32"/>
          <p:cNvSpPr/>
          <p:nvPr/>
        </p:nvSpPr>
        <p:spPr>
          <a:xfrm>
            <a:off x="8001000" y="4768553"/>
            <a:ext cx="3467100" cy="76200"/>
          </a:xfrm>
          <a:prstGeom prst="rect">
            <a:avLst/>
          </a:prstGeom>
          <a:solidFill>
            <a:srgbClr val="1E3A5F"/>
          </a:solidFill>
          <a:ln/>
        </p:spPr>
      </p:sp>
      <p:sp>
        <p:nvSpPr>
          <p:cNvPr id="37" name="Text 33"/>
          <p:cNvSpPr/>
          <p:nvPr/>
        </p:nvSpPr>
        <p:spPr>
          <a:xfrm>
            <a:off x="671894" y="5054303"/>
            <a:ext cx="3571113" cy="222250"/>
          </a:xfrm>
          <a:prstGeom prst="rect">
            <a:avLst/>
          </a:prstGeom>
          <a:noFill/>
          <a:ln/>
        </p:spPr>
        <p:txBody>
          <a:bodyPr wrap="square" lIns="25400" tIns="25400" rIns="25400" bIns="25400" rtlCol="0" anchor="t">
            <a:normAutofit/>
          </a:bodyPr>
          <a:lstStyle/>
          <a:p>
            <a:pPr algn="ctr" indent="0" marL="0">
              <a:buNone/>
            </a:pPr>
            <a:r>
              <a:rPr lang="en-US" sz="975" spc="-5" kern="0" dirty="0">
                <a:solidFill>
                  <a:srgbClr val="64748B"/>
                </a:solidFill>
                <a:latin typeface="Inter" pitchFamily="34" charset="0"/>
                <a:ea typeface="Inter" pitchFamily="34" charset="-122"/>
                <a:cs typeface="Inter" pitchFamily="34" charset="-120"/>
              </a:rPr>
              <a:t>논문 기준점</a:t>
            </a:r>
            <a:endParaRPr lang="en-US" sz="975" dirty="0"/>
          </a:p>
        </p:txBody>
      </p:sp>
      <p:sp>
        <p:nvSpPr>
          <p:cNvPr id="38" name="Text 34"/>
          <p:cNvSpPr/>
          <p:nvPr/>
        </p:nvSpPr>
        <p:spPr>
          <a:xfrm>
            <a:off x="4310444" y="5054303"/>
            <a:ext cx="3571113" cy="222250"/>
          </a:xfrm>
          <a:prstGeom prst="rect">
            <a:avLst/>
          </a:prstGeom>
          <a:noFill/>
          <a:ln/>
        </p:spPr>
        <p:txBody>
          <a:bodyPr wrap="square" lIns="25400" tIns="25400" rIns="25400" bIns="25400" rtlCol="0" anchor="t">
            <a:normAutofit/>
          </a:bodyPr>
          <a:lstStyle/>
          <a:p>
            <a:pPr algn="ctr" indent="0" marL="0">
              <a:buNone/>
            </a:pPr>
            <a:r>
              <a:rPr lang="en-US" sz="975" spc="-5" kern="0" dirty="0">
                <a:solidFill>
                  <a:srgbClr val="64748B"/>
                </a:solidFill>
                <a:latin typeface="Inter" pitchFamily="34" charset="0"/>
                <a:ea typeface="Inter" pitchFamily="34" charset="-122"/>
                <a:cs typeface="Inter" pitchFamily="34" charset="-120"/>
              </a:rPr>
              <a:t>한 방법 · 한 가지 검증</a:t>
            </a:r>
            <a:endParaRPr lang="en-US" sz="975" dirty="0"/>
          </a:p>
        </p:txBody>
      </p:sp>
      <p:sp>
        <p:nvSpPr>
          <p:cNvPr id="39" name="Text 35"/>
          <p:cNvSpPr/>
          <p:nvPr/>
        </p:nvSpPr>
        <p:spPr>
          <a:xfrm>
            <a:off x="7948994" y="5054303"/>
            <a:ext cx="3571113" cy="222250"/>
          </a:xfrm>
          <a:prstGeom prst="rect">
            <a:avLst/>
          </a:prstGeom>
          <a:noFill/>
          <a:ln/>
        </p:spPr>
        <p:txBody>
          <a:bodyPr wrap="square" lIns="25400" tIns="25400" rIns="25400" bIns="25400" rtlCol="0" anchor="t">
            <a:normAutofit/>
          </a:bodyPr>
          <a:lstStyle/>
          <a:p>
            <a:pPr algn="ctr" indent="0" marL="0">
              <a:buNone/>
            </a:pPr>
            <a:r>
              <a:rPr lang="en-US" sz="975" spc="-5" kern="0" dirty="0">
                <a:solidFill>
                  <a:srgbClr val="64748B"/>
                </a:solidFill>
                <a:latin typeface="Inter" pitchFamily="34" charset="0"/>
                <a:ea typeface="Inter" pitchFamily="34" charset="-122"/>
                <a:cs typeface="Inter" pitchFamily="34" charset="-120"/>
              </a:rPr>
              <a:t>16가지 · 세 방식 · 모든 조건</a:t>
            </a:r>
            <a:endParaRPr lang="en-US" sz="975" dirty="0"/>
          </a:p>
        </p:txBody>
      </p:sp>
      <p:sp>
        <p:nvSpPr>
          <p:cNvPr id="40" name="Shape 36"/>
          <p:cNvSpPr/>
          <p:nvPr/>
        </p:nvSpPr>
        <p:spPr>
          <a:xfrm>
            <a:off x="723900" y="5919788"/>
            <a:ext cx="10744200" cy="442913"/>
          </a:xfrm>
          <a:prstGeom prst="rect">
            <a:avLst/>
          </a:prstGeom>
          <a:solidFill>
            <a:srgbClr val="FAFAFA"/>
          </a:solidFill>
          <a:ln/>
        </p:spPr>
      </p:sp>
      <p:sp>
        <p:nvSpPr>
          <p:cNvPr id="41" name="Shape 37"/>
          <p:cNvSpPr/>
          <p:nvPr/>
        </p:nvSpPr>
        <p:spPr>
          <a:xfrm>
            <a:off x="723900" y="5919788"/>
            <a:ext cx="25400" cy="442913"/>
          </a:xfrm>
          <a:prstGeom prst="rect">
            <a:avLst/>
          </a:prstGeom>
          <a:solidFill>
            <a:srgbClr val="1E3A5F"/>
          </a:solidFill>
          <a:ln/>
        </p:spPr>
      </p:sp>
      <p:sp>
        <p:nvSpPr>
          <p:cNvPr id="42" name="Text 38"/>
          <p:cNvSpPr/>
          <p:nvPr/>
        </p:nvSpPr>
        <p:spPr>
          <a:xfrm>
            <a:off x="958850" y="6034088"/>
            <a:ext cx="10622026"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spc="-6" kern="0" dirty="0">
                <a:solidFill>
                  <a:srgbClr val="1E293B"/>
                </a:solidFill>
                <a:highlight>
                  <a:srgbClr val="FAFAFA"/>
                </a:highlight>
                <a:latin typeface="Inter" pitchFamily="34" charset="0"/>
                <a:ea typeface="Inter" pitchFamily="34" charset="-122"/>
                <a:cs typeface="Inter" pitchFamily="34" charset="-120"/>
              </a:rPr>
              <a:t>단계마다 측정 범위가 넓어지며, 초점이 </a:t>
            </a:r>
            <a:pPr algn="l" indent="0" marL="0">
              <a:lnSpc>
                <a:spcPct val="150000"/>
              </a:lnSpc>
              <a:buNone/>
            </a:pPr>
            <a:r>
              <a:rPr lang="en-US" sz="1125" b="1" spc="-6" kern="0" dirty="0">
                <a:solidFill>
                  <a:srgbClr val="1E293B"/>
                </a:solidFill>
                <a:latin typeface="Inter" pitchFamily="34" charset="0"/>
                <a:ea typeface="Inter" pitchFamily="34" charset="-122"/>
                <a:cs typeface="Inter" pitchFamily="34" charset="-120"/>
              </a:rPr>
              <a:t>"특정 방법"</a:t>
            </a:r>
            <a:pPr algn="l" indent="0" marL="0">
              <a:lnSpc>
                <a:spcPct val="150000"/>
              </a:lnSpc>
              <a:buNone/>
            </a:pPr>
            <a:r>
              <a:rPr lang="en-US" sz="1125" spc="-6" kern="0" dirty="0">
                <a:solidFill>
                  <a:srgbClr val="1E293B"/>
                </a:solidFill>
                <a:highlight>
                  <a:srgbClr val="FAFAFA"/>
                </a:highlight>
                <a:latin typeface="Inter" pitchFamily="34" charset="0"/>
                <a:ea typeface="Inter" pitchFamily="34" charset="-122"/>
                <a:cs typeface="Inter" pitchFamily="34" charset="-120"/>
              </a:rPr>
              <a:t>에서 </a:t>
            </a:r>
            <a:pPr algn="l" indent="0" marL="0">
              <a:lnSpc>
                <a:spcPct val="150000"/>
              </a:lnSpc>
              <a:buNone/>
            </a:pPr>
            <a:r>
              <a:rPr lang="en-US" sz="1125" b="1" spc="-6" kern="0" dirty="0">
                <a:solidFill>
                  <a:srgbClr val="1E293B"/>
                </a:solidFill>
                <a:latin typeface="Inter" pitchFamily="34" charset="0"/>
                <a:ea typeface="Inter" pitchFamily="34" charset="-122"/>
                <a:cs typeface="Inter" pitchFamily="34" charset="-120"/>
              </a:rPr>
              <a:t>"표본 선택 단계 개입의 효과"</a:t>
            </a:r>
            <a:pPr algn="l" indent="0" marL="0">
              <a:lnSpc>
                <a:spcPct val="150000"/>
              </a:lnSpc>
              <a:buNone/>
            </a:pPr>
            <a:r>
              <a:rPr lang="en-US" sz="1125" spc="-6" kern="0" dirty="0">
                <a:solidFill>
                  <a:srgbClr val="1E293B"/>
                </a:solidFill>
                <a:highlight>
                  <a:srgbClr val="FAFAFA"/>
                </a:highlight>
                <a:latin typeface="Inter" pitchFamily="34" charset="0"/>
                <a:ea typeface="Inter" pitchFamily="34" charset="-122"/>
                <a:cs typeface="Inter" pitchFamily="34" charset="-120"/>
              </a:rPr>
              <a:t>로 분명해졌다</a:t>
            </a:r>
            <a:endParaRPr lang="en-US" sz="11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285750"/>
            <a:ext cx="497979" cy="222250"/>
          </a:xfrm>
          <a:prstGeom prst="rect">
            <a:avLst/>
          </a:prstGeom>
          <a:noFill/>
          <a:ln/>
        </p:spPr>
        <p:txBody>
          <a:bodyPr wrap="square" lIns="25400" tIns="25400" rIns="25400" bIns="25400" rtlCol="0" anchor="ctr">
            <a:normAutofit/>
          </a:bodyPr>
          <a:lstStyle/>
          <a:p>
            <a:pPr algn="l" indent="0" marL="0">
              <a:buNone/>
            </a:pPr>
            <a:r>
              <a:rPr lang="en-US" sz="975" b="1" spc="116" kern="0" dirty="0">
                <a:solidFill>
                  <a:srgbClr val="8B5CF6"/>
                </a:solidFill>
                <a:latin typeface="Inter" pitchFamily="34" charset="0"/>
                <a:ea typeface="Inter" pitchFamily="34" charset="-122"/>
                <a:cs typeface="Inter" pitchFamily="34" charset="-120"/>
              </a:rPr>
              <a:t>방법</a:t>
            </a:r>
            <a:endParaRPr lang="en-US" sz="975" dirty="0"/>
          </a:p>
        </p:txBody>
      </p:sp>
      <p:sp>
        <p:nvSpPr>
          <p:cNvPr id="3" name="Text 1"/>
          <p:cNvSpPr/>
          <p:nvPr/>
        </p:nvSpPr>
        <p:spPr>
          <a:xfrm>
            <a:off x="723900" y="533400"/>
            <a:ext cx="10791825" cy="520005"/>
          </a:xfrm>
          <a:prstGeom prst="rect">
            <a:avLst/>
          </a:prstGeom>
          <a:noFill/>
          <a:ln/>
        </p:spPr>
        <p:txBody>
          <a:bodyPr wrap="square" lIns="25400" tIns="25400" rIns="25400" bIns="25400" rtlCol="0" anchor="t">
            <a:normAutofit/>
          </a:bodyPr>
          <a:lstStyle/>
          <a:p>
            <a:pPr algn="l" indent="0" marL="0">
              <a:lnSpc>
                <a:spcPct val="115000"/>
              </a:lnSpc>
              <a:buNone/>
            </a:pPr>
            <a:r>
              <a:rPr lang="en-US" sz="3300" b="1" spc="-82" kern="0" dirty="0">
                <a:solidFill>
                  <a:srgbClr val="1E3A5F"/>
                </a:solidFill>
                <a:latin typeface="Inter" pitchFamily="34" charset="0"/>
                <a:ea typeface="Inter" pitchFamily="34" charset="-122"/>
                <a:cs typeface="Inter" pitchFamily="34" charset="-120"/>
              </a:rPr>
              <a:t>분포를 반영해 표본을 뽑는 세 단계</a:t>
            </a:r>
            <a:endParaRPr lang="en-US" sz="3300" dirty="0"/>
          </a:p>
        </p:txBody>
      </p:sp>
      <p:sp>
        <p:nvSpPr>
          <p:cNvPr id="4" name="Shape 2"/>
          <p:cNvSpPr/>
          <p:nvPr/>
        </p:nvSpPr>
        <p:spPr>
          <a:xfrm>
            <a:off x="723900" y="1148655"/>
            <a:ext cx="381000" cy="28575"/>
          </a:xfrm>
          <a:prstGeom prst="rect">
            <a:avLst/>
          </a:prstGeom>
          <a:solidFill>
            <a:srgbClr val="8B5CF6"/>
          </a:solidFill>
          <a:ln/>
        </p:spPr>
      </p:sp>
      <p:sp>
        <p:nvSpPr>
          <p:cNvPr id="5" name="Shape 3"/>
          <p:cNvSpPr/>
          <p:nvPr/>
        </p:nvSpPr>
        <p:spPr>
          <a:xfrm>
            <a:off x="723900" y="2249488"/>
            <a:ext cx="3352800" cy="2605683"/>
          </a:xfrm>
          <a:prstGeom prst="rect">
            <a:avLst/>
          </a:prstGeom>
          <a:solidFill>
            <a:srgbClr val="FFFFFF"/>
          </a:solidFill>
          <a:ln w="12700">
            <a:solidFill>
              <a:srgbClr val="1E293B"/>
            </a:solidFill>
            <a:prstDash val="solid"/>
          </a:ln>
        </p:spPr>
      </p:sp>
      <p:sp>
        <p:nvSpPr>
          <p:cNvPr id="6" name="Text 4"/>
          <p:cNvSpPr/>
          <p:nvPr/>
        </p:nvSpPr>
        <p:spPr>
          <a:xfrm>
            <a:off x="946150" y="2433638"/>
            <a:ext cx="2995549" cy="266700"/>
          </a:xfrm>
          <a:prstGeom prst="rect">
            <a:avLst/>
          </a:prstGeom>
          <a:noFill/>
          <a:ln/>
        </p:spPr>
        <p:txBody>
          <a:bodyPr wrap="square" lIns="25400" tIns="25400" rIns="25400" bIns="25400" rtlCol="0" anchor="t">
            <a:normAutofit/>
          </a:bodyPr>
          <a:lstStyle/>
          <a:p>
            <a:pPr algn="l" indent="0" marL="0">
              <a:buNone/>
            </a:pPr>
            <a:r>
              <a:rPr lang="en-US" sz="1200" b="1" spc="-6" kern="0" dirty="0">
                <a:solidFill>
                  <a:srgbClr val="1E3A5F"/>
                </a:solidFill>
                <a:latin typeface="Inter" pitchFamily="34" charset="0"/>
                <a:ea typeface="Inter" pitchFamily="34" charset="-122"/>
                <a:cs typeface="Inter" pitchFamily="34" charset="-120"/>
              </a:rPr>
              <a:t>1단계</a:t>
            </a:r>
            <a:endParaRPr lang="en-US" sz="1200" dirty="0"/>
          </a:p>
        </p:txBody>
      </p:sp>
      <p:sp>
        <p:nvSpPr>
          <p:cNvPr id="7" name="Text 5"/>
          <p:cNvSpPr/>
          <p:nvPr/>
        </p:nvSpPr>
        <p:spPr>
          <a:xfrm>
            <a:off x="946150" y="2757488"/>
            <a:ext cx="2995549"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39" kern="0" dirty="0">
                <a:solidFill>
                  <a:srgbClr val="1E293B"/>
                </a:solidFill>
                <a:latin typeface="Inter" pitchFamily="34" charset="0"/>
                <a:ea typeface="Inter" pitchFamily="34" charset="-122"/>
                <a:cs typeface="Inter" pitchFamily="34" charset="-120"/>
              </a:rPr>
              <a:t>분포 파악</a:t>
            </a:r>
            <a:endParaRPr lang="en-US" sz="1950" dirty="0"/>
          </a:p>
        </p:txBody>
      </p:sp>
      <p:pic>
        <p:nvPicPr>
          <p:cNvPr id="8" name="Image 0" descr="preencoded.png">    </p:cNvPr>
          <p:cNvPicPr>
            <a:picLocks noChangeAspect="1"/>
          </p:cNvPicPr>
          <p:nvPr/>
        </p:nvPicPr>
        <p:blipFill>
          <a:blip r:embed="rId1"/>
          <a:stretch>
            <a:fillRect/>
          </a:stretch>
        </p:blipFill>
        <p:spPr>
          <a:xfrm>
            <a:off x="946150" y="3137495"/>
            <a:ext cx="2908300" cy="1238250"/>
          </a:xfrm>
          <a:prstGeom prst="rect">
            <a:avLst/>
          </a:prstGeom>
        </p:spPr>
      </p:pic>
      <p:sp>
        <p:nvSpPr>
          <p:cNvPr id="9" name="Text 6"/>
          <p:cNvSpPr/>
          <p:nvPr/>
        </p:nvSpPr>
        <p:spPr>
          <a:xfrm>
            <a:off x="946150" y="4470995"/>
            <a:ext cx="2995549"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5" kern="0" dirty="0">
                <a:solidFill>
                  <a:srgbClr val="475569"/>
                </a:solidFill>
                <a:latin typeface="Inter" pitchFamily="34" charset="0"/>
                <a:ea typeface="Inter" pitchFamily="34" charset="-122"/>
                <a:cs typeface="Inter" pitchFamily="34" charset="-120"/>
              </a:rPr>
              <a:t>데이터를 비슷한 것끼리 </a:t>
            </a:r>
            <a:pPr algn="l" indent="0" marL="0">
              <a:lnSpc>
                <a:spcPct val="150000"/>
              </a:lnSpc>
              <a:buNone/>
            </a:pPr>
            <a:r>
              <a:rPr lang="en-US" sz="1050" b="1" spc="-5" kern="0" dirty="0">
                <a:solidFill>
                  <a:srgbClr val="1E3A5F"/>
                </a:solidFill>
                <a:latin typeface="Inter" pitchFamily="34" charset="0"/>
                <a:ea typeface="Inter" pitchFamily="34" charset="-122"/>
                <a:cs typeface="Inter" pitchFamily="34" charset="-120"/>
              </a:rPr>
              <a:t>20개 그룹</a:t>
            </a:r>
            <a:pPr algn="l" indent="0" marL="0">
              <a:lnSpc>
                <a:spcPct val="150000"/>
              </a:lnSpc>
              <a:buNone/>
            </a:pPr>
            <a:r>
              <a:rPr lang="en-US" sz="1050" spc="-5" kern="0" dirty="0">
                <a:solidFill>
                  <a:srgbClr val="475569"/>
                </a:solidFill>
                <a:latin typeface="Inter" pitchFamily="34" charset="0"/>
                <a:ea typeface="Inter" pitchFamily="34" charset="-122"/>
                <a:cs typeface="Inter" pitchFamily="34" charset="-120"/>
              </a:rPr>
              <a:t>으로 나눈다</a:t>
            </a:r>
            <a:endParaRPr lang="en-US" sz="1050" dirty="0"/>
          </a:p>
        </p:txBody>
      </p:sp>
      <p:sp>
        <p:nvSpPr>
          <p:cNvPr id="10" name="Text 7"/>
          <p:cNvSpPr/>
          <p:nvPr/>
        </p:nvSpPr>
        <p:spPr>
          <a:xfrm>
            <a:off x="4038600" y="2249488"/>
            <a:ext cx="419100" cy="2643783"/>
          </a:xfrm>
          <a:prstGeom prst="rect">
            <a:avLst/>
          </a:prstGeom>
          <a:noFill/>
          <a:ln/>
        </p:spPr>
        <p:txBody>
          <a:bodyPr wrap="square" lIns="25400" tIns="25400" rIns="25400" bIns="25400" rtlCol="0" anchor="ctr">
            <a:normAutofit/>
          </a:bodyPr>
          <a:lstStyle/>
          <a:p>
            <a:pPr algn="ctr" indent="0" marL="0">
              <a:buNone/>
            </a:pPr>
            <a:r>
              <a:rPr lang="en-US" sz="1950" dirty="0">
                <a:solidFill>
                  <a:srgbClr val="64748B"/>
                </a:solidFill>
                <a:latin typeface="Inter" pitchFamily="34" charset="0"/>
                <a:ea typeface="Inter" pitchFamily="34" charset="-122"/>
                <a:cs typeface="Inter" pitchFamily="34" charset="-120"/>
              </a:rPr>
              <a:t>→</a:t>
            </a:r>
            <a:endParaRPr lang="en-US" sz="1950" dirty="0"/>
          </a:p>
        </p:txBody>
      </p:sp>
      <p:sp>
        <p:nvSpPr>
          <p:cNvPr id="11" name="Shape 8"/>
          <p:cNvSpPr/>
          <p:nvPr/>
        </p:nvSpPr>
        <p:spPr>
          <a:xfrm>
            <a:off x="4419600" y="2249488"/>
            <a:ext cx="3352800" cy="2605683"/>
          </a:xfrm>
          <a:prstGeom prst="rect">
            <a:avLst/>
          </a:prstGeom>
          <a:solidFill>
            <a:srgbClr val="FFFFFF"/>
          </a:solidFill>
          <a:ln w="12700">
            <a:solidFill>
              <a:srgbClr val="1E293B"/>
            </a:solidFill>
            <a:prstDash val="solid"/>
          </a:ln>
        </p:spPr>
      </p:sp>
      <p:sp>
        <p:nvSpPr>
          <p:cNvPr id="12" name="Text 9"/>
          <p:cNvSpPr/>
          <p:nvPr/>
        </p:nvSpPr>
        <p:spPr>
          <a:xfrm>
            <a:off x="4641850" y="2433638"/>
            <a:ext cx="2995549" cy="266700"/>
          </a:xfrm>
          <a:prstGeom prst="rect">
            <a:avLst/>
          </a:prstGeom>
          <a:noFill/>
          <a:ln/>
        </p:spPr>
        <p:txBody>
          <a:bodyPr wrap="square" lIns="25400" tIns="25400" rIns="25400" bIns="25400" rtlCol="0" anchor="t">
            <a:normAutofit/>
          </a:bodyPr>
          <a:lstStyle/>
          <a:p>
            <a:pPr algn="l" indent="0" marL="0">
              <a:buNone/>
            </a:pPr>
            <a:r>
              <a:rPr lang="en-US" sz="1200" b="1" spc="-6" kern="0" dirty="0">
                <a:solidFill>
                  <a:srgbClr val="1E3A5F"/>
                </a:solidFill>
                <a:latin typeface="Inter" pitchFamily="34" charset="0"/>
                <a:ea typeface="Inter" pitchFamily="34" charset="-122"/>
                <a:cs typeface="Inter" pitchFamily="34" charset="-120"/>
              </a:rPr>
              <a:t>2단계</a:t>
            </a:r>
            <a:endParaRPr lang="en-US" sz="1200" dirty="0"/>
          </a:p>
        </p:txBody>
      </p:sp>
      <p:sp>
        <p:nvSpPr>
          <p:cNvPr id="13" name="Text 10"/>
          <p:cNvSpPr/>
          <p:nvPr/>
        </p:nvSpPr>
        <p:spPr>
          <a:xfrm>
            <a:off x="4641850" y="2757488"/>
            <a:ext cx="2995549"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39" kern="0" dirty="0">
                <a:solidFill>
                  <a:srgbClr val="1E293B"/>
                </a:solidFill>
                <a:latin typeface="Inter" pitchFamily="34" charset="0"/>
                <a:ea typeface="Inter" pitchFamily="34" charset="-122"/>
                <a:cs typeface="Inter" pitchFamily="34" charset="-120"/>
              </a:rPr>
              <a:t>표본 추출</a:t>
            </a:r>
            <a:endParaRPr lang="en-US" sz="1950" dirty="0"/>
          </a:p>
        </p:txBody>
      </p:sp>
      <p:pic>
        <p:nvPicPr>
          <p:cNvPr id="14" name="Image 1" descr="preencoded.png">    </p:cNvPr>
          <p:cNvPicPr>
            <a:picLocks noChangeAspect="1"/>
          </p:cNvPicPr>
          <p:nvPr/>
        </p:nvPicPr>
        <p:blipFill>
          <a:blip r:embed="rId2"/>
          <a:stretch>
            <a:fillRect/>
          </a:stretch>
        </p:blipFill>
        <p:spPr>
          <a:xfrm>
            <a:off x="4641850" y="3137495"/>
            <a:ext cx="2908300" cy="1238250"/>
          </a:xfrm>
          <a:prstGeom prst="rect">
            <a:avLst/>
          </a:prstGeom>
        </p:spPr>
      </p:pic>
      <p:sp>
        <p:nvSpPr>
          <p:cNvPr id="15" name="Text 11"/>
          <p:cNvSpPr/>
          <p:nvPr/>
        </p:nvSpPr>
        <p:spPr>
          <a:xfrm>
            <a:off x="4641850" y="4470995"/>
            <a:ext cx="2995549"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5" kern="0" dirty="0">
                <a:solidFill>
                  <a:srgbClr val="475569"/>
                </a:solidFill>
                <a:latin typeface="Inter" pitchFamily="34" charset="0"/>
                <a:ea typeface="Inter" pitchFamily="34" charset="-122"/>
                <a:cs typeface="Inter" pitchFamily="34" charset="-120"/>
              </a:rPr>
              <a:t>각 그룹에서 </a:t>
            </a:r>
            <a:pPr algn="l" indent="0" marL="0">
              <a:lnSpc>
                <a:spcPct val="150000"/>
              </a:lnSpc>
              <a:buNone/>
            </a:pPr>
            <a:r>
              <a:rPr lang="en-US" sz="1050" b="1" spc="-5" kern="0" dirty="0">
                <a:solidFill>
                  <a:srgbClr val="1E3A5F"/>
                </a:solidFill>
                <a:latin typeface="Inter" pitchFamily="34" charset="0"/>
                <a:ea typeface="Inter" pitchFamily="34" charset="-122"/>
                <a:cs typeface="Inter" pitchFamily="34" charset="-120"/>
              </a:rPr>
              <a:t>골고루 </a:t>
            </a:r>
            <a:pPr algn="l" indent="0" marL="0">
              <a:lnSpc>
                <a:spcPct val="150000"/>
              </a:lnSpc>
              <a:buNone/>
            </a:pPr>
            <a:r>
              <a:rPr lang="en-US" sz="1050" spc="-5" kern="0" dirty="0">
                <a:solidFill>
                  <a:srgbClr val="475569"/>
                </a:solidFill>
                <a:latin typeface="Inter" pitchFamily="34" charset="0"/>
                <a:ea typeface="Inter" pitchFamily="34" charset="-122"/>
                <a:cs typeface="Inter" pitchFamily="34" charset="-120"/>
              </a:rPr>
              <a:t>표본을 뽑는다</a:t>
            </a:r>
            <a:endParaRPr lang="en-US" sz="1050" dirty="0"/>
          </a:p>
        </p:txBody>
      </p:sp>
      <p:sp>
        <p:nvSpPr>
          <p:cNvPr id="16" name="Text 12"/>
          <p:cNvSpPr/>
          <p:nvPr/>
        </p:nvSpPr>
        <p:spPr>
          <a:xfrm>
            <a:off x="7734300" y="2249488"/>
            <a:ext cx="419100" cy="2643783"/>
          </a:xfrm>
          <a:prstGeom prst="rect">
            <a:avLst/>
          </a:prstGeom>
          <a:noFill/>
          <a:ln/>
        </p:spPr>
        <p:txBody>
          <a:bodyPr wrap="square" lIns="25400" tIns="25400" rIns="25400" bIns="25400" rtlCol="0" anchor="ctr">
            <a:normAutofit/>
          </a:bodyPr>
          <a:lstStyle/>
          <a:p>
            <a:pPr algn="ctr" indent="0" marL="0">
              <a:buNone/>
            </a:pPr>
            <a:r>
              <a:rPr lang="en-US" sz="1950" dirty="0">
                <a:solidFill>
                  <a:srgbClr val="64748B"/>
                </a:solidFill>
                <a:latin typeface="Inter" pitchFamily="34" charset="0"/>
                <a:ea typeface="Inter" pitchFamily="34" charset="-122"/>
                <a:cs typeface="Inter" pitchFamily="34" charset="-120"/>
              </a:rPr>
              <a:t>→</a:t>
            </a:r>
            <a:endParaRPr lang="en-US" sz="1950" dirty="0"/>
          </a:p>
        </p:txBody>
      </p:sp>
      <p:sp>
        <p:nvSpPr>
          <p:cNvPr id="17" name="Shape 13"/>
          <p:cNvSpPr/>
          <p:nvPr/>
        </p:nvSpPr>
        <p:spPr>
          <a:xfrm>
            <a:off x="8115300" y="2249488"/>
            <a:ext cx="3352800" cy="2605683"/>
          </a:xfrm>
          <a:prstGeom prst="rect">
            <a:avLst/>
          </a:prstGeom>
          <a:solidFill>
            <a:srgbClr val="E5F4FB"/>
          </a:solidFill>
          <a:ln w="12700">
            <a:solidFill>
              <a:srgbClr val="0EA5E9"/>
            </a:solidFill>
            <a:prstDash val="solid"/>
          </a:ln>
        </p:spPr>
      </p:sp>
      <p:sp>
        <p:nvSpPr>
          <p:cNvPr id="18" name="Text 14"/>
          <p:cNvSpPr/>
          <p:nvPr/>
        </p:nvSpPr>
        <p:spPr>
          <a:xfrm>
            <a:off x="8337550" y="2433638"/>
            <a:ext cx="2995549" cy="266700"/>
          </a:xfrm>
          <a:prstGeom prst="rect">
            <a:avLst/>
          </a:prstGeom>
          <a:noFill/>
          <a:ln/>
        </p:spPr>
        <p:txBody>
          <a:bodyPr wrap="square" lIns="25400" tIns="25400" rIns="25400" bIns="25400" rtlCol="0" anchor="t">
            <a:normAutofit/>
          </a:bodyPr>
          <a:lstStyle/>
          <a:p>
            <a:pPr algn="l" indent="0" marL="0">
              <a:buNone/>
            </a:pPr>
            <a:r>
              <a:rPr lang="en-US" sz="1200" b="1" spc="-6" kern="0" dirty="0">
                <a:solidFill>
                  <a:srgbClr val="0EA5E9"/>
                </a:solidFill>
                <a:latin typeface="Inter" pitchFamily="34" charset="0"/>
                <a:ea typeface="Inter" pitchFamily="34" charset="-122"/>
                <a:cs typeface="Inter" pitchFamily="34" charset="-120"/>
              </a:rPr>
              <a:t>3단계</a:t>
            </a:r>
            <a:endParaRPr lang="en-US" sz="1200" dirty="0"/>
          </a:p>
        </p:txBody>
      </p:sp>
      <p:sp>
        <p:nvSpPr>
          <p:cNvPr id="19" name="Text 15"/>
          <p:cNvSpPr/>
          <p:nvPr/>
        </p:nvSpPr>
        <p:spPr>
          <a:xfrm>
            <a:off x="8337550" y="2757488"/>
            <a:ext cx="2995549"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39" kern="0" dirty="0">
                <a:solidFill>
                  <a:srgbClr val="0EA5E9"/>
                </a:solidFill>
                <a:latin typeface="Inter" pitchFamily="34" charset="0"/>
                <a:ea typeface="Inter" pitchFamily="34" charset="-122"/>
                <a:cs typeface="Inter" pitchFamily="34" charset="-120"/>
              </a:rPr>
              <a:t>결합</a:t>
            </a:r>
            <a:endParaRPr lang="en-US" sz="1950" dirty="0"/>
          </a:p>
        </p:txBody>
      </p:sp>
      <p:pic>
        <p:nvPicPr>
          <p:cNvPr id="20" name="Image 2" descr="preencoded.png">    </p:cNvPr>
          <p:cNvPicPr>
            <a:picLocks noChangeAspect="1"/>
          </p:cNvPicPr>
          <p:nvPr/>
        </p:nvPicPr>
        <p:blipFill>
          <a:blip r:embed="rId3"/>
          <a:stretch>
            <a:fillRect/>
          </a:stretch>
        </p:blipFill>
        <p:spPr>
          <a:xfrm>
            <a:off x="8337550" y="3137495"/>
            <a:ext cx="2908300" cy="1238250"/>
          </a:xfrm>
          <a:prstGeom prst="rect">
            <a:avLst/>
          </a:prstGeom>
        </p:spPr>
      </p:pic>
      <p:sp>
        <p:nvSpPr>
          <p:cNvPr id="21" name="Text 16"/>
          <p:cNvSpPr/>
          <p:nvPr/>
        </p:nvSpPr>
        <p:spPr>
          <a:xfrm>
            <a:off x="8337550" y="4470995"/>
            <a:ext cx="2995549"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5" kern="0" dirty="0">
                <a:solidFill>
                  <a:srgbClr val="475569"/>
                </a:solidFill>
                <a:latin typeface="Inter" pitchFamily="34" charset="0"/>
                <a:ea typeface="Inter" pitchFamily="34" charset="-122"/>
                <a:cs typeface="Inter" pitchFamily="34" charset="-120"/>
              </a:rPr>
              <a:t>논문 추정값과 우리 추정값을 </a:t>
            </a:r>
            <a:pPr algn="l" indent="0" marL="0">
              <a:lnSpc>
                <a:spcPct val="150000"/>
              </a:lnSpc>
              <a:buNone/>
            </a:pPr>
            <a:r>
              <a:rPr lang="en-US" sz="1050" b="1" spc="-5" kern="0" dirty="0">
                <a:solidFill>
                  <a:srgbClr val="0EA5E9"/>
                </a:solidFill>
                <a:latin typeface="Inter" pitchFamily="34" charset="0"/>
                <a:ea typeface="Inter" pitchFamily="34" charset="-122"/>
                <a:cs typeface="Inter" pitchFamily="34" charset="-120"/>
              </a:rPr>
              <a:t>평균 </a:t>
            </a:r>
            <a:pPr algn="l" indent="0" marL="0">
              <a:lnSpc>
                <a:spcPct val="150000"/>
              </a:lnSpc>
              <a:buNone/>
            </a:pPr>
            <a:r>
              <a:rPr lang="en-US" sz="1050" spc="-5" kern="0" dirty="0">
                <a:solidFill>
                  <a:srgbClr val="475569"/>
                </a:solidFill>
                <a:latin typeface="Inter" pitchFamily="34" charset="0"/>
                <a:ea typeface="Inter" pitchFamily="34" charset="-122"/>
                <a:cs typeface="Inter" pitchFamily="34" charset="-120"/>
              </a:rPr>
              <a:t>낸다</a:t>
            </a:r>
            <a:endParaRPr lang="en-US" sz="1050" dirty="0"/>
          </a:p>
        </p:txBody>
      </p:sp>
      <p:sp>
        <p:nvSpPr>
          <p:cNvPr id="22" name="Shape 17"/>
          <p:cNvSpPr/>
          <p:nvPr/>
        </p:nvSpPr>
        <p:spPr>
          <a:xfrm>
            <a:off x="723900" y="5045671"/>
            <a:ext cx="10744200" cy="9525"/>
          </a:xfrm>
          <a:prstGeom prst="rect">
            <a:avLst/>
          </a:prstGeom>
          <a:solidFill>
            <a:srgbClr val="E5E7EB"/>
          </a:solidFill>
          <a:ln/>
        </p:spPr>
      </p:sp>
      <p:sp>
        <p:nvSpPr>
          <p:cNvPr id="23" name="Text 18"/>
          <p:cNvSpPr/>
          <p:nvPr/>
        </p:nvSpPr>
        <p:spPr>
          <a:xfrm>
            <a:off x="723900" y="5185371"/>
            <a:ext cx="11066526" cy="266898"/>
          </a:xfrm>
          <a:prstGeom prst="rect">
            <a:avLst/>
          </a:prstGeom>
          <a:noFill/>
          <a:ln/>
        </p:spPr>
        <p:txBody>
          <a:bodyPr wrap="square" lIns="25400" tIns="25400" rIns="25400" bIns="25400" rtlCol="0" anchor="t">
            <a:normAutofit/>
          </a:bodyPr>
          <a:lstStyle/>
          <a:p>
            <a:pPr algn="l" indent="0" marL="0">
              <a:lnSpc>
                <a:spcPct val="155000"/>
              </a:lnSpc>
              <a:buNone/>
            </a:pPr>
            <a:r>
              <a:rPr lang="en-US" sz="1163" spc="-6" kern="0" dirty="0">
                <a:solidFill>
                  <a:srgbClr val="64748B"/>
                </a:solidFill>
                <a:latin typeface="Inter" pitchFamily="34" charset="0"/>
                <a:ea typeface="Inter" pitchFamily="34" charset="-122"/>
                <a:cs typeface="Inter" pitchFamily="34" charset="-120"/>
              </a:rPr>
              <a:t>추정 알고리즘과 표본 크기 보정 과정은 </a:t>
            </a:r>
            <a:pPr algn="l" indent="0" marL="0">
              <a:lnSpc>
                <a:spcPct val="155000"/>
              </a:lnSpc>
              <a:buNone/>
            </a:pPr>
            <a:r>
              <a:rPr lang="en-US" sz="1163" b="1" spc="-6" kern="0" dirty="0">
                <a:solidFill>
                  <a:srgbClr val="1E3A5F"/>
                </a:solidFill>
                <a:latin typeface="Inter" pitchFamily="34" charset="0"/>
                <a:ea typeface="Inter" pitchFamily="34" charset="-122"/>
                <a:cs typeface="Inter" pitchFamily="34" charset="-120"/>
              </a:rPr>
              <a:t>논문 그대로</a:t>
            </a:r>
            <a:endParaRPr lang="en-US" sz="116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285750"/>
            <a:ext cx="497979" cy="222250"/>
          </a:xfrm>
          <a:prstGeom prst="rect">
            <a:avLst/>
          </a:prstGeom>
          <a:noFill/>
          <a:ln/>
        </p:spPr>
        <p:txBody>
          <a:bodyPr wrap="square" lIns="25400" tIns="25400" rIns="25400" bIns="25400" rtlCol="0" anchor="ctr">
            <a:normAutofit/>
          </a:bodyPr>
          <a:lstStyle/>
          <a:p>
            <a:pPr algn="l" indent="0" marL="0">
              <a:buNone/>
            </a:pPr>
            <a:r>
              <a:rPr lang="en-US" sz="975" b="1" spc="116" kern="0" dirty="0">
                <a:solidFill>
                  <a:srgbClr val="8B5CF6"/>
                </a:solidFill>
                <a:latin typeface="Inter" pitchFamily="34" charset="0"/>
                <a:ea typeface="Inter" pitchFamily="34" charset="-122"/>
                <a:cs typeface="Inter" pitchFamily="34" charset="-120"/>
              </a:rPr>
              <a:t>방법</a:t>
            </a:r>
            <a:endParaRPr lang="en-US" sz="975" dirty="0"/>
          </a:p>
        </p:txBody>
      </p:sp>
      <p:sp>
        <p:nvSpPr>
          <p:cNvPr id="3" name="Text 1"/>
          <p:cNvSpPr/>
          <p:nvPr/>
        </p:nvSpPr>
        <p:spPr>
          <a:xfrm>
            <a:off x="723900" y="533400"/>
            <a:ext cx="10791825" cy="520005"/>
          </a:xfrm>
          <a:prstGeom prst="rect">
            <a:avLst/>
          </a:prstGeom>
          <a:noFill/>
          <a:ln/>
        </p:spPr>
        <p:txBody>
          <a:bodyPr wrap="square" lIns="25400" tIns="25400" rIns="25400" bIns="25400" rtlCol="0" anchor="t">
            <a:normAutofit/>
          </a:bodyPr>
          <a:lstStyle/>
          <a:p>
            <a:pPr algn="l" indent="0" marL="0">
              <a:lnSpc>
                <a:spcPct val="115000"/>
              </a:lnSpc>
              <a:buNone/>
            </a:pPr>
            <a:r>
              <a:rPr lang="en-US" sz="3300" b="1" spc="-82" kern="0" dirty="0">
                <a:solidFill>
                  <a:srgbClr val="1E3A5F"/>
                </a:solidFill>
                <a:latin typeface="Inter" pitchFamily="34" charset="0"/>
                <a:ea typeface="Inter" pitchFamily="34" charset="-122"/>
                <a:cs typeface="Inter" pitchFamily="34" charset="-120"/>
              </a:rPr>
              <a:t>세 가지 방식을 같은 조건으로 비교했다</a:t>
            </a:r>
            <a:endParaRPr lang="en-US" sz="3300" dirty="0"/>
          </a:p>
        </p:txBody>
      </p:sp>
      <p:sp>
        <p:nvSpPr>
          <p:cNvPr id="4" name="Shape 2"/>
          <p:cNvSpPr/>
          <p:nvPr/>
        </p:nvSpPr>
        <p:spPr>
          <a:xfrm>
            <a:off x="723900" y="1148655"/>
            <a:ext cx="381000" cy="28575"/>
          </a:xfrm>
          <a:prstGeom prst="rect">
            <a:avLst/>
          </a:prstGeom>
          <a:solidFill>
            <a:srgbClr val="8B5CF6"/>
          </a:solidFill>
          <a:ln/>
        </p:spPr>
      </p:sp>
      <p:sp>
        <p:nvSpPr>
          <p:cNvPr id="5" name="Shape 3"/>
          <p:cNvSpPr/>
          <p:nvPr/>
        </p:nvSpPr>
        <p:spPr>
          <a:xfrm>
            <a:off x="723900" y="2510830"/>
            <a:ext cx="3467100" cy="1993106"/>
          </a:xfrm>
          <a:prstGeom prst="rect">
            <a:avLst/>
          </a:prstGeom>
          <a:solidFill>
            <a:srgbClr val="FFFFFF"/>
          </a:solidFill>
          <a:ln w="12700">
            <a:solidFill>
              <a:srgbClr val="94A3B8"/>
            </a:solidFill>
            <a:prstDash val="solid"/>
          </a:ln>
        </p:spPr>
      </p:sp>
      <p:sp>
        <p:nvSpPr>
          <p:cNvPr id="6" name="Text 4"/>
          <p:cNvSpPr/>
          <p:nvPr/>
        </p:nvSpPr>
        <p:spPr>
          <a:xfrm>
            <a:off x="927100" y="2694980"/>
            <a:ext cx="3152521" cy="222250"/>
          </a:xfrm>
          <a:prstGeom prst="rect">
            <a:avLst/>
          </a:prstGeom>
          <a:noFill/>
          <a:ln/>
        </p:spPr>
        <p:txBody>
          <a:bodyPr wrap="square" lIns="25400" tIns="25400" rIns="25400" bIns="25400" rtlCol="0" anchor="t">
            <a:normAutofit/>
          </a:bodyPr>
          <a:lstStyle/>
          <a:p>
            <a:pPr algn="l" indent="0" marL="0">
              <a:buNone/>
            </a:pPr>
            <a:r>
              <a:rPr lang="en-US" sz="975" spc="39" kern="0" dirty="0">
                <a:solidFill>
                  <a:srgbClr val="64748B"/>
                </a:solidFill>
                <a:latin typeface="Inter" pitchFamily="34" charset="0"/>
                <a:ea typeface="Inter" pitchFamily="34" charset="-122"/>
                <a:cs typeface="Inter" pitchFamily="34" charset="-120"/>
              </a:rPr>
              <a:t>비교의 기준</a:t>
            </a:r>
            <a:endParaRPr lang="en-US" sz="975" dirty="0"/>
          </a:p>
        </p:txBody>
      </p:sp>
      <p:sp>
        <p:nvSpPr>
          <p:cNvPr id="7" name="Text 5"/>
          <p:cNvSpPr/>
          <p:nvPr/>
        </p:nvSpPr>
        <p:spPr>
          <a:xfrm>
            <a:off x="927100" y="2955330"/>
            <a:ext cx="3152521"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spc="-16" kern="0" dirty="0">
                <a:solidFill>
                  <a:srgbClr val="475569"/>
                </a:solidFill>
                <a:latin typeface="Inter" pitchFamily="34" charset="0"/>
                <a:ea typeface="Inter" pitchFamily="34" charset="-122"/>
                <a:cs typeface="Inter" pitchFamily="34" charset="-120"/>
              </a:rPr>
              <a:t>기존 방식</a:t>
            </a:r>
            <a:endParaRPr lang="en-US" sz="1650" dirty="0"/>
          </a:p>
        </p:txBody>
      </p:sp>
      <p:pic>
        <p:nvPicPr>
          <p:cNvPr id="8" name="Image 0" descr="preencoded.png">    </p:cNvPr>
          <p:cNvPicPr>
            <a:picLocks noChangeAspect="1"/>
          </p:cNvPicPr>
          <p:nvPr/>
        </p:nvPicPr>
        <p:blipFill>
          <a:blip r:embed="rId1"/>
          <a:stretch>
            <a:fillRect/>
          </a:stretch>
        </p:blipFill>
        <p:spPr>
          <a:xfrm>
            <a:off x="927100" y="3293467"/>
            <a:ext cx="3060700" cy="742950"/>
          </a:xfrm>
          <a:prstGeom prst="rect">
            <a:avLst/>
          </a:prstGeom>
        </p:spPr>
      </p:pic>
      <p:sp>
        <p:nvSpPr>
          <p:cNvPr id="9" name="Text 6"/>
          <p:cNvSpPr/>
          <p:nvPr/>
        </p:nvSpPr>
        <p:spPr>
          <a:xfrm>
            <a:off x="927100" y="4112617"/>
            <a:ext cx="3152521" cy="245269"/>
          </a:xfrm>
          <a:prstGeom prst="rect">
            <a:avLst/>
          </a:prstGeom>
          <a:noFill/>
          <a:ln/>
        </p:spPr>
        <p:txBody>
          <a:bodyPr wrap="square" lIns="25400" tIns="25400" rIns="25400" bIns="25400" rtlCol="0" anchor="t">
            <a:normAutofit/>
          </a:bodyPr>
          <a:lstStyle/>
          <a:p>
            <a:pPr algn="l" indent="0" marL="0">
              <a:lnSpc>
                <a:spcPct val="150000"/>
              </a:lnSpc>
              <a:buNone/>
            </a:pPr>
            <a:r>
              <a:rPr lang="en-US" sz="1088" spc="-5" kern="0" dirty="0">
                <a:solidFill>
                  <a:srgbClr val="475569"/>
                </a:solidFill>
                <a:latin typeface="Inter" pitchFamily="34" charset="0"/>
                <a:ea typeface="Inter" pitchFamily="34" charset="-122"/>
                <a:cs typeface="Inter" pitchFamily="34" charset="-120"/>
              </a:rPr>
              <a:t>논문 그대로의 </a:t>
            </a:r>
            <a:pPr algn="l" indent="0" marL="0">
              <a:lnSpc>
                <a:spcPct val="150000"/>
              </a:lnSpc>
              <a:buNone/>
            </a:pPr>
            <a:r>
              <a:rPr lang="en-US" sz="1088" b="1" spc="-5" kern="0" dirty="0">
                <a:solidFill>
                  <a:srgbClr val="1E3A5F"/>
                </a:solidFill>
                <a:latin typeface="Inter" pitchFamily="34" charset="0"/>
                <a:ea typeface="Inter" pitchFamily="34" charset="-122"/>
                <a:cs typeface="Inter" pitchFamily="34" charset="-120"/>
              </a:rPr>
              <a:t>무작위 표본 추출</a:t>
            </a:r>
            <a:pPr algn="l" indent="0" marL="0">
              <a:lnSpc>
                <a:spcPct val="150000"/>
              </a:lnSpc>
              <a:buNone/>
            </a:pPr>
            <a:r>
              <a:rPr lang="en-US" sz="1088" spc="-5" kern="0" dirty="0">
                <a:solidFill>
                  <a:srgbClr val="475569"/>
                </a:solidFill>
                <a:latin typeface="Inter" pitchFamily="34" charset="0"/>
                <a:ea typeface="Inter" pitchFamily="34" charset="-122"/>
                <a:cs typeface="Inter" pitchFamily="34" charset="-120"/>
              </a:rPr>
              <a:t>로 추정.</a:t>
            </a:r>
            <a:endParaRPr lang="en-US" sz="1088" dirty="0"/>
          </a:p>
        </p:txBody>
      </p:sp>
      <p:sp>
        <p:nvSpPr>
          <p:cNvPr id="10" name="Shape 7"/>
          <p:cNvSpPr/>
          <p:nvPr/>
        </p:nvSpPr>
        <p:spPr>
          <a:xfrm>
            <a:off x="4362450" y="2510830"/>
            <a:ext cx="3467100" cy="1993106"/>
          </a:xfrm>
          <a:prstGeom prst="rect">
            <a:avLst/>
          </a:prstGeom>
          <a:solidFill>
            <a:srgbClr val="FFFFFF"/>
          </a:solidFill>
          <a:ln w="12700">
            <a:solidFill>
              <a:srgbClr val="F97316"/>
            </a:solidFill>
            <a:prstDash val="solid"/>
          </a:ln>
        </p:spPr>
      </p:sp>
      <p:sp>
        <p:nvSpPr>
          <p:cNvPr id="11" name="Text 8"/>
          <p:cNvSpPr/>
          <p:nvPr/>
        </p:nvSpPr>
        <p:spPr>
          <a:xfrm>
            <a:off x="4565650" y="2694980"/>
            <a:ext cx="3152521" cy="222250"/>
          </a:xfrm>
          <a:prstGeom prst="rect">
            <a:avLst/>
          </a:prstGeom>
          <a:noFill/>
          <a:ln/>
        </p:spPr>
        <p:txBody>
          <a:bodyPr wrap="square" lIns="25400" tIns="25400" rIns="25400" bIns="25400" rtlCol="0" anchor="t">
            <a:normAutofit/>
          </a:bodyPr>
          <a:lstStyle/>
          <a:p>
            <a:pPr algn="l" indent="0" marL="0">
              <a:buNone/>
            </a:pPr>
            <a:r>
              <a:rPr lang="en-US" sz="975" spc="39" kern="0" dirty="0">
                <a:solidFill>
                  <a:srgbClr val="F97316"/>
                </a:solidFill>
                <a:latin typeface="Inter" pitchFamily="34" charset="0"/>
                <a:ea typeface="Inter" pitchFamily="34" charset="-122"/>
                <a:cs typeface="Inter" pitchFamily="34" charset="-120"/>
              </a:rPr>
              <a:t>우리 표본만 사용</a:t>
            </a:r>
            <a:endParaRPr lang="en-US" sz="975" dirty="0"/>
          </a:p>
        </p:txBody>
      </p:sp>
      <p:sp>
        <p:nvSpPr>
          <p:cNvPr id="12" name="Text 9"/>
          <p:cNvSpPr/>
          <p:nvPr/>
        </p:nvSpPr>
        <p:spPr>
          <a:xfrm>
            <a:off x="4565650" y="2955330"/>
            <a:ext cx="3152521"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spc="-16" kern="0" dirty="0">
                <a:solidFill>
                  <a:srgbClr val="F97316"/>
                </a:solidFill>
                <a:latin typeface="Inter" pitchFamily="34" charset="0"/>
                <a:ea typeface="Inter" pitchFamily="34" charset="-122"/>
                <a:cs typeface="Inter" pitchFamily="34" charset="-120"/>
              </a:rPr>
              <a:t>완전 대체</a:t>
            </a:r>
            <a:endParaRPr lang="en-US" sz="1650" dirty="0"/>
          </a:p>
        </p:txBody>
      </p:sp>
      <p:pic>
        <p:nvPicPr>
          <p:cNvPr id="13" name="Image 1" descr="preencoded.png">    </p:cNvPr>
          <p:cNvPicPr>
            <a:picLocks noChangeAspect="1"/>
          </p:cNvPicPr>
          <p:nvPr/>
        </p:nvPicPr>
        <p:blipFill>
          <a:blip r:embed="rId2"/>
          <a:stretch>
            <a:fillRect/>
          </a:stretch>
        </p:blipFill>
        <p:spPr>
          <a:xfrm>
            <a:off x="4565650" y="3293467"/>
            <a:ext cx="3060700" cy="742950"/>
          </a:xfrm>
          <a:prstGeom prst="rect">
            <a:avLst/>
          </a:prstGeom>
        </p:spPr>
      </p:pic>
      <p:sp>
        <p:nvSpPr>
          <p:cNvPr id="14" name="Text 10"/>
          <p:cNvSpPr/>
          <p:nvPr/>
        </p:nvSpPr>
        <p:spPr>
          <a:xfrm>
            <a:off x="4565650" y="4112617"/>
            <a:ext cx="3152521" cy="245269"/>
          </a:xfrm>
          <a:prstGeom prst="rect">
            <a:avLst/>
          </a:prstGeom>
          <a:noFill/>
          <a:ln/>
        </p:spPr>
        <p:txBody>
          <a:bodyPr wrap="square" lIns="25400" tIns="25400" rIns="25400" bIns="25400" rtlCol="0" anchor="t">
            <a:normAutofit/>
          </a:bodyPr>
          <a:lstStyle/>
          <a:p>
            <a:pPr algn="l" indent="0" marL="0">
              <a:lnSpc>
                <a:spcPct val="150000"/>
              </a:lnSpc>
              <a:buNone/>
            </a:pPr>
            <a:r>
              <a:rPr lang="en-US" sz="1088" spc="-5" kern="0" dirty="0">
                <a:solidFill>
                  <a:srgbClr val="475569"/>
                </a:solidFill>
                <a:latin typeface="Inter" pitchFamily="34" charset="0"/>
                <a:ea typeface="Inter" pitchFamily="34" charset="-122"/>
                <a:cs typeface="Inter" pitchFamily="34" charset="-120"/>
              </a:rPr>
              <a:t>무작위 표본을 우리 표본으로 </a:t>
            </a:r>
            <a:pPr algn="l" indent="0" marL="0">
              <a:lnSpc>
                <a:spcPct val="150000"/>
              </a:lnSpc>
              <a:buNone/>
            </a:pPr>
            <a:r>
              <a:rPr lang="en-US" sz="1088" b="1" spc="-5" kern="0" dirty="0">
                <a:solidFill>
                  <a:srgbClr val="F97316"/>
                </a:solidFill>
                <a:latin typeface="Inter" pitchFamily="34" charset="0"/>
                <a:ea typeface="Inter" pitchFamily="34" charset="-122"/>
                <a:cs typeface="Inter" pitchFamily="34" charset="-120"/>
              </a:rPr>
              <a:t>통째 교체</a:t>
            </a:r>
            <a:pPr algn="l" indent="0" marL="0">
              <a:lnSpc>
                <a:spcPct val="150000"/>
              </a:lnSpc>
              <a:buNone/>
            </a:pPr>
            <a:r>
              <a:rPr lang="en-US" sz="1088" spc="-5" kern="0" dirty="0">
                <a:solidFill>
                  <a:srgbClr val="475569"/>
                </a:solidFill>
                <a:latin typeface="Inter" pitchFamily="34" charset="0"/>
                <a:ea typeface="Inter" pitchFamily="34" charset="-122"/>
                <a:cs typeface="Inter" pitchFamily="34" charset="-120"/>
              </a:rPr>
              <a:t>해 추정.</a:t>
            </a:r>
            <a:endParaRPr lang="en-US" sz="1088" dirty="0"/>
          </a:p>
        </p:txBody>
      </p:sp>
      <p:sp>
        <p:nvSpPr>
          <p:cNvPr id="15" name="Shape 11"/>
          <p:cNvSpPr/>
          <p:nvPr/>
        </p:nvSpPr>
        <p:spPr>
          <a:xfrm>
            <a:off x="8001000" y="2510830"/>
            <a:ext cx="3467100" cy="1993106"/>
          </a:xfrm>
          <a:prstGeom prst="rect">
            <a:avLst/>
          </a:prstGeom>
          <a:solidFill>
            <a:srgbClr val="E5F4FB"/>
          </a:solidFill>
          <a:ln w="12700">
            <a:solidFill>
              <a:srgbClr val="0EA5E9"/>
            </a:solidFill>
            <a:prstDash val="solid"/>
          </a:ln>
        </p:spPr>
      </p:sp>
      <p:sp>
        <p:nvSpPr>
          <p:cNvPr id="16" name="Text 12"/>
          <p:cNvSpPr/>
          <p:nvPr/>
        </p:nvSpPr>
        <p:spPr>
          <a:xfrm>
            <a:off x="8204200" y="2694980"/>
            <a:ext cx="3152521" cy="222250"/>
          </a:xfrm>
          <a:prstGeom prst="rect">
            <a:avLst/>
          </a:prstGeom>
          <a:noFill/>
          <a:ln/>
        </p:spPr>
        <p:txBody>
          <a:bodyPr wrap="square" lIns="25400" tIns="25400" rIns="25400" bIns="25400" rtlCol="0" anchor="t">
            <a:normAutofit/>
          </a:bodyPr>
          <a:lstStyle/>
          <a:p>
            <a:pPr algn="l" indent="0" marL="0">
              <a:buNone/>
            </a:pPr>
            <a:r>
              <a:rPr lang="en-US" sz="975" spc="39" kern="0" dirty="0">
                <a:solidFill>
                  <a:srgbClr val="0EA5E9"/>
                </a:solidFill>
                <a:latin typeface="Inter" pitchFamily="34" charset="0"/>
                <a:ea typeface="Inter" pitchFamily="34" charset="-122"/>
                <a:cs typeface="Inter" pitchFamily="34" charset="-120"/>
              </a:rPr>
              <a:t>두 추정값 평균</a:t>
            </a:r>
            <a:endParaRPr lang="en-US" sz="975" dirty="0"/>
          </a:p>
        </p:txBody>
      </p:sp>
      <p:sp>
        <p:nvSpPr>
          <p:cNvPr id="17" name="Text 13"/>
          <p:cNvSpPr/>
          <p:nvPr/>
        </p:nvSpPr>
        <p:spPr>
          <a:xfrm>
            <a:off x="8204200" y="2955330"/>
            <a:ext cx="3152521"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spc="-16" kern="0" dirty="0">
                <a:solidFill>
                  <a:srgbClr val="0EA5E9"/>
                </a:solidFill>
                <a:latin typeface="Inter" pitchFamily="34" charset="0"/>
                <a:ea typeface="Inter" pitchFamily="34" charset="-122"/>
                <a:cs typeface="Inter" pitchFamily="34" charset="-120"/>
              </a:rPr>
              <a:t>결합</a:t>
            </a:r>
            <a:endParaRPr lang="en-US" sz="1650" dirty="0"/>
          </a:p>
        </p:txBody>
      </p:sp>
      <p:pic>
        <p:nvPicPr>
          <p:cNvPr id="18" name="Image 2" descr="preencoded.png">    </p:cNvPr>
          <p:cNvPicPr>
            <a:picLocks noChangeAspect="1"/>
          </p:cNvPicPr>
          <p:nvPr/>
        </p:nvPicPr>
        <p:blipFill>
          <a:blip r:embed="rId3"/>
          <a:stretch>
            <a:fillRect/>
          </a:stretch>
        </p:blipFill>
        <p:spPr>
          <a:xfrm>
            <a:off x="8204200" y="3293467"/>
            <a:ext cx="3060700" cy="742950"/>
          </a:xfrm>
          <a:prstGeom prst="rect">
            <a:avLst/>
          </a:prstGeom>
        </p:spPr>
      </p:pic>
      <p:sp>
        <p:nvSpPr>
          <p:cNvPr id="19" name="Text 14"/>
          <p:cNvSpPr/>
          <p:nvPr/>
        </p:nvSpPr>
        <p:spPr>
          <a:xfrm>
            <a:off x="8204200" y="4112617"/>
            <a:ext cx="3152521" cy="245269"/>
          </a:xfrm>
          <a:prstGeom prst="rect">
            <a:avLst/>
          </a:prstGeom>
          <a:noFill/>
          <a:ln/>
        </p:spPr>
        <p:txBody>
          <a:bodyPr wrap="square" lIns="25400" tIns="25400" rIns="25400" bIns="25400" rtlCol="0" anchor="t">
            <a:normAutofit/>
          </a:bodyPr>
          <a:lstStyle/>
          <a:p>
            <a:pPr algn="l" indent="0" marL="0">
              <a:lnSpc>
                <a:spcPct val="150000"/>
              </a:lnSpc>
              <a:buNone/>
            </a:pPr>
            <a:r>
              <a:rPr lang="en-US" sz="1088" spc="-5" kern="0" dirty="0">
                <a:solidFill>
                  <a:srgbClr val="475569"/>
                </a:solidFill>
                <a:latin typeface="Inter" pitchFamily="34" charset="0"/>
                <a:ea typeface="Inter" pitchFamily="34" charset="-122"/>
                <a:cs typeface="Inter" pitchFamily="34" charset="-120"/>
              </a:rPr>
              <a:t>논문 추정값과 우리 추정값을 </a:t>
            </a:r>
            <a:pPr algn="l" indent="0" marL="0">
              <a:lnSpc>
                <a:spcPct val="150000"/>
              </a:lnSpc>
              <a:buNone/>
            </a:pPr>
            <a:r>
              <a:rPr lang="en-US" sz="1088" b="1" spc="-5" kern="0" dirty="0">
                <a:solidFill>
                  <a:srgbClr val="0EA5E9"/>
                </a:solidFill>
                <a:latin typeface="Inter" pitchFamily="34" charset="0"/>
                <a:ea typeface="Inter" pitchFamily="34" charset="-122"/>
                <a:cs typeface="Inter" pitchFamily="34" charset="-120"/>
              </a:rPr>
              <a:t>평균 </a:t>
            </a:r>
            <a:pPr algn="l" indent="0" marL="0">
              <a:lnSpc>
                <a:spcPct val="150000"/>
              </a:lnSpc>
              <a:buNone/>
            </a:pPr>
            <a:r>
              <a:rPr lang="en-US" sz="1088" spc="-5" kern="0" dirty="0">
                <a:solidFill>
                  <a:srgbClr val="475569"/>
                </a:solidFill>
                <a:latin typeface="Inter" pitchFamily="34" charset="0"/>
                <a:ea typeface="Inter" pitchFamily="34" charset="-122"/>
                <a:cs typeface="Inter" pitchFamily="34" charset="-120"/>
              </a:rPr>
              <a:t>내어 함께.</a:t>
            </a:r>
            <a:endParaRPr lang="en-US" sz="1088" dirty="0"/>
          </a:p>
        </p:txBody>
      </p:sp>
      <p:sp>
        <p:nvSpPr>
          <p:cNvPr id="20" name="Shape 15"/>
          <p:cNvSpPr/>
          <p:nvPr/>
        </p:nvSpPr>
        <p:spPr>
          <a:xfrm>
            <a:off x="723900" y="4675386"/>
            <a:ext cx="10744200" cy="477441"/>
          </a:xfrm>
          <a:prstGeom prst="rect">
            <a:avLst/>
          </a:prstGeom>
          <a:solidFill>
            <a:srgbClr val="FAFAFA"/>
          </a:solidFill>
          <a:ln w="6350">
            <a:solidFill>
              <a:srgbClr val="E5E7EB"/>
            </a:solidFill>
            <a:prstDash val="solid"/>
          </a:ln>
        </p:spPr>
      </p:sp>
      <p:sp>
        <p:nvSpPr>
          <p:cNvPr id="21" name="Text 16"/>
          <p:cNvSpPr/>
          <p:nvPr/>
        </p:nvSpPr>
        <p:spPr>
          <a:xfrm>
            <a:off x="920750" y="4796036"/>
            <a:ext cx="10672826" cy="274241"/>
          </a:xfrm>
          <a:prstGeom prst="rect">
            <a:avLst/>
          </a:prstGeom>
          <a:noFill/>
          <a:ln/>
        </p:spPr>
        <p:txBody>
          <a:bodyPr wrap="square" lIns="25400" tIns="25400" rIns="25400" bIns="25400" rtlCol="0" anchor="t">
            <a:normAutofit/>
          </a:bodyPr>
          <a:lstStyle/>
          <a:p>
            <a:pPr algn="l" indent="0" marL="0">
              <a:lnSpc>
                <a:spcPct val="155000"/>
              </a:lnSpc>
              <a:buNone/>
            </a:pPr>
            <a:r>
              <a:rPr lang="en-US" sz="1200" spc="-6" kern="0" dirty="0">
                <a:solidFill>
                  <a:srgbClr val="475569"/>
                </a:solidFill>
                <a:highlight>
                  <a:srgbClr val="FAFAFA"/>
                </a:highlight>
                <a:latin typeface="Inter" pitchFamily="34" charset="0"/>
                <a:ea typeface="Inter" pitchFamily="34" charset="-122"/>
                <a:cs typeface="Inter" pitchFamily="34" charset="-120"/>
              </a:rPr>
              <a:t>한 번의 측정에서 세 방식을 </a:t>
            </a:r>
            <a:pPr algn="l" indent="0" marL="0">
              <a:lnSpc>
                <a:spcPct val="155000"/>
              </a:lnSpc>
              <a:buNone/>
            </a:pPr>
            <a:r>
              <a:rPr lang="en-US" sz="1200" b="1" spc="-6" kern="0" dirty="0">
                <a:solidFill>
                  <a:srgbClr val="1E3A5F"/>
                </a:solidFill>
                <a:latin typeface="Inter" pitchFamily="34" charset="0"/>
                <a:ea typeface="Inter" pitchFamily="34" charset="-122"/>
                <a:cs typeface="Inter" pitchFamily="34" charset="-120"/>
              </a:rPr>
              <a:t>똑같은 데이터·똑같은 조건</a:t>
            </a:r>
            <a:pPr algn="l" indent="0" marL="0">
              <a:lnSpc>
                <a:spcPct val="155000"/>
              </a:lnSpc>
              <a:buNone/>
            </a:pPr>
            <a:r>
              <a:rPr lang="en-US" sz="1200" spc="-6" kern="0" dirty="0">
                <a:solidFill>
                  <a:srgbClr val="475569"/>
                </a:solidFill>
                <a:highlight>
                  <a:srgbClr val="FAFAFA"/>
                </a:highlight>
                <a:latin typeface="Inter" pitchFamily="34" charset="0"/>
                <a:ea typeface="Inter" pitchFamily="34" charset="-122"/>
                <a:cs typeface="Inter" pitchFamily="34" charset="-120"/>
              </a:rPr>
              <a:t>으로 동시 비교 → 차이가 방식 때문임을 분명히</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285750"/>
            <a:ext cx="497979" cy="222250"/>
          </a:xfrm>
          <a:prstGeom prst="rect">
            <a:avLst/>
          </a:prstGeom>
          <a:noFill/>
          <a:ln/>
        </p:spPr>
        <p:txBody>
          <a:bodyPr wrap="square" lIns="25400" tIns="25400" rIns="25400" bIns="25400" rtlCol="0" anchor="ctr">
            <a:normAutofit/>
          </a:bodyPr>
          <a:lstStyle/>
          <a:p>
            <a:pPr algn="l" indent="0" marL="0">
              <a:buNone/>
            </a:pPr>
            <a:r>
              <a:rPr lang="en-US" sz="975" b="1" spc="116" kern="0" dirty="0">
                <a:solidFill>
                  <a:srgbClr val="8B5CF6"/>
                </a:solidFill>
                <a:latin typeface="Inter" pitchFamily="34" charset="0"/>
                <a:ea typeface="Inter" pitchFamily="34" charset="-122"/>
                <a:cs typeface="Inter" pitchFamily="34" charset="-120"/>
              </a:rPr>
              <a:t>방법</a:t>
            </a:r>
            <a:endParaRPr lang="en-US" sz="975" dirty="0"/>
          </a:p>
        </p:txBody>
      </p:sp>
      <p:sp>
        <p:nvSpPr>
          <p:cNvPr id="3" name="Text 1"/>
          <p:cNvSpPr/>
          <p:nvPr/>
        </p:nvSpPr>
        <p:spPr>
          <a:xfrm>
            <a:off x="723900" y="533400"/>
            <a:ext cx="10791825" cy="520005"/>
          </a:xfrm>
          <a:prstGeom prst="rect">
            <a:avLst/>
          </a:prstGeom>
          <a:noFill/>
          <a:ln/>
        </p:spPr>
        <p:txBody>
          <a:bodyPr wrap="square" lIns="25400" tIns="25400" rIns="25400" bIns="25400" rtlCol="0" anchor="t">
            <a:normAutofit/>
          </a:bodyPr>
          <a:lstStyle/>
          <a:p>
            <a:pPr algn="l" indent="0" marL="0">
              <a:lnSpc>
                <a:spcPct val="115000"/>
              </a:lnSpc>
              <a:buNone/>
            </a:pPr>
            <a:r>
              <a:rPr lang="en-US" sz="3300" b="1" spc="-82" kern="0" dirty="0">
                <a:solidFill>
                  <a:srgbClr val="1E3A5F"/>
                </a:solidFill>
                <a:latin typeface="Inter" pitchFamily="34" charset="0"/>
                <a:ea typeface="Inter" pitchFamily="34" charset="-122"/>
                <a:cs typeface="Inter" pitchFamily="34" charset="-120"/>
              </a:rPr>
              <a:t>무엇을, 어떤 조건으로 측정했는가</a:t>
            </a:r>
            <a:endParaRPr lang="en-US" sz="3300" dirty="0"/>
          </a:p>
        </p:txBody>
      </p:sp>
      <p:sp>
        <p:nvSpPr>
          <p:cNvPr id="4" name="Shape 2"/>
          <p:cNvSpPr/>
          <p:nvPr/>
        </p:nvSpPr>
        <p:spPr>
          <a:xfrm>
            <a:off x="723900" y="1148655"/>
            <a:ext cx="381000" cy="28575"/>
          </a:xfrm>
          <a:prstGeom prst="rect">
            <a:avLst/>
          </a:prstGeom>
          <a:solidFill>
            <a:srgbClr val="8B5CF6"/>
          </a:solidFill>
          <a:ln/>
        </p:spPr>
      </p:sp>
      <p:sp>
        <p:nvSpPr>
          <p:cNvPr id="5" name="Shape 3"/>
          <p:cNvSpPr/>
          <p:nvPr/>
        </p:nvSpPr>
        <p:spPr>
          <a:xfrm>
            <a:off x="723900" y="1815703"/>
            <a:ext cx="10744200" cy="596900"/>
          </a:xfrm>
          <a:prstGeom prst="rect">
            <a:avLst/>
          </a:prstGeom>
          <a:solidFill>
            <a:srgbClr val="FFFFFF"/>
          </a:solidFill>
          <a:ln w="6350">
            <a:solidFill>
              <a:srgbClr val="E5E7EB"/>
            </a:solidFill>
            <a:prstDash val="solid"/>
          </a:ln>
        </p:spPr>
      </p:sp>
      <p:pic>
        <p:nvPicPr>
          <p:cNvPr id="6" name="Image 0" descr="preencoded.png">    </p:cNvPr>
          <p:cNvPicPr>
            <a:picLocks noChangeAspect="1"/>
          </p:cNvPicPr>
          <p:nvPr/>
        </p:nvPicPr>
        <p:blipFill>
          <a:blip r:embed="rId1"/>
          <a:stretch>
            <a:fillRect/>
          </a:stretch>
        </p:blipFill>
        <p:spPr>
          <a:xfrm>
            <a:off x="939800" y="1961753"/>
            <a:ext cx="304800" cy="304800"/>
          </a:xfrm>
          <a:prstGeom prst="rect">
            <a:avLst/>
          </a:prstGeom>
        </p:spPr>
      </p:pic>
      <p:sp>
        <p:nvSpPr>
          <p:cNvPr id="7" name="Text 4"/>
          <p:cNvSpPr/>
          <p:nvPr/>
        </p:nvSpPr>
        <p:spPr>
          <a:xfrm>
            <a:off x="1568450" y="1987153"/>
            <a:ext cx="1790700" cy="292100"/>
          </a:xfrm>
          <a:prstGeom prst="rect">
            <a:avLst/>
          </a:prstGeom>
          <a:noFill/>
          <a:ln/>
        </p:spPr>
        <p:txBody>
          <a:bodyPr wrap="square" lIns="25400" tIns="25400" rIns="25400" bIns="25400" rtlCol="0" anchor="t">
            <a:normAutofit/>
          </a:bodyPr>
          <a:lstStyle/>
          <a:p>
            <a:pPr algn="l" indent="0" marL="0">
              <a:buNone/>
            </a:pPr>
            <a:r>
              <a:rPr lang="en-US" sz="1350" spc="-7" kern="0" dirty="0">
                <a:solidFill>
                  <a:srgbClr val="475569"/>
                </a:solidFill>
                <a:latin typeface="Inter" pitchFamily="34" charset="0"/>
                <a:ea typeface="Inter" pitchFamily="34" charset="-122"/>
                <a:cs typeface="Inter" pitchFamily="34" charset="-120"/>
              </a:rPr>
              <a:t>데이터셋</a:t>
            </a:r>
            <a:endParaRPr lang="en-US" sz="1350" dirty="0"/>
          </a:p>
        </p:txBody>
      </p:sp>
      <p:sp>
        <p:nvSpPr>
          <p:cNvPr id="8" name="Text 5"/>
          <p:cNvSpPr/>
          <p:nvPr/>
        </p:nvSpPr>
        <p:spPr>
          <a:xfrm>
            <a:off x="3454400" y="1955403"/>
            <a:ext cx="2747010" cy="355600"/>
          </a:xfrm>
          <a:prstGeom prst="rect">
            <a:avLst/>
          </a:prstGeom>
          <a:noFill/>
          <a:ln/>
        </p:spPr>
        <p:txBody>
          <a:bodyPr wrap="square" lIns="25400" tIns="25400" rIns="25400" bIns="25400" rtlCol="0" anchor="t">
            <a:normAutofit/>
          </a:bodyPr>
          <a:lstStyle/>
          <a:p>
            <a:pPr algn="l" indent="0" marL="0">
              <a:buNone/>
            </a:pPr>
            <a:r>
              <a:rPr lang="en-US" sz="1650" b="1" spc="-25" kern="0" dirty="0">
                <a:solidFill>
                  <a:srgbClr val="1E3A5F"/>
                </a:solidFill>
                <a:latin typeface="Inter" pitchFamily="34" charset="0"/>
                <a:ea typeface="Inter" pitchFamily="34" charset="-122"/>
                <a:cs typeface="Inter" pitchFamily="34" charset="-120"/>
              </a:rPr>
              <a:t>9종 · 96~1024 차원</a:t>
            </a:r>
            <a:endParaRPr lang="en-US" sz="1650" dirty="0"/>
          </a:p>
        </p:txBody>
      </p:sp>
      <p:sp>
        <p:nvSpPr>
          <p:cNvPr id="9" name="Text 6"/>
          <p:cNvSpPr/>
          <p:nvPr/>
        </p:nvSpPr>
        <p:spPr>
          <a:xfrm>
            <a:off x="6292850" y="2010569"/>
            <a:ext cx="5108131" cy="245269"/>
          </a:xfrm>
          <a:prstGeom prst="rect">
            <a:avLst/>
          </a:prstGeom>
          <a:noFill/>
          <a:ln/>
        </p:spPr>
        <p:txBody>
          <a:bodyPr wrap="square" lIns="25400" tIns="25400" rIns="25400" bIns="25400" rtlCol="0" anchor="t">
            <a:normAutofit/>
          </a:bodyPr>
          <a:lstStyle/>
          <a:p>
            <a:pPr algn="l" indent="0" marL="0">
              <a:lnSpc>
                <a:spcPct val="150000"/>
              </a:lnSpc>
              <a:buNone/>
            </a:pPr>
            <a:r>
              <a:rPr lang="en-US" sz="1088" spc="-5" kern="0" dirty="0">
                <a:solidFill>
                  <a:srgbClr val="475569"/>
                </a:solidFill>
                <a:latin typeface="Inter" pitchFamily="34" charset="0"/>
                <a:ea typeface="Inter" pitchFamily="34" charset="-122"/>
                <a:cs typeface="Inter" pitchFamily="34" charset="-120"/>
              </a:rPr>
              <a:t>차원과 도메인을 폭넓게</a:t>
            </a:r>
            <a:endParaRPr lang="en-US" sz="1088" dirty="0"/>
          </a:p>
        </p:txBody>
      </p:sp>
      <p:sp>
        <p:nvSpPr>
          <p:cNvPr id="10" name="Shape 7"/>
          <p:cNvSpPr/>
          <p:nvPr/>
        </p:nvSpPr>
        <p:spPr>
          <a:xfrm>
            <a:off x="723900" y="2507853"/>
            <a:ext cx="10744200" cy="596900"/>
          </a:xfrm>
          <a:prstGeom prst="rect">
            <a:avLst/>
          </a:prstGeom>
          <a:solidFill>
            <a:srgbClr val="FFFFFF"/>
          </a:solidFill>
          <a:ln w="6350">
            <a:solidFill>
              <a:srgbClr val="E5E7EB"/>
            </a:solidFill>
            <a:prstDash val="solid"/>
          </a:ln>
        </p:spPr>
      </p:sp>
      <p:pic>
        <p:nvPicPr>
          <p:cNvPr id="11" name="Image 1" descr="preencoded.png">    </p:cNvPr>
          <p:cNvPicPr>
            <a:picLocks noChangeAspect="1"/>
          </p:cNvPicPr>
          <p:nvPr/>
        </p:nvPicPr>
        <p:blipFill>
          <a:blip r:embed="rId2"/>
          <a:stretch>
            <a:fillRect/>
          </a:stretch>
        </p:blipFill>
        <p:spPr>
          <a:xfrm>
            <a:off x="939800" y="2653903"/>
            <a:ext cx="304800" cy="304800"/>
          </a:xfrm>
          <a:prstGeom prst="rect">
            <a:avLst/>
          </a:prstGeom>
        </p:spPr>
      </p:pic>
      <p:sp>
        <p:nvSpPr>
          <p:cNvPr id="12" name="Text 8"/>
          <p:cNvSpPr/>
          <p:nvPr/>
        </p:nvSpPr>
        <p:spPr>
          <a:xfrm>
            <a:off x="1568450" y="2679303"/>
            <a:ext cx="1790700" cy="292100"/>
          </a:xfrm>
          <a:prstGeom prst="rect">
            <a:avLst/>
          </a:prstGeom>
          <a:noFill/>
          <a:ln/>
        </p:spPr>
        <p:txBody>
          <a:bodyPr wrap="square" lIns="25400" tIns="25400" rIns="25400" bIns="25400" rtlCol="0" anchor="t">
            <a:normAutofit/>
          </a:bodyPr>
          <a:lstStyle/>
          <a:p>
            <a:pPr algn="l" indent="0" marL="0">
              <a:buNone/>
            </a:pPr>
            <a:r>
              <a:rPr lang="en-US" sz="1350" spc="-7" kern="0" dirty="0">
                <a:solidFill>
                  <a:srgbClr val="475569"/>
                </a:solidFill>
                <a:latin typeface="Inter" pitchFamily="34" charset="0"/>
                <a:ea typeface="Inter" pitchFamily="34" charset="-122"/>
                <a:cs typeface="Inter" pitchFamily="34" charset="-120"/>
              </a:rPr>
              <a:t>데이터 규모</a:t>
            </a:r>
            <a:endParaRPr lang="en-US" sz="1350" dirty="0"/>
          </a:p>
        </p:txBody>
      </p:sp>
      <p:sp>
        <p:nvSpPr>
          <p:cNvPr id="13" name="Text 9"/>
          <p:cNvSpPr/>
          <p:nvPr/>
        </p:nvSpPr>
        <p:spPr>
          <a:xfrm>
            <a:off x="3454400" y="2647553"/>
            <a:ext cx="2747010" cy="355600"/>
          </a:xfrm>
          <a:prstGeom prst="rect">
            <a:avLst/>
          </a:prstGeom>
          <a:noFill/>
          <a:ln/>
        </p:spPr>
        <p:txBody>
          <a:bodyPr wrap="square" lIns="25400" tIns="25400" rIns="25400" bIns="25400" rtlCol="0" anchor="t">
            <a:normAutofit/>
          </a:bodyPr>
          <a:lstStyle/>
          <a:p>
            <a:pPr algn="l" indent="0" marL="0">
              <a:buNone/>
            </a:pPr>
            <a:r>
              <a:rPr lang="en-US" sz="1650" b="1" spc="-25" kern="0" dirty="0">
                <a:solidFill>
                  <a:srgbClr val="1E3A5F"/>
                </a:solidFill>
                <a:latin typeface="Inter" pitchFamily="34" charset="0"/>
                <a:ea typeface="Inter" pitchFamily="34" charset="-122"/>
                <a:cs typeface="Inter" pitchFamily="34" charset="-120"/>
              </a:rPr>
              <a:t>10만 · 100만 · 1000만</a:t>
            </a:r>
            <a:endParaRPr lang="en-US" sz="1650" dirty="0"/>
          </a:p>
        </p:txBody>
      </p:sp>
      <p:sp>
        <p:nvSpPr>
          <p:cNvPr id="14" name="Text 10"/>
          <p:cNvSpPr/>
          <p:nvPr/>
        </p:nvSpPr>
        <p:spPr>
          <a:xfrm>
            <a:off x="6292850" y="2702719"/>
            <a:ext cx="5108131" cy="245269"/>
          </a:xfrm>
          <a:prstGeom prst="rect">
            <a:avLst/>
          </a:prstGeom>
          <a:noFill/>
          <a:ln/>
        </p:spPr>
        <p:txBody>
          <a:bodyPr wrap="square" lIns="25400" tIns="25400" rIns="25400" bIns="25400" rtlCol="0" anchor="t">
            <a:normAutofit/>
          </a:bodyPr>
          <a:lstStyle/>
          <a:p>
            <a:pPr algn="l" indent="0" marL="0">
              <a:lnSpc>
                <a:spcPct val="150000"/>
              </a:lnSpc>
              <a:buNone/>
            </a:pPr>
            <a:r>
              <a:rPr lang="en-US" sz="1088" spc="-5" kern="0" dirty="0">
                <a:solidFill>
                  <a:srgbClr val="475569"/>
                </a:solidFill>
                <a:latin typeface="Inter" pitchFamily="34" charset="0"/>
                <a:ea typeface="Inter" pitchFamily="34" charset="-122"/>
                <a:cs typeface="Inter" pitchFamily="34" charset="-120"/>
              </a:rPr>
              <a:t>데이터가 커질 때 효과 변화</a:t>
            </a:r>
            <a:endParaRPr lang="en-US" sz="1088" dirty="0"/>
          </a:p>
        </p:txBody>
      </p:sp>
      <p:sp>
        <p:nvSpPr>
          <p:cNvPr id="15" name="Shape 11"/>
          <p:cNvSpPr/>
          <p:nvPr/>
        </p:nvSpPr>
        <p:spPr>
          <a:xfrm>
            <a:off x="723900" y="3200003"/>
            <a:ext cx="10744200" cy="584200"/>
          </a:xfrm>
          <a:prstGeom prst="rect">
            <a:avLst/>
          </a:prstGeom>
          <a:solidFill>
            <a:srgbClr val="FFFFFF"/>
          </a:solidFill>
          <a:ln w="6350">
            <a:solidFill>
              <a:srgbClr val="E5E7EB"/>
            </a:solidFill>
            <a:prstDash val="solid"/>
          </a:ln>
        </p:spPr>
      </p:sp>
      <p:pic>
        <p:nvPicPr>
          <p:cNvPr id="16" name="Image 2" descr="preencoded.png">    </p:cNvPr>
          <p:cNvPicPr>
            <a:picLocks noChangeAspect="1"/>
          </p:cNvPicPr>
          <p:nvPr/>
        </p:nvPicPr>
        <p:blipFill>
          <a:blip r:embed="rId3"/>
          <a:stretch>
            <a:fillRect/>
          </a:stretch>
        </p:blipFill>
        <p:spPr>
          <a:xfrm>
            <a:off x="939800" y="3339703"/>
            <a:ext cx="304800" cy="304800"/>
          </a:xfrm>
          <a:prstGeom prst="rect">
            <a:avLst/>
          </a:prstGeom>
        </p:spPr>
      </p:pic>
      <p:sp>
        <p:nvSpPr>
          <p:cNvPr id="17" name="Text 12"/>
          <p:cNvSpPr/>
          <p:nvPr/>
        </p:nvSpPr>
        <p:spPr>
          <a:xfrm>
            <a:off x="1568450" y="3365103"/>
            <a:ext cx="1790700" cy="292100"/>
          </a:xfrm>
          <a:prstGeom prst="rect">
            <a:avLst/>
          </a:prstGeom>
          <a:noFill/>
          <a:ln/>
        </p:spPr>
        <p:txBody>
          <a:bodyPr wrap="square" lIns="25400" tIns="25400" rIns="25400" bIns="25400" rtlCol="0" anchor="t">
            <a:normAutofit/>
          </a:bodyPr>
          <a:lstStyle/>
          <a:p>
            <a:pPr algn="l" indent="0" marL="0">
              <a:buNone/>
            </a:pPr>
            <a:r>
              <a:rPr lang="en-US" sz="1350" spc="-7" kern="0" dirty="0">
                <a:solidFill>
                  <a:srgbClr val="475569"/>
                </a:solidFill>
                <a:latin typeface="Inter" pitchFamily="34" charset="0"/>
                <a:ea typeface="Inter" pitchFamily="34" charset="-122"/>
                <a:cs typeface="Inter" pitchFamily="34" charset="-120"/>
              </a:rPr>
              <a:t>선택도</a:t>
            </a:r>
            <a:endParaRPr lang="en-US" sz="1350" dirty="0"/>
          </a:p>
        </p:txBody>
      </p:sp>
      <p:sp>
        <p:nvSpPr>
          <p:cNvPr id="18" name="Text 13"/>
          <p:cNvSpPr/>
          <p:nvPr/>
        </p:nvSpPr>
        <p:spPr>
          <a:xfrm>
            <a:off x="3454400" y="3365103"/>
            <a:ext cx="2747010" cy="292100"/>
          </a:xfrm>
          <a:prstGeom prst="rect">
            <a:avLst/>
          </a:prstGeom>
          <a:noFill/>
          <a:ln/>
        </p:spPr>
        <p:txBody>
          <a:bodyPr wrap="square" lIns="25400" tIns="25400" rIns="25400" bIns="25400" rtlCol="0" anchor="t">
            <a:normAutofit/>
          </a:bodyPr>
          <a:lstStyle/>
          <a:p>
            <a:pPr algn="l" indent="0" marL="0">
              <a:buNone/>
            </a:pPr>
            <a:r>
              <a:rPr lang="en-US" sz="1650" b="1" spc="-25" kern="0" dirty="0">
                <a:solidFill>
                  <a:srgbClr val="1E3A5F"/>
                </a:solidFill>
                <a:latin typeface="Inter" pitchFamily="34" charset="0"/>
                <a:ea typeface="Inter" pitchFamily="34" charset="-122"/>
                <a:cs typeface="Inter" pitchFamily="34" charset="-120"/>
              </a:rPr>
              <a:t>0.1% · 1% · 10%</a:t>
            </a:r>
            <a:endParaRPr lang="en-US" sz="1650" dirty="0"/>
          </a:p>
        </p:txBody>
      </p:sp>
      <p:sp>
        <p:nvSpPr>
          <p:cNvPr id="19" name="Text 14"/>
          <p:cNvSpPr/>
          <p:nvPr/>
        </p:nvSpPr>
        <p:spPr>
          <a:xfrm>
            <a:off x="6292850" y="3388519"/>
            <a:ext cx="5108131" cy="245269"/>
          </a:xfrm>
          <a:prstGeom prst="rect">
            <a:avLst/>
          </a:prstGeom>
          <a:noFill/>
          <a:ln/>
        </p:spPr>
        <p:txBody>
          <a:bodyPr wrap="square" lIns="25400" tIns="25400" rIns="25400" bIns="25400" rtlCol="0" anchor="t">
            <a:normAutofit/>
          </a:bodyPr>
          <a:lstStyle/>
          <a:p>
            <a:pPr algn="l" indent="0" marL="0">
              <a:lnSpc>
                <a:spcPct val="150000"/>
              </a:lnSpc>
              <a:buNone/>
            </a:pPr>
            <a:r>
              <a:rPr lang="en-US" sz="1088" spc="-5" kern="0" dirty="0">
                <a:solidFill>
                  <a:srgbClr val="475569"/>
                </a:solidFill>
                <a:latin typeface="Inter" pitchFamily="34" charset="0"/>
                <a:ea typeface="Inter" pitchFamily="34" charset="-122"/>
                <a:cs typeface="Inter" pitchFamily="34" charset="-120"/>
              </a:rPr>
              <a:t>쿼리 조건이 좁을 때부터 넓을 때까지</a:t>
            </a:r>
            <a:endParaRPr lang="en-US" sz="1088" dirty="0"/>
          </a:p>
        </p:txBody>
      </p:sp>
      <p:sp>
        <p:nvSpPr>
          <p:cNvPr id="20" name="Shape 15"/>
          <p:cNvSpPr/>
          <p:nvPr/>
        </p:nvSpPr>
        <p:spPr>
          <a:xfrm>
            <a:off x="723900" y="3879453"/>
            <a:ext cx="10744200" cy="596900"/>
          </a:xfrm>
          <a:prstGeom prst="rect">
            <a:avLst/>
          </a:prstGeom>
          <a:solidFill>
            <a:srgbClr val="FFFFFF"/>
          </a:solidFill>
          <a:ln w="6350">
            <a:solidFill>
              <a:srgbClr val="E5E7EB"/>
            </a:solidFill>
            <a:prstDash val="solid"/>
          </a:ln>
        </p:spPr>
      </p:sp>
      <p:pic>
        <p:nvPicPr>
          <p:cNvPr id="21" name="Image 3" descr="preencoded.png">    </p:cNvPr>
          <p:cNvPicPr>
            <a:picLocks noChangeAspect="1"/>
          </p:cNvPicPr>
          <p:nvPr/>
        </p:nvPicPr>
        <p:blipFill>
          <a:blip r:embed="rId4"/>
          <a:stretch>
            <a:fillRect/>
          </a:stretch>
        </p:blipFill>
        <p:spPr>
          <a:xfrm>
            <a:off x="939800" y="4025503"/>
            <a:ext cx="304800" cy="304800"/>
          </a:xfrm>
          <a:prstGeom prst="rect">
            <a:avLst/>
          </a:prstGeom>
        </p:spPr>
      </p:pic>
      <p:sp>
        <p:nvSpPr>
          <p:cNvPr id="22" name="Text 16"/>
          <p:cNvSpPr/>
          <p:nvPr/>
        </p:nvSpPr>
        <p:spPr>
          <a:xfrm>
            <a:off x="1568450" y="4050903"/>
            <a:ext cx="1790700" cy="292100"/>
          </a:xfrm>
          <a:prstGeom prst="rect">
            <a:avLst/>
          </a:prstGeom>
          <a:noFill/>
          <a:ln/>
        </p:spPr>
        <p:txBody>
          <a:bodyPr wrap="square" lIns="25400" tIns="25400" rIns="25400" bIns="25400" rtlCol="0" anchor="t">
            <a:normAutofit/>
          </a:bodyPr>
          <a:lstStyle/>
          <a:p>
            <a:pPr algn="l" indent="0" marL="0">
              <a:buNone/>
            </a:pPr>
            <a:r>
              <a:rPr lang="en-US" sz="1350" spc="-7" kern="0" dirty="0">
                <a:solidFill>
                  <a:srgbClr val="475569"/>
                </a:solidFill>
                <a:latin typeface="Inter" pitchFamily="34" charset="0"/>
                <a:ea typeface="Inter" pitchFamily="34" charset="-122"/>
                <a:cs typeface="Inter" pitchFamily="34" charset="-120"/>
              </a:rPr>
              <a:t>표본 선택 방법</a:t>
            </a:r>
            <a:endParaRPr lang="en-US" sz="1350" dirty="0"/>
          </a:p>
        </p:txBody>
      </p:sp>
      <p:sp>
        <p:nvSpPr>
          <p:cNvPr id="23" name="Text 17"/>
          <p:cNvSpPr/>
          <p:nvPr/>
        </p:nvSpPr>
        <p:spPr>
          <a:xfrm>
            <a:off x="3454400" y="4019153"/>
            <a:ext cx="2747010" cy="355600"/>
          </a:xfrm>
          <a:prstGeom prst="rect">
            <a:avLst/>
          </a:prstGeom>
          <a:noFill/>
          <a:ln/>
        </p:spPr>
        <p:txBody>
          <a:bodyPr wrap="square" lIns="25400" tIns="25400" rIns="25400" bIns="25400" rtlCol="0" anchor="t">
            <a:normAutofit/>
          </a:bodyPr>
          <a:lstStyle/>
          <a:p>
            <a:pPr algn="l" indent="0" marL="0">
              <a:buNone/>
            </a:pPr>
            <a:r>
              <a:rPr lang="en-US" sz="1650" b="1" spc="-25" kern="0" dirty="0">
                <a:solidFill>
                  <a:srgbClr val="1E3A5F"/>
                </a:solidFill>
                <a:latin typeface="Inter" pitchFamily="34" charset="0"/>
                <a:ea typeface="Inter" pitchFamily="34" charset="-122"/>
                <a:cs typeface="Inter" pitchFamily="34" charset="-120"/>
              </a:rPr>
              <a:t>16가지</a:t>
            </a:r>
            <a:endParaRPr lang="en-US" sz="1650" dirty="0"/>
          </a:p>
        </p:txBody>
      </p:sp>
      <p:sp>
        <p:nvSpPr>
          <p:cNvPr id="24" name="Text 18"/>
          <p:cNvSpPr/>
          <p:nvPr/>
        </p:nvSpPr>
        <p:spPr>
          <a:xfrm>
            <a:off x="6292850" y="4074319"/>
            <a:ext cx="5108131" cy="245269"/>
          </a:xfrm>
          <a:prstGeom prst="rect">
            <a:avLst/>
          </a:prstGeom>
          <a:noFill/>
          <a:ln/>
        </p:spPr>
        <p:txBody>
          <a:bodyPr wrap="square" lIns="25400" tIns="25400" rIns="25400" bIns="25400" rtlCol="0" anchor="t">
            <a:normAutofit/>
          </a:bodyPr>
          <a:lstStyle/>
          <a:p>
            <a:pPr algn="l" indent="0" marL="0">
              <a:lnSpc>
                <a:spcPct val="150000"/>
              </a:lnSpc>
              <a:buNone/>
            </a:pPr>
            <a:r>
              <a:rPr lang="en-US" sz="1088" spc="-5" kern="0" dirty="0">
                <a:solidFill>
                  <a:srgbClr val="475569"/>
                </a:solidFill>
                <a:latin typeface="Inter" pitchFamily="34" charset="0"/>
                <a:ea typeface="Inter" pitchFamily="34" charset="-122"/>
                <a:cs typeface="Inter" pitchFamily="34" charset="-120"/>
              </a:rPr>
              <a:t>7가지 접근을 고루 대표</a:t>
            </a:r>
            <a:endParaRPr lang="en-US" sz="1088" dirty="0"/>
          </a:p>
        </p:txBody>
      </p:sp>
      <p:sp>
        <p:nvSpPr>
          <p:cNvPr id="25" name="Shape 19"/>
          <p:cNvSpPr/>
          <p:nvPr/>
        </p:nvSpPr>
        <p:spPr>
          <a:xfrm>
            <a:off x="723900" y="4571603"/>
            <a:ext cx="10744200" cy="596900"/>
          </a:xfrm>
          <a:prstGeom prst="rect">
            <a:avLst/>
          </a:prstGeom>
          <a:solidFill>
            <a:srgbClr val="FFFFFF"/>
          </a:solidFill>
          <a:ln w="6350">
            <a:solidFill>
              <a:srgbClr val="E5E7EB"/>
            </a:solidFill>
            <a:prstDash val="solid"/>
          </a:ln>
        </p:spPr>
      </p:sp>
      <p:pic>
        <p:nvPicPr>
          <p:cNvPr id="26" name="Image 4" descr="preencoded.png">    </p:cNvPr>
          <p:cNvPicPr>
            <a:picLocks noChangeAspect="1"/>
          </p:cNvPicPr>
          <p:nvPr/>
        </p:nvPicPr>
        <p:blipFill>
          <a:blip r:embed="rId5"/>
          <a:stretch>
            <a:fillRect/>
          </a:stretch>
        </p:blipFill>
        <p:spPr>
          <a:xfrm>
            <a:off x="939800" y="4717653"/>
            <a:ext cx="304800" cy="304800"/>
          </a:xfrm>
          <a:prstGeom prst="rect">
            <a:avLst/>
          </a:prstGeom>
        </p:spPr>
      </p:pic>
      <p:sp>
        <p:nvSpPr>
          <p:cNvPr id="27" name="Text 20"/>
          <p:cNvSpPr/>
          <p:nvPr/>
        </p:nvSpPr>
        <p:spPr>
          <a:xfrm>
            <a:off x="1568450" y="4743053"/>
            <a:ext cx="1790700" cy="292100"/>
          </a:xfrm>
          <a:prstGeom prst="rect">
            <a:avLst/>
          </a:prstGeom>
          <a:noFill/>
          <a:ln/>
        </p:spPr>
        <p:txBody>
          <a:bodyPr wrap="square" lIns="25400" tIns="25400" rIns="25400" bIns="25400" rtlCol="0" anchor="t">
            <a:normAutofit/>
          </a:bodyPr>
          <a:lstStyle/>
          <a:p>
            <a:pPr algn="l" indent="0" marL="0">
              <a:buNone/>
            </a:pPr>
            <a:r>
              <a:rPr lang="en-US" sz="1350" spc="-7" kern="0" dirty="0">
                <a:solidFill>
                  <a:srgbClr val="475569"/>
                </a:solidFill>
                <a:latin typeface="Inter" pitchFamily="34" charset="0"/>
                <a:ea typeface="Inter" pitchFamily="34" charset="-122"/>
                <a:cs typeface="Inter" pitchFamily="34" charset="-120"/>
              </a:rPr>
              <a:t>계층 수</a:t>
            </a:r>
            <a:endParaRPr lang="en-US" sz="1350" dirty="0"/>
          </a:p>
        </p:txBody>
      </p:sp>
      <p:sp>
        <p:nvSpPr>
          <p:cNvPr id="28" name="Text 21"/>
          <p:cNvSpPr/>
          <p:nvPr/>
        </p:nvSpPr>
        <p:spPr>
          <a:xfrm>
            <a:off x="3454400" y="4711303"/>
            <a:ext cx="2747010" cy="355600"/>
          </a:xfrm>
          <a:prstGeom prst="rect">
            <a:avLst/>
          </a:prstGeom>
          <a:noFill/>
          <a:ln/>
        </p:spPr>
        <p:txBody>
          <a:bodyPr wrap="square" lIns="25400" tIns="25400" rIns="25400" bIns="25400" rtlCol="0" anchor="t">
            <a:normAutofit/>
          </a:bodyPr>
          <a:lstStyle/>
          <a:p>
            <a:pPr algn="l" indent="0" marL="0">
              <a:buNone/>
            </a:pPr>
            <a:r>
              <a:rPr lang="en-US" sz="1650" b="1" spc="-25" kern="0" dirty="0">
                <a:solidFill>
                  <a:srgbClr val="1E3A5F"/>
                </a:solidFill>
                <a:latin typeface="Inter" pitchFamily="34" charset="0"/>
                <a:ea typeface="Inter" pitchFamily="34" charset="-122"/>
                <a:cs typeface="Inter" pitchFamily="34" charset="-120"/>
              </a:rPr>
              <a:t>10 · 20 · 30 개</a:t>
            </a:r>
            <a:endParaRPr lang="en-US" sz="1650" dirty="0"/>
          </a:p>
        </p:txBody>
      </p:sp>
      <p:sp>
        <p:nvSpPr>
          <p:cNvPr id="29" name="Text 22"/>
          <p:cNvSpPr/>
          <p:nvPr/>
        </p:nvSpPr>
        <p:spPr>
          <a:xfrm>
            <a:off x="6292850" y="4766469"/>
            <a:ext cx="5108131" cy="245269"/>
          </a:xfrm>
          <a:prstGeom prst="rect">
            <a:avLst/>
          </a:prstGeom>
          <a:noFill/>
          <a:ln/>
        </p:spPr>
        <p:txBody>
          <a:bodyPr wrap="square" lIns="25400" tIns="25400" rIns="25400" bIns="25400" rtlCol="0" anchor="t">
            <a:normAutofit/>
          </a:bodyPr>
          <a:lstStyle/>
          <a:p>
            <a:pPr algn="l" indent="0" marL="0">
              <a:lnSpc>
                <a:spcPct val="150000"/>
              </a:lnSpc>
              <a:buNone/>
            </a:pPr>
            <a:r>
              <a:rPr lang="en-US" sz="1088" spc="-5" kern="0" dirty="0">
                <a:solidFill>
                  <a:srgbClr val="475569"/>
                </a:solidFill>
                <a:latin typeface="Inter" pitchFamily="34" charset="0"/>
                <a:ea typeface="Inter" pitchFamily="34" charset="-122"/>
                <a:cs typeface="Inter" pitchFamily="34" charset="-120"/>
              </a:rPr>
              <a:t>논문 기본값 20 중심으로 적을 때·많을 때</a:t>
            </a:r>
            <a:endParaRPr lang="en-US" sz="1088" dirty="0"/>
          </a:p>
        </p:txBody>
      </p:sp>
      <p:sp>
        <p:nvSpPr>
          <p:cNvPr id="30" name="Shape 23"/>
          <p:cNvSpPr/>
          <p:nvPr/>
        </p:nvSpPr>
        <p:spPr>
          <a:xfrm>
            <a:off x="723900" y="5301853"/>
            <a:ext cx="10744200" cy="546100"/>
          </a:xfrm>
          <a:prstGeom prst="rect">
            <a:avLst/>
          </a:prstGeom>
          <a:solidFill>
            <a:srgbClr val="1E3A5F"/>
          </a:solidFill>
          <a:ln/>
        </p:spPr>
      </p:sp>
      <p:sp>
        <p:nvSpPr>
          <p:cNvPr id="31" name="Text 24"/>
          <p:cNvSpPr/>
          <p:nvPr/>
        </p:nvSpPr>
        <p:spPr>
          <a:xfrm>
            <a:off x="971550" y="5460603"/>
            <a:ext cx="1554361" cy="266700"/>
          </a:xfrm>
          <a:prstGeom prst="rect">
            <a:avLst/>
          </a:prstGeom>
          <a:noFill/>
          <a:ln/>
        </p:spPr>
        <p:txBody>
          <a:bodyPr wrap="square" lIns="25400" tIns="25400" rIns="25400" bIns="25400" rtlCol="0" anchor="t">
            <a:normAutofit/>
          </a:bodyPr>
          <a:lstStyle/>
          <a:p>
            <a:pPr algn="l" indent="0" marL="0">
              <a:buNone/>
            </a:pPr>
            <a:r>
              <a:rPr lang="en-US" sz="1200" spc="-6" kern="0" dirty="0">
                <a:solidFill>
                  <a:srgbClr val="A3B7D1"/>
                </a:solidFill>
                <a:latin typeface="Inter" pitchFamily="34" charset="0"/>
                <a:ea typeface="Inter" pitchFamily="34" charset="-122"/>
                <a:cs typeface="Inter" pitchFamily="34" charset="-120"/>
              </a:rPr>
              <a:t>다섯 축을 빠짐없이 교차</a:t>
            </a:r>
            <a:endParaRPr lang="en-US" sz="1200" dirty="0"/>
          </a:p>
        </p:txBody>
      </p:sp>
      <p:sp>
        <p:nvSpPr>
          <p:cNvPr id="32" name="Text 25"/>
          <p:cNvSpPr/>
          <p:nvPr/>
        </p:nvSpPr>
        <p:spPr>
          <a:xfrm>
            <a:off x="9848850" y="5416153"/>
            <a:ext cx="1447800" cy="355600"/>
          </a:xfrm>
          <a:prstGeom prst="rect">
            <a:avLst/>
          </a:prstGeom>
          <a:noFill/>
          <a:ln/>
        </p:spPr>
        <p:txBody>
          <a:bodyPr wrap="square" lIns="25400" tIns="25400" rIns="25400" bIns="25400" rtlCol="0" anchor="t">
            <a:normAutofit/>
          </a:bodyPr>
          <a:lstStyle/>
          <a:p>
            <a:pPr algn="l" indent="0" marL="0">
              <a:buNone/>
            </a:pPr>
            <a:r>
              <a:rPr lang="en-US" sz="1650" b="1" spc="-25" kern="0" dirty="0">
                <a:solidFill>
                  <a:srgbClr val="FFFFFF"/>
                </a:solidFill>
                <a:latin typeface="Inter" pitchFamily="34" charset="0"/>
                <a:ea typeface="Inter" pitchFamily="34" charset="-122"/>
                <a:cs typeface="Inter" pitchFamily="34" charset="-120"/>
              </a:rPr>
              <a:t>→ 1508번 측정</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285750"/>
            <a:ext cx="497979" cy="222250"/>
          </a:xfrm>
          <a:prstGeom prst="rect">
            <a:avLst/>
          </a:prstGeom>
          <a:noFill/>
          <a:ln/>
        </p:spPr>
        <p:txBody>
          <a:bodyPr wrap="square" lIns="25400" tIns="25400" rIns="25400" bIns="25400" rtlCol="0" anchor="ctr">
            <a:normAutofit/>
          </a:bodyPr>
          <a:lstStyle/>
          <a:p>
            <a:pPr algn="l" indent="0" marL="0">
              <a:buNone/>
            </a:pPr>
            <a:r>
              <a:rPr lang="en-US" sz="975" b="1" spc="116" kern="0" dirty="0">
                <a:solidFill>
                  <a:srgbClr val="8B5CF6"/>
                </a:solidFill>
                <a:latin typeface="Inter" pitchFamily="34" charset="0"/>
                <a:ea typeface="Inter" pitchFamily="34" charset="-122"/>
                <a:cs typeface="Inter" pitchFamily="34" charset="-120"/>
              </a:rPr>
              <a:t>방법</a:t>
            </a:r>
            <a:endParaRPr lang="en-US" sz="975" dirty="0"/>
          </a:p>
        </p:txBody>
      </p:sp>
      <p:sp>
        <p:nvSpPr>
          <p:cNvPr id="3" name="Text 1"/>
          <p:cNvSpPr/>
          <p:nvPr/>
        </p:nvSpPr>
        <p:spPr>
          <a:xfrm>
            <a:off x="723900" y="533400"/>
            <a:ext cx="10791825" cy="520005"/>
          </a:xfrm>
          <a:prstGeom prst="rect">
            <a:avLst/>
          </a:prstGeom>
          <a:noFill/>
          <a:ln/>
        </p:spPr>
        <p:txBody>
          <a:bodyPr wrap="square" lIns="25400" tIns="25400" rIns="25400" bIns="25400" rtlCol="0" anchor="t">
            <a:normAutofit/>
          </a:bodyPr>
          <a:lstStyle/>
          <a:p>
            <a:pPr algn="l" indent="0" marL="0">
              <a:lnSpc>
                <a:spcPct val="115000"/>
              </a:lnSpc>
              <a:buNone/>
            </a:pPr>
            <a:r>
              <a:rPr lang="en-US" sz="3300" b="1" spc="-82" kern="0" dirty="0">
                <a:solidFill>
                  <a:srgbClr val="1E3A5F"/>
                </a:solidFill>
                <a:latin typeface="Inter" pitchFamily="34" charset="0"/>
                <a:ea typeface="Inter" pitchFamily="34" charset="-122"/>
                <a:cs typeface="Inter" pitchFamily="34" charset="-120"/>
              </a:rPr>
              <a:t>측정한 데이터셋</a:t>
            </a:r>
            <a:endParaRPr lang="en-US" sz="3300" dirty="0"/>
          </a:p>
        </p:txBody>
      </p:sp>
      <p:sp>
        <p:nvSpPr>
          <p:cNvPr id="4" name="Shape 2"/>
          <p:cNvSpPr/>
          <p:nvPr/>
        </p:nvSpPr>
        <p:spPr>
          <a:xfrm>
            <a:off x="723900" y="1148655"/>
            <a:ext cx="381000" cy="28575"/>
          </a:xfrm>
          <a:prstGeom prst="rect">
            <a:avLst/>
          </a:prstGeom>
          <a:solidFill>
            <a:srgbClr val="8B5CF6"/>
          </a:solidFill>
          <a:ln/>
        </p:spPr>
      </p:sp>
      <p:sp>
        <p:nvSpPr>
          <p:cNvPr id="5" name="Shape 3"/>
          <p:cNvSpPr/>
          <p:nvPr/>
        </p:nvSpPr>
        <p:spPr>
          <a:xfrm>
            <a:off x="723900" y="2415183"/>
            <a:ext cx="5267325" cy="2425700"/>
          </a:xfrm>
          <a:prstGeom prst="rect">
            <a:avLst/>
          </a:prstGeom>
          <a:ln w="6350">
            <a:solidFill>
              <a:srgbClr val="E5E7EB"/>
            </a:solidFill>
            <a:prstDash val="solid"/>
          </a:ln>
        </p:spPr>
      </p:sp>
      <p:sp>
        <p:nvSpPr>
          <p:cNvPr id="6" name="Text 4"/>
          <p:cNvSpPr/>
          <p:nvPr/>
        </p:nvSpPr>
        <p:spPr>
          <a:xfrm>
            <a:off x="977900" y="2631083"/>
            <a:ext cx="4902105" cy="266700"/>
          </a:xfrm>
          <a:prstGeom prst="rect">
            <a:avLst/>
          </a:prstGeom>
          <a:noFill/>
          <a:ln/>
        </p:spPr>
        <p:txBody>
          <a:bodyPr wrap="square" lIns="25400" tIns="25400" rIns="25400" bIns="25400" rtlCol="0" anchor="t">
            <a:normAutofit/>
          </a:bodyPr>
          <a:lstStyle/>
          <a:p>
            <a:pPr algn="l" indent="0" marL="0">
              <a:buNone/>
            </a:pPr>
            <a:r>
              <a:rPr lang="en-US" sz="1200" spc="-6" kern="0" dirty="0">
                <a:solidFill>
                  <a:srgbClr val="64748B"/>
                </a:solidFill>
                <a:latin typeface="Inter" pitchFamily="34" charset="0"/>
                <a:ea typeface="Inter" pitchFamily="34" charset="-122"/>
                <a:cs typeface="Inter" pitchFamily="34" charset="-120"/>
              </a:rPr>
              <a:t>단일 벡터 데이터셋</a:t>
            </a:r>
            <a:endParaRPr lang="en-US" sz="1200" dirty="0"/>
          </a:p>
        </p:txBody>
      </p:sp>
      <p:sp>
        <p:nvSpPr>
          <p:cNvPr id="7" name="Text 5"/>
          <p:cNvSpPr/>
          <p:nvPr/>
        </p:nvSpPr>
        <p:spPr>
          <a:xfrm>
            <a:off x="901700" y="3031133"/>
            <a:ext cx="1600200" cy="234950"/>
          </a:xfrm>
          <a:prstGeom prst="rect">
            <a:avLst/>
          </a:prstGeom>
          <a:noFill/>
          <a:ln/>
        </p:spPr>
        <p:txBody>
          <a:bodyPr wrap="square" lIns="25400" tIns="25400" rIns="25400" bIns="25400" rtlCol="0" anchor="t">
            <a:normAutofit/>
          </a:bodyPr>
          <a:lstStyle/>
          <a:p>
            <a:pPr algn="r" indent="0" marL="0">
              <a:buNone/>
            </a:pPr>
            <a:r>
              <a:rPr lang="en-US" sz="1275" b="1" spc="-6" kern="0" dirty="0">
                <a:solidFill>
                  <a:srgbClr val="1E293B"/>
                </a:solidFill>
                <a:latin typeface="Inter" pitchFamily="34" charset="0"/>
                <a:ea typeface="Inter" pitchFamily="34" charset="-122"/>
                <a:cs typeface="Inter" pitchFamily="34" charset="-120"/>
              </a:rPr>
              <a:t>DEEP</a:t>
            </a:r>
            <a:endParaRPr lang="en-US" sz="1275" dirty="0"/>
          </a:p>
        </p:txBody>
      </p:sp>
      <p:sp>
        <p:nvSpPr>
          <p:cNvPr id="8" name="Shape 6"/>
          <p:cNvSpPr/>
          <p:nvPr/>
        </p:nvSpPr>
        <p:spPr>
          <a:xfrm>
            <a:off x="2635250" y="3062883"/>
            <a:ext cx="2301875" cy="133350"/>
          </a:xfrm>
          <a:prstGeom prst="rect">
            <a:avLst/>
          </a:prstGeom>
          <a:solidFill>
            <a:srgbClr val="F1F5F9"/>
          </a:solidFill>
          <a:ln/>
        </p:spPr>
      </p:sp>
      <p:sp>
        <p:nvSpPr>
          <p:cNvPr id="9" name="Shape 7"/>
          <p:cNvSpPr/>
          <p:nvPr/>
        </p:nvSpPr>
        <p:spPr>
          <a:xfrm>
            <a:off x="2635250" y="3062883"/>
            <a:ext cx="253206" cy="133350"/>
          </a:xfrm>
          <a:prstGeom prst="rect">
            <a:avLst/>
          </a:prstGeom>
          <a:solidFill>
            <a:srgbClr val="0EA5E9"/>
          </a:solidFill>
          <a:ln/>
        </p:spPr>
      </p:sp>
      <p:sp>
        <p:nvSpPr>
          <p:cNvPr id="10" name="Text 8"/>
          <p:cNvSpPr/>
          <p:nvPr/>
        </p:nvSpPr>
        <p:spPr>
          <a:xfrm>
            <a:off x="5070475" y="3050183"/>
            <a:ext cx="742950" cy="196850"/>
          </a:xfrm>
          <a:prstGeom prst="rect">
            <a:avLst/>
          </a:prstGeom>
          <a:noFill/>
          <a:ln/>
        </p:spPr>
        <p:txBody>
          <a:bodyPr wrap="square" lIns="25400" tIns="25400" rIns="25400" bIns="25400" rtlCol="0" anchor="t">
            <a:normAutofit/>
          </a:bodyPr>
          <a:lstStyle/>
          <a:p>
            <a:pPr algn="l" indent="0" marL="0">
              <a:buNone/>
            </a:pPr>
            <a:r>
              <a:rPr lang="en-US" sz="1050" b="1" dirty="0">
                <a:solidFill>
                  <a:srgbClr val="475569"/>
                </a:solidFill>
                <a:latin typeface="Inter" pitchFamily="34" charset="0"/>
                <a:ea typeface="Inter" pitchFamily="34" charset="-122"/>
                <a:cs typeface="Inter" pitchFamily="34" charset="-120"/>
              </a:rPr>
              <a:t>96</a:t>
            </a:r>
            <a:endParaRPr lang="en-US" sz="1050" dirty="0"/>
          </a:p>
        </p:txBody>
      </p:sp>
      <p:sp>
        <p:nvSpPr>
          <p:cNvPr id="11" name="Text 9"/>
          <p:cNvSpPr/>
          <p:nvPr/>
        </p:nvSpPr>
        <p:spPr>
          <a:xfrm>
            <a:off x="901700" y="3380383"/>
            <a:ext cx="1600200" cy="234950"/>
          </a:xfrm>
          <a:prstGeom prst="rect">
            <a:avLst/>
          </a:prstGeom>
          <a:noFill/>
          <a:ln/>
        </p:spPr>
        <p:txBody>
          <a:bodyPr wrap="square" lIns="25400" tIns="25400" rIns="25400" bIns="25400" rtlCol="0" anchor="t">
            <a:normAutofit/>
          </a:bodyPr>
          <a:lstStyle/>
          <a:p>
            <a:pPr algn="r" indent="0" marL="0">
              <a:buNone/>
            </a:pPr>
            <a:r>
              <a:rPr lang="en-US" sz="1275" b="1" spc="-6" kern="0" dirty="0">
                <a:solidFill>
                  <a:srgbClr val="1E293B"/>
                </a:solidFill>
                <a:latin typeface="Inter" pitchFamily="34" charset="0"/>
                <a:ea typeface="Inter" pitchFamily="34" charset="-122"/>
                <a:cs typeface="Inter" pitchFamily="34" charset="-120"/>
              </a:rPr>
              <a:t>SIFT</a:t>
            </a:r>
            <a:endParaRPr lang="en-US" sz="1275" dirty="0"/>
          </a:p>
        </p:txBody>
      </p:sp>
      <p:sp>
        <p:nvSpPr>
          <p:cNvPr id="12" name="Shape 10"/>
          <p:cNvSpPr/>
          <p:nvPr/>
        </p:nvSpPr>
        <p:spPr>
          <a:xfrm>
            <a:off x="2635250" y="3412133"/>
            <a:ext cx="2301875" cy="133350"/>
          </a:xfrm>
          <a:prstGeom prst="rect">
            <a:avLst/>
          </a:prstGeom>
          <a:solidFill>
            <a:srgbClr val="F1F5F9"/>
          </a:solidFill>
          <a:ln/>
        </p:spPr>
      </p:sp>
      <p:sp>
        <p:nvSpPr>
          <p:cNvPr id="13" name="Shape 11"/>
          <p:cNvSpPr/>
          <p:nvPr/>
        </p:nvSpPr>
        <p:spPr>
          <a:xfrm>
            <a:off x="2635250" y="3412133"/>
            <a:ext cx="345281" cy="133350"/>
          </a:xfrm>
          <a:prstGeom prst="rect">
            <a:avLst/>
          </a:prstGeom>
          <a:solidFill>
            <a:srgbClr val="0EA5E9"/>
          </a:solidFill>
          <a:ln/>
        </p:spPr>
      </p:sp>
      <p:sp>
        <p:nvSpPr>
          <p:cNvPr id="14" name="Text 12"/>
          <p:cNvSpPr/>
          <p:nvPr/>
        </p:nvSpPr>
        <p:spPr>
          <a:xfrm>
            <a:off x="5070475" y="3399433"/>
            <a:ext cx="742950" cy="196850"/>
          </a:xfrm>
          <a:prstGeom prst="rect">
            <a:avLst/>
          </a:prstGeom>
          <a:noFill/>
          <a:ln/>
        </p:spPr>
        <p:txBody>
          <a:bodyPr wrap="square" lIns="25400" tIns="25400" rIns="25400" bIns="25400" rtlCol="0" anchor="t">
            <a:normAutofit/>
          </a:bodyPr>
          <a:lstStyle/>
          <a:p>
            <a:pPr algn="l" indent="0" marL="0">
              <a:buNone/>
            </a:pPr>
            <a:r>
              <a:rPr lang="en-US" sz="1050" b="1" dirty="0">
                <a:solidFill>
                  <a:srgbClr val="475569"/>
                </a:solidFill>
                <a:latin typeface="Inter" pitchFamily="34" charset="0"/>
                <a:ea typeface="Inter" pitchFamily="34" charset="-122"/>
                <a:cs typeface="Inter" pitchFamily="34" charset="-120"/>
              </a:rPr>
              <a:t>128</a:t>
            </a:r>
            <a:endParaRPr lang="en-US" sz="1050" dirty="0"/>
          </a:p>
        </p:txBody>
      </p:sp>
      <p:sp>
        <p:nvSpPr>
          <p:cNvPr id="15" name="Text 13"/>
          <p:cNvSpPr/>
          <p:nvPr/>
        </p:nvSpPr>
        <p:spPr>
          <a:xfrm>
            <a:off x="901700" y="3729633"/>
            <a:ext cx="1600200" cy="234950"/>
          </a:xfrm>
          <a:prstGeom prst="rect">
            <a:avLst/>
          </a:prstGeom>
          <a:noFill/>
          <a:ln/>
        </p:spPr>
        <p:txBody>
          <a:bodyPr wrap="square" lIns="25400" tIns="25400" rIns="25400" bIns="25400" rtlCol="0" anchor="t">
            <a:normAutofit/>
          </a:bodyPr>
          <a:lstStyle/>
          <a:p>
            <a:pPr algn="r" indent="0" marL="0">
              <a:buNone/>
            </a:pPr>
            <a:r>
              <a:rPr lang="en-US" sz="1275" b="1" spc="-6" kern="0" dirty="0">
                <a:solidFill>
                  <a:srgbClr val="1E293B"/>
                </a:solidFill>
                <a:latin typeface="Inter" pitchFamily="34" charset="0"/>
                <a:ea typeface="Inter" pitchFamily="34" charset="-122"/>
                <a:cs typeface="Inter" pitchFamily="34" charset="-120"/>
              </a:rPr>
              <a:t>YFCC</a:t>
            </a:r>
            <a:endParaRPr lang="en-US" sz="1275" dirty="0"/>
          </a:p>
        </p:txBody>
      </p:sp>
      <p:sp>
        <p:nvSpPr>
          <p:cNvPr id="16" name="Shape 14"/>
          <p:cNvSpPr/>
          <p:nvPr/>
        </p:nvSpPr>
        <p:spPr>
          <a:xfrm>
            <a:off x="2635250" y="3761383"/>
            <a:ext cx="2301875" cy="133350"/>
          </a:xfrm>
          <a:prstGeom prst="rect">
            <a:avLst/>
          </a:prstGeom>
          <a:solidFill>
            <a:srgbClr val="F1F5F9"/>
          </a:solidFill>
          <a:ln/>
        </p:spPr>
      </p:sp>
      <p:sp>
        <p:nvSpPr>
          <p:cNvPr id="17" name="Shape 15"/>
          <p:cNvSpPr/>
          <p:nvPr/>
        </p:nvSpPr>
        <p:spPr>
          <a:xfrm>
            <a:off x="2635250" y="3761383"/>
            <a:ext cx="506413" cy="133350"/>
          </a:xfrm>
          <a:prstGeom prst="rect">
            <a:avLst/>
          </a:prstGeom>
          <a:solidFill>
            <a:srgbClr val="0EA5E9"/>
          </a:solidFill>
          <a:ln/>
        </p:spPr>
      </p:sp>
      <p:sp>
        <p:nvSpPr>
          <p:cNvPr id="18" name="Text 16"/>
          <p:cNvSpPr/>
          <p:nvPr/>
        </p:nvSpPr>
        <p:spPr>
          <a:xfrm>
            <a:off x="5070475" y="3748683"/>
            <a:ext cx="742950" cy="196850"/>
          </a:xfrm>
          <a:prstGeom prst="rect">
            <a:avLst/>
          </a:prstGeom>
          <a:noFill/>
          <a:ln/>
        </p:spPr>
        <p:txBody>
          <a:bodyPr wrap="square" lIns="25400" tIns="25400" rIns="25400" bIns="25400" rtlCol="0" anchor="t">
            <a:normAutofit/>
          </a:bodyPr>
          <a:lstStyle/>
          <a:p>
            <a:pPr algn="l" indent="0" marL="0">
              <a:buNone/>
            </a:pPr>
            <a:r>
              <a:rPr lang="en-US" sz="1050" b="1" dirty="0">
                <a:solidFill>
                  <a:srgbClr val="475569"/>
                </a:solidFill>
                <a:latin typeface="Inter" pitchFamily="34" charset="0"/>
                <a:ea typeface="Inter" pitchFamily="34" charset="-122"/>
                <a:cs typeface="Inter" pitchFamily="34" charset="-120"/>
              </a:rPr>
              <a:t>192</a:t>
            </a:r>
            <a:endParaRPr lang="en-US" sz="1050" dirty="0"/>
          </a:p>
        </p:txBody>
      </p:sp>
      <p:sp>
        <p:nvSpPr>
          <p:cNvPr id="19" name="Text 17"/>
          <p:cNvSpPr/>
          <p:nvPr/>
        </p:nvSpPr>
        <p:spPr>
          <a:xfrm>
            <a:off x="901700" y="4078883"/>
            <a:ext cx="1600200" cy="234950"/>
          </a:xfrm>
          <a:prstGeom prst="rect">
            <a:avLst/>
          </a:prstGeom>
          <a:noFill/>
          <a:ln/>
        </p:spPr>
        <p:txBody>
          <a:bodyPr wrap="square" lIns="25400" tIns="25400" rIns="25400" bIns="25400" rtlCol="0" anchor="t">
            <a:normAutofit/>
          </a:bodyPr>
          <a:lstStyle/>
          <a:p>
            <a:pPr algn="r" indent="0" marL="0">
              <a:buNone/>
            </a:pPr>
            <a:r>
              <a:rPr lang="en-US" sz="1275" b="1" spc="-6" kern="0" dirty="0">
                <a:solidFill>
                  <a:srgbClr val="1E293B"/>
                </a:solidFill>
                <a:latin typeface="Inter" pitchFamily="34" charset="0"/>
                <a:ea typeface="Inter" pitchFamily="34" charset="-122"/>
                <a:cs typeface="Inter" pitchFamily="34" charset="-120"/>
              </a:rPr>
              <a:t>SimSearchNet++</a:t>
            </a:r>
            <a:endParaRPr lang="en-US" sz="1275" dirty="0"/>
          </a:p>
        </p:txBody>
      </p:sp>
      <p:sp>
        <p:nvSpPr>
          <p:cNvPr id="20" name="Shape 18"/>
          <p:cNvSpPr/>
          <p:nvPr/>
        </p:nvSpPr>
        <p:spPr>
          <a:xfrm>
            <a:off x="2635250" y="4110633"/>
            <a:ext cx="2301875" cy="133350"/>
          </a:xfrm>
          <a:prstGeom prst="rect">
            <a:avLst/>
          </a:prstGeom>
          <a:solidFill>
            <a:srgbClr val="F1F5F9"/>
          </a:solidFill>
          <a:ln/>
        </p:spPr>
      </p:sp>
      <p:sp>
        <p:nvSpPr>
          <p:cNvPr id="21" name="Shape 19"/>
          <p:cNvSpPr/>
          <p:nvPr/>
        </p:nvSpPr>
        <p:spPr>
          <a:xfrm>
            <a:off x="2635250" y="4110633"/>
            <a:ext cx="690563" cy="133350"/>
          </a:xfrm>
          <a:prstGeom prst="rect">
            <a:avLst/>
          </a:prstGeom>
          <a:solidFill>
            <a:srgbClr val="0EA5E9"/>
          </a:solidFill>
          <a:ln/>
        </p:spPr>
      </p:sp>
      <p:sp>
        <p:nvSpPr>
          <p:cNvPr id="22" name="Text 20"/>
          <p:cNvSpPr/>
          <p:nvPr/>
        </p:nvSpPr>
        <p:spPr>
          <a:xfrm>
            <a:off x="5070475" y="4097933"/>
            <a:ext cx="742950" cy="196850"/>
          </a:xfrm>
          <a:prstGeom prst="rect">
            <a:avLst/>
          </a:prstGeom>
          <a:noFill/>
          <a:ln/>
        </p:spPr>
        <p:txBody>
          <a:bodyPr wrap="square" lIns="25400" tIns="25400" rIns="25400" bIns="25400" rtlCol="0" anchor="t">
            <a:normAutofit/>
          </a:bodyPr>
          <a:lstStyle/>
          <a:p>
            <a:pPr algn="l" indent="0" marL="0">
              <a:buNone/>
            </a:pPr>
            <a:r>
              <a:rPr lang="en-US" sz="1050" b="1" dirty="0">
                <a:solidFill>
                  <a:srgbClr val="475569"/>
                </a:solidFill>
                <a:latin typeface="Inter" pitchFamily="34" charset="0"/>
                <a:ea typeface="Inter" pitchFamily="34" charset="-122"/>
                <a:cs typeface="Inter" pitchFamily="34" charset="-120"/>
              </a:rPr>
              <a:t>256</a:t>
            </a:r>
            <a:endParaRPr lang="en-US" sz="1050" dirty="0"/>
          </a:p>
        </p:txBody>
      </p:sp>
      <p:sp>
        <p:nvSpPr>
          <p:cNvPr id="23" name="Text 21"/>
          <p:cNvSpPr/>
          <p:nvPr/>
        </p:nvSpPr>
        <p:spPr>
          <a:xfrm>
            <a:off x="901700" y="4428133"/>
            <a:ext cx="1600200" cy="234950"/>
          </a:xfrm>
          <a:prstGeom prst="rect">
            <a:avLst/>
          </a:prstGeom>
          <a:noFill/>
          <a:ln/>
        </p:spPr>
        <p:txBody>
          <a:bodyPr wrap="square" lIns="25400" tIns="25400" rIns="25400" bIns="25400" rtlCol="0" anchor="t">
            <a:normAutofit/>
          </a:bodyPr>
          <a:lstStyle/>
          <a:p>
            <a:pPr algn="r" indent="0" marL="0">
              <a:buNone/>
            </a:pPr>
            <a:r>
              <a:rPr lang="en-US" sz="1275" b="1" spc="-6" kern="0" dirty="0">
                <a:solidFill>
                  <a:srgbClr val="1E293B"/>
                </a:solidFill>
                <a:latin typeface="Inter" pitchFamily="34" charset="0"/>
                <a:ea typeface="Inter" pitchFamily="34" charset="-122"/>
                <a:cs typeface="Inter" pitchFamily="34" charset="-120"/>
              </a:rPr>
              <a:t>WIKI</a:t>
            </a:r>
            <a:endParaRPr lang="en-US" sz="1275" dirty="0"/>
          </a:p>
        </p:txBody>
      </p:sp>
      <p:sp>
        <p:nvSpPr>
          <p:cNvPr id="24" name="Shape 22"/>
          <p:cNvSpPr/>
          <p:nvPr/>
        </p:nvSpPr>
        <p:spPr>
          <a:xfrm>
            <a:off x="2635250" y="4459883"/>
            <a:ext cx="2301875" cy="133350"/>
          </a:xfrm>
          <a:prstGeom prst="rect">
            <a:avLst/>
          </a:prstGeom>
          <a:solidFill>
            <a:srgbClr val="F1F5F9"/>
          </a:solidFill>
          <a:ln/>
        </p:spPr>
      </p:sp>
      <p:sp>
        <p:nvSpPr>
          <p:cNvPr id="25" name="Shape 23"/>
          <p:cNvSpPr/>
          <p:nvPr/>
        </p:nvSpPr>
        <p:spPr>
          <a:xfrm>
            <a:off x="2635250" y="4459883"/>
            <a:ext cx="2048669" cy="133350"/>
          </a:xfrm>
          <a:prstGeom prst="rect">
            <a:avLst/>
          </a:prstGeom>
          <a:solidFill>
            <a:srgbClr val="0EA5E9"/>
          </a:solidFill>
          <a:ln/>
        </p:spPr>
      </p:sp>
      <p:sp>
        <p:nvSpPr>
          <p:cNvPr id="26" name="Text 24"/>
          <p:cNvSpPr/>
          <p:nvPr/>
        </p:nvSpPr>
        <p:spPr>
          <a:xfrm>
            <a:off x="5070475" y="4447183"/>
            <a:ext cx="742950" cy="196850"/>
          </a:xfrm>
          <a:prstGeom prst="rect">
            <a:avLst/>
          </a:prstGeom>
          <a:noFill/>
          <a:ln/>
        </p:spPr>
        <p:txBody>
          <a:bodyPr wrap="square" lIns="25400" tIns="25400" rIns="25400" bIns="25400" rtlCol="0" anchor="t">
            <a:normAutofit/>
          </a:bodyPr>
          <a:lstStyle/>
          <a:p>
            <a:pPr algn="l" indent="0" marL="0">
              <a:buNone/>
            </a:pPr>
            <a:r>
              <a:rPr lang="en-US" sz="1050" b="1" dirty="0">
                <a:solidFill>
                  <a:srgbClr val="475569"/>
                </a:solidFill>
                <a:latin typeface="Inter" pitchFamily="34" charset="0"/>
                <a:ea typeface="Inter" pitchFamily="34" charset="-122"/>
                <a:cs typeface="Inter" pitchFamily="34" charset="-120"/>
              </a:rPr>
              <a:t>768</a:t>
            </a:r>
            <a:endParaRPr lang="en-US" sz="1050" dirty="0"/>
          </a:p>
        </p:txBody>
      </p:sp>
      <p:sp>
        <p:nvSpPr>
          <p:cNvPr id="27" name="Shape 25"/>
          <p:cNvSpPr/>
          <p:nvPr/>
        </p:nvSpPr>
        <p:spPr>
          <a:xfrm>
            <a:off x="6200775" y="2415183"/>
            <a:ext cx="5267325" cy="2425700"/>
          </a:xfrm>
          <a:prstGeom prst="rect">
            <a:avLst/>
          </a:prstGeom>
          <a:ln w="6350">
            <a:solidFill>
              <a:srgbClr val="E5E7EB"/>
            </a:solidFill>
            <a:prstDash val="solid"/>
          </a:ln>
        </p:spPr>
      </p:sp>
      <p:sp>
        <p:nvSpPr>
          <p:cNvPr id="28" name="Text 26"/>
          <p:cNvSpPr/>
          <p:nvPr/>
        </p:nvSpPr>
        <p:spPr>
          <a:xfrm>
            <a:off x="6454775" y="2631083"/>
            <a:ext cx="4902105" cy="266700"/>
          </a:xfrm>
          <a:prstGeom prst="rect">
            <a:avLst/>
          </a:prstGeom>
          <a:noFill/>
          <a:ln/>
        </p:spPr>
        <p:txBody>
          <a:bodyPr wrap="square" lIns="25400" tIns="25400" rIns="25400" bIns="25400" rtlCol="0" anchor="t">
            <a:normAutofit/>
          </a:bodyPr>
          <a:lstStyle/>
          <a:p>
            <a:pPr algn="l" indent="0" marL="0">
              <a:buNone/>
            </a:pPr>
            <a:r>
              <a:rPr lang="en-US" sz="1200" spc="-6" kern="0" dirty="0">
                <a:solidFill>
                  <a:srgbClr val="64748B"/>
                </a:solidFill>
                <a:latin typeface="Inter" pitchFamily="34" charset="0"/>
                <a:ea typeface="Inter" pitchFamily="34" charset="-122"/>
                <a:cs typeface="Inter" pitchFamily="34" charset="-120"/>
              </a:rPr>
              <a:t>다중 벡터 데이터셋</a:t>
            </a:r>
            <a:endParaRPr lang="en-US" sz="1200" dirty="0"/>
          </a:p>
        </p:txBody>
      </p:sp>
      <p:sp>
        <p:nvSpPr>
          <p:cNvPr id="29" name="Text 27"/>
          <p:cNvSpPr/>
          <p:nvPr/>
        </p:nvSpPr>
        <p:spPr>
          <a:xfrm>
            <a:off x="6378575" y="3205758"/>
            <a:ext cx="1600200" cy="234950"/>
          </a:xfrm>
          <a:prstGeom prst="rect">
            <a:avLst/>
          </a:prstGeom>
          <a:noFill/>
          <a:ln/>
        </p:spPr>
        <p:txBody>
          <a:bodyPr wrap="square" lIns="25400" tIns="25400" rIns="25400" bIns="25400" rtlCol="0" anchor="t">
            <a:normAutofit/>
          </a:bodyPr>
          <a:lstStyle/>
          <a:p>
            <a:pPr algn="r" indent="0" marL="0">
              <a:buNone/>
            </a:pPr>
            <a:r>
              <a:rPr lang="en-US" sz="1275" b="1" spc="-6" kern="0" dirty="0">
                <a:solidFill>
                  <a:srgbClr val="1E293B"/>
                </a:solidFill>
                <a:latin typeface="Inter" pitchFamily="34" charset="0"/>
                <a:ea typeface="Inter" pitchFamily="34" charset="-122"/>
                <a:cs typeface="Inter" pitchFamily="34" charset="-120"/>
              </a:rPr>
              <a:t>DEEP + SIFT</a:t>
            </a:r>
            <a:endParaRPr lang="en-US" sz="1275" dirty="0"/>
          </a:p>
        </p:txBody>
      </p:sp>
      <p:sp>
        <p:nvSpPr>
          <p:cNvPr id="30" name="Shape 28"/>
          <p:cNvSpPr/>
          <p:nvPr/>
        </p:nvSpPr>
        <p:spPr>
          <a:xfrm>
            <a:off x="8112125" y="3237508"/>
            <a:ext cx="2301875" cy="133350"/>
          </a:xfrm>
          <a:prstGeom prst="rect">
            <a:avLst/>
          </a:prstGeom>
          <a:solidFill>
            <a:srgbClr val="F1F5F9"/>
          </a:solidFill>
          <a:ln/>
        </p:spPr>
      </p:sp>
      <p:sp>
        <p:nvSpPr>
          <p:cNvPr id="31" name="Shape 29"/>
          <p:cNvSpPr/>
          <p:nvPr/>
        </p:nvSpPr>
        <p:spPr>
          <a:xfrm>
            <a:off x="8112125" y="3237508"/>
            <a:ext cx="598488" cy="133350"/>
          </a:xfrm>
          <a:prstGeom prst="rect">
            <a:avLst/>
          </a:prstGeom>
          <a:solidFill>
            <a:srgbClr val="1E3A5F"/>
          </a:solidFill>
          <a:ln/>
        </p:spPr>
      </p:sp>
      <p:sp>
        <p:nvSpPr>
          <p:cNvPr id="32" name="Text 30"/>
          <p:cNvSpPr/>
          <p:nvPr/>
        </p:nvSpPr>
        <p:spPr>
          <a:xfrm>
            <a:off x="10547350" y="3224808"/>
            <a:ext cx="742950" cy="196850"/>
          </a:xfrm>
          <a:prstGeom prst="rect">
            <a:avLst/>
          </a:prstGeom>
          <a:noFill/>
          <a:ln/>
        </p:spPr>
        <p:txBody>
          <a:bodyPr wrap="square" lIns="25400" tIns="25400" rIns="25400" bIns="25400" rtlCol="0" anchor="t">
            <a:normAutofit/>
          </a:bodyPr>
          <a:lstStyle/>
          <a:p>
            <a:pPr algn="l" indent="0" marL="0">
              <a:buNone/>
            </a:pPr>
            <a:r>
              <a:rPr lang="en-US" sz="1050" b="1" dirty="0">
                <a:solidFill>
                  <a:srgbClr val="1E3A5F"/>
                </a:solidFill>
                <a:latin typeface="Inter" pitchFamily="34" charset="0"/>
                <a:ea typeface="Inter" pitchFamily="34" charset="-122"/>
                <a:cs typeface="Inter" pitchFamily="34" charset="-120"/>
              </a:rPr>
              <a:t>224</a:t>
            </a:r>
            <a:endParaRPr lang="en-US" sz="1050" dirty="0"/>
          </a:p>
        </p:txBody>
      </p:sp>
      <p:sp>
        <p:nvSpPr>
          <p:cNvPr id="33" name="Text 31"/>
          <p:cNvSpPr/>
          <p:nvPr/>
        </p:nvSpPr>
        <p:spPr>
          <a:xfrm>
            <a:off x="6378575" y="3555008"/>
            <a:ext cx="1600200" cy="234950"/>
          </a:xfrm>
          <a:prstGeom prst="rect">
            <a:avLst/>
          </a:prstGeom>
          <a:noFill/>
          <a:ln/>
        </p:spPr>
        <p:txBody>
          <a:bodyPr wrap="square" lIns="25400" tIns="25400" rIns="25400" bIns="25400" rtlCol="0" anchor="t">
            <a:normAutofit/>
          </a:bodyPr>
          <a:lstStyle/>
          <a:p>
            <a:pPr algn="r" indent="0" marL="0">
              <a:buNone/>
            </a:pPr>
            <a:r>
              <a:rPr lang="en-US" sz="1275" b="1" spc="-6" kern="0" dirty="0">
                <a:solidFill>
                  <a:srgbClr val="1E293B"/>
                </a:solidFill>
                <a:latin typeface="Inter" pitchFamily="34" charset="0"/>
                <a:ea typeface="Inter" pitchFamily="34" charset="-122"/>
                <a:cs typeface="Inter" pitchFamily="34" charset="-120"/>
              </a:rPr>
              <a:t>DEEP + YFCC</a:t>
            </a:r>
            <a:endParaRPr lang="en-US" sz="1275" dirty="0"/>
          </a:p>
        </p:txBody>
      </p:sp>
      <p:sp>
        <p:nvSpPr>
          <p:cNvPr id="34" name="Shape 32"/>
          <p:cNvSpPr/>
          <p:nvPr/>
        </p:nvSpPr>
        <p:spPr>
          <a:xfrm>
            <a:off x="8112125" y="3586758"/>
            <a:ext cx="2301875" cy="133350"/>
          </a:xfrm>
          <a:prstGeom prst="rect">
            <a:avLst/>
          </a:prstGeom>
          <a:solidFill>
            <a:srgbClr val="F1F5F9"/>
          </a:solidFill>
          <a:ln/>
        </p:spPr>
      </p:sp>
      <p:sp>
        <p:nvSpPr>
          <p:cNvPr id="35" name="Shape 33"/>
          <p:cNvSpPr/>
          <p:nvPr/>
        </p:nvSpPr>
        <p:spPr>
          <a:xfrm>
            <a:off x="8112125" y="3586758"/>
            <a:ext cx="759619" cy="133350"/>
          </a:xfrm>
          <a:prstGeom prst="rect">
            <a:avLst/>
          </a:prstGeom>
          <a:solidFill>
            <a:srgbClr val="1E3A5F"/>
          </a:solidFill>
          <a:ln/>
        </p:spPr>
      </p:sp>
      <p:sp>
        <p:nvSpPr>
          <p:cNvPr id="36" name="Text 34"/>
          <p:cNvSpPr/>
          <p:nvPr/>
        </p:nvSpPr>
        <p:spPr>
          <a:xfrm>
            <a:off x="10547350" y="3574058"/>
            <a:ext cx="742950" cy="196850"/>
          </a:xfrm>
          <a:prstGeom prst="rect">
            <a:avLst/>
          </a:prstGeom>
          <a:noFill/>
          <a:ln/>
        </p:spPr>
        <p:txBody>
          <a:bodyPr wrap="square" lIns="25400" tIns="25400" rIns="25400" bIns="25400" rtlCol="0" anchor="t">
            <a:normAutofit/>
          </a:bodyPr>
          <a:lstStyle/>
          <a:p>
            <a:pPr algn="l" indent="0" marL="0">
              <a:buNone/>
            </a:pPr>
            <a:r>
              <a:rPr lang="en-US" sz="1050" b="1" dirty="0">
                <a:solidFill>
                  <a:srgbClr val="1E3A5F"/>
                </a:solidFill>
                <a:latin typeface="Inter" pitchFamily="34" charset="0"/>
                <a:ea typeface="Inter" pitchFamily="34" charset="-122"/>
                <a:cs typeface="Inter" pitchFamily="34" charset="-120"/>
              </a:rPr>
              <a:t>288</a:t>
            </a:r>
            <a:endParaRPr lang="en-US" sz="1050" dirty="0"/>
          </a:p>
        </p:txBody>
      </p:sp>
      <p:sp>
        <p:nvSpPr>
          <p:cNvPr id="37" name="Text 35"/>
          <p:cNvSpPr/>
          <p:nvPr/>
        </p:nvSpPr>
        <p:spPr>
          <a:xfrm>
            <a:off x="6378575" y="3904258"/>
            <a:ext cx="1600200" cy="234950"/>
          </a:xfrm>
          <a:prstGeom prst="rect">
            <a:avLst/>
          </a:prstGeom>
          <a:noFill/>
          <a:ln/>
        </p:spPr>
        <p:txBody>
          <a:bodyPr wrap="square" lIns="25400" tIns="25400" rIns="25400" bIns="25400" rtlCol="0" anchor="t">
            <a:normAutofit/>
          </a:bodyPr>
          <a:lstStyle/>
          <a:p>
            <a:pPr algn="r" indent="0" marL="0">
              <a:buNone/>
            </a:pPr>
            <a:r>
              <a:rPr lang="en-US" sz="1275" b="1" spc="-6" kern="0" dirty="0">
                <a:solidFill>
                  <a:srgbClr val="1E293B"/>
                </a:solidFill>
                <a:latin typeface="Inter" pitchFamily="34" charset="0"/>
                <a:ea typeface="Inter" pitchFamily="34" charset="-122"/>
                <a:cs typeface="Inter" pitchFamily="34" charset="-120"/>
              </a:rPr>
              <a:t>DEEP + WIKI</a:t>
            </a:r>
            <a:endParaRPr lang="en-US" sz="1275" dirty="0"/>
          </a:p>
        </p:txBody>
      </p:sp>
      <p:sp>
        <p:nvSpPr>
          <p:cNvPr id="38" name="Shape 36"/>
          <p:cNvSpPr/>
          <p:nvPr/>
        </p:nvSpPr>
        <p:spPr>
          <a:xfrm>
            <a:off x="8112125" y="3936008"/>
            <a:ext cx="2301875" cy="133350"/>
          </a:xfrm>
          <a:prstGeom prst="rect">
            <a:avLst/>
          </a:prstGeom>
          <a:solidFill>
            <a:srgbClr val="F1F5F9"/>
          </a:solidFill>
          <a:ln/>
        </p:spPr>
      </p:sp>
      <p:sp>
        <p:nvSpPr>
          <p:cNvPr id="39" name="Shape 37"/>
          <p:cNvSpPr/>
          <p:nvPr/>
        </p:nvSpPr>
        <p:spPr>
          <a:xfrm>
            <a:off x="8112125" y="3936008"/>
            <a:ext cx="1933575" cy="133350"/>
          </a:xfrm>
          <a:prstGeom prst="rect">
            <a:avLst/>
          </a:prstGeom>
          <a:solidFill>
            <a:srgbClr val="1E3A5F"/>
          </a:solidFill>
          <a:ln/>
        </p:spPr>
      </p:sp>
      <p:sp>
        <p:nvSpPr>
          <p:cNvPr id="40" name="Text 38"/>
          <p:cNvSpPr/>
          <p:nvPr/>
        </p:nvSpPr>
        <p:spPr>
          <a:xfrm>
            <a:off x="10547350" y="3923308"/>
            <a:ext cx="742950" cy="196850"/>
          </a:xfrm>
          <a:prstGeom prst="rect">
            <a:avLst/>
          </a:prstGeom>
          <a:noFill/>
          <a:ln/>
        </p:spPr>
        <p:txBody>
          <a:bodyPr wrap="square" lIns="25400" tIns="25400" rIns="25400" bIns="25400" rtlCol="0" anchor="t">
            <a:normAutofit/>
          </a:bodyPr>
          <a:lstStyle/>
          <a:p>
            <a:pPr algn="l" indent="0" marL="0">
              <a:buNone/>
            </a:pPr>
            <a:r>
              <a:rPr lang="en-US" sz="1050" b="1" dirty="0">
                <a:solidFill>
                  <a:srgbClr val="1E3A5F"/>
                </a:solidFill>
                <a:latin typeface="Inter" pitchFamily="34" charset="0"/>
                <a:ea typeface="Inter" pitchFamily="34" charset="-122"/>
                <a:cs typeface="Inter" pitchFamily="34" charset="-120"/>
              </a:rPr>
              <a:t>864</a:t>
            </a:r>
            <a:endParaRPr lang="en-US" sz="1050" dirty="0"/>
          </a:p>
        </p:txBody>
      </p:sp>
      <p:sp>
        <p:nvSpPr>
          <p:cNvPr id="41" name="Text 39"/>
          <p:cNvSpPr/>
          <p:nvPr/>
        </p:nvSpPr>
        <p:spPr>
          <a:xfrm>
            <a:off x="6378575" y="4253508"/>
            <a:ext cx="1600200" cy="234950"/>
          </a:xfrm>
          <a:prstGeom prst="rect">
            <a:avLst/>
          </a:prstGeom>
          <a:noFill/>
          <a:ln/>
        </p:spPr>
        <p:txBody>
          <a:bodyPr wrap="square" lIns="25400" tIns="25400" rIns="25400" bIns="25400" rtlCol="0" anchor="t">
            <a:normAutofit/>
          </a:bodyPr>
          <a:lstStyle/>
          <a:p>
            <a:pPr algn="r" indent="0" marL="0">
              <a:buNone/>
            </a:pPr>
            <a:r>
              <a:rPr lang="en-US" sz="1275" b="1" spc="-6" kern="0" dirty="0">
                <a:solidFill>
                  <a:srgbClr val="1E293B"/>
                </a:solidFill>
                <a:latin typeface="Inter" pitchFamily="34" charset="0"/>
                <a:ea typeface="Inter" pitchFamily="34" charset="-122"/>
                <a:cs typeface="Inter" pitchFamily="34" charset="-120"/>
              </a:rPr>
              <a:t>DEEP + CC3M</a:t>
            </a:r>
            <a:endParaRPr lang="en-US" sz="1275" dirty="0"/>
          </a:p>
        </p:txBody>
      </p:sp>
      <p:sp>
        <p:nvSpPr>
          <p:cNvPr id="42" name="Shape 40"/>
          <p:cNvSpPr/>
          <p:nvPr/>
        </p:nvSpPr>
        <p:spPr>
          <a:xfrm>
            <a:off x="8112125" y="4285258"/>
            <a:ext cx="2301875" cy="133350"/>
          </a:xfrm>
          <a:prstGeom prst="rect">
            <a:avLst/>
          </a:prstGeom>
          <a:solidFill>
            <a:srgbClr val="F1F5F9"/>
          </a:solidFill>
          <a:ln/>
        </p:spPr>
      </p:sp>
      <p:sp>
        <p:nvSpPr>
          <p:cNvPr id="43" name="Shape 41"/>
          <p:cNvSpPr/>
          <p:nvPr/>
        </p:nvSpPr>
        <p:spPr>
          <a:xfrm>
            <a:off x="8112125" y="4285258"/>
            <a:ext cx="2301875" cy="133350"/>
          </a:xfrm>
          <a:prstGeom prst="rect">
            <a:avLst/>
          </a:prstGeom>
          <a:solidFill>
            <a:srgbClr val="1E3A5F"/>
          </a:solidFill>
          <a:ln/>
        </p:spPr>
      </p:sp>
      <p:sp>
        <p:nvSpPr>
          <p:cNvPr id="44" name="Text 42"/>
          <p:cNvSpPr/>
          <p:nvPr/>
        </p:nvSpPr>
        <p:spPr>
          <a:xfrm>
            <a:off x="10547350" y="4272558"/>
            <a:ext cx="742950" cy="196850"/>
          </a:xfrm>
          <a:prstGeom prst="rect">
            <a:avLst/>
          </a:prstGeom>
          <a:noFill/>
          <a:ln/>
        </p:spPr>
        <p:txBody>
          <a:bodyPr wrap="square" lIns="25400" tIns="25400" rIns="25400" bIns="25400" rtlCol="0" anchor="t">
            <a:normAutofit/>
          </a:bodyPr>
          <a:lstStyle/>
          <a:p>
            <a:pPr algn="l" indent="0" marL="0">
              <a:buNone/>
            </a:pPr>
            <a:r>
              <a:rPr lang="en-US" sz="1050" b="1" dirty="0">
                <a:solidFill>
                  <a:srgbClr val="1E3A5F"/>
                </a:solidFill>
                <a:latin typeface="Inter" pitchFamily="34" charset="0"/>
                <a:ea typeface="Inter" pitchFamily="34" charset="-122"/>
                <a:cs typeface="Inter" pitchFamily="34" charset="-120"/>
              </a:rPr>
              <a:t>1024</a:t>
            </a:r>
            <a:endParaRPr lang="en-US" sz="1050" dirty="0"/>
          </a:p>
        </p:txBody>
      </p:sp>
      <p:sp>
        <p:nvSpPr>
          <p:cNvPr id="45" name="Text 43"/>
          <p:cNvSpPr/>
          <p:nvPr/>
        </p:nvSpPr>
        <p:spPr>
          <a:xfrm>
            <a:off x="723900" y="5012333"/>
            <a:ext cx="11066526" cy="274241"/>
          </a:xfrm>
          <a:prstGeom prst="rect">
            <a:avLst/>
          </a:prstGeom>
          <a:noFill/>
          <a:ln/>
        </p:spPr>
        <p:txBody>
          <a:bodyPr wrap="square" lIns="25400" tIns="25400" rIns="25400" bIns="25400" rtlCol="0" anchor="t">
            <a:normAutofit/>
          </a:bodyPr>
          <a:lstStyle/>
          <a:p>
            <a:pPr algn="l" indent="0" marL="0">
              <a:lnSpc>
                <a:spcPct val="155000"/>
              </a:lnSpc>
              <a:buNone/>
            </a:pPr>
            <a:r>
              <a:rPr lang="en-US" sz="1200" b="1" spc="-6" kern="0" dirty="0">
                <a:solidFill>
                  <a:srgbClr val="1E3A5F"/>
                </a:solidFill>
                <a:latin typeface="Inter" pitchFamily="34" charset="0"/>
                <a:ea typeface="Inter" pitchFamily="34" charset="-122"/>
                <a:cs typeface="Inter" pitchFamily="34" charset="-120"/>
              </a:rPr>
              <a:t>96차원부터 1024차원까지 </a:t>
            </a:r>
            <a:pPr algn="l" indent="0" marL="0">
              <a:lnSpc>
                <a:spcPct val="155000"/>
              </a:lnSpc>
              <a:buNone/>
            </a:pPr>
            <a:r>
              <a:rPr lang="en-US" sz="1200" spc="-6" kern="0" dirty="0">
                <a:solidFill>
                  <a:srgbClr val="475569"/>
                </a:solidFill>
                <a:latin typeface="Inter" pitchFamily="34" charset="0"/>
                <a:ea typeface="Inter" pitchFamily="34" charset="-122"/>
                <a:cs typeface="Inter" pitchFamily="34" charset="-120"/>
              </a:rPr>
              <a:t>— 단일 벡터와 다중 벡터를 아우른다</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285750"/>
            <a:ext cx="497979" cy="222250"/>
          </a:xfrm>
          <a:prstGeom prst="rect">
            <a:avLst/>
          </a:prstGeom>
          <a:noFill/>
          <a:ln/>
        </p:spPr>
        <p:txBody>
          <a:bodyPr wrap="square" lIns="25400" tIns="25400" rIns="25400" bIns="25400" rtlCol="0" anchor="ctr">
            <a:normAutofit/>
          </a:bodyPr>
          <a:lstStyle/>
          <a:p>
            <a:pPr algn="l" indent="0" marL="0">
              <a:buNone/>
            </a:pPr>
            <a:r>
              <a:rPr lang="en-US" sz="975" b="1" spc="116" kern="0" dirty="0">
                <a:solidFill>
                  <a:srgbClr val="8B5CF6"/>
                </a:solidFill>
                <a:latin typeface="Inter" pitchFamily="34" charset="0"/>
                <a:ea typeface="Inter" pitchFamily="34" charset="-122"/>
                <a:cs typeface="Inter" pitchFamily="34" charset="-120"/>
              </a:rPr>
              <a:t>방법</a:t>
            </a:r>
            <a:endParaRPr lang="en-US" sz="975" dirty="0"/>
          </a:p>
        </p:txBody>
      </p:sp>
      <p:sp>
        <p:nvSpPr>
          <p:cNvPr id="3" name="Text 1"/>
          <p:cNvSpPr/>
          <p:nvPr/>
        </p:nvSpPr>
        <p:spPr>
          <a:xfrm>
            <a:off x="723900" y="533400"/>
            <a:ext cx="10791825" cy="520005"/>
          </a:xfrm>
          <a:prstGeom prst="rect">
            <a:avLst/>
          </a:prstGeom>
          <a:noFill/>
          <a:ln/>
        </p:spPr>
        <p:txBody>
          <a:bodyPr wrap="square" lIns="25400" tIns="25400" rIns="25400" bIns="25400" rtlCol="0" anchor="t">
            <a:normAutofit/>
          </a:bodyPr>
          <a:lstStyle/>
          <a:p>
            <a:pPr algn="l" indent="0" marL="0">
              <a:lnSpc>
                <a:spcPct val="115000"/>
              </a:lnSpc>
              <a:buNone/>
            </a:pPr>
            <a:r>
              <a:rPr lang="en-US" sz="3300" b="1" spc="-82" kern="0" dirty="0">
                <a:solidFill>
                  <a:srgbClr val="1E3A5F"/>
                </a:solidFill>
                <a:latin typeface="Inter" pitchFamily="34" charset="0"/>
                <a:ea typeface="Inter" pitchFamily="34" charset="-122"/>
                <a:cs typeface="Inter" pitchFamily="34" charset="-120"/>
              </a:rPr>
              <a:t>데이터가 쏠려 있을 때, 무작위는 쏠린 곳만 뽑는다</a:t>
            </a:r>
            <a:endParaRPr lang="en-US" sz="3300" dirty="0"/>
          </a:p>
        </p:txBody>
      </p:sp>
      <p:sp>
        <p:nvSpPr>
          <p:cNvPr id="4" name="Shape 2"/>
          <p:cNvSpPr/>
          <p:nvPr/>
        </p:nvSpPr>
        <p:spPr>
          <a:xfrm>
            <a:off x="723900" y="1148655"/>
            <a:ext cx="381000" cy="28575"/>
          </a:xfrm>
          <a:prstGeom prst="rect">
            <a:avLst/>
          </a:prstGeom>
          <a:solidFill>
            <a:srgbClr val="8B5CF6"/>
          </a:solidFill>
          <a:ln/>
        </p:spPr>
      </p:sp>
      <p:sp>
        <p:nvSpPr>
          <p:cNvPr id="5" name="Shape 3"/>
          <p:cNvSpPr/>
          <p:nvPr/>
        </p:nvSpPr>
        <p:spPr>
          <a:xfrm>
            <a:off x="723900" y="1301055"/>
            <a:ext cx="5257800" cy="4635004"/>
          </a:xfrm>
          <a:prstGeom prst="rect">
            <a:avLst/>
          </a:prstGeom>
          <a:ln w="6350">
            <a:solidFill>
              <a:srgbClr val="E5E7EB"/>
            </a:solidFill>
            <a:prstDash val="solid"/>
          </a:ln>
        </p:spPr>
      </p:sp>
      <p:sp>
        <p:nvSpPr>
          <p:cNvPr id="6" name="Text 4"/>
          <p:cNvSpPr/>
          <p:nvPr/>
        </p:nvSpPr>
        <p:spPr>
          <a:xfrm>
            <a:off x="958850" y="1497906"/>
            <a:ext cx="4931537" cy="266700"/>
          </a:xfrm>
          <a:prstGeom prst="rect">
            <a:avLst/>
          </a:prstGeom>
          <a:noFill/>
          <a:ln/>
        </p:spPr>
        <p:txBody>
          <a:bodyPr wrap="square" lIns="25400" tIns="25400" rIns="25400" bIns="25400" rtlCol="0" anchor="t">
            <a:normAutofit/>
          </a:bodyPr>
          <a:lstStyle/>
          <a:p>
            <a:pPr algn="l" indent="0" marL="0">
              <a:buNone/>
            </a:pPr>
            <a:r>
              <a:rPr lang="en-US" sz="1200" spc="-6" kern="0" dirty="0">
                <a:solidFill>
                  <a:srgbClr val="64748B"/>
                </a:solidFill>
                <a:latin typeface="Inter" pitchFamily="34" charset="0"/>
                <a:ea typeface="Inter" pitchFamily="34" charset="-122"/>
                <a:cs typeface="Inter" pitchFamily="34" charset="-120"/>
              </a:rPr>
              <a:t>기존 방식 · 무작위</a:t>
            </a:r>
            <a:endParaRPr lang="en-US" sz="1200" dirty="0"/>
          </a:p>
        </p:txBody>
      </p:sp>
      <p:pic>
        <p:nvPicPr>
          <p:cNvPr id="7" name="Image 0" descr="preencoded.png">    </p:cNvPr>
          <p:cNvPicPr>
            <a:picLocks noChangeAspect="1"/>
          </p:cNvPicPr>
          <p:nvPr/>
        </p:nvPicPr>
        <p:blipFill>
          <a:blip r:embed="rId1"/>
          <a:stretch>
            <a:fillRect/>
          </a:stretch>
        </p:blipFill>
        <p:spPr>
          <a:xfrm>
            <a:off x="958850" y="1821756"/>
            <a:ext cx="4787900" cy="3638054"/>
          </a:xfrm>
          <a:prstGeom prst="rect">
            <a:avLst/>
          </a:prstGeom>
        </p:spPr>
      </p:pic>
      <p:sp>
        <p:nvSpPr>
          <p:cNvPr id="8" name="Text 5"/>
          <p:cNvSpPr/>
          <p:nvPr/>
        </p:nvSpPr>
        <p:spPr>
          <a:xfrm>
            <a:off x="887032" y="5555060"/>
            <a:ext cx="4931537" cy="222250"/>
          </a:xfrm>
          <a:prstGeom prst="rect">
            <a:avLst/>
          </a:prstGeom>
          <a:noFill/>
          <a:ln/>
        </p:spPr>
        <p:txBody>
          <a:bodyPr wrap="square" lIns="25400" tIns="25400" rIns="25400" bIns="25400" rtlCol="0" anchor="t">
            <a:normAutofit/>
          </a:bodyPr>
          <a:lstStyle/>
          <a:p>
            <a:pPr algn="ctr" indent="0" marL="0">
              <a:buNone/>
            </a:pPr>
            <a:r>
              <a:rPr lang="en-US" sz="975" spc="-5" kern="0" dirty="0">
                <a:solidFill>
                  <a:srgbClr val="64748B"/>
                </a:solidFill>
                <a:latin typeface="Inter" pitchFamily="34" charset="0"/>
                <a:ea typeface="Inter" pitchFamily="34" charset="-122"/>
                <a:cs typeface="Inter" pitchFamily="34" charset="-120"/>
              </a:rPr>
              <a:t>드문 구간 — 표본 없음</a:t>
            </a:r>
            <a:endParaRPr lang="en-US" sz="975" dirty="0"/>
          </a:p>
        </p:txBody>
      </p:sp>
      <p:sp>
        <p:nvSpPr>
          <p:cNvPr id="9" name="Shape 6"/>
          <p:cNvSpPr/>
          <p:nvPr/>
        </p:nvSpPr>
        <p:spPr>
          <a:xfrm>
            <a:off x="6210300" y="1301055"/>
            <a:ext cx="5257800" cy="4635004"/>
          </a:xfrm>
          <a:prstGeom prst="rect">
            <a:avLst/>
          </a:prstGeom>
          <a:solidFill>
            <a:srgbClr val="E5F4FB"/>
          </a:solidFill>
          <a:ln w="12700">
            <a:solidFill>
              <a:srgbClr val="0EA5E9"/>
            </a:solidFill>
            <a:prstDash val="solid"/>
          </a:ln>
        </p:spPr>
      </p:sp>
      <p:sp>
        <p:nvSpPr>
          <p:cNvPr id="10" name="Text 7"/>
          <p:cNvSpPr/>
          <p:nvPr/>
        </p:nvSpPr>
        <p:spPr>
          <a:xfrm>
            <a:off x="6451600" y="1504256"/>
            <a:ext cx="4918456" cy="266700"/>
          </a:xfrm>
          <a:prstGeom prst="rect">
            <a:avLst/>
          </a:prstGeom>
          <a:noFill/>
          <a:ln/>
        </p:spPr>
        <p:txBody>
          <a:bodyPr wrap="square" lIns="25400" tIns="25400" rIns="25400" bIns="25400" rtlCol="0" anchor="t">
            <a:normAutofit/>
          </a:bodyPr>
          <a:lstStyle/>
          <a:p>
            <a:pPr algn="l" indent="0" marL="0">
              <a:buNone/>
            </a:pPr>
            <a:r>
              <a:rPr lang="en-US" sz="1200" b="1" spc="-6" kern="0" dirty="0">
                <a:solidFill>
                  <a:srgbClr val="0EA5E9"/>
                </a:solidFill>
                <a:latin typeface="Inter" pitchFamily="34" charset="0"/>
                <a:ea typeface="Inter" pitchFamily="34" charset="-122"/>
                <a:cs typeface="Inter" pitchFamily="34" charset="-120"/>
              </a:rPr>
              <a:t>분포 인지 표본 추출</a:t>
            </a:r>
            <a:endParaRPr lang="en-US" sz="1200" dirty="0"/>
          </a:p>
        </p:txBody>
      </p:sp>
      <p:pic>
        <p:nvPicPr>
          <p:cNvPr id="11" name="Image 1" descr="preencoded.png">    </p:cNvPr>
          <p:cNvPicPr>
            <a:picLocks noChangeAspect="1"/>
          </p:cNvPicPr>
          <p:nvPr/>
        </p:nvPicPr>
        <p:blipFill>
          <a:blip r:embed="rId2"/>
          <a:stretch>
            <a:fillRect/>
          </a:stretch>
        </p:blipFill>
        <p:spPr>
          <a:xfrm>
            <a:off x="6451600" y="1828106"/>
            <a:ext cx="4775200" cy="3625354"/>
          </a:xfrm>
          <a:prstGeom prst="rect">
            <a:avLst/>
          </a:prstGeom>
        </p:spPr>
      </p:pic>
      <p:sp>
        <p:nvSpPr>
          <p:cNvPr id="12" name="Text 8"/>
          <p:cNvSpPr/>
          <p:nvPr/>
        </p:nvSpPr>
        <p:spPr>
          <a:xfrm>
            <a:off x="6379972" y="5548710"/>
            <a:ext cx="4918456" cy="222250"/>
          </a:xfrm>
          <a:prstGeom prst="rect">
            <a:avLst/>
          </a:prstGeom>
          <a:noFill/>
          <a:ln/>
        </p:spPr>
        <p:txBody>
          <a:bodyPr wrap="square" lIns="25400" tIns="25400" rIns="25400" bIns="25400" rtlCol="0" anchor="t">
            <a:normAutofit/>
          </a:bodyPr>
          <a:lstStyle/>
          <a:p>
            <a:pPr algn="ctr" indent="0" marL="0">
              <a:buNone/>
            </a:pPr>
            <a:r>
              <a:rPr lang="en-US" sz="975" b="1" spc="-5" kern="0" dirty="0">
                <a:solidFill>
                  <a:srgbClr val="0EA5E9"/>
                </a:solidFill>
                <a:latin typeface="Inter" pitchFamily="34" charset="0"/>
                <a:ea typeface="Inter" pitchFamily="34" charset="-122"/>
                <a:cs typeface="Inter" pitchFamily="34" charset="-120"/>
              </a:rPr>
              <a:t>드문 구간도 표본에 들어온다</a:t>
            </a:r>
            <a:endParaRPr lang="en-US" sz="975" dirty="0"/>
          </a:p>
        </p:txBody>
      </p:sp>
      <p:sp>
        <p:nvSpPr>
          <p:cNvPr id="13" name="Text 9"/>
          <p:cNvSpPr/>
          <p:nvPr/>
        </p:nvSpPr>
        <p:spPr>
          <a:xfrm>
            <a:off x="723900" y="6126560"/>
            <a:ext cx="11066526" cy="274241"/>
          </a:xfrm>
          <a:prstGeom prst="rect">
            <a:avLst/>
          </a:prstGeom>
          <a:noFill/>
          <a:ln/>
        </p:spPr>
        <p:txBody>
          <a:bodyPr wrap="square" lIns="25400" tIns="25400" rIns="25400" bIns="25400" rtlCol="0" anchor="t">
            <a:normAutofit/>
          </a:bodyPr>
          <a:lstStyle/>
          <a:p>
            <a:pPr algn="l" indent="0" marL="0">
              <a:lnSpc>
                <a:spcPct val="155000"/>
              </a:lnSpc>
              <a:buNone/>
            </a:pPr>
            <a:r>
              <a:rPr lang="en-US" sz="1200" spc="-6" kern="0" dirty="0">
                <a:solidFill>
                  <a:srgbClr val="475569"/>
                </a:solidFill>
                <a:latin typeface="Inter" pitchFamily="34" charset="0"/>
                <a:ea typeface="Inter" pitchFamily="34" charset="-122"/>
                <a:cs typeface="Inter" pitchFamily="34" charset="-120"/>
              </a:rPr>
              <a:t>분포를 반영하면 드문 구간까지 표본에 들어와 추정이 정확해진다</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285750"/>
            <a:ext cx="497979" cy="222250"/>
          </a:xfrm>
          <a:prstGeom prst="rect">
            <a:avLst/>
          </a:prstGeom>
          <a:noFill/>
          <a:ln/>
        </p:spPr>
        <p:txBody>
          <a:bodyPr wrap="square" lIns="25400" tIns="25400" rIns="25400" bIns="25400" rtlCol="0" anchor="ctr">
            <a:normAutofit/>
          </a:bodyPr>
          <a:lstStyle/>
          <a:p>
            <a:pPr algn="l" indent="0" marL="0">
              <a:buNone/>
            </a:pPr>
            <a:r>
              <a:rPr lang="en-US" sz="975" b="1" spc="116" kern="0" dirty="0">
                <a:solidFill>
                  <a:srgbClr val="8B5CF6"/>
                </a:solidFill>
                <a:latin typeface="Inter" pitchFamily="34" charset="0"/>
                <a:ea typeface="Inter" pitchFamily="34" charset="-122"/>
                <a:cs typeface="Inter" pitchFamily="34" charset="-120"/>
              </a:rPr>
              <a:t>방법</a:t>
            </a:r>
            <a:endParaRPr lang="en-US" sz="975" dirty="0"/>
          </a:p>
        </p:txBody>
      </p:sp>
      <p:sp>
        <p:nvSpPr>
          <p:cNvPr id="3" name="Text 1"/>
          <p:cNvSpPr/>
          <p:nvPr/>
        </p:nvSpPr>
        <p:spPr>
          <a:xfrm>
            <a:off x="723900" y="533400"/>
            <a:ext cx="10791825" cy="520005"/>
          </a:xfrm>
          <a:prstGeom prst="rect">
            <a:avLst/>
          </a:prstGeom>
          <a:noFill/>
          <a:ln/>
        </p:spPr>
        <p:txBody>
          <a:bodyPr wrap="square" lIns="25400" tIns="25400" rIns="25400" bIns="25400" rtlCol="0" anchor="t">
            <a:normAutofit/>
          </a:bodyPr>
          <a:lstStyle/>
          <a:p>
            <a:pPr algn="l" indent="0" marL="0">
              <a:lnSpc>
                <a:spcPct val="115000"/>
              </a:lnSpc>
              <a:buNone/>
            </a:pPr>
            <a:r>
              <a:rPr lang="en-US" sz="3300" b="1" spc="-82" kern="0" dirty="0">
                <a:solidFill>
                  <a:srgbClr val="1E3A5F"/>
                </a:solidFill>
                <a:latin typeface="Inter" pitchFamily="34" charset="0"/>
                <a:ea typeface="Inter" pitchFamily="34" charset="-122"/>
                <a:cs typeface="Inter" pitchFamily="34" charset="-120"/>
              </a:rPr>
              <a:t>16가지 방법, 7가지 접근</a:t>
            </a:r>
            <a:endParaRPr lang="en-US" sz="3300" dirty="0"/>
          </a:p>
        </p:txBody>
      </p:sp>
      <p:sp>
        <p:nvSpPr>
          <p:cNvPr id="4" name="Shape 2"/>
          <p:cNvSpPr/>
          <p:nvPr/>
        </p:nvSpPr>
        <p:spPr>
          <a:xfrm>
            <a:off x="723900" y="1148655"/>
            <a:ext cx="381000" cy="28575"/>
          </a:xfrm>
          <a:prstGeom prst="rect">
            <a:avLst/>
          </a:prstGeom>
          <a:solidFill>
            <a:srgbClr val="8B5CF6"/>
          </a:solidFill>
          <a:ln/>
        </p:spPr>
      </p:sp>
      <p:sp>
        <p:nvSpPr>
          <p:cNvPr id="5" name="Shape 3"/>
          <p:cNvSpPr/>
          <p:nvPr/>
        </p:nvSpPr>
        <p:spPr>
          <a:xfrm>
            <a:off x="723900" y="1301055"/>
            <a:ext cx="2607469" cy="2483644"/>
          </a:xfrm>
          <a:prstGeom prst="rect">
            <a:avLst/>
          </a:prstGeom>
          <a:solidFill>
            <a:srgbClr val="FFFFFF"/>
          </a:solidFill>
          <a:ln w="6350">
            <a:solidFill>
              <a:srgbClr val="E5E7EB"/>
            </a:solidFill>
            <a:prstDash val="solid"/>
          </a:ln>
        </p:spPr>
      </p:sp>
      <p:pic>
        <p:nvPicPr>
          <p:cNvPr id="6" name="Image 0" descr="preencoded.png">    </p:cNvPr>
          <p:cNvPicPr>
            <a:picLocks noChangeAspect="1"/>
          </p:cNvPicPr>
          <p:nvPr/>
        </p:nvPicPr>
        <p:blipFill>
          <a:blip r:embed="rId1"/>
          <a:stretch>
            <a:fillRect/>
          </a:stretch>
        </p:blipFill>
        <p:spPr>
          <a:xfrm>
            <a:off x="901700" y="1469331"/>
            <a:ext cx="571500" cy="342900"/>
          </a:xfrm>
          <a:prstGeom prst="rect">
            <a:avLst/>
          </a:prstGeom>
        </p:spPr>
      </p:pic>
      <p:sp>
        <p:nvSpPr>
          <p:cNvPr id="7" name="Text 4"/>
          <p:cNvSpPr/>
          <p:nvPr/>
        </p:nvSpPr>
        <p:spPr>
          <a:xfrm>
            <a:off x="901700" y="1897956"/>
            <a:ext cx="2328069" cy="226616"/>
          </a:xfrm>
          <a:prstGeom prst="rect">
            <a:avLst/>
          </a:prstGeom>
          <a:noFill/>
          <a:ln/>
        </p:spPr>
        <p:txBody>
          <a:bodyPr wrap="square" lIns="25400" tIns="25400" rIns="25400" bIns="25400" rtlCol="0" anchor="t">
            <a:normAutofit/>
          </a:bodyPr>
          <a:lstStyle/>
          <a:p>
            <a:pPr algn="l" indent="0" marL="0">
              <a:lnSpc>
                <a:spcPct val="120000"/>
              </a:lnSpc>
              <a:buNone/>
            </a:pPr>
            <a:r>
              <a:rPr lang="en-US" sz="1238" b="1" spc="-19" kern="0" dirty="0">
                <a:solidFill>
                  <a:srgbClr val="1E293B"/>
                </a:solidFill>
                <a:latin typeface="Inter" pitchFamily="34" charset="0"/>
                <a:ea typeface="Inter" pitchFamily="34" charset="-122"/>
                <a:cs typeface="Inter" pitchFamily="34" charset="-120"/>
              </a:rPr>
              <a:t>공간 곡선</a:t>
            </a:r>
            <a:endParaRPr lang="en-US" sz="1238" dirty="0"/>
          </a:p>
        </p:txBody>
      </p:sp>
      <p:sp>
        <p:nvSpPr>
          <p:cNvPr id="8" name="Text 5"/>
          <p:cNvSpPr/>
          <p:nvPr/>
        </p:nvSpPr>
        <p:spPr>
          <a:xfrm>
            <a:off x="901700" y="2162671"/>
            <a:ext cx="2328069" cy="217587"/>
          </a:xfrm>
          <a:prstGeom prst="rect">
            <a:avLst/>
          </a:prstGeom>
          <a:noFill/>
          <a:ln/>
        </p:spPr>
        <p:txBody>
          <a:bodyPr wrap="square" lIns="25400" tIns="25400" rIns="25400" bIns="25400" rtlCol="0" anchor="t">
            <a:normAutofit/>
          </a:bodyPr>
          <a:lstStyle/>
          <a:p>
            <a:pPr algn="l" indent="0" marL="0">
              <a:lnSpc>
                <a:spcPct val="145000"/>
              </a:lnSpc>
              <a:buNone/>
            </a:pPr>
            <a:r>
              <a:rPr lang="en-US" sz="975" spc="-5" kern="0" dirty="0">
                <a:solidFill>
                  <a:srgbClr val="1E293B"/>
                </a:solidFill>
                <a:latin typeface="Inter" pitchFamily="34" charset="0"/>
                <a:ea typeface="Inter" pitchFamily="34" charset="-122"/>
                <a:cs typeface="Inter" pitchFamily="34" charset="-120"/>
              </a:rPr>
              <a:t>고차원을 한 줄로 펼쳐 균등 구간으로 자른다</a:t>
            </a:r>
            <a:endParaRPr lang="en-US" sz="975" dirty="0"/>
          </a:p>
        </p:txBody>
      </p:sp>
      <p:sp>
        <p:nvSpPr>
          <p:cNvPr id="9" name="Shape 6"/>
          <p:cNvSpPr/>
          <p:nvPr/>
        </p:nvSpPr>
        <p:spPr>
          <a:xfrm>
            <a:off x="901700" y="3171924"/>
            <a:ext cx="2251869" cy="9525"/>
          </a:xfrm>
          <a:prstGeom prst="rect">
            <a:avLst/>
          </a:prstGeom>
          <a:solidFill>
            <a:srgbClr val="E5E7EB"/>
          </a:solidFill>
          <a:ln/>
        </p:spPr>
      </p:sp>
      <p:sp>
        <p:nvSpPr>
          <p:cNvPr id="10" name="Text 7"/>
          <p:cNvSpPr/>
          <p:nvPr/>
        </p:nvSpPr>
        <p:spPr>
          <a:xfrm>
            <a:off x="901700" y="3254474"/>
            <a:ext cx="2328069" cy="409575"/>
          </a:xfrm>
          <a:prstGeom prst="rect">
            <a:avLst/>
          </a:prstGeom>
          <a:noFill/>
          <a:ln/>
        </p:spPr>
        <p:txBody>
          <a:bodyPr wrap="square" lIns="25400" tIns="25400" rIns="25400" bIns="25400" rtlCol="0" anchor="t">
            <a:normAutofit/>
          </a:bodyPr>
          <a:lstStyle/>
          <a:p>
            <a:pPr algn="l" indent="0" marL="0">
              <a:lnSpc>
                <a:spcPct val="150000"/>
              </a:lnSpc>
              <a:buNone/>
            </a:pPr>
            <a:r>
              <a:rPr lang="en-US" sz="975" spc="-8" kern="0" dirty="0">
                <a:solidFill>
                  <a:srgbClr val="64748B"/>
                </a:solidFill>
                <a:latin typeface="Inter" pitchFamily="34" charset="0"/>
                <a:ea typeface="Inter" pitchFamily="34" charset="-122"/>
                <a:cs typeface="Inter" pitchFamily="34" charset="-120"/>
              </a:rPr>
              <a:t>Hilbert 곡선 · Z-order 곡선 · 고차원 Hilbert 곡선 · IVF 클러스터링</a:t>
            </a:r>
            <a:endParaRPr lang="en-US" sz="975" dirty="0"/>
          </a:p>
        </p:txBody>
      </p:sp>
      <p:sp>
        <p:nvSpPr>
          <p:cNvPr id="11" name="Shape 8"/>
          <p:cNvSpPr/>
          <p:nvPr/>
        </p:nvSpPr>
        <p:spPr>
          <a:xfrm>
            <a:off x="3436144" y="1301055"/>
            <a:ext cx="2607469" cy="2483644"/>
          </a:xfrm>
          <a:prstGeom prst="rect">
            <a:avLst/>
          </a:prstGeom>
          <a:solidFill>
            <a:srgbClr val="FFFFFF"/>
          </a:solidFill>
          <a:ln w="6350">
            <a:solidFill>
              <a:srgbClr val="E5E7EB"/>
            </a:solidFill>
            <a:prstDash val="solid"/>
          </a:ln>
        </p:spPr>
      </p:sp>
      <p:pic>
        <p:nvPicPr>
          <p:cNvPr id="12" name="Image 1" descr="preencoded.png">    </p:cNvPr>
          <p:cNvPicPr>
            <a:picLocks noChangeAspect="1"/>
          </p:cNvPicPr>
          <p:nvPr/>
        </p:nvPicPr>
        <p:blipFill>
          <a:blip r:embed="rId2"/>
          <a:stretch>
            <a:fillRect/>
          </a:stretch>
        </p:blipFill>
        <p:spPr>
          <a:xfrm>
            <a:off x="3613944" y="1469331"/>
            <a:ext cx="571500" cy="342900"/>
          </a:xfrm>
          <a:prstGeom prst="rect">
            <a:avLst/>
          </a:prstGeom>
        </p:spPr>
      </p:pic>
      <p:sp>
        <p:nvSpPr>
          <p:cNvPr id="13" name="Text 9"/>
          <p:cNvSpPr/>
          <p:nvPr/>
        </p:nvSpPr>
        <p:spPr>
          <a:xfrm>
            <a:off x="3613944" y="1897956"/>
            <a:ext cx="2328069" cy="226616"/>
          </a:xfrm>
          <a:prstGeom prst="rect">
            <a:avLst/>
          </a:prstGeom>
          <a:noFill/>
          <a:ln/>
        </p:spPr>
        <p:txBody>
          <a:bodyPr wrap="square" lIns="25400" tIns="25400" rIns="25400" bIns="25400" rtlCol="0" anchor="t">
            <a:normAutofit/>
          </a:bodyPr>
          <a:lstStyle/>
          <a:p>
            <a:pPr algn="l" indent="0" marL="0">
              <a:lnSpc>
                <a:spcPct val="120000"/>
              </a:lnSpc>
              <a:buNone/>
            </a:pPr>
            <a:r>
              <a:rPr lang="en-US" sz="1238" b="1" spc="-19" kern="0" dirty="0">
                <a:solidFill>
                  <a:srgbClr val="1E293B"/>
                </a:solidFill>
                <a:latin typeface="Inter" pitchFamily="34" charset="0"/>
                <a:ea typeface="Inter" pitchFamily="34" charset="-122"/>
                <a:cs typeface="Inter" pitchFamily="34" charset="-120"/>
              </a:rPr>
              <a:t>차원 축소</a:t>
            </a:r>
            <a:endParaRPr lang="en-US" sz="1238" dirty="0"/>
          </a:p>
        </p:txBody>
      </p:sp>
      <p:sp>
        <p:nvSpPr>
          <p:cNvPr id="14" name="Text 10"/>
          <p:cNvSpPr/>
          <p:nvPr/>
        </p:nvSpPr>
        <p:spPr>
          <a:xfrm>
            <a:off x="3613944" y="2162671"/>
            <a:ext cx="2328069" cy="397073"/>
          </a:xfrm>
          <a:prstGeom prst="rect">
            <a:avLst/>
          </a:prstGeom>
          <a:noFill/>
          <a:ln/>
        </p:spPr>
        <p:txBody>
          <a:bodyPr wrap="square" lIns="25400" tIns="25400" rIns="25400" bIns="25400" rtlCol="0" anchor="t">
            <a:normAutofit/>
          </a:bodyPr>
          <a:lstStyle/>
          <a:p>
            <a:pPr algn="l" indent="0" marL="0">
              <a:lnSpc>
                <a:spcPct val="145000"/>
              </a:lnSpc>
              <a:buNone/>
            </a:pPr>
            <a:r>
              <a:rPr lang="en-US" sz="975" spc="-5" kern="0" dirty="0">
                <a:solidFill>
                  <a:srgbClr val="1E293B"/>
                </a:solidFill>
                <a:latin typeface="Inter" pitchFamily="34" charset="0"/>
                <a:ea typeface="Inter" pitchFamily="34" charset="-122"/>
                <a:cs typeface="Inter" pitchFamily="34" charset="-120"/>
              </a:rPr>
              <a:t>정보가 가장 많은 축으로 압축해 구간을 나눈다</a:t>
            </a:r>
            <a:endParaRPr lang="en-US" sz="975" dirty="0"/>
          </a:p>
        </p:txBody>
      </p:sp>
      <p:sp>
        <p:nvSpPr>
          <p:cNvPr id="15" name="Shape 11"/>
          <p:cNvSpPr/>
          <p:nvPr/>
        </p:nvSpPr>
        <p:spPr>
          <a:xfrm>
            <a:off x="3613944" y="3171924"/>
            <a:ext cx="2251869" cy="9525"/>
          </a:xfrm>
          <a:prstGeom prst="rect">
            <a:avLst/>
          </a:prstGeom>
          <a:solidFill>
            <a:srgbClr val="E5E7EB"/>
          </a:solidFill>
          <a:ln/>
        </p:spPr>
      </p:sp>
      <p:sp>
        <p:nvSpPr>
          <p:cNvPr id="16" name="Text 12"/>
          <p:cNvSpPr/>
          <p:nvPr/>
        </p:nvSpPr>
        <p:spPr>
          <a:xfrm>
            <a:off x="3613944" y="3254474"/>
            <a:ext cx="2328069" cy="409575"/>
          </a:xfrm>
          <a:prstGeom prst="rect">
            <a:avLst/>
          </a:prstGeom>
          <a:noFill/>
          <a:ln/>
        </p:spPr>
        <p:txBody>
          <a:bodyPr wrap="square" lIns="25400" tIns="25400" rIns="25400" bIns="25400" rtlCol="0" anchor="t">
            <a:normAutofit/>
          </a:bodyPr>
          <a:lstStyle/>
          <a:p>
            <a:pPr algn="l" indent="0" marL="0">
              <a:lnSpc>
                <a:spcPct val="150000"/>
              </a:lnSpc>
              <a:buNone/>
            </a:pPr>
            <a:r>
              <a:rPr lang="en-US" sz="975" spc="-8" kern="0" dirty="0">
                <a:solidFill>
                  <a:srgbClr val="64748B"/>
                </a:solidFill>
                <a:latin typeface="Inter" pitchFamily="34" charset="0"/>
                <a:ea typeface="Inter" pitchFamily="34" charset="-122"/>
                <a:cs typeface="Inter" pitchFamily="34" charset="-120"/>
              </a:rPr>
              <a:t>주성분 분석 · 독립성분 분석 · 랜덤 SVD · 희소 랜덤 투영</a:t>
            </a:r>
            <a:endParaRPr lang="en-US" sz="975" dirty="0"/>
          </a:p>
        </p:txBody>
      </p:sp>
      <p:sp>
        <p:nvSpPr>
          <p:cNvPr id="17" name="Shape 13"/>
          <p:cNvSpPr/>
          <p:nvPr/>
        </p:nvSpPr>
        <p:spPr>
          <a:xfrm>
            <a:off x="6148388" y="1301055"/>
            <a:ext cx="2607469" cy="2483644"/>
          </a:xfrm>
          <a:prstGeom prst="rect">
            <a:avLst/>
          </a:prstGeom>
          <a:solidFill>
            <a:srgbClr val="FFFFFF"/>
          </a:solidFill>
          <a:ln w="6350">
            <a:solidFill>
              <a:srgbClr val="E5E7EB"/>
            </a:solidFill>
            <a:prstDash val="solid"/>
          </a:ln>
        </p:spPr>
      </p:sp>
      <p:pic>
        <p:nvPicPr>
          <p:cNvPr id="18" name="Image 2" descr="preencoded.png">    </p:cNvPr>
          <p:cNvPicPr>
            <a:picLocks noChangeAspect="1"/>
          </p:cNvPicPr>
          <p:nvPr/>
        </p:nvPicPr>
        <p:blipFill>
          <a:blip r:embed="rId3"/>
          <a:stretch>
            <a:fillRect/>
          </a:stretch>
        </p:blipFill>
        <p:spPr>
          <a:xfrm>
            <a:off x="6326188" y="1469331"/>
            <a:ext cx="571500" cy="342900"/>
          </a:xfrm>
          <a:prstGeom prst="rect">
            <a:avLst/>
          </a:prstGeom>
        </p:spPr>
      </p:pic>
      <p:sp>
        <p:nvSpPr>
          <p:cNvPr id="19" name="Text 14"/>
          <p:cNvSpPr/>
          <p:nvPr/>
        </p:nvSpPr>
        <p:spPr>
          <a:xfrm>
            <a:off x="6326188" y="1897956"/>
            <a:ext cx="2328069" cy="226616"/>
          </a:xfrm>
          <a:prstGeom prst="rect">
            <a:avLst/>
          </a:prstGeom>
          <a:noFill/>
          <a:ln/>
        </p:spPr>
        <p:txBody>
          <a:bodyPr wrap="square" lIns="25400" tIns="25400" rIns="25400" bIns="25400" rtlCol="0" anchor="t">
            <a:normAutofit/>
          </a:bodyPr>
          <a:lstStyle/>
          <a:p>
            <a:pPr algn="l" indent="0" marL="0">
              <a:lnSpc>
                <a:spcPct val="120000"/>
              </a:lnSpc>
              <a:buNone/>
            </a:pPr>
            <a:r>
              <a:rPr lang="en-US" sz="1238" b="1" spc="-19" kern="0" dirty="0">
                <a:solidFill>
                  <a:srgbClr val="1E293B"/>
                </a:solidFill>
                <a:latin typeface="Inter" pitchFamily="34" charset="0"/>
                <a:ea typeface="Inter" pitchFamily="34" charset="-122"/>
                <a:cs typeface="Inter" pitchFamily="34" charset="-120"/>
              </a:rPr>
              <a:t>통계적 층화</a:t>
            </a:r>
            <a:endParaRPr lang="en-US" sz="1238" dirty="0"/>
          </a:p>
        </p:txBody>
      </p:sp>
      <p:sp>
        <p:nvSpPr>
          <p:cNvPr id="20" name="Text 15"/>
          <p:cNvSpPr/>
          <p:nvPr/>
        </p:nvSpPr>
        <p:spPr>
          <a:xfrm>
            <a:off x="6326188" y="2162671"/>
            <a:ext cx="2328069" cy="217587"/>
          </a:xfrm>
          <a:prstGeom prst="rect">
            <a:avLst/>
          </a:prstGeom>
          <a:noFill/>
          <a:ln/>
        </p:spPr>
        <p:txBody>
          <a:bodyPr wrap="square" lIns="25400" tIns="25400" rIns="25400" bIns="25400" rtlCol="0" anchor="t">
            <a:normAutofit/>
          </a:bodyPr>
          <a:lstStyle/>
          <a:p>
            <a:pPr algn="l" indent="0" marL="0">
              <a:lnSpc>
                <a:spcPct val="145000"/>
              </a:lnSpc>
              <a:buNone/>
            </a:pPr>
            <a:r>
              <a:rPr lang="en-US" sz="975" spc="-5" kern="0" dirty="0">
                <a:solidFill>
                  <a:srgbClr val="1E293B"/>
                </a:solidFill>
                <a:latin typeface="Inter" pitchFamily="34" charset="0"/>
                <a:ea typeface="Inter" pitchFamily="34" charset="-122"/>
                <a:cs typeface="Inter" pitchFamily="34" charset="-120"/>
              </a:rPr>
              <a:t>각 구간에 데이터가 같은 양씩 담기게 자른다</a:t>
            </a:r>
            <a:endParaRPr lang="en-US" sz="975" dirty="0"/>
          </a:p>
        </p:txBody>
      </p:sp>
      <p:sp>
        <p:nvSpPr>
          <p:cNvPr id="21" name="Shape 16"/>
          <p:cNvSpPr/>
          <p:nvPr/>
        </p:nvSpPr>
        <p:spPr>
          <a:xfrm>
            <a:off x="6326188" y="3171924"/>
            <a:ext cx="2251869" cy="9525"/>
          </a:xfrm>
          <a:prstGeom prst="rect">
            <a:avLst/>
          </a:prstGeom>
          <a:solidFill>
            <a:srgbClr val="E5E7EB"/>
          </a:solidFill>
          <a:ln/>
        </p:spPr>
      </p:sp>
      <p:sp>
        <p:nvSpPr>
          <p:cNvPr id="22" name="Text 17"/>
          <p:cNvSpPr/>
          <p:nvPr/>
        </p:nvSpPr>
        <p:spPr>
          <a:xfrm>
            <a:off x="6326188" y="3254474"/>
            <a:ext cx="2328069" cy="409575"/>
          </a:xfrm>
          <a:prstGeom prst="rect">
            <a:avLst/>
          </a:prstGeom>
          <a:noFill/>
          <a:ln/>
        </p:spPr>
        <p:txBody>
          <a:bodyPr wrap="square" lIns="25400" tIns="25400" rIns="25400" bIns="25400" rtlCol="0" anchor="t">
            <a:normAutofit/>
          </a:bodyPr>
          <a:lstStyle/>
          <a:p>
            <a:pPr algn="l" indent="0" marL="0">
              <a:lnSpc>
                <a:spcPct val="150000"/>
              </a:lnSpc>
              <a:buNone/>
            </a:pPr>
            <a:r>
              <a:rPr lang="en-US" sz="975" spc="-8" kern="0" dirty="0">
                <a:solidFill>
                  <a:srgbClr val="64748B"/>
                </a:solidFill>
                <a:latin typeface="Inter" pitchFamily="34" charset="0"/>
                <a:ea typeface="Inter" pitchFamily="34" charset="-122"/>
                <a:cs typeface="Inter" pitchFamily="34" charset="-120"/>
              </a:rPr>
              <a:t>누적 제곱근 층화 · Lavallée–Hidiroglou 층화</a:t>
            </a:r>
            <a:endParaRPr lang="en-US" sz="975" dirty="0"/>
          </a:p>
        </p:txBody>
      </p:sp>
      <p:sp>
        <p:nvSpPr>
          <p:cNvPr id="23" name="Shape 18"/>
          <p:cNvSpPr/>
          <p:nvPr/>
        </p:nvSpPr>
        <p:spPr>
          <a:xfrm>
            <a:off x="8860631" y="1301055"/>
            <a:ext cx="2607469" cy="2483644"/>
          </a:xfrm>
          <a:prstGeom prst="rect">
            <a:avLst/>
          </a:prstGeom>
          <a:solidFill>
            <a:srgbClr val="FFFFFF"/>
          </a:solidFill>
          <a:ln w="6350">
            <a:solidFill>
              <a:srgbClr val="E5E7EB"/>
            </a:solidFill>
            <a:prstDash val="solid"/>
          </a:ln>
        </p:spPr>
      </p:sp>
      <p:pic>
        <p:nvPicPr>
          <p:cNvPr id="24" name="Image 3" descr="preencoded.png">    </p:cNvPr>
          <p:cNvPicPr>
            <a:picLocks noChangeAspect="1"/>
          </p:cNvPicPr>
          <p:nvPr/>
        </p:nvPicPr>
        <p:blipFill>
          <a:blip r:embed="rId4"/>
          <a:stretch>
            <a:fillRect/>
          </a:stretch>
        </p:blipFill>
        <p:spPr>
          <a:xfrm>
            <a:off x="9038431" y="1469331"/>
            <a:ext cx="571500" cy="342900"/>
          </a:xfrm>
          <a:prstGeom prst="rect">
            <a:avLst/>
          </a:prstGeom>
        </p:spPr>
      </p:pic>
      <p:sp>
        <p:nvSpPr>
          <p:cNvPr id="25" name="Text 19"/>
          <p:cNvSpPr/>
          <p:nvPr/>
        </p:nvSpPr>
        <p:spPr>
          <a:xfrm>
            <a:off x="9038431" y="1897956"/>
            <a:ext cx="2328069" cy="226616"/>
          </a:xfrm>
          <a:prstGeom prst="rect">
            <a:avLst/>
          </a:prstGeom>
          <a:noFill/>
          <a:ln/>
        </p:spPr>
        <p:txBody>
          <a:bodyPr wrap="square" lIns="25400" tIns="25400" rIns="25400" bIns="25400" rtlCol="0" anchor="t">
            <a:normAutofit/>
          </a:bodyPr>
          <a:lstStyle/>
          <a:p>
            <a:pPr algn="l" indent="0" marL="0">
              <a:lnSpc>
                <a:spcPct val="120000"/>
              </a:lnSpc>
              <a:buNone/>
            </a:pPr>
            <a:r>
              <a:rPr lang="en-US" sz="1238" b="1" spc="-19" kern="0" dirty="0">
                <a:solidFill>
                  <a:srgbClr val="1E293B"/>
                </a:solidFill>
                <a:latin typeface="Inter" pitchFamily="34" charset="0"/>
                <a:ea typeface="Inter" pitchFamily="34" charset="-122"/>
                <a:cs typeface="Inter" pitchFamily="34" charset="-120"/>
              </a:rPr>
              <a:t>양자화</a:t>
            </a:r>
            <a:endParaRPr lang="en-US" sz="1238" dirty="0"/>
          </a:p>
        </p:txBody>
      </p:sp>
      <p:sp>
        <p:nvSpPr>
          <p:cNvPr id="26" name="Text 20"/>
          <p:cNvSpPr/>
          <p:nvPr/>
        </p:nvSpPr>
        <p:spPr>
          <a:xfrm>
            <a:off x="9038431" y="2162671"/>
            <a:ext cx="2328069" cy="217587"/>
          </a:xfrm>
          <a:prstGeom prst="rect">
            <a:avLst/>
          </a:prstGeom>
          <a:noFill/>
          <a:ln/>
        </p:spPr>
        <p:txBody>
          <a:bodyPr wrap="square" lIns="25400" tIns="25400" rIns="25400" bIns="25400" rtlCol="0" anchor="t">
            <a:normAutofit/>
          </a:bodyPr>
          <a:lstStyle/>
          <a:p>
            <a:pPr algn="l" indent="0" marL="0">
              <a:lnSpc>
                <a:spcPct val="145000"/>
              </a:lnSpc>
              <a:buNone/>
            </a:pPr>
            <a:r>
              <a:rPr lang="en-US" sz="975" spc="-5" kern="0" dirty="0">
                <a:solidFill>
                  <a:srgbClr val="1E293B"/>
                </a:solidFill>
                <a:latin typeface="Inter" pitchFamily="34" charset="0"/>
                <a:ea typeface="Inter" pitchFamily="34" charset="-122"/>
                <a:cs typeface="Inter" pitchFamily="34" charset="-120"/>
              </a:rPr>
              <a:t>짧은 코드로 바꿔 같은 코드끼리 묶는다</a:t>
            </a:r>
            <a:endParaRPr lang="en-US" sz="975" dirty="0"/>
          </a:p>
        </p:txBody>
      </p:sp>
      <p:sp>
        <p:nvSpPr>
          <p:cNvPr id="27" name="Shape 21"/>
          <p:cNvSpPr/>
          <p:nvPr/>
        </p:nvSpPr>
        <p:spPr>
          <a:xfrm>
            <a:off x="9038431" y="3357662"/>
            <a:ext cx="2251869" cy="9525"/>
          </a:xfrm>
          <a:prstGeom prst="rect">
            <a:avLst/>
          </a:prstGeom>
          <a:solidFill>
            <a:srgbClr val="E5E7EB"/>
          </a:solidFill>
          <a:ln/>
        </p:spPr>
      </p:sp>
      <p:sp>
        <p:nvSpPr>
          <p:cNvPr id="28" name="Text 22"/>
          <p:cNvSpPr/>
          <p:nvPr/>
        </p:nvSpPr>
        <p:spPr>
          <a:xfrm>
            <a:off x="9038431" y="3440212"/>
            <a:ext cx="2328069"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8" kern="0" dirty="0">
                <a:solidFill>
                  <a:srgbClr val="64748B"/>
                </a:solidFill>
                <a:latin typeface="Inter" pitchFamily="34" charset="0"/>
                <a:ea typeface="Inter" pitchFamily="34" charset="-122"/>
                <a:cs typeface="Inter" pitchFamily="34" charset="-120"/>
              </a:rPr>
              <a:t>RaBitQ 양자화 · 다차원 히스토그램</a:t>
            </a:r>
            <a:endParaRPr lang="en-US" sz="975" dirty="0"/>
          </a:p>
        </p:txBody>
      </p:sp>
      <p:sp>
        <p:nvSpPr>
          <p:cNvPr id="29" name="Shape 23"/>
          <p:cNvSpPr/>
          <p:nvPr/>
        </p:nvSpPr>
        <p:spPr>
          <a:xfrm>
            <a:off x="723900" y="3889474"/>
            <a:ext cx="3511550" cy="2118420"/>
          </a:xfrm>
          <a:prstGeom prst="rect">
            <a:avLst/>
          </a:prstGeom>
          <a:solidFill>
            <a:srgbClr val="FFFFFF"/>
          </a:solidFill>
          <a:ln w="6350">
            <a:solidFill>
              <a:srgbClr val="E5E7EB"/>
            </a:solidFill>
            <a:prstDash val="solid"/>
          </a:ln>
        </p:spPr>
      </p:sp>
      <p:pic>
        <p:nvPicPr>
          <p:cNvPr id="30" name="Image 4" descr="preencoded.png">    </p:cNvPr>
          <p:cNvPicPr>
            <a:picLocks noChangeAspect="1"/>
          </p:cNvPicPr>
          <p:nvPr/>
        </p:nvPicPr>
        <p:blipFill>
          <a:blip r:embed="rId5"/>
          <a:stretch>
            <a:fillRect/>
          </a:stretch>
        </p:blipFill>
        <p:spPr>
          <a:xfrm>
            <a:off x="901700" y="4057749"/>
            <a:ext cx="571500" cy="342900"/>
          </a:xfrm>
          <a:prstGeom prst="rect">
            <a:avLst/>
          </a:prstGeom>
        </p:spPr>
      </p:pic>
      <p:sp>
        <p:nvSpPr>
          <p:cNvPr id="31" name="Text 24"/>
          <p:cNvSpPr/>
          <p:nvPr/>
        </p:nvSpPr>
        <p:spPr>
          <a:xfrm>
            <a:off x="901700" y="4486374"/>
            <a:ext cx="3250629" cy="226616"/>
          </a:xfrm>
          <a:prstGeom prst="rect">
            <a:avLst/>
          </a:prstGeom>
          <a:noFill/>
          <a:ln/>
        </p:spPr>
        <p:txBody>
          <a:bodyPr wrap="square" lIns="25400" tIns="25400" rIns="25400" bIns="25400" rtlCol="0" anchor="t">
            <a:normAutofit/>
          </a:bodyPr>
          <a:lstStyle/>
          <a:p>
            <a:pPr algn="l" indent="0" marL="0">
              <a:lnSpc>
                <a:spcPct val="120000"/>
              </a:lnSpc>
              <a:buNone/>
            </a:pPr>
            <a:r>
              <a:rPr lang="en-US" sz="1238" b="1" spc="-19" kern="0" dirty="0">
                <a:solidFill>
                  <a:srgbClr val="1E293B"/>
                </a:solidFill>
                <a:latin typeface="Inter" pitchFamily="34" charset="0"/>
                <a:ea typeface="Inter" pitchFamily="34" charset="-122"/>
                <a:cs typeface="Inter" pitchFamily="34" charset="-120"/>
              </a:rPr>
              <a:t>클러스터링</a:t>
            </a:r>
            <a:endParaRPr lang="en-US" sz="1238" dirty="0"/>
          </a:p>
        </p:txBody>
      </p:sp>
      <p:sp>
        <p:nvSpPr>
          <p:cNvPr id="32" name="Text 25"/>
          <p:cNvSpPr/>
          <p:nvPr/>
        </p:nvSpPr>
        <p:spPr>
          <a:xfrm>
            <a:off x="901700" y="4751090"/>
            <a:ext cx="3250629" cy="217587"/>
          </a:xfrm>
          <a:prstGeom prst="rect">
            <a:avLst/>
          </a:prstGeom>
          <a:noFill/>
          <a:ln/>
        </p:spPr>
        <p:txBody>
          <a:bodyPr wrap="square" lIns="25400" tIns="25400" rIns="25400" bIns="25400" rtlCol="0" anchor="t">
            <a:normAutofit/>
          </a:bodyPr>
          <a:lstStyle/>
          <a:p>
            <a:pPr algn="l" indent="0" marL="0">
              <a:lnSpc>
                <a:spcPct val="145000"/>
              </a:lnSpc>
              <a:buNone/>
            </a:pPr>
            <a:r>
              <a:rPr lang="en-US" sz="975" spc="-5" kern="0" dirty="0">
                <a:solidFill>
                  <a:srgbClr val="1E293B"/>
                </a:solidFill>
                <a:latin typeface="Inter" pitchFamily="34" charset="0"/>
                <a:ea typeface="Inter" pitchFamily="34" charset="-122"/>
                <a:cs typeface="Inter" pitchFamily="34" charset="-120"/>
              </a:rPr>
              <a:t>비슷한 것끼리 군집으로 묶는다</a:t>
            </a:r>
            <a:endParaRPr lang="en-US" sz="975" dirty="0"/>
          </a:p>
        </p:txBody>
      </p:sp>
      <p:sp>
        <p:nvSpPr>
          <p:cNvPr id="33" name="Shape 26"/>
          <p:cNvSpPr/>
          <p:nvPr/>
        </p:nvSpPr>
        <p:spPr>
          <a:xfrm>
            <a:off x="901700" y="5580856"/>
            <a:ext cx="3155950" cy="9525"/>
          </a:xfrm>
          <a:prstGeom prst="rect">
            <a:avLst/>
          </a:prstGeom>
          <a:solidFill>
            <a:srgbClr val="E5E7EB"/>
          </a:solidFill>
          <a:ln/>
        </p:spPr>
      </p:sp>
      <p:sp>
        <p:nvSpPr>
          <p:cNvPr id="34" name="Text 27"/>
          <p:cNvSpPr/>
          <p:nvPr/>
        </p:nvSpPr>
        <p:spPr>
          <a:xfrm>
            <a:off x="901700" y="5663406"/>
            <a:ext cx="3250629"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8" kern="0" dirty="0">
                <a:solidFill>
                  <a:srgbClr val="64748B"/>
                </a:solidFill>
                <a:latin typeface="Inter" pitchFamily="34" charset="0"/>
                <a:ea typeface="Inter" pitchFamily="34" charset="-122"/>
                <a:cs typeface="Inter" pitchFamily="34" charset="-120"/>
              </a:rPr>
              <a:t>미니배치 K-means · 가우시안 혼합 모델</a:t>
            </a:r>
            <a:endParaRPr lang="en-US" sz="975" dirty="0"/>
          </a:p>
        </p:txBody>
      </p:sp>
      <p:sp>
        <p:nvSpPr>
          <p:cNvPr id="35" name="Shape 28"/>
          <p:cNvSpPr/>
          <p:nvPr/>
        </p:nvSpPr>
        <p:spPr>
          <a:xfrm>
            <a:off x="4340225" y="3889474"/>
            <a:ext cx="3511550" cy="2118420"/>
          </a:xfrm>
          <a:prstGeom prst="rect">
            <a:avLst/>
          </a:prstGeom>
          <a:solidFill>
            <a:srgbClr val="FFFFFF"/>
          </a:solidFill>
          <a:ln w="6350">
            <a:solidFill>
              <a:srgbClr val="E5E7EB"/>
            </a:solidFill>
            <a:prstDash val="solid"/>
          </a:ln>
        </p:spPr>
      </p:sp>
      <p:pic>
        <p:nvPicPr>
          <p:cNvPr id="36" name="Image 5" descr="preencoded.png">    </p:cNvPr>
          <p:cNvPicPr>
            <a:picLocks noChangeAspect="1"/>
          </p:cNvPicPr>
          <p:nvPr/>
        </p:nvPicPr>
        <p:blipFill>
          <a:blip r:embed="rId6"/>
          <a:stretch>
            <a:fillRect/>
          </a:stretch>
        </p:blipFill>
        <p:spPr>
          <a:xfrm>
            <a:off x="4518025" y="4057749"/>
            <a:ext cx="571500" cy="342900"/>
          </a:xfrm>
          <a:prstGeom prst="rect">
            <a:avLst/>
          </a:prstGeom>
        </p:spPr>
      </p:pic>
      <p:sp>
        <p:nvSpPr>
          <p:cNvPr id="37" name="Text 29"/>
          <p:cNvSpPr/>
          <p:nvPr/>
        </p:nvSpPr>
        <p:spPr>
          <a:xfrm>
            <a:off x="4518025" y="4486374"/>
            <a:ext cx="3250629" cy="226616"/>
          </a:xfrm>
          <a:prstGeom prst="rect">
            <a:avLst/>
          </a:prstGeom>
          <a:noFill/>
          <a:ln/>
        </p:spPr>
        <p:txBody>
          <a:bodyPr wrap="square" lIns="25400" tIns="25400" rIns="25400" bIns="25400" rtlCol="0" anchor="t">
            <a:normAutofit/>
          </a:bodyPr>
          <a:lstStyle/>
          <a:p>
            <a:pPr algn="l" indent="0" marL="0">
              <a:lnSpc>
                <a:spcPct val="120000"/>
              </a:lnSpc>
              <a:buNone/>
            </a:pPr>
            <a:r>
              <a:rPr lang="en-US" sz="1238" b="1" spc="-19" kern="0" dirty="0">
                <a:solidFill>
                  <a:srgbClr val="1E293B"/>
                </a:solidFill>
                <a:latin typeface="Inter" pitchFamily="34" charset="0"/>
                <a:ea typeface="Inter" pitchFamily="34" charset="-122"/>
                <a:cs typeface="Inter" pitchFamily="34" charset="-120"/>
              </a:rPr>
              <a:t>스트리밍 표본 추출</a:t>
            </a:r>
            <a:endParaRPr lang="en-US" sz="1238" dirty="0"/>
          </a:p>
        </p:txBody>
      </p:sp>
      <p:sp>
        <p:nvSpPr>
          <p:cNvPr id="38" name="Text 30"/>
          <p:cNvSpPr/>
          <p:nvPr/>
        </p:nvSpPr>
        <p:spPr>
          <a:xfrm>
            <a:off x="4518025" y="4751090"/>
            <a:ext cx="3250629" cy="217587"/>
          </a:xfrm>
          <a:prstGeom prst="rect">
            <a:avLst/>
          </a:prstGeom>
          <a:noFill/>
          <a:ln/>
        </p:spPr>
        <p:txBody>
          <a:bodyPr wrap="square" lIns="25400" tIns="25400" rIns="25400" bIns="25400" rtlCol="0" anchor="t">
            <a:normAutofit/>
          </a:bodyPr>
          <a:lstStyle/>
          <a:p>
            <a:pPr algn="l" indent="0" marL="0">
              <a:lnSpc>
                <a:spcPct val="145000"/>
              </a:lnSpc>
              <a:buNone/>
            </a:pPr>
            <a:r>
              <a:rPr lang="en-US" sz="975" spc="-5" kern="0" dirty="0">
                <a:solidFill>
                  <a:srgbClr val="1E293B"/>
                </a:solidFill>
                <a:latin typeface="Inter" pitchFamily="34" charset="0"/>
                <a:ea typeface="Inter" pitchFamily="34" charset="-122"/>
                <a:cs typeface="Inter" pitchFamily="34" charset="-120"/>
              </a:rPr>
              <a:t>데이터를 한 번 훑으며 표본을 골라낸다</a:t>
            </a:r>
            <a:endParaRPr lang="en-US" sz="975" dirty="0"/>
          </a:p>
        </p:txBody>
      </p:sp>
      <p:sp>
        <p:nvSpPr>
          <p:cNvPr id="39" name="Shape 31"/>
          <p:cNvSpPr/>
          <p:nvPr/>
        </p:nvSpPr>
        <p:spPr>
          <a:xfrm>
            <a:off x="4518025" y="5580856"/>
            <a:ext cx="3155950" cy="9525"/>
          </a:xfrm>
          <a:prstGeom prst="rect">
            <a:avLst/>
          </a:prstGeom>
          <a:solidFill>
            <a:srgbClr val="E5E7EB"/>
          </a:solidFill>
          <a:ln/>
        </p:spPr>
      </p:sp>
      <p:sp>
        <p:nvSpPr>
          <p:cNvPr id="40" name="Text 32"/>
          <p:cNvSpPr/>
          <p:nvPr/>
        </p:nvSpPr>
        <p:spPr>
          <a:xfrm>
            <a:off x="4518025" y="5663406"/>
            <a:ext cx="3250629"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8" kern="0" dirty="0">
                <a:solidFill>
                  <a:srgbClr val="64748B"/>
                </a:solidFill>
                <a:latin typeface="Inter" pitchFamily="34" charset="0"/>
                <a:ea typeface="Inter" pitchFamily="34" charset="-122"/>
                <a:cs typeface="Inter" pitchFamily="34" charset="-120"/>
              </a:rPr>
              <a:t>가중 표본 추출</a:t>
            </a:r>
            <a:endParaRPr lang="en-US" sz="975" dirty="0"/>
          </a:p>
        </p:txBody>
      </p:sp>
      <p:sp>
        <p:nvSpPr>
          <p:cNvPr id="41" name="Shape 33"/>
          <p:cNvSpPr/>
          <p:nvPr/>
        </p:nvSpPr>
        <p:spPr>
          <a:xfrm>
            <a:off x="7956550" y="3889474"/>
            <a:ext cx="3511550" cy="2118420"/>
          </a:xfrm>
          <a:prstGeom prst="rect">
            <a:avLst/>
          </a:prstGeom>
          <a:solidFill>
            <a:srgbClr val="FFFFFF"/>
          </a:solidFill>
          <a:ln w="6350">
            <a:solidFill>
              <a:srgbClr val="E5E7EB"/>
            </a:solidFill>
            <a:prstDash val="solid"/>
          </a:ln>
        </p:spPr>
      </p:sp>
      <p:pic>
        <p:nvPicPr>
          <p:cNvPr id="42" name="Image 6" descr="preencoded.png">    </p:cNvPr>
          <p:cNvPicPr>
            <a:picLocks noChangeAspect="1"/>
          </p:cNvPicPr>
          <p:nvPr/>
        </p:nvPicPr>
        <p:blipFill>
          <a:blip r:embed="rId7"/>
          <a:stretch>
            <a:fillRect/>
          </a:stretch>
        </p:blipFill>
        <p:spPr>
          <a:xfrm>
            <a:off x="8134350" y="4057749"/>
            <a:ext cx="571500" cy="342900"/>
          </a:xfrm>
          <a:prstGeom prst="rect">
            <a:avLst/>
          </a:prstGeom>
        </p:spPr>
      </p:pic>
      <p:sp>
        <p:nvSpPr>
          <p:cNvPr id="43" name="Text 34"/>
          <p:cNvSpPr/>
          <p:nvPr/>
        </p:nvSpPr>
        <p:spPr>
          <a:xfrm>
            <a:off x="8134350" y="4486374"/>
            <a:ext cx="3250629" cy="226616"/>
          </a:xfrm>
          <a:prstGeom prst="rect">
            <a:avLst/>
          </a:prstGeom>
          <a:noFill/>
          <a:ln/>
        </p:spPr>
        <p:txBody>
          <a:bodyPr wrap="square" lIns="25400" tIns="25400" rIns="25400" bIns="25400" rtlCol="0" anchor="t">
            <a:normAutofit/>
          </a:bodyPr>
          <a:lstStyle/>
          <a:p>
            <a:pPr algn="l" indent="0" marL="0">
              <a:lnSpc>
                <a:spcPct val="120000"/>
              </a:lnSpc>
              <a:buNone/>
            </a:pPr>
            <a:r>
              <a:rPr lang="en-US" sz="1238" b="1" spc="-19" kern="0" dirty="0">
                <a:solidFill>
                  <a:srgbClr val="1E293B"/>
                </a:solidFill>
                <a:latin typeface="Inter" pitchFamily="34" charset="0"/>
                <a:ea typeface="Inter" pitchFamily="34" charset="-122"/>
                <a:cs typeface="Inter" pitchFamily="34" charset="-120"/>
              </a:rPr>
              <a:t>정보 이론 기반</a:t>
            </a:r>
            <a:endParaRPr lang="en-US" sz="1238" dirty="0"/>
          </a:p>
        </p:txBody>
      </p:sp>
      <p:sp>
        <p:nvSpPr>
          <p:cNvPr id="44" name="Text 35"/>
          <p:cNvSpPr/>
          <p:nvPr/>
        </p:nvSpPr>
        <p:spPr>
          <a:xfrm>
            <a:off x="8134350" y="4751090"/>
            <a:ext cx="3250629" cy="217587"/>
          </a:xfrm>
          <a:prstGeom prst="rect">
            <a:avLst/>
          </a:prstGeom>
          <a:noFill/>
          <a:ln/>
        </p:spPr>
        <p:txBody>
          <a:bodyPr wrap="square" lIns="25400" tIns="25400" rIns="25400" bIns="25400" rtlCol="0" anchor="t">
            <a:normAutofit/>
          </a:bodyPr>
          <a:lstStyle/>
          <a:p>
            <a:pPr algn="l" indent="0" marL="0">
              <a:lnSpc>
                <a:spcPct val="145000"/>
              </a:lnSpc>
              <a:buNone/>
            </a:pPr>
            <a:r>
              <a:rPr lang="en-US" sz="975" spc="-5" kern="0" dirty="0">
                <a:solidFill>
                  <a:srgbClr val="1E293B"/>
                </a:solidFill>
                <a:latin typeface="Inter" pitchFamily="34" charset="0"/>
                <a:ea typeface="Inter" pitchFamily="34" charset="-122"/>
                <a:cs typeface="Inter" pitchFamily="34" charset="-120"/>
              </a:rPr>
              <a:t>해시로 데이터 분포를 적은 메모리에 요약한다</a:t>
            </a:r>
            <a:endParaRPr lang="en-US" sz="975" dirty="0"/>
          </a:p>
        </p:txBody>
      </p:sp>
      <p:sp>
        <p:nvSpPr>
          <p:cNvPr id="45" name="Shape 36"/>
          <p:cNvSpPr/>
          <p:nvPr/>
        </p:nvSpPr>
        <p:spPr>
          <a:xfrm>
            <a:off x="8134350" y="5580856"/>
            <a:ext cx="3155950" cy="9525"/>
          </a:xfrm>
          <a:prstGeom prst="rect">
            <a:avLst/>
          </a:prstGeom>
          <a:solidFill>
            <a:srgbClr val="E5E7EB"/>
          </a:solidFill>
          <a:ln/>
        </p:spPr>
      </p:sp>
      <p:sp>
        <p:nvSpPr>
          <p:cNvPr id="46" name="Text 37"/>
          <p:cNvSpPr/>
          <p:nvPr/>
        </p:nvSpPr>
        <p:spPr>
          <a:xfrm>
            <a:off x="8134350" y="5663406"/>
            <a:ext cx="3250629"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8" kern="0" dirty="0">
                <a:solidFill>
                  <a:srgbClr val="64748B"/>
                </a:solidFill>
                <a:latin typeface="Inter" pitchFamily="34" charset="0"/>
                <a:ea typeface="Inter" pitchFamily="34" charset="-122"/>
                <a:cs typeface="Inter" pitchFamily="34" charset="-120"/>
              </a:rPr>
              <a:t>HyperLogLog</a:t>
            </a:r>
            <a:endParaRPr lang="en-US" sz="975" dirty="0"/>
          </a:p>
        </p:txBody>
      </p:sp>
      <p:sp>
        <p:nvSpPr>
          <p:cNvPr id="47" name="Text 38"/>
          <p:cNvSpPr/>
          <p:nvPr/>
        </p:nvSpPr>
        <p:spPr>
          <a:xfrm>
            <a:off x="723900" y="6141244"/>
            <a:ext cx="11066526"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spc="-6" kern="0" dirty="0">
                <a:solidFill>
                  <a:srgbClr val="64748B"/>
                </a:solidFill>
                <a:latin typeface="Inter" pitchFamily="34" charset="0"/>
                <a:ea typeface="Inter" pitchFamily="34" charset="-122"/>
                <a:cs typeface="Inter" pitchFamily="34" charset="-120"/>
              </a:rPr>
              <a:t>일곱 가지 접근에서 </a:t>
            </a:r>
            <a:pPr algn="l" indent="0" marL="0">
              <a:lnSpc>
                <a:spcPct val="155000"/>
              </a:lnSpc>
              <a:buNone/>
            </a:pPr>
            <a:r>
              <a:rPr lang="en-US" sz="1125" b="1" spc="-6" kern="0" dirty="0">
                <a:solidFill>
                  <a:srgbClr val="1E3A5F"/>
                </a:solidFill>
                <a:latin typeface="Inter" pitchFamily="34" charset="0"/>
                <a:ea typeface="Inter" pitchFamily="34" charset="-122"/>
                <a:cs typeface="Inter" pitchFamily="34" charset="-120"/>
              </a:rPr>
              <a:t>대표 방법 16가지</a:t>
            </a:r>
            <a:pPr algn="l" indent="0" marL="0">
              <a:lnSpc>
                <a:spcPct val="155000"/>
              </a:lnSpc>
              <a:buNone/>
            </a:pPr>
            <a:r>
              <a:rPr lang="en-US" sz="1125" spc="-6" kern="0" dirty="0">
                <a:solidFill>
                  <a:srgbClr val="64748B"/>
                </a:solidFill>
                <a:latin typeface="Inter" pitchFamily="34" charset="0"/>
                <a:ea typeface="Inter" pitchFamily="34" charset="-122"/>
                <a:cs typeface="Inter" pitchFamily="34" charset="-120"/>
              </a:rPr>
              <a:t>를 골라 모두 측정했다</a:t>
            </a:r>
            <a:endParaRPr lang="en-US" sz="11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285750"/>
            <a:ext cx="497979" cy="222250"/>
          </a:xfrm>
          <a:prstGeom prst="rect">
            <a:avLst/>
          </a:prstGeom>
          <a:noFill/>
          <a:ln/>
        </p:spPr>
        <p:txBody>
          <a:bodyPr wrap="square" lIns="25400" tIns="25400" rIns="25400" bIns="25400" rtlCol="0" anchor="ctr">
            <a:normAutofit/>
          </a:bodyPr>
          <a:lstStyle/>
          <a:p>
            <a:pPr algn="l" indent="0" marL="0">
              <a:buNone/>
            </a:pPr>
            <a:r>
              <a:rPr lang="en-US" sz="975" b="1" spc="116" kern="0" dirty="0">
                <a:solidFill>
                  <a:srgbClr val="10B981"/>
                </a:solidFill>
                <a:latin typeface="Inter" pitchFamily="34" charset="0"/>
                <a:ea typeface="Inter" pitchFamily="34" charset="-122"/>
                <a:cs typeface="Inter" pitchFamily="34" charset="-120"/>
              </a:rPr>
              <a:t>결과</a:t>
            </a:r>
            <a:endParaRPr lang="en-US" sz="975" dirty="0"/>
          </a:p>
        </p:txBody>
      </p:sp>
      <p:sp>
        <p:nvSpPr>
          <p:cNvPr id="3" name="Text 1"/>
          <p:cNvSpPr/>
          <p:nvPr/>
        </p:nvSpPr>
        <p:spPr>
          <a:xfrm>
            <a:off x="723900" y="533400"/>
            <a:ext cx="10791825" cy="520005"/>
          </a:xfrm>
          <a:prstGeom prst="rect">
            <a:avLst/>
          </a:prstGeom>
          <a:noFill/>
          <a:ln/>
        </p:spPr>
        <p:txBody>
          <a:bodyPr wrap="square" lIns="25400" tIns="25400" rIns="25400" bIns="25400" rtlCol="0" anchor="t">
            <a:normAutofit/>
          </a:bodyPr>
          <a:lstStyle/>
          <a:p>
            <a:pPr algn="l" indent="0" marL="0">
              <a:lnSpc>
                <a:spcPct val="115000"/>
              </a:lnSpc>
              <a:buNone/>
            </a:pPr>
            <a:r>
              <a:rPr lang="en-US" sz="3300" b="1" spc="-82" kern="0" dirty="0">
                <a:solidFill>
                  <a:srgbClr val="1E3A5F"/>
                </a:solidFill>
                <a:latin typeface="Inter" pitchFamily="34" charset="0"/>
                <a:ea typeface="Inter" pitchFamily="34" charset="-122"/>
                <a:cs typeface="Inter" pitchFamily="34" charset="-120"/>
              </a:rPr>
              <a:t>결합 방식이 추정 오차를 89.1%에서 줄였다</a:t>
            </a:r>
            <a:endParaRPr lang="en-US" sz="3300" dirty="0"/>
          </a:p>
        </p:txBody>
      </p:sp>
      <p:sp>
        <p:nvSpPr>
          <p:cNvPr id="4" name="Shape 2"/>
          <p:cNvSpPr/>
          <p:nvPr/>
        </p:nvSpPr>
        <p:spPr>
          <a:xfrm>
            <a:off x="723900" y="1148655"/>
            <a:ext cx="381000" cy="28575"/>
          </a:xfrm>
          <a:prstGeom prst="rect">
            <a:avLst/>
          </a:prstGeom>
          <a:solidFill>
            <a:srgbClr val="10B981"/>
          </a:solidFill>
          <a:ln/>
        </p:spPr>
      </p:sp>
      <p:sp>
        <p:nvSpPr>
          <p:cNvPr id="5" name="Shape 3"/>
          <p:cNvSpPr/>
          <p:nvPr/>
        </p:nvSpPr>
        <p:spPr>
          <a:xfrm>
            <a:off x="723900" y="1788517"/>
            <a:ext cx="5534224" cy="4086721"/>
          </a:xfrm>
          <a:prstGeom prst="roundRect">
            <a:avLst>
              <a:gd name="adj" fmla="val 466"/>
            </a:avLst>
          </a:prstGeom>
          <a:solidFill>
            <a:srgbClr val="F2FAFD"/>
          </a:solidFill>
          <a:ln/>
        </p:spPr>
      </p:sp>
      <p:sp>
        <p:nvSpPr>
          <p:cNvPr id="6" name="Shape 4"/>
          <p:cNvSpPr/>
          <p:nvPr/>
        </p:nvSpPr>
        <p:spPr>
          <a:xfrm>
            <a:off x="971550" y="1979017"/>
            <a:ext cx="5038924" cy="2011660"/>
          </a:xfrm>
          <a:prstGeom prst="rect">
            <a:avLst/>
          </a:prstGeom>
          <a:solidFill>
            <a:srgbClr val="1E3A5F"/>
          </a:solidFill>
          <a:ln/>
        </p:spPr>
      </p:sp>
      <p:sp>
        <p:nvSpPr>
          <p:cNvPr id="7" name="Text 5"/>
          <p:cNvSpPr/>
          <p:nvPr/>
        </p:nvSpPr>
        <p:spPr>
          <a:xfrm>
            <a:off x="971550" y="1979017"/>
            <a:ext cx="5190092" cy="2049760"/>
          </a:xfrm>
          <a:prstGeom prst="rect">
            <a:avLst/>
          </a:prstGeom>
          <a:noFill/>
          <a:ln/>
        </p:spPr>
        <p:txBody>
          <a:bodyPr wrap="square" lIns="25400" tIns="25400" rIns="25400" bIns="25400" rtlCol="0" anchor="t">
            <a:normAutofit/>
          </a:bodyPr>
          <a:lstStyle/>
          <a:p>
            <a:pPr algn="l" indent="0" marL="0">
              <a:lnSpc>
                <a:spcPct val="88000"/>
              </a:lnSpc>
              <a:buNone/>
            </a:pPr>
            <a:r>
              <a:rPr lang="en-US" sz="18000" b="1" spc="-900" kern="0" dirty="0">
                <a:solidFill>
                  <a:srgbClr val="000000"/>
                </a:solidFill>
                <a:latin typeface="Inter" pitchFamily="34" charset="0"/>
                <a:ea typeface="Inter" pitchFamily="34" charset="-122"/>
                <a:cs typeface="Inter" pitchFamily="34" charset="-120"/>
              </a:rPr>
              <a:t>89.1</a:t>
            </a:r>
            <a:pPr algn="l" indent="0" marL="0">
              <a:lnSpc>
                <a:spcPct val="88000"/>
              </a:lnSpc>
              <a:buNone/>
            </a:pPr>
            <a:r>
              <a:rPr lang="en-US" sz="8100" b="1" spc="-900" kern="0" dirty="0">
                <a:solidFill>
                  <a:srgbClr val="000000"/>
                </a:solidFill>
                <a:latin typeface="Inter" pitchFamily="34" charset="0"/>
                <a:ea typeface="Inter" pitchFamily="34" charset="-122"/>
                <a:cs typeface="Inter" pitchFamily="34" charset="-120"/>
              </a:rPr>
              <a:t>%</a:t>
            </a:r>
            <a:endParaRPr lang="en-US" sz="18000" dirty="0"/>
          </a:p>
        </p:txBody>
      </p:sp>
      <p:sp>
        <p:nvSpPr>
          <p:cNvPr id="8" name="Shape 6"/>
          <p:cNvSpPr/>
          <p:nvPr/>
        </p:nvSpPr>
        <p:spPr>
          <a:xfrm>
            <a:off x="971550" y="4181177"/>
            <a:ext cx="4953000" cy="152400"/>
          </a:xfrm>
          <a:prstGeom prst="rect">
            <a:avLst/>
          </a:prstGeom>
          <a:solidFill>
            <a:srgbClr val="F1F5F9"/>
          </a:solidFill>
          <a:ln/>
        </p:spPr>
      </p:sp>
      <p:sp>
        <p:nvSpPr>
          <p:cNvPr id="9" name="Shape 7"/>
          <p:cNvSpPr/>
          <p:nvPr/>
        </p:nvSpPr>
        <p:spPr>
          <a:xfrm>
            <a:off x="971550" y="4181177"/>
            <a:ext cx="4413052" cy="152400"/>
          </a:xfrm>
          <a:prstGeom prst="rect">
            <a:avLst/>
          </a:prstGeom>
          <a:solidFill>
            <a:srgbClr val="1E3A5F"/>
          </a:solidFill>
          <a:ln/>
        </p:spPr>
      </p:sp>
      <p:sp>
        <p:nvSpPr>
          <p:cNvPr id="10" name="Text 8"/>
          <p:cNvSpPr/>
          <p:nvPr/>
        </p:nvSpPr>
        <p:spPr>
          <a:xfrm>
            <a:off x="971550" y="4524077"/>
            <a:ext cx="5190092" cy="331391"/>
          </a:xfrm>
          <a:prstGeom prst="rect">
            <a:avLst/>
          </a:prstGeom>
          <a:noFill/>
          <a:ln/>
        </p:spPr>
        <p:txBody>
          <a:bodyPr wrap="square" lIns="25400" tIns="25400" rIns="25400" bIns="25400" rtlCol="0" anchor="t">
            <a:normAutofit/>
          </a:bodyPr>
          <a:lstStyle/>
          <a:p>
            <a:pPr algn="l" indent="0" marL="0">
              <a:lnSpc>
                <a:spcPct val="140000"/>
              </a:lnSpc>
              <a:buNone/>
            </a:pPr>
            <a:r>
              <a:rPr lang="en-US" sz="1650" b="1" spc="-16" kern="0" dirty="0">
                <a:solidFill>
                  <a:srgbClr val="1E293B"/>
                </a:solidFill>
                <a:latin typeface="Inter" pitchFamily="34" charset="0"/>
                <a:ea typeface="Inter" pitchFamily="34" charset="-122"/>
                <a:cs typeface="Inter" pitchFamily="34" charset="-120"/>
              </a:rPr>
              <a:t>결합 방식이 기존 방식보다 추정 오차를 줄인 비율</a:t>
            </a:r>
            <a:endParaRPr lang="en-US" sz="1650" dirty="0"/>
          </a:p>
        </p:txBody>
      </p:sp>
      <p:sp>
        <p:nvSpPr>
          <p:cNvPr id="11" name="Shape 9"/>
          <p:cNvSpPr/>
          <p:nvPr/>
        </p:nvSpPr>
        <p:spPr>
          <a:xfrm>
            <a:off x="971550" y="5007868"/>
            <a:ext cx="5038924" cy="9525"/>
          </a:xfrm>
          <a:prstGeom prst="rect">
            <a:avLst/>
          </a:prstGeom>
          <a:solidFill>
            <a:srgbClr val="E5E7EB"/>
          </a:solidFill>
          <a:ln/>
        </p:spPr>
      </p:sp>
      <p:sp>
        <p:nvSpPr>
          <p:cNvPr id="12" name="Text 10"/>
          <p:cNvSpPr/>
          <p:nvPr/>
        </p:nvSpPr>
        <p:spPr>
          <a:xfrm>
            <a:off x="971550" y="5166618"/>
            <a:ext cx="5190092" cy="556220"/>
          </a:xfrm>
          <a:prstGeom prst="rect">
            <a:avLst/>
          </a:prstGeom>
          <a:noFill/>
          <a:ln/>
        </p:spPr>
        <p:txBody>
          <a:bodyPr wrap="square" lIns="25400" tIns="25400" rIns="25400" bIns="25400" rtlCol="0" anchor="t">
            <a:normAutofit/>
          </a:bodyPr>
          <a:lstStyle/>
          <a:p>
            <a:pPr algn="l" indent="0" marL="0">
              <a:lnSpc>
                <a:spcPct val="160000"/>
              </a:lnSpc>
              <a:buNone/>
            </a:pPr>
            <a:r>
              <a:rPr lang="en-US" sz="1275" spc="-6" kern="0" dirty="0">
                <a:solidFill>
                  <a:srgbClr val="475569"/>
                </a:solidFill>
                <a:latin typeface="Inter" pitchFamily="34" charset="0"/>
                <a:ea typeface="Inter" pitchFamily="34" charset="-122"/>
                <a:cs typeface="Inter" pitchFamily="34" charset="-120"/>
              </a:rPr>
              <a:t>1508번의 측정 중 </a:t>
            </a:r>
            <a:pPr algn="l" indent="0" marL="0">
              <a:lnSpc>
                <a:spcPct val="160000"/>
              </a:lnSpc>
              <a:buNone/>
            </a:pPr>
            <a:r>
              <a:rPr lang="en-US" sz="1275" b="1" spc="-6" kern="0" dirty="0">
                <a:solidFill>
                  <a:srgbClr val="1E3A5F"/>
                </a:solidFill>
                <a:latin typeface="Inter" pitchFamily="34" charset="0"/>
                <a:ea typeface="Inter" pitchFamily="34" charset="-122"/>
                <a:cs typeface="Inter" pitchFamily="34" charset="-120"/>
              </a:rPr>
              <a:t>1344번 </a:t>
            </a:r>
            <a:pPr algn="l" indent="0" marL="0">
              <a:lnSpc>
                <a:spcPct val="160000"/>
              </a:lnSpc>
              <a:buNone/>
            </a:pPr>
            <a:r>
              <a:rPr lang="en-US" sz="1275" spc="-6" kern="0" dirty="0">
                <a:solidFill>
                  <a:srgbClr val="475569"/>
                </a:solidFill>
                <a:latin typeface="Inter" pitchFamily="34" charset="0"/>
                <a:ea typeface="Inter" pitchFamily="34" charset="-122"/>
                <a:cs typeface="Inter" pitchFamily="34" charset="-120"/>
              </a:rPr>
              <a:t>더 정확 추정 오차 중앙값 약 </a:t>
            </a:r>
            <a:pPr algn="l" indent="0" marL="0">
              <a:lnSpc>
                <a:spcPct val="160000"/>
              </a:lnSpc>
              <a:buNone/>
            </a:pPr>
            <a:r>
              <a:rPr lang="en-US" sz="1275" b="1" spc="-6" kern="0" dirty="0">
                <a:solidFill>
                  <a:srgbClr val="1E3A5F"/>
                </a:solidFill>
                <a:latin typeface="Inter" pitchFamily="34" charset="0"/>
                <a:ea typeface="Inter" pitchFamily="34" charset="-122"/>
                <a:cs typeface="Inter" pitchFamily="34" charset="-120"/>
              </a:rPr>
              <a:t>4.4% </a:t>
            </a:r>
            <a:pPr algn="l" indent="0" marL="0">
              <a:lnSpc>
                <a:spcPct val="160000"/>
              </a:lnSpc>
              <a:buNone/>
            </a:pPr>
            <a:r>
              <a:rPr lang="en-US" sz="1275" spc="-6" kern="0" dirty="0">
                <a:solidFill>
                  <a:srgbClr val="475569"/>
                </a:solidFill>
                <a:latin typeface="Inter" pitchFamily="34" charset="0"/>
                <a:ea typeface="Inter" pitchFamily="34" charset="-122"/>
                <a:cs typeface="Inter" pitchFamily="34" charset="-120"/>
              </a:rPr>
              <a:t>감소</a:t>
            </a:r>
            <a:endParaRPr lang="en-US" sz="1275" dirty="0"/>
          </a:p>
        </p:txBody>
      </p:sp>
      <p:sp>
        <p:nvSpPr>
          <p:cNvPr id="13" name="Shape 11"/>
          <p:cNvSpPr/>
          <p:nvPr/>
        </p:nvSpPr>
        <p:spPr>
          <a:xfrm>
            <a:off x="6829624" y="3034903"/>
            <a:ext cx="9525" cy="1593850"/>
          </a:xfrm>
          <a:prstGeom prst="rect">
            <a:avLst/>
          </a:prstGeom>
          <a:solidFill>
            <a:srgbClr val="E5E7EB"/>
          </a:solidFill>
          <a:ln/>
        </p:spPr>
      </p:sp>
      <p:sp>
        <p:nvSpPr>
          <p:cNvPr id="14" name="Text 12"/>
          <p:cNvSpPr/>
          <p:nvPr/>
        </p:nvSpPr>
        <p:spPr>
          <a:xfrm>
            <a:off x="7140773" y="3034903"/>
            <a:ext cx="4218214" cy="285750"/>
          </a:xfrm>
          <a:prstGeom prst="rect">
            <a:avLst/>
          </a:prstGeom>
          <a:noFill/>
          <a:ln/>
        </p:spPr>
        <p:txBody>
          <a:bodyPr wrap="square" lIns="25400" tIns="25400" rIns="25400" bIns="25400" rtlCol="0" anchor="t">
            <a:normAutofit/>
          </a:bodyPr>
          <a:lstStyle/>
          <a:p>
            <a:pPr algn="l" indent="0" marL="0">
              <a:buNone/>
            </a:pPr>
            <a:r>
              <a:rPr lang="en-US" sz="1275" spc="-6" kern="0" dirty="0">
                <a:solidFill>
                  <a:srgbClr val="64748B"/>
                </a:solidFill>
                <a:latin typeface="Inter" pitchFamily="34" charset="0"/>
                <a:ea typeface="Inter" pitchFamily="34" charset="-122"/>
                <a:cs typeface="Inter" pitchFamily="34" charset="-120"/>
              </a:rPr>
              <a:t>신호의 견고함</a:t>
            </a:r>
            <a:endParaRPr lang="en-US" sz="1275" dirty="0"/>
          </a:p>
        </p:txBody>
      </p:sp>
      <p:sp>
        <p:nvSpPr>
          <p:cNvPr id="15" name="Text 13"/>
          <p:cNvSpPr/>
          <p:nvPr/>
        </p:nvSpPr>
        <p:spPr>
          <a:xfrm>
            <a:off x="7140773" y="3593703"/>
            <a:ext cx="1783159" cy="285750"/>
          </a:xfrm>
          <a:prstGeom prst="rect">
            <a:avLst/>
          </a:prstGeom>
          <a:noFill/>
          <a:ln/>
        </p:spPr>
        <p:txBody>
          <a:bodyPr wrap="square" lIns="25400" tIns="25400" rIns="25400" bIns="25400" rtlCol="0" anchor="t">
            <a:normAutofit/>
          </a:bodyPr>
          <a:lstStyle/>
          <a:p>
            <a:pPr algn="l" indent="0" marL="0">
              <a:buNone/>
            </a:pPr>
            <a:r>
              <a:rPr lang="en-US" sz="1275" spc="-6" kern="0" dirty="0">
                <a:solidFill>
                  <a:srgbClr val="334155"/>
                </a:solidFill>
                <a:latin typeface="Inter" pitchFamily="34" charset="0"/>
                <a:ea typeface="Inter" pitchFamily="34" charset="-122"/>
                <a:cs typeface="Inter" pitchFamily="34" charset="-120"/>
              </a:rPr>
              <a:t>통계적으로 의미 있는 개선</a:t>
            </a:r>
            <a:endParaRPr lang="en-US" sz="1275" dirty="0"/>
          </a:p>
        </p:txBody>
      </p:sp>
      <p:sp>
        <p:nvSpPr>
          <p:cNvPr id="16" name="Text 14"/>
          <p:cNvSpPr/>
          <p:nvPr/>
        </p:nvSpPr>
        <p:spPr>
          <a:xfrm>
            <a:off x="10712153" y="3492103"/>
            <a:ext cx="600174" cy="387350"/>
          </a:xfrm>
          <a:prstGeom prst="rect">
            <a:avLst/>
          </a:prstGeom>
          <a:noFill/>
          <a:ln/>
        </p:spPr>
        <p:txBody>
          <a:bodyPr wrap="square" lIns="25400" tIns="25400" rIns="25400" bIns="25400" rtlCol="0" anchor="t">
            <a:normAutofit/>
          </a:bodyPr>
          <a:lstStyle/>
          <a:p>
            <a:pPr algn="l" indent="0" marL="0">
              <a:buNone/>
            </a:pPr>
            <a:r>
              <a:rPr lang="en-US" sz="2250" b="1" spc="-56" kern="0" dirty="0">
                <a:solidFill>
                  <a:srgbClr val="0EA5E9"/>
                </a:solidFill>
                <a:latin typeface="Inter" pitchFamily="34" charset="0"/>
                <a:ea typeface="Inter" pitchFamily="34" charset="-122"/>
                <a:cs typeface="Inter" pitchFamily="34" charset="-120"/>
              </a:rPr>
              <a:t>65</a:t>
            </a:r>
            <a:pPr algn="l" indent="0" marL="0">
              <a:buNone/>
            </a:pPr>
            <a:r>
              <a:rPr lang="en-US" sz="1350" b="1" spc="-56" kern="0" dirty="0">
                <a:solidFill>
                  <a:srgbClr val="0EA5E9"/>
                </a:solidFill>
                <a:latin typeface="Inter" pitchFamily="34" charset="0"/>
                <a:ea typeface="Inter" pitchFamily="34" charset="-122"/>
                <a:cs typeface="Inter" pitchFamily="34" charset="-120"/>
              </a:rPr>
              <a:t>%</a:t>
            </a:r>
            <a:endParaRPr lang="en-US" sz="2250" dirty="0"/>
          </a:p>
        </p:txBody>
      </p:sp>
      <p:sp>
        <p:nvSpPr>
          <p:cNvPr id="17" name="Shape 15"/>
          <p:cNvSpPr/>
          <p:nvPr/>
        </p:nvSpPr>
        <p:spPr>
          <a:xfrm>
            <a:off x="7140773" y="3917553"/>
            <a:ext cx="4095353" cy="57150"/>
          </a:xfrm>
          <a:prstGeom prst="rect">
            <a:avLst/>
          </a:prstGeom>
          <a:solidFill>
            <a:srgbClr val="F1F5F9"/>
          </a:solidFill>
          <a:ln/>
        </p:spPr>
      </p:sp>
      <p:sp>
        <p:nvSpPr>
          <p:cNvPr id="18" name="Shape 16"/>
          <p:cNvSpPr/>
          <p:nvPr/>
        </p:nvSpPr>
        <p:spPr>
          <a:xfrm>
            <a:off x="7140773" y="3917553"/>
            <a:ext cx="2661940" cy="57150"/>
          </a:xfrm>
          <a:prstGeom prst="rect">
            <a:avLst/>
          </a:prstGeom>
          <a:solidFill>
            <a:srgbClr val="0EA5E9"/>
          </a:solidFill>
          <a:ln/>
        </p:spPr>
      </p:sp>
      <p:sp>
        <p:nvSpPr>
          <p:cNvPr id="19" name="Text 17"/>
          <p:cNvSpPr/>
          <p:nvPr/>
        </p:nvSpPr>
        <p:spPr>
          <a:xfrm>
            <a:off x="7140773" y="4247753"/>
            <a:ext cx="1208683" cy="285750"/>
          </a:xfrm>
          <a:prstGeom prst="rect">
            <a:avLst/>
          </a:prstGeom>
          <a:noFill/>
          <a:ln/>
        </p:spPr>
        <p:txBody>
          <a:bodyPr wrap="square" lIns="25400" tIns="25400" rIns="25400" bIns="25400" rtlCol="0" anchor="t">
            <a:normAutofit/>
          </a:bodyPr>
          <a:lstStyle/>
          <a:p>
            <a:pPr algn="l" indent="0" marL="0">
              <a:buNone/>
            </a:pPr>
            <a:r>
              <a:rPr lang="en-US" sz="1275" spc="-6" kern="0" dirty="0">
                <a:solidFill>
                  <a:srgbClr val="334155"/>
                </a:solidFill>
                <a:latin typeface="Inter" pitchFamily="34" charset="0"/>
                <a:ea typeface="Inter" pitchFamily="34" charset="-122"/>
                <a:cs typeface="Inter" pitchFamily="34" charset="-120"/>
              </a:rPr>
              <a:t>개선 폭이 큰 경우</a:t>
            </a:r>
            <a:endParaRPr lang="en-US" sz="1275" dirty="0"/>
          </a:p>
        </p:txBody>
      </p:sp>
      <p:sp>
        <p:nvSpPr>
          <p:cNvPr id="20" name="Text 18"/>
          <p:cNvSpPr/>
          <p:nvPr/>
        </p:nvSpPr>
        <p:spPr>
          <a:xfrm>
            <a:off x="10712153" y="4146153"/>
            <a:ext cx="600174" cy="387350"/>
          </a:xfrm>
          <a:prstGeom prst="rect">
            <a:avLst/>
          </a:prstGeom>
          <a:noFill/>
          <a:ln/>
        </p:spPr>
        <p:txBody>
          <a:bodyPr wrap="square" lIns="25400" tIns="25400" rIns="25400" bIns="25400" rtlCol="0" anchor="t">
            <a:normAutofit/>
          </a:bodyPr>
          <a:lstStyle/>
          <a:p>
            <a:pPr algn="l" indent="0" marL="0">
              <a:buNone/>
            </a:pPr>
            <a:r>
              <a:rPr lang="en-US" sz="2250" b="1" spc="-56" kern="0" dirty="0">
                <a:solidFill>
                  <a:srgbClr val="0EA5E9"/>
                </a:solidFill>
                <a:latin typeface="Inter" pitchFamily="34" charset="0"/>
                <a:ea typeface="Inter" pitchFamily="34" charset="-122"/>
                <a:cs typeface="Inter" pitchFamily="34" charset="-120"/>
              </a:rPr>
              <a:t>72</a:t>
            </a:r>
            <a:pPr algn="l" indent="0" marL="0">
              <a:buNone/>
            </a:pPr>
            <a:r>
              <a:rPr lang="en-US" sz="1350" b="1" spc="-56" kern="0" dirty="0">
                <a:solidFill>
                  <a:srgbClr val="0EA5E9"/>
                </a:solidFill>
                <a:latin typeface="Inter" pitchFamily="34" charset="0"/>
                <a:ea typeface="Inter" pitchFamily="34" charset="-122"/>
                <a:cs typeface="Inter" pitchFamily="34" charset="-120"/>
              </a:rPr>
              <a:t>%</a:t>
            </a:r>
            <a:endParaRPr lang="en-US" sz="2250" dirty="0"/>
          </a:p>
        </p:txBody>
      </p:sp>
      <p:sp>
        <p:nvSpPr>
          <p:cNvPr id="21" name="Shape 19"/>
          <p:cNvSpPr/>
          <p:nvPr/>
        </p:nvSpPr>
        <p:spPr>
          <a:xfrm>
            <a:off x="7140773" y="4571603"/>
            <a:ext cx="4095353" cy="57150"/>
          </a:xfrm>
          <a:prstGeom prst="rect">
            <a:avLst/>
          </a:prstGeom>
          <a:solidFill>
            <a:srgbClr val="F1F5F9"/>
          </a:solidFill>
          <a:ln/>
        </p:spPr>
      </p:sp>
      <p:sp>
        <p:nvSpPr>
          <p:cNvPr id="22" name="Shape 20"/>
          <p:cNvSpPr/>
          <p:nvPr/>
        </p:nvSpPr>
        <p:spPr>
          <a:xfrm>
            <a:off x="7140773" y="4571603"/>
            <a:ext cx="2948583" cy="57150"/>
          </a:xfrm>
          <a:prstGeom prst="rect">
            <a:avLst/>
          </a:prstGeom>
          <a:solidFill>
            <a:srgbClr val="0EA5E9"/>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285750"/>
            <a:ext cx="497979" cy="222250"/>
          </a:xfrm>
          <a:prstGeom prst="rect">
            <a:avLst/>
          </a:prstGeom>
          <a:noFill/>
          <a:ln/>
        </p:spPr>
        <p:txBody>
          <a:bodyPr wrap="square" lIns="25400" tIns="25400" rIns="25400" bIns="25400" rtlCol="0" anchor="ctr">
            <a:normAutofit/>
          </a:bodyPr>
          <a:lstStyle/>
          <a:p>
            <a:pPr algn="l" indent="0" marL="0">
              <a:buNone/>
            </a:pPr>
            <a:r>
              <a:rPr lang="en-US" sz="975" b="1" spc="116" kern="0" dirty="0">
                <a:solidFill>
                  <a:srgbClr val="10B981"/>
                </a:solidFill>
                <a:latin typeface="Inter" pitchFamily="34" charset="0"/>
                <a:ea typeface="Inter" pitchFamily="34" charset="-122"/>
                <a:cs typeface="Inter" pitchFamily="34" charset="-120"/>
              </a:rPr>
              <a:t>결과</a:t>
            </a:r>
            <a:endParaRPr lang="en-US" sz="975" dirty="0"/>
          </a:p>
        </p:txBody>
      </p:sp>
      <p:sp>
        <p:nvSpPr>
          <p:cNvPr id="3" name="Text 1"/>
          <p:cNvSpPr/>
          <p:nvPr/>
        </p:nvSpPr>
        <p:spPr>
          <a:xfrm>
            <a:off x="723900" y="533400"/>
            <a:ext cx="10791825" cy="520005"/>
          </a:xfrm>
          <a:prstGeom prst="rect">
            <a:avLst/>
          </a:prstGeom>
          <a:noFill/>
          <a:ln/>
        </p:spPr>
        <p:txBody>
          <a:bodyPr wrap="square" lIns="25400" tIns="25400" rIns="25400" bIns="25400" rtlCol="0" anchor="t">
            <a:normAutofit/>
          </a:bodyPr>
          <a:lstStyle/>
          <a:p>
            <a:pPr algn="l" indent="0" marL="0">
              <a:lnSpc>
                <a:spcPct val="115000"/>
              </a:lnSpc>
              <a:buNone/>
            </a:pPr>
            <a:r>
              <a:rPr lang="en-US" sz="3300" b="1" spc="-82" kern="0" dirty="0">
                <a:solidFill>
                  <a:srgbClr val="1E3A5F"/>
                </a:solidFill>
                <a:latin typeface="Inter" pitchFamily="34" charset="0"/>
                <a:ea typeface="Inter" pitchFamily="34" charset="-122"/>
                <a:cs typeface="Inter" pitchFamily="34" charset="-120"/>
              </a:rPr>
              <a:t>완전 대체는 불안정하다 — 결합이 답이다</a:t>
            </a:r>
            <a:endParaRPr lang="en-US" sz="3300" dirty="0"/>
          </a:p>
        </p:txBody>
      </p:sp>
      <p:sp>
        <p:nvSpPr>
          <p:cNvPr id="4" name="Shape 2"/>
          <p:cNvSpPr/>
          <p:nvPr/>
        </p:nvSpPr>
        <p:spPr>
          <a:xfrm>
            <a:off x="723900" y="1148655"/>
            <a:ext cx="381000" cy="28575"/>
          </a:xfrm>
          <a:prstGeom prst="rect">
            <a:avLst/>
          </a:prstGeom>
          <a:solidFill>
            <a:srgbClr val="10B981"/>
          </a:solidFill>
          <a:ln/>
        </p:spPr>
      </p:sp>
      <p:sp>
        <p:nvSpPr>
          <p:cNvPr id="5" name="Text 3"/>
          <p:cNvSpPr/>
          <p:nvPr/>
        </p:nvSpPr>
        <p:spPr>
          <a:xfrm>
            <a:off x="1009650" y="2270423"/>
            <a:ext cx="868363" cy="355600"/>
          </a:xfrm>
          <a:prstGeom prst="rect">
            <a:avLst/>
          </a:prstGeom>
          <a:noFill/>
          <a:ln/>
        </p:spPr>
        <p:txBody>
          <a:bodyPr wrap="square" lIns="25400" tIns="25400" rIns="25400" bIns="25400" rtlCol="0" anchor="t">
            <a:normAutofit/>
          </a:bodyPr>
          <a:lstStyle/>
          <a:p>
            <a:pPr algn="l" indent="0" marL="0">
              <a:buNone/>
            </a:pPr>
            <a:r>
              <a:rPr lang="en-US" sz="1650" b="1" spc="-8" kern="0" dirty="0">
                <a:solidFill>
                  <a:srgbClr val="F97316"/>
                </a:solidFill>
                <a:latin typeface="Inter" pitchFamily="34" charset="0"/>
                <a:ea typeface="Inter" pitchFamily="34" charset="-122"/>
                <a:cs typeface="Inter" pitchFamily="34" charset="-120"/>
              </a:rPr>
              <a:t>완전 대체</a:t>
            </a:r>
            <a:endParaRPr lang="en-US" sz="1650" dirty="0"/>
          </a:p>
        </p:txBody>
      </p:sp>
      <p:sp>
        <p:nvSpPr>
          <p:cNvPr id="6" name="Text 4"/>
          <p:cNvSpPr/>
          <p:nvPr/>
        </p:nvSpPr>
        <p:spPr>
          <a:xfrm>
            <a:off x="9888935" y="2352973"/>
            <a:ext cx="1369616" cy="241300"/>
          </a:xfrm>
          <a:prstGeom prst="rect">
            <a:avLst/>
          </a:prstGeom>
          <a:noFill/>
          <a:ln/>
        </p:spPr>
        <p:txBody>
          <a:bodyPr wrap="square" lIns="25400" tIns="25400" rIns="25400" bIns="25400" rtlCol="0" anchor="t">
            <a:normAutofit/>
          </a:bodyPr>
          <a:lstStyle/>
          <a:p>
            <a:pPr algn="l" indent="0" marL="0">
              <a:buNone/>
            </a:pPr>
            <a:r>
              <a:rPr lang="en-US" sz="1050" spc="-5" kern="0" dirty="0">
                <a:solidFill>
                  <a:srgbClr val="64748B"/>
                </a:solidFill>
                <a:latin typeface="Inter" pitchFamily="34" charset="0"/>
                <a:ea typeface="Inter" pitchFamily="34" charset="-122"/>
                <a:cs typeface="Inter" pitchFamily="34" charset="-120"/>
              </a:rPr>
              <a:t>기존 방식보다 나은 경우</a:t>
            </a:r>
            <a:endParaRPr lang="en-US" sz="1050" dirty="0"/>
          </a:p>
        </p:txBody>
      </p:sp>
      <p:sp>
        <p:nvSpPr>
          <p:cNvPr id="7" name="Shape 5"/>
          <p:cNvSpPr/>
          <p:nvPr/>
        </p:nvSpPr>
        <p:spPr>
          <a:xfrm>
            <a:off x="1009650" y="2683173"/>
            <a:ext cx="8420100" cy="571500"/>
          </a:xfrm>
          <a:prstGeom prst="rect">
            <a:avLst/>
          </a:prstGeom>
          <a:solidFill>
            <a:srgbClr val="F1F5F9"/>
          </a:solidFill>
          <a:ln/>
        </p:spPr>
      </p:sp>
      <p:sp>
        <p:nvSpPr>
          <p:cNvPr id="8" name="Shape 6"/>
          <p:cNvSpPr/>
          <p:nvPr/>
        </p:nvSpPr>
        <p:spPr>
          <a:xfrm>
            <a:off x="1009650" y="2683173"/>
            <a:ext cx="2963863" cy="571500"/>
          </a:xfrm>
          <a:prstGeom prst="rect">
            <a:avLst/>
          </a:prstGeom>
          <a:solidFill>
            <a:srgbClr val="F97316"/>
          </a:solidFill>
          <a:ln/>
        </p:spPr>
      </p:sp>
      <p:sp>
        <p:nvSpPr>
          <p:cNvPr id="9" name="Text 7"/>
          <p:cNvSpPr/>
          <p:nvPr/>
        </p:nvSpPr>
        <p:spPr>
          <a:xfrm>
            <a:off x="3269655" y="2841923"/>
            <a:ext cx="646708" cy="292100"/>
          </a:xfrm>
          <a:prstGeom prst="rect">
            <a:avLst/>
          </a:prstGeom>
          <a:noFill/>
          <a:ln/>
        </p:spPr>
        <p:txBody>
          <a:bodyPr wrap="square" lIns="25400" tIns="25400" rIns="25400" bIns="25400" rtlCol="0" anchor="t">
            <a:normAutofit/>
          </a:bodyPr>
          <a:lstStyle/>
          <a:p>
            <a:pPr algn="l" indent="0" marL="0">
              <a:buNone/>
            </a:pPr>
            <a:r>
              <a:rPr lang="en-US" sz="1650" b="1" spc="-33" kern="0" dirty="0">
                <a:solidFill>
                  <a:srgbClr val="FFFFFF"/>
                </a:solidFill>
                <a:latin typeface="Inter" pitchFamily="34" charset="0"/>
                <a:ea typeface="Inter" pitchFamily="34" charset="-122"/>
                <a:cs typeface="Inter" pitchFamily="34" charset="-120"/>
              </a:rPr>
              <a:t>35.2</a:t>
            </a:r>
            <a:pPr algn="l" indent="0" marL="0">
              <a:buNone/>
            </a:pPr>
            <a:r>
              <a:rPr lang="en-US" sz="990" b="1" spc="-33" kern="0" dirty="0">
                <a:solidFill>
                  <a:srgbClr val="FFFFFF"/>
                </a:solidFill>
                <a:latin typeface="Inter" pitchFamily="34" charset="0"/>
                <a:ea typeface="Inter" pitchFamily="34" charset="-122"/>
                <a:cs typeface="Inter" pitchFamily="34" charset="-120"/>
              </a:rPr>
              <a:t>%</a:t>
            </a:r>
            <a:endParaRPr lang="en-US" sz="1650" dirty="0"/>
          </a:p>
        </p:txBody>
      </p:sp>
      <p:sp>
        <p:nvSpPr>
          <p:cNvPr id="10" name="Text 8"/>
          <p:cNvSpPr/>
          <p:nvPr/>
        </p:nvSpPr>
        <p:spPr>
          <a:xfrm>
            <a:off x="9582150" y="2711748"/>
            <a:ext cx="1600200" cy="552450"/>
          </a:xfrm>
          <a:prstGeom prst="rect">
            <a:avLst/>
          </a:prstGeom>
          <a:noFill/>
          <a:ln/>
        </p:spPr>
        <p:txBody>
          <a:bodyPr wrap="square" lIns="25400" tIns="25400" rIns="25400" bIns="25400" rtlCol="0" anchor="t">
            <a:normAutofit/>
          </a:bodyPr>
          <a:lstStyle/>
          <a:p>
            <a:pPr algn="r" indent="0" marL="0">
              <a:lnSpc>
                <a:spcPct val="100000"/>
              </a:lnSpc>
              <a:buNone/>
            </a:pPr>
            <a:r>
              <a:rPr lang="en-US" sz="4050" b="1" spc="-162" kern="0" dirty="0">
                <a:solidFill>
                  <a:srgbClr val="F97316"/>
                </a:solidFill>
                <a:latin typeface="Inter" pitchFamily="34" charset="0"/>
                <a:ea typeface="Inter" pitchFamily="34" charset="-122"/>
                <a:cs typeface="Inter" pitchFamily="34" charset="-120"/>
              </a:rPr>
              <a:t>35.2</a:t>
            </a:r>
            <a:pPr algn="r" indent="0" marL="0">
              <a:lnSpc>
                <a:spcPct val="100000"/>
              </a:lnSpc>
              <a:buNone/>
            </a:pPr>
            <a:r>
              <a:rPr lang="en-US" sz="2025" b="1" spc="-162" kern="0" dirty="0">
                <a:solidFill>
                  <a:srgbClr val="F97316"/>
                </a:solidFill>
                <a:latin typeface="Inter" pitchFamily="34" charset="0"/>
                <a:ea typeface="Inter" pitchFamily="34" charset="-122"/>
                <a:cs typeface="Inter" pitchFamily="34" charset="-120"/>
              </a:rPr>
              <a:t>%</a:t>
            </a:r>
            <a:endParaRPr lang="en-US" sz="4050" dirty="0"/>
          </a:p>
        </p:txBody>
      </p:sp>
      <p:sp>
        <p:nvSpPr>
          <p:cNvPr id="11" name="Text 9"/>
          <p:cNvSpPr/>
          <p:nvPr/>
        </p:nvSpPr>
        <p:spPr>
          <a:xfrm>
            <a:off x="1009650" y="3597573"/>
            <a:ext cx="447973" cy="355600"/>
          </a:xfrm>
          <a:prstGeom prst="rect">
            <a:avLst/>
          </a:prstGeom>
          <a:noFill/>
          <a:ln/>
        </p:spPr>
        <p:txBody>
          <a:bodyPr wrap="square" lIns="25400" tIns="25400" rIns="25400" bIns="25400" rtlCol="0" anchor="t">
            <a:normAutofit/>
          </a:bodyPr>
          <a:lstStyle/>
          <a:p>
            <a:pPr algn="l" indent="0" marL="0">
              <a:buNone/>
            </a:pPr>
            <a:r>
              <a:rPr lang="en-US" sz="1650" b="1" spc="-8" kern="0" dirty="0">
                <a:solidFill>
                  <a:srgbClr val="0EA5E9"/>
                </a:solidFill>
                <a:latin typeface="Inter" pitchFamily="34" charset="0"/>
                <a:ea typeface="Inter" pitchFamily="34" charset="-122"/>
                <a:cs typeface="Inter" pitchFamily="34" charset="-120"/>
              </a:rPr>
              <a:t>결합</a:t>
            </a:r>
            <a:endParaRPr lang="en-US" sz="1650" dirty="0"/>
          </a:p>
        </p:txBody>
      </p:sp>
      <p:sp>
        <p:nvSpPr>
          <p:cNvPr id="12" name="Text 10"/>
          <p:cNvSpPr/>
          <p:nvPr/>
        </p:nvSpPr>
        <p:spPr>
          <a:xfrm>
            <a:off x="9888935" y="3680123"/>
            <a:ext cx="1369616" cy="241300"/>
          </a:xfrm>
          <a:prstGeom prst="rect">
            <a:avLst/>
          </a:prstGeom>
          <a:noFill/>
          <a:ln/>
        </p:spPr>
        <p:txBody>
          <a:bodyPr wrap="square" lIns="25400" tIns="25400" rIns="25400" bIns="25400" rtlCol="0" anchor="t">
            <a:normAutofit/>
          </a:bodyPr>
          <a:lstStyle/>
          <a:p>
            <a:pPr algn="l" indent="0" marL="0">
              <a:buNone/>
            </a:pPr>
            <a:r>
              <a:rPr lang="en-US" sz="1050" spc="-5" kern="0" dirty="0">
                <a:solidFill>
                  <a:srgbClr val="64748B"/>
                </a:solidFill>
                <a:latin typeface="Inter" pitchFamily="34" charset="0"/>
                <a:ea typeface="Inter" pitchFamily="34" charset="-122"/>
                <a:cs typeface="Inter" pitchFamily="34" charset="-120"/>
              </a:rPr>
              <a:t>기존 방식보다 나은 경우</a:t>
            </a:r>
            <a:endParaRPr lang="en-US" sz="1050" dirty="0"/>
          </a:p>
        </p:txBody>
      </p:sp>
      <p:sp>
        <p:nvSpPr>
          <p:cNvPr id="13" name="Shape 11"/>
          <p:cNvSpPr/>
          <p:nvPr/>
        </p:nvSpPr>
        <p:spPr>
          <a:xfrm>
            <a:off x="1009650" y="4010323"/>
            <a:ext cx="8420100" cy="571500"/>
          </a:xfrm>
          <a:prstGeom prst="rect">
            <a:avLst/>
          </a:prstGeom>
          <a:solidFill>
            <a:srgbClr val="F1F5F9"/>
          </a:solidFill>
          <a:ln/>
        </p:spPr>
      </p:sp>
      <p:sp>
        <p:nvSpPr>
          <p:cNvPr id="14" name="Shape 12"/>
          <p:cNvSpPr/>
          <p:nvPr/>
        </p:nvSpPr>
        <p:spPr>
          <a:xfrm>
            <a:off x="1009650" y="4010323"/>
            <a:ext cx="7502228" cy="571500"/>
          </a:xfrm>
          <a:prstGeom prst="rect">
            <a:avLst/>
          </a:prstGeom>
          <a:solidFill>
            <a:srgbClr val="0EA5E9"/>
          </a:solidFill>
          <a:ln/>
        </p:spPr>
      </p:sp>
      <p:sp>
        <p:nvSpPr>
          <p:cNvPr id="15" name="Text 13"/>
          <p:cNvSpPr/>
          <p:nvPr/>
        </p:nvSpPr>
        <p:spPr>
          <a:xfrm>
            <a:off x="7808020" y="4169073"/>
            <a:ext cx="646708" cy="292100"/>
          </a:xfrm>
          <a:prstGeom prst="rect">
            <a:avLst/>
          </a:prstGeom>
          <a:noFill/>
          <a:ln/>
        </p:spPr>
        <p:txBody>
          <a:bodyPr wrap="square" lIns="25400" tIns="25400" rIns="25400" bIns="25400" rtlCol="0" anchor="t">
            <a:normAutofit/>
          </a:bodyPr>
          <a:lstStyle/>
          <a:p>
            <a:pPr algn="l" indent="0" marL="0">
              <a:buNone/>
            </a:pPr>
            <a:r>
              <a:rPr lang="en-US" sz="1650" b="1" spc="-33" kern="0" dirty="0">
                <a:solidFill>
                  <a:srgbClr val="FFFFFF"/>
                </a:solidFill>
                <a:latin typeface="Inter" pitchFamily="34" charset="0"/>
                <a:ea typeface="Inter" pitchFamily="34" charset="-122"/>
                <a:cs typeface="Inter" pitchFamily="34" charset="-120"/>
              </a:rPr>
              <a:t>89.1</a:t>
            </a:r>
            <a:pPr algn="l" indent="0" marL="0">
              <a:buNone/>
            </a:pPr>
            <a:r>
              <a:rPr lang="en-US" sz="990" b="1" spc="-33" kern="0" dirty="0">
                <a:solidFill>
                  <a:srgbClr val="FFFFFF"/>
                </a:solidFill>
                <a:latin typeface="Inter" pitchFamily="34" charset="0"/>
                <a:ea typeface="Inter" pitchFamily="34" charset="-122"/>
                <a:cs typeface="Inter" pitchFamily="34" charset="-120"/>
              </a:rPr>
              <a:t>%</a:t>
            </a:r>
            <a:endParaRPr lang="en-US" sz="1650" dirty="0"/>
          </a:p>
        </p:txBody>
      </p:sp>
      <p:sp>
        <p:nvSpPr>
          <p:cNvPr id="16" name="Text 14"/>
          <p:cNvSpPr/>
          <p:nvPr/>
        </p:nvSpPr>
        <p:spPr>
          <a:xfrm>
            <a:off x="9582150" y="4038898"/>
            <a:ext cx="1600200" cy="552450"/>
          </a:xfrm>
          <a:prstGeom prst="rect">
            <a:avLst/>
          </a:prstGeom>
          <a:noFill/>
          <a:ln/>
        </p:spPr>
        <p:txBody>
          <a:bodyPr wrap="square" lIns="25400" tIns="25400" rIns="25400" bIns="25400" rtlCol="0" anchor="t">
            <a:normAutofit/>
          </a:bodyPr>
          <a:lstStyle/>
          <a:p>
            <a:pPr algn="r" indent="0" marL="0">
              <a:lnSpc>
                <a:spcPct val="100000"/>
              </a:lnSpc>
              <a:buNone/>
            </a:pPr>
            <a:r>
              <a:rPr lang="en-US" sz="4050" b="1" spc="-162" kern="0" dirty="0">
                <a:solidFill>
                  <a:srgbClr val="0EA5E9"/>
                </a:solidFill>
                <a:latin typeface="Inter" pitchFamily="34" charset="0"/>
                <a:ea typeface="Inter" pitchFamily="34" charset="-122"/>
                <a:cs typeface="Inter" pitchFamily="34" charset="-120"/>
              </a:rPr>
              <a:t>89.1</a:t>
            </a:r>
            <a:pPr algn="r" indent="0" marL="0">
              <a:lnSpc>
                <a:spcPct val="100000"/>
              </a:lnSpc>
              <a:buNone/>
            </a:pPr>
            <a:r>
              <a:rPr lang="en-US" sz="2025" b="1" spc="-162" kern="0" dirty="0">
                <a:solidFill>
                  <a:srgbClr val="0EA5E9"/>
                </a:solidFill>
                <a:latin typeface="Inter" pitchFamily="34" charset="0"/>
                <a:ea typeface="Inter" pitchFamily="34" charset="-122"/>
                <a:cs typeface="Inter" pitchFamily="34" charset="-120"/>
              </a:rPr>
              <a:t>%</a:t>
            </a:r>
            <a:endParaRPr lang="en-US" sz="4050" dirty="0"/>
          </a:p>
        </p:txBody>
      </p:sp>
      <p:sp>
        <p:nvSpPr>
          <p:cNvPr id="17" name="Text 15"/>
          <p:cNvSpPr/>
          <p:nvPr/>
        </p:nvSpPr>
        <p:spPr>
          <a:xfrm>
            <a:off x="562737" y="5684540"/>
            <a:ext cx="11066526" cy="260350"/>
          </a:xfrm>
          <a:prstGeom prst="rect">
            <a:avLst/>
          </a:prstGeom>
          <a:noFill/>
          <a:ln/>
        </p:spPr>
        <p:txBody>
          <a:bodyPr wrap="square" lIns="25400" tIns="25400" rIns="25400" bIns="25400" rtlCol="0" anchor="t">
            <a:normAutofit/>
          </a:bodyPr>
          <a:lstStyle/>
          <a:p>
            <a:pPr algn="ctr" indent="0" marL="0">
              <a:buNone/>
            </a:pPr>
            <a:r>
              <a:rPr lang="en-US" sz="1163" spc="-6" kern="0" dirty="0">
                <a:solidFill>
                  <a:srgbClr val="475569"/>
                </a:solidFill>
                <a:latin typeface="Inter" pitchFamily="34" charset="0"/>
                <a:ea typeface="Inter" pitchFamily="34" charset="-122"/>
                <a:cs typeface="Inter" pitchFamily="34" charset="-120"/>
              </a:rPr>
              <a:t>결합 vs 완전 대체 직접 비교 — 결합이 </a:t>
            </a:r>
            <a:pPr algn="ctr" indent="0" marL="0">
              <a:buNone/>
            </a:pPr>
            <a:r>
              <a:rPr lang="en-US" sz="1163" b="1" spc="-6" kern="0" dirty="0">
                <a:solidFill>
                  <a:srgbClr val="0EA5E9"/>
                </a:solidFill>
                <a:latin typeface="Inter" pitchFamily="34" charset="0"/>
                <a:ea typeface="Inter" pitchFamily="34" charset="-122"/>
                <a:cs typeface="Inter" pitchFamily="34" charset="-120"/>
              </a:rPr>
              <a:t>96.5%</a:t>
            </a:r>
            <a:pPr algn="ctr" indent="0" marL="0">
              <a:buNone/>
            </a:pPr>
            <a:r>
              <a:rPr lang="en-US" sz="1163" spc="-6" kern="0" dirty="0">
                <a:solidFill>
                  <a:srgbClr val="475569"/>
                </a:solidFill>
                <a:latin typeface="Inter" pitchFamily="34" charset="0"/>
                <a:ea typeface="Inter" pitchFamily="34" charset="-122"/>
                <a:cs typeface="Inter" pitchFamily="34" charset="-120"/>
              </a:rPr>
              <a:t>에서 우월</a:t>
            </a:r>
            <a:endParaRPr lang="en-US" sz="1163" dirty="0"/>
          </a:p>
        </p:txBody>
      </p:sp>
      <p:sp>
        <p:nvSpPr>
          <p:cNvPr id="18" name="Shape 16"/>
          <p:cNvSpPr/>
          <p:nvPr/>
        </p:nvSpPr>
        <p:spPr>
          <a:xfrm>
            <a:off x="723900" y="5906790"/>
            <a:ext cx="10744200" cy="9525"/>
          </a:xfrm>
          <a:prstGeom prst="rect">
            <a:avLst/>
          </a:prstGeom>
          <a:solidFill>
            <a:srgbClr val="E5E7EB"/>
          </a:solidFill>
          <a:ln/>
        </p:spPr>
      </p:sp>
      <p:sp>
        <p:nvSpPr>
          <p:cNvPr id="19" name="Text 17"/>
          <p:cNvSpPr/>
          <p:nvPr/>
        </p:nvSpPr>
        <p:spPr>
          <a:xfrm>
            <a:off x="723900" y="6103640"/>
            <a:ext cx="11066526" cy="297160"/>
          </a:xfrm>
          <a:prstGeom prst="rect">
            <a:avLst/>
          </a:prstGeom>
          <a:noFill/>
          <a:ln/>
        </p:spPr>
        <p:txBody>
          <a:bodyPr wrap="square" lIns="25400" tIns="25400" rIns="25400" bIns="25400" rtlCol="0" anchor="t">
            <a:normAutofit/>
          </a:bodyPr>
          <a:lstStyle/>
          <a:p>
            <a:pPr algn="l" indent="0" marL="0">
              <a:lnSpc>
                <a:spcPct val="160000"/>
              </a:lnSpc>
              <a:buNone/>
            </a:pPr>
            <a:r>
              <a:rPr lang="en-US" sz="1275" spc="-6" kern="0" dirty="0">
                <a:solidFill>
                  <a:srgbClr val="475569"/>
                </a:solidFill>
                <a:latin typeface="Inter" pitchFamily="34" charset="0"/>
                <a:ea typeface="Inter" pitchFamily="34" charset="-122"/>
                <a:cs typeface="Inter" pitchFamily="34" charset="-120"/>
              </a:rPr>
              <a:t>표본을 통째로 바꾸면 우리 방법이 강할 때만 좋고 약할 때 크게 나빠진다 → 두 추정값을 </a:t>
            </a:r>
            <a:pPr algn="l" indent="0" marL="0">
              <a:lnSpc>
                <a:spcPct val="160000"/>
              </a:lnSpc>
              <a:buNone/>
            </a:pPr>
            <a:r>
              <a:rPr lang="en-US" sz="1275" b="1" spc="-6" kern="0" dirty="0">
                <a:solidFill>
                  <a:srgbClr val="0EA5E9"/>
                </a:solidFill>
                <a:latin typeface="Inter" pitchFamily="34" charset="0"/>
                <a:ea typeface="Inter" pitchFamily="34" charset="-122"/>
                <a:cs typeface="Inter" pitchFamily="34" charset="-120"/>
              </a:rPr>
              <a:t>결합</a:t>
            </a:r>
            <a:pPr algn="l" indent="0" marL="0">
              <a:lnSpc>
                <a:spcPct val="160000"/>
              </a:lnSpc>
              <a:buNone/>
            </a:pPr>
            <a:r>
              <a:rPr lang="en-US" sz="1275" spc="-6" kern="0" dirty="0">
                <a:solidFill>
                  <a:srgbClr val="475569"/>
                </a:solidFill>
                <a:latin typeface="Inter" pitchFamily="34" charset="0"/>
                <a:ea typeface="Inter" pitchFamily="34" charset="-122"/>
                <a:cs typeface="Inter" pitchFamily="34" charset="-120"/>
              </a:rPr>
              <a:t>하면 논문 방식이 안전망이 되어 안정적으로 개선</a:t>
            </a:r>
            <a:endParaRPr lang="en-US" sz="12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285750"/>
            <a:ext cx="497979" cy="222250"/>
          </a:xfrm>
          <a:prstGeom prst="rect">
            <a:avLst/>
          </a:prstGeom>
          <a:noFill/>
          <a:ln/>
        </p:spPr>
        <p:txBody>
          <a:bodyPr wrap="square" lIns="25400" tIns="25400" rIns="25400" bIns="25400" rtlCol="0" anchor="ctr">
            <a:normAutofit/>
          </a:bodyPr>
          <a:lstStyle/>
          <a:p>
            <a:pPr algn="l" indent="0" marL="0">
              <a:buNone/>
            </a:pPr>
            <a:r>
              <a:rPr lang="en-US" sz="975" b="1" spc="116" kern="0" dirty="0">
                <a:solidFill>
                  <a:srgbClr val="10B981"/>
                </a:solidFill>
                <a:latin typeface="Inter" pitchFamily="34" charset="0"/>
                <a:ea typeface="Inter" pitchFamily="34" charset="-122"/>
                <a:cs typeface="Inter" pitchFamily="34" charset="-120"/>
              </a:rPr>
              <a:t>결과</a:t>
            </a:r>
            <a:endParaRPr lang="en-US" sz="975" dirty="0"/>
          </a:p>
        </p:txBody>
      </p:sp>
      <p:sp>
        <p:nvSpPr>
          <p:cNvPr id="3" name="Text 1"/>
          <p:cNvSpPr/>
          <p:nvPr/>
        </p:nvSpPr>
        <p:spPr>
          <a:xfrm>
            <a:off x="723900" y="533400"/>
            <a:ext cx="10791825" cy="520005"/>
          </a:xfrm>
          <a:prstGeom prst="rect">
            <a:avLst/>
          </a:prstGeom>
          <a:noFill/>
          <a:ln/>
        </p:spPr>
        <p:txBody>
          <a:bodyPr wrap="square" lIns="25400" tIns="25400" rIns="25400" bIns="25400" rtlCol="0" anchor="t">
            <a:normAutofit/>
          </a:bodyPr>
          <a:lstStyle/>
          <a:p>
            <a:pPr algn="l" indent="0" marL="0">
              <a:lnSpc>
                <a:spcPct val="115000"/>
              </a:lnSpc>
              <a:buNone/>
            </a:pPr>
            <a:r>
              <a:rPr lang="en-US" sz="3300" b="1" spc="-82" kern="0" dirty="0">
                <a:solidFill>
                  <a:srgbClr val="1E3A5F"/>
                </a:solidFill>
                <a:latin typeface="Inter" pitchFamily="34" charset="0"/>
                <a:ea typeface="Inter" pitchFamily="34" charset="-122"/>
                <a:cs typeface="Inter" pitchFamily="34" charset="-120"/>
              </a:rPr>
              <a:t>16가지 방법 중 13가지가 기존 방식을 안정적으로 이긴다</a:t>
            </a:r>
            <a:endParaRPr lang="en-US" sz="3300" dirty="0"/>
          </a:p>
        </p:txBody>
      </p:sp>
      <p:sp>
        <p:nvSpPr>
          <p:cNvPr id="4" name="Shape 2"/>
          <p:cNvSpPr/>
          <p:nvPr/>
        </p:nvSpPr>
        <p:spPr>
          <a:xfrm>
            <a:off x="723900" y="1148655"/>
            <a:ext cx="381000" cy="28575"/>
          </a:xfrm>
          <a:prstGeom prst="rect">
            <a:avLst/>
          </a:prstGeom>
          <a:solidFill>
            <a:srgbClr val="10B981"/>
          </a:solidFill>
          <a:ln/>
        </p:spPr>
      </p:sp>
      <p:sp>
        <p:nvSpPr>
          <p:cNvPr id="5" name="Text 3"/>
          <p:cNvSpPr/>
          <p:nvPr/>
        </p:nvSpPr>
        <p:spPr>
          <a:xfrm>
            <a:off x="723900" y="2106017"/>
            <a:ext cx="4147495" cy="1752600"/>
          </a:xfrm>
          <a:prstGeom prst="rect">
            <a:avLst/>
          </a:prstGeom>
          <a:noFill/>
          <a:ln/>
        </p:spPr>
        <p:txBody>
          <a:bodyPr wrap="square" lIns="25400" tIns="25400" rIns="25400" bIns="25400" rtlCol="0" anchor="t">
            <a:normAutofit/>
          </a:bodyPr>
          <a:lstStyle/>
          <a:p>
            <a:pPr algn="l" indent="0" marL="0">
              <a:lnSpc>
                <a:spcPct val="100000"/>
              </a:lnSpc>
              <a:buNone/>
            </a:pPr>
            <a:r>
              <a:rPr lang="en-US" sz="13500" b="1" spc="-675" kern="0" dirty="0">
                <a:solidFill>
                  <a:srgbClr val="000000"/>
                </a:solidFill>
                <a:latin typeface="Inter" pitchFamily="34" charset="0"/>
                <a:ea typeface="Inter" pitchFamily="34" charset="-122"/>
                <a:cs typeface="Inter" pitchFamily="34" charset="-120"/>
              </a:rPr>
              <a:t>13</a:t>
            </a:r>
            <a:pPr algn="l" indent="0" marL="0">
              <a:lnSpc>
                <a:spcPct val="100000"/>
              </a:lnSpc>
              <a:buNone/>
            </a:pPr>
            <a:r>
              <a:rPr lang="en-US" sz="7425" b="1" spc="-675" kern="0" dirty="0">
                <a:solidFill>
                  <a:srgbClr val="94A3B8"/>
                </a:solidFill>
                <a:latin typeface="Inter" pitchFamily="34" charset="0"/>
                <a:ea typeface="Inter" pitchFamily="34" charset="-122"/>
                <a:cs typeface="Inter" pitchFamily="34" charset="-120"/>
              </a:rPr>
              <a:t>/ 16</a:t>
            </a:r>
            <a:endParaRPr lang="en-US" sz="13500" dirty="0"/>
          </a:p>
        </p:txBody>
      </p:sp>
      <p:sp>
        <p:nvSpPr>
          <p:cNvPr id="6" name="Text 4"/>
          <p:cNvSpPr/>
          <p:nvPr/>
        </p:nvSpPr>
        <p:spPr>
          <a:xfrm>
            <a:off x="723900" y="3953867"/>
            <a:ext cx="4147495"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b="1" spc="-8" kern="0" dirty="0">
                <a:solidFill>
                  <a:srgbClr val="1E293B"/>
                </a:solidFill>
                <a:latin typeface="Inter" pitchFamily="34" charset="0"/>
                <a:ea typeface="Inter" pitchFamily="34" charset="-122"/>
                <a:cs typeface="Inter" pitchFamily="34" charset="-120"/>
              </a:rPr>
              <a:t>모든 조건에서 안정적으로 우월</a:t>
            </a:r>
            <a:endParaRPr lang="en-US" sz="1500" dirty="0"/>
          </a:p>
        </p:txBody>
      </p:sp>
      <p:sp>
        <p:nvSpPr>
          <p:cNvPr id="7" name="Shape 5"/>
          <p:cNvSpPr/>
          <p:nvPr/>
        </p:nvSpPr>
        <p:spPr>
          <a:xfrm>
            <a:off x="723900" y="4372967"/>
            <a:ext cx="4026694" cy="9525"/>
          </a:xfrm>
          <a:prstGeom prst="rect">
            <a:avLst/>
          </a:prstGeom>
          <a:solidFill>
            <a:srgbClr val="E5E7EB"/>
          </a:solidFill>
          <a:ln/>
        </p:spPr>
      </p:sp>
      <p:sp>
        <p:nvSpPr>
          <p:cNvPr id="8" name="Text 6"/>
          <p:cNvSpPr/>
          <p:nvPr/>
        </p:nvSpPr>
        <p:spPr>
          <a:xfrm>
            <a:off x="723900" y="4531717"/>
            <a:ext cx="4147495" cy="746522"/>
          </a:xfrm>
          <a:prstGeom prst="rect">
            <a:avLst/>
          </a:prstGeom>
          <a:noFill/>
          <a:ln/>
        </p:spPr>
        <p:txBody>
          <a:bodyPr wrap="square" lIns="25400" tIns="25400" rIns="25400" bIns="25400" rtlCol="0" anchor="t">
            <a:normAutofit/>
          </a:bodyPr>
          <a:lstStyle/>
          <a:p>
            <a:pPr algn="l" indent="0" marL="0">
              <a:lnSpc>
                <a:spcPct val="160000"/>
              </a:lnSpc>
              <a:buNone/>
            </a:pPr>
            <a:r>
              <a:rPr lang="en-US" sz="1163" spc="-6" kern="0" dirty="0">
                <a:solidFill>
                  <a:srgbClr val="475569"/>
                </a:solidFill>
                <a:latin typeface="Inter" pitchFamily="34" charset="0"/>
                <a:ea typeface="Inter" pitchFamily="34" charset="-122"/>
                <a:cs typeface="Inter" pitchFamily="34" charset="-120"/>
              </a:rPr>
              <a:t>공간 곡선·차원 축소·층화 계열이 견고하게 우월. </a:t>
            </a:r>
            <a:pPr algn="l" indent="0" marL="0">
              <a:lnSpc>
                <a:spcPct val="160000"/>
              </a:lnSpc>
              <a:buNone/>
            </a:pPr>
            <a:r>
              <a:rPr lang="en-US" sz="1163" b="1" spc="-6" kern="0" dirty="0">
                <a:solidFill>
                  <a:srgbClr val="1E3A5F"/>
                </a:solidFill>
                <a:latin typeface="Inter" pitchFamily="34" charset="0"/>
                <a:ea typeface="Inter" pitchFamily="34" charset="-122"/>
                <a:cs typeface="Inter" pitchFamily="34" charset="-120"/>
              </a:rPr>
              <a:t>가우시안 혼합 모델·미니배치 K-means·IVF 클러스터링 </a:t>
            </a:r>
            <a:pPr algn="l" indent="0" marL="0">
              <a:lnSpc>
                <a:spcPct val="160000"/>
              </a:lnSpc>
              <a:buNone/>
            </a:pPr>
            <a:r>
              <a:rPr lang="en-US" sz="1163" spc="-6" kern="0" dirty="0">
                <a:solidFill>
                  <a:srgbClr val="475569"/>
                </a:solidFill>
                <a:latin typeface="Inter" pitchFamily="34" charset="0"/>
                <a:ea typeface="Inter" pitchFamily="34" charset="-122"/>
                <a:cs typeface="Inter" pitchFamily="34" charset="-120"/>
              </a:rPr>
              <a:t>세 가지는 측정에서 불안정해 권장에서 제외.</a:t>
            </a:r>
            <a:endParaRPr lang="en-US" sz="1163" dirty="0"/>
          </a:p>
        </p:txBody>
      </p:sp>
      <p:sp>
        <p:nvSpPr>
          <p:cNvPr id="9" name="Shape 7"/>
          <p:cNvSpPr/>
          <p:nvPr/>
        </p:nvSpPr>
        <p:spPr>
          <a:xfrm>
            <a:off x="723900" y="5417939"/>
            <a:ext cx="133350" cy="95250"/>
          </a:xfrm>
          <a:prstGeom prst="rect">
            <a:avLst/>
          </a:prstGeom>
          <a:solidFill>
            <a:srgbClr val="0EA5E9"/>
          </a:solidFill>
          <a:ln/>
        </p:spPr>
      </p:sp>
      <p:sp>
        <p:nvSpPr>
          <p:cNvPr id="10" name="Text 8"/>
          <p:cNvSpPr/>
          <p:nvPr/>
        </p:nvSpPr>
        <p:spPr>
          <a:xfrm>
            <a:off x="914400" y="5386189"/>
            <a:ext cx="455811" cy="190500"/>
          </a:xfrm>
          <a:prstGeom prst="rect">
            <a:avLst/>
          </a:prstGeom>
          <a:noFill/>
          <a:ln/>
        </p:spPr>
        <p:txBody>
          <a:bodyPr wrap="square" lIns="0" tIns="0" rIns="0" bIns="0" rtlCol="0" anchor="t">
            <a:normAutofit/>
          </a:bodyPr>
          <a:lstStyle/>
          <a:p>
            <a:pPr algn="l" indent="0" marL="0">
              <a:buNone/>
            </a:pPr>
            <a:r>
              <a:rPr lang="en-US" sz="975" spc="-5" kern="0" dirty="0">
                <a:solidFill>
                  <a:srgbClr val="475569"/>
                </a:solidFill>
                <a:latin typeface="Inter" pitchFamily="34" charset="0"/>
                <a:ea typeface="Inter" pitchFamily="34" charset="-122"/>
                <a:cs typeface="Inter" pitchFamily="34" charset="-120"/>
              </a:rPr>
              <a:t>권장 13</a:t>
            </a:r>
            <a:endParaRPr lang="en-US" sz="975" dirty="0"/>
          </a:p>
        </p:txBody>
      </p:sp>
      <p:sp>
        <p:nvSpPr>
          <p:cNvPr id="11" name="Shape 9"/>
          <p:cNvSpPr/>
          <p:nvPr/>
        </p:nvSpPr>
        <p:spPr>
          <a:xfrm>
            <a:off x="1427361" y="5417939"/>
            <a:ext cx="133350" cy="95250"/>
          </a:xfrm>
          <a:prstGeom prst="rect">
            <a:avLst/>
          </a:prstGeom>
          <a:solidFill>
            <a:srgbClr val="F97316"/>
          </a:solidFill>
          <a:ln/>
        </p:spPr>
      </p:sp>
      <p:sp>
        <p:nvSpPr>
          <p:cNvPr id="12" name="Text 10"/>
          <p:cNvSpPr/>
          <p:nvPr/>
        </p:nvSpPr>
        <p:spPr>
          <a:xfrm>
            <a:off x="1617861" y="5386189"/>
            <a:ext cx="406102" cy="190500"/>
          </a:xfrm>
          <a:prstGeom prst="rect">
            <a:avLst/>
          </a:prstGeom>
          <a:noFill/>
          <a:ln/>
        </p:spPr>
        <p:txBody>
          <a:bodyPr wrap="square" lIns="0" tIns="0" rIns="0" bIns="0" rtlCol="0" anchor="t">
            <a:normAutofit/>
          </a:bodyPr>
          <a:lstStyle/>
          <a:p>
            <a:pPr algn="l" indent="0" marL="0">
              <a:buNone/>
            </a:pPr>
            <a:r>
              <a:rPr lang="en-US" sz="975" spc="-5" kern="0" dirty="0">
                <a:solidFill>
                  <a:srgbClr val="475569"/>
                </a:solidFill>
                <a:latin typeface="Inter" pitchFamily="34" charset="0"/>
                <a:ea typeface="Inter" pitchFamily="34" charset="-122"/>
                <a:cs typeface="Inter" pitchFamily="34" charset="-120"/>
              </a:rPr>
              <a:t>제외 3</a:t>
            </a:r>
            <a:endParaRPr lang="en-US" sz="975" dirty="0"/>
          </a:p>
        </p:txBody>
      </p:sp>
      <p:sp>
        <p:nvSpPr>
          <p:cNvPr id="13" name="Text 11"/>
          <p:cNvSpPr/>
          <p:nvPr/>
        </p:nvSpPr>
        <p:spPr>
          <a:xfrm>
            <a:off x="5093494" y="1694259"/>
            <a:ext cx="1695450" cy="228600"/>
          </a:xfrm>
          <a:prstGeom prst="rect">
            <a:avLst/>
          </a:prstGeom>
          <a:noFill/>
          <a:ln/>
        </p:spPr>
        <p:txBody>
          <a:bodyPr wrap="square" lIns="25400" tIns="25400" rIns="25400" bIns="25400" rtlCol="0" anchor="t">
            <a:normAutofit/>
          </a:bodyPr>
          <a:lstStyle/>
          <a:p>
            <a:pPr algn="r" indent="0" marL="0">
              <a:buNone/>
            </a:pPr>
            <a:r>
              <a:rPr lang="en-US" sz="1013" b="1" spc="-5" kern="0" dirty="0">
                <a:solidFill>
                  <a:srgbClr val="1E293B"/>
                </a:solidFill>
                <a:latin typeface="Inter" pitchFamily="34" charset="0"/>
                <a:ea typeface="Inter" pitchFamily="34" charset="-122"/>
                <a:cs typeface="Inter" pitchFamily="34" charset="-120"/>
              </a:rPr>
              <a:t>가중 표본 추출</a:t>
            </a:r>
            <a:endParaRPr lang="en-US" sz="1013" dirty="0"/>
          </a:p>
        </p:txBody>
      </p:sp>
      <p:sp>
        <p:nvSpPr>
          <p:cNvPr id="14" name="Shape 12"/>
          <p:cNvSpPr/>
          <p:nvPr/>
        </p:nvSpPr>
        <p:spPr>
          <a:xfrm>
            <a:off x="6922294" y="1713309"/>
            <a:ext cx="3879056" cy="152400"/>
          </a:xfrm>
          <a:prstGeom prst="rect">
            <a:avLst/>
          </a:prstGeom>
          <a:solidFill>
            <a:srgbClr val="F1F5F9"/>
          </a:solidFill>
          <a:ln/>
        </p:spPr>
      </p:sp>
      <p:sp>
        <p:nvSpPr>
          <p:cNvPr id="15" name="Shape 13"/>
          <p:cNvSpPr/>
          <p:nvPr/>
        </p:nvSpPr>
        <p:spPr>
          <a:xfrm>
            <a:off x="6922294" y="1713309"/>
            <a:ext cx="3685084" cy="152400"/>
          </a:xfrm>
          <a:prstGeom prst="rect">
            <a:avLst/>
          </a:prstGeom>
          <a:solidFill>
            <a:srgbClr val="0EA5E9"/>
          </a:solidFill>
          <a:ln/>
        </p:spPr>
      </p:sp>
      <p:sp>
        <p:nvSpPr>
          <p:cNvPr id="16" name="Text 14"/>
          <p:cNvSpPr/>
          <p:nvPr/>
        </p:nvSpPr>
        <p:spPr>
          <a:xfrm>
            <a:off x="10858500" y="1713309"/>
            <a:ext cx="609600" cy="190500"/>
          </a:xfrm>
          <a:prstGeom prst="rect">
            <a:avLst/>
          </a:prstGeom>
          <a:noFill/>
          <a:ln/>
        </p:spPr>
        <p:txBody>
          <a:bodyPr wrap="square" lIns="25400" tIns="25400" rIns="25400" bIns="25400" rtlCol="0" anchor="t">
            <a:normAutofit/>
          </a:bodyPr>
          <a:lstStyle/>
          <a:p>
            <a:pPr algn="r" indent="0" marL="0">
              <a:buNone/>
            </a:pPr>
            <a:r>
              <a:rPr lang="en-US" sz="975" b="1" dirty="0">
                <a:solidFill>
                  <a:srgbClr val="1E293B"/>
                </a:solidFill>
                <a:latin typeface="Inter" pitchFamily="34" charset="0"/>
                <a:ea typeface="Inter" pitchFamily="34" charset="-122"/>
                <a:cs typeface="Inter" pitchFamily="34" charset="-120"/>
              </a:rPr>
              <a:t>-6.2</a:t>
            </a:r>
            <a:endParaRPr lang="en-US" sz="975" dirty="0"/>
          </a:p>
        </p:txBody>
      </p:sp>
      <p:sp>
        <p:nvSpPr>
          <p:cNvPr id="17" name="Text 15"/>
          <p:cNvSpPr/>
          <p:nvPr/>
        </p:nvSpPr>
        <p:spPr>
          <a:xfrm>
            <a:off x="5093494" y="1941909"/>
            <a:ext cx="1695450" cy="228600"/>
          </a:xfrm>
          <a:prstGeom prst="rect">
            <a:avLst/>
          </a:prstGeom>
          <a:noFill/>
          <a:ln/>
        </p:spPr>
        <p:txBody>
          <a:bodyPr wrap="square" lIns="25400" tIns="25400" rIns="25400" bIns="25400" rtlCol="0" anchor="t">
            <a:normAutofit/>
          </a:bodyPr>
          <a:lstStyle/>
          <a:p>
            <a:pPr algn="r" indent="0" marL="0">
              <a:buNone/>
            </a:pPr>
            <a:r>
              <a:rPr lang="en-US" sz="1013" b="1" spc="-5" kern="0" dirty="0">
                <a:solidFill>
                  <a:srgbClr val="1E293B"/>
                </a:solidFill>
                <a:latin typeface="Inter" pitchFamily="34" charset="0"/>
                <a:ea typeface="Inter" pitchFamily="34" charset="-122"/>
                <a:cs typeface="Inter" pitchFamily="34" charset="-120"/>
              </a:rPr>
              <a:t>Hilbert 곡선</a:t>
            </a:r>
            <a:endParaRPr lang="en-US" sz="1013" dirty="0"/>
          </a:p>
        </p:txBody>
      </p:sp>
      <p:sp>
        <p:nvSpPr>
          <p:cNvPr id="18" name="Shape 16"/>
          <p:cNvSpPr/>
          <p:nvPr/>
        </p:nvSpPr>
        <p:spPr>
          <a:xfrm>
            <a:off x="6922294" y="1960959"/>
            <a:ext cx="3879056" cy="152400"/>
          </a:xfrm>
          <a:prstGeom prst="rect">
            <a:avLst/>
          </a:prstGeom>
          <a:solidFill>
            <a:srgbClr val="F1F5F9"/>
          </a:solidFill>
          <a:ln/>
        </p:spPr>
      </p:sp>
      <p:sp>
        <p:nvSpPr>
          <p:cNvPr id="19" name="Shape 17"/>
          <p:cNvSpPr/>
          <p:nvPr/>
        </p:nvSpPr>
        <p:spPr>
          <a:xfrm>
            <a:off x="6922294" y="1960959"/>
            <a:ext cx="3529905" cy="152400"/>
          </a:xfrm>
          <a:prstGeom prst="rect">
            <a:avLst/>
          </a:prstGeom>
          <a:solidFill>
            <a:srgbClr val="0EA5E9"/>
          </a:solidFill>
          <a:ln/>
        </p:spPr>
      </p:sp>
      <p:sp>
        <p:nvSpPr>
          <p:cNvPr id="20" name="Text 18"/>
          <p:cNvSpPr/>
          <p:nvPr/>
        </p:nvSpPr>
        <p:spPr>
          <a:xfrm>
            <a:off x="10858500" y="1960959"/>
            <a:ext cx="609600" cy="190500"/>
          </a:xfrm>
          <a:prstGeom prst="rect">
            <a:avLst/>
          </a:prstGeom>
          <a:noFill/>
          <a:ln/>
        </p:spPr>
        <p:txBody>
          <a:bodyPr wrap="square" lIns="25400" tIns="25400" rIns="25400" bIns="25400" rtlCol="0" anchor="t">
            <a:normAutofit/>
          </a:bodyPr>
          <a:lstStyle/>
          <a:p>
            <a:pPr algn="r" indent="0" marL="0">
              <a:buNone/>
            </a:pPr>
            <a:r>
              <a:rPr lang="en-US" sz="975" b="1" dirty="0">
                <a:solidFill>
                  <a:srgbClr val="1E293B"/>
                </a:solidFill>
                <a:latin typeface="Inter" pitchFamily="34" charset="0"/>
                <a:ea typeface="Inter" pitchFamily="34" charset="-122"/>
                <a:cs typeface="Inter" pitchFamily="34" charset="-120"/>
              </a:rPr>
              <a:t>-5.9</a:t>
            </a:r>
            <a:endParaRPr lang="en-US" sz="975" dirty="0"/>
          </a:p>
        </p:txBody>
      </p:sp>
      <p:sp>
        <p:nvSpPr>
          <p:cNvPr id="21" name="Text 19"/>
          <p:cNvSpPr/>
          <p:nvPr/>
        </p:nvSpPr>
        <p:spPr>
          <a:xfrm>
            <a:off x="5093494" y="2189559"/>
            <a:ext cx="1695450" cy="228600"/>
          </a:xfrm>
          <a:prstGeom prst="rect">
            <a:avLst/>
          </a:prstGeom>
          <a:noFill/>
          <a:ln/>
        </p:spPr>
        <p:txBody>
          <a:bodyPr wrap="square" lIns="25400" tIns="25400" rIns="25400" bIns="25400" rtlCol="0" anchor="t">
            <a:normAutofit/>
          </a:bodyPr>
          <a:lstStyle/>
          <a:p>
            <a:pPr algn="r" indent="0" marL="0">
              <a:buNone/>
            </a:pPr>
            <a:r>
              <a:rPr lang="en-US" sz="1013" b="1" spc="-5" kern="0" dirty="0">
                <a:solidFill>
                  <a:srgbClr val="1E293B"/>
                </a:solidFill>
                <a:latin typeface="Inter" pitchFamily="34" charset="0"/>
                <a:ea typeface="Inter" pitchFamily="34" charset="-122"/>
                <a:cs typeface="Inter" pitchFamily="34" charset="-120"/>
              </a:rPr>
              <a:t>고차원 Hilbert 곡선</a:t>
            </a:r>
            <a:endParaRPr lang="en-US" sz="1013" dirty="0"/>
          </a:p>
        </p:txBody>
      </p:sp>
      <p:sp>
        <p:nvSpPr>
          <p:cNvPr id="22" name="Shape 20"/>
          <p:cNvSpPr/>
          <p:nvPr/>
        </p:nvSpPr>
        <p:spPr>
          <a:xfrm>
            <a:off x="6922294" y="2208609"/>
            <a:ext cx="3879056" cy="152400"/>
          </a:xfrm>
          <a:prstGeom prst="rect">
            <a:avLst/>
          </a:prstGeom>
          <a:solidFill>
            <a:srgbClr val="F1F5F9"/>
          </a:solidFill>
          <a:ln/>
        </p:spPr>
      </p:sp>
      <p:sp>
        <p:nvSpPr>
          <p:cNvPr id="23" name="Shape 21"/>
          <p:cNvSpPr/>
          <p:nvPr/>
        </p:nvSpPr>
        <p:spPr>
          <a:xfrm>
            <a:off x="6922294" y="2208609"/>
            <a:ext cx="3413522" cy="152400"/>
          </a:xfrm>
          <a:prstGeom prst="rect">
            <a:avLst/>
          </a:prstGeom>
          <a:solidFill>
            <a:srgbClr val="0EA5E9"/>
          </a:solidFill>
          <a:ln/>
        </p:spPr>
      </p:sp>
      <p:sp>
        <p:nvSpPr>
          <p:cNvPr id="24" name="Text 22"/>
          <p:cNvSpPr/>
          <p:nvPr/>
        </p:nvSpPr>
        <p:spPr>
          <a:xfrm>
            <a:off x="10858500" y="2208609"/>
            <a:ext cx="609600" cy="190500"/>
          </a:xfrm>
          <a:prstGeom prst="rect">
            <a:avLst/>
          </a:prstGeom>
          <a:noFill/>
          <a:ln/>
        </p:spPr>
        <p:txBody>
          <a:bodyPr wrap="square" lIns="25400" tIns="25400" rIns="25400" bIns="25400" rtlCol="0" anchor="t">
            <a:normAutofit/>
          </a:bodyPr>
          <a:lstStyle/>
          <a:p>
            <a:pPr algn="r" indent="0" marL="0">
              <a:buNone/>
            </a:pPr>
            <a:r>
              <a:rPr lang="en-US" sz="975" b="1" dirty="0">
                <a:solidFill>
                  <a:srgbClr val="1E293B"/>
                </a:solidFill>
                <a:latin typeface="Inter" pitchFamily="34" charset="0"/>
                <a:ea typeface="Inter" pitchFamily="34" charset="-122"/>
                <a:cs typeface="Inter" pitchFamily="34" charset="-120"/>
              </a:rPr>
              <a:t>-5.7</a:t>
            </a:r>
            <a:endParaRPr lang="en-US" sz="975" dirty="0"/>
          </a:p>
        </p:txBody>
      </p:sp>
      <p:sp>
        <p:nvSpPr>
          <p:cNvPr id="25" name="Text 23"/>
          <p:cNvSpPr/>
          <p:nvPr/>
        </p:nvSpPr>
        <p:spPr>
          <a:xfrm>
            <a:off x="5093494" y="2437209"/>
            <a:ext cx="1695450" cy="228600"/>
          </a:xfrm>
          <a:prstGeom prst="rect">
            <a:avLst/>
          </a:prstGeom>
          <a:noFill/>
          <a:ln/>
        </p:spPr>
        <p:txBody>
          <a:bodyPr wrap="square" lIns="25400" tIns="25400" rIns="25400" bIns="25400" rtlCol="0" anchor="t">
            <a:normAutofit/>
          </a:bodyPr>
          <a:lstStyle/>
          <a:p>
            <a:pPr algn="r" indent="0" marL="0">
              <a:buNone/>
            </a:pPr>
            <a:r>
              <a:rPr lang="en-US" sz="1013" b="1" spc="-5" kern="0" dirty="0">
                <a:solidFill>
                  <a:srgbClr val="1E293B"/>
                </a:solidFill>
                <a:latin typeface="Inter" pitchFamily="34" charset="0"/>
                <a:ea typeface="Inter" pitchFamily="34" charset="-122"/>
                <a:cs typeface="Inter" pitchFamily="34" charset="-120"/>
              </a:rPr>
              <a:t>독립성분 분석</a:t>
            </a:r>
            <a:endParaRPr lang="en-US" sz="1013" dirty="0"/>
          </a:p>
        </p:txBody>
      </p:sp>
      <p:sp>
        <p:nvSpPr>
          <p:cNvPr id="26" name="Shape 24"/>
          <p:cNvSpPr/>
          <p:nvPr/>
        </p:nvSpPr>
        <p:spPr>
          <a:xfrm>
            <a:off x="6922294" y="2456259"/>
            <a:ext cx="3879056" cy="152400"/>
          </a:xfrm>
          <a:prstGeom prst="rect">
            <a:avLst/>
          </a:prstGeom>
          <a:solidFill>
            <a:srgbClr val="F1F5F9"/>
          </a:solidFill>
          <a:ln/>
        </p:spPr>
      </p:sp>
      <p:sp>
        <p:nvSpPr>
          <p:cNvPr id="27" name="Shape 25"/>
          <p:cNvSpPr/>
          <p:nvPr/>
        </p:nvSpPr>
        <p:spPr>
          <a:xfrm>
            <a:off x="6922294" y="2456259"/>
            <a:ext cx="3413522" cy="152400"/>
          </a:xfrm>
          <a:prstGeom prst="rect">
            <a:avLst/>
          </a:prstGeom>
          <a:solidFill>
            <a:srgbClr val="0EA5E9"/>
          </a:solidFill>
          <a:ln/>
        </p:spPr>
      </p:sp>
      <p:sp>
        <p:nvSpPr>
          <p:cNvPr id="28" name="Text 26"/>
          <p:cNvSpPr/>
          <p:nvPr/>
        </p:nvSpPr>
        <p:spPr>
          <a:xfrm>
            <a:off x="10858500" y="2456259"/>
            <a:ext cx="609600" cy="190500"/>
          </a:xfrm>
          <a:prstGeom prst="rect">
            <a:avLst/>
          </a:prstGeom>
          <a:noFill/>
          <a:ln/>
        </p:spPr>
        <p:txBody>
          <a:bodyPr wrap="square" lIns="25400" tIns="25400" rIns="25400" bIns="25400" rtlCol="0" anchor="t">
            <a:normAutofit/>
          </a:bodyPr>
          <a:lstStyle/>
          <a:p>
            <a:pPr algn="r" indent="0" marL="0">
              <a:buNone/>
            </a:pPr>
            <a:r>
              <a:rPr lang="en-US" sz="975" b="1" dirty="0">
                <a:solidFill>
                  <a:srgbClr val="1E293B"/>
                </a:solidFill>
                <a:latin typeface="Inter" pitchFamily="34" charset="0"/>
                <a:ea typeface="Inter" pitchFamily="34" charset="-122"/>
                <a:cs typeface="Inter" pitchFamily="34" charset="-120"/>
              </a:rPr>
              <a:t>-5.7</a:t>
            </a:r>
            <a:endParaRPr lang="en-US" sz="975" dirty="0"/>
          </a:p>
        </p:txBody>
      </p:sp>
      <p:sp>
        <p:nvSpPr>
          <p:cNvPr id="29" name="Text 27"/>
          <p:cNvSpPr/>
          <p:nvPr/>
        </p:nvSpPr>
        <p:spPr>
          <a:xfrm>
            <a:off x="5093494" y="2684859"/>
            <a:ext cx="1695450" cy="228600"/>
          </a:xfrm>
          <a:prstGeom prst="rect">
            <a:avLst/>
          </a:prstGeom>
          <a:noFill/>
          <a:ln/>
        </p:spPr>
        <p:txBody>
          <a:bodyPr wrap="square" lIns="25400" tIns="25400" rIns="25400" bIns="25400" rtlCol="0" anchor="t">
            <a:normAutofit/>
          </a:bodyPr>
          <a:lstStyle/>
          <a:p>
            <a:pPr algn="r" indent="0" marL="0">
              <a:buNone/>
            </a:pPr>
            <a:r>
              <a:rPr lang="en-US" sz="1013" b="1" spc="-5" kern="0" dirty="0">
                <a:solidFill>
                  <a:srgbClr val="1E293B"/>
                </a:solidFill>
                <a:latin typeface="Inter" pitchFamily="34" charset="0"/>
                <a:ea typeface="Inter" pitchFamily="34" charset="-122"/>
                <a:cs typeface="Inter" pitchFamily="34" charset="-120"/>
              </a:rPr>
              <a:t>주성분 분석</a:t>
            </a:r>
            <a:endParaRPr lang="en-US" sz="1013" dirty="0"/>
          </a:p>
        </p:txBody>
      </p:sp>
      <p:sp>
        <p:nvSpPr>
          <p:cNvPr id="30" name="Shape 28"/>
          <p:cNvSpPr/>
          <p:nvPr/>
        </p:nvSpPr>
        <p:spPr>
          <a:xfrm>
            <a:off x="6922294" y="2703909"/>
            <a:ext cx="3879056" cy="152400"/>
          </a:xfrm>
          <a:prstGeom prst="rect">
            <a:avLst/>
          </a:prstGeom>
          <a:solidFill>
            <a:srgbClr val="F1F5F9"/>
          </a:solidFill>
          <a:ln/>
        </p:spPr>
      </p:sp>
      <p:sp>
        <p:nvSpPr>
          <p:cNvPr id="31" name="Shape 29"/>
          <p:cNvSpPr/>
          <p:nvPr/>
        </p:nvSpPr>
        <p:spPr>
          <a:xfrm>
            <a:off x="6922294" y="2703909"/>
            <a:ext cx="3335933" cy="152400"/>
          </a:xfrm>
          <a:prstGeom prst="rect">
            <a:avLst/>
          </a:prstGeom>
          <a:solidFill>
            <a:srgbClr val="0EA5E9"/>
          </a:solidFill>
          <a:ln/>
        </p:spPr>
      </p:sp>
      <p:sp>
        <p:nvSpPr>
          <p:cNvPr id="32" name="Text 30"/>
          <p:cNvSpPr/>
          <p:nvPr/>
        </p:nvSpPr>
        <p:spPr>
          <a:xfrm>
            <a:off x="10858500" y="2703909"/>
            <a:ext cx="609600" cy="190500"/>
          </a:xfrm>
          <a:prstGeom prst="rect">
            <a:avLst/>
          </a:prstGeom>
          <a:noFill/>
          <a:ln/>
        </p:spPr>
        <p:txBody>
          <a:bodyPr wrap="square" lIns="25400" tIns="25400" rIns="25400" bIns="25400" rtlCol="0" anchor="t">
            <a:normAutofit/>
          </a:bodyPr>
          <a:lstStyle/>
          <a:p>
            <a:pPr algn="r" indent="0" marL="0">
              <a:buNone/>
            </a:pPr>
            <a:r>
              <a:rPr lang="en-US" sz="975" b="1" dirty="0">
                <a:solidFill>
                  <a:srgbClr val="1E293B"/>
                </a:solidFill>
                <a:latin typeface="Inter" pitchFamily="34" charset="0"/>
                <a:ea typeface="Inter" pitchFamily="34" charset="-122"/>
                <a:cs typeface="Inter" pitchFamily="34" charset="-120"/>
              </a:rPr>
              <a:t>-5.6</a:t>
            </a:r>
            <a:endParaRPr lang="en-US" sz="975" dirty="0"/>
          </a:p>
        </p:txBody>
      </p:sp>
      <p:sp>
        <p:nvSpPr>
          <p:cNvPr id="33" name="Text 31"/>
          <p:cNvSpPr/>
          <p:nvPr/>
        </p:nvSpPr>
        <p:spPr>
          <a:xfrm>
            <a:off x="5093494" y="2932509"/>
            <a:ext cx="1695450" cy="228600"/>
          </a:xfrm>
          <a:prstGeom prst="rect">
            <a:avLst/>
          </a:prstGeom>
          <a:noFill/>
          <a:ln/>
        </p:spPr>
        <p:txBody>
          <a:bodyPr wrap="square" lIns="25400" tIns="25400" rIns="25400" bIns="25400" rtlCol="0" anchor="t">
            <a:normAutofit/>
          </a:bodyPr>
          <a:lstStyle/>
          <a:p>
            <a:pPr algn="r" indent="0" marL="0">
              <a:buNone/>
            </a:pPr>
            <a:r>
              <a:rPr lang="en-US" sz="1013" spc="-5" kern="0" dirty="0">
                <a:solidFill>
                  <a:srgbClr val="334155"/>
                </a:solidFill>
                <a:latin typeface="Inter" pitchFamily="34" charset="0"/>
                <a:ea typeface="Inter" pitchFamily="34" charset="-122"/>
                <a:cs typeface="Inter" pitchFamily="34" charset="-120"/>
              </a:rPr>
              <a:t>Z-order 곡선</a:t>
            </a:r>
            <a:endParaRPr lang="en-US" sz="1013" dirty="0"/>
          </a:p>
        </p:txBody>
      </p:sp>
      <p:sp>
        <p:nvSpPr>
          <p:cNvPr id="34" name="Shape 32"/>
          <p:cNvSpPr/>
          <p:nvPr/>
        </p:nvSpPr>
        <p:spPr>
          <a:xfrm>
            <a:off x="6922294" y="2951559"/>
            <a:ext cx="3879056" cy="152400"/>
          </a:xfrm>
          <a:prstGeom prst="rect">
            <a:avLst/>
          </a:prstGeom>
          <a:solidFill>
            <a:srgbClr val="F1F5F9"/>
          </a:solidFill>
          <a:ln/>
        </p:spPr>
      </p:sp>
      <p:sp>
        <p:nvSpPr>
          <p:cNvPr id="35" name="Shape 33"/>
          <p:cNvSpPr/>
          <p:nvPr/>
        </p:nvSpPr>
        <p:spPr>
          <a:xfrm>
            <a:off x="6922294" y="2951559"/>
            <a:ext cx="2909292" cy="152400"/>
          </a:xfrm>
          <a:prstGeom prst="rect">
            <a:avLst/>
          </a:prstGeom>
          <a:solidFill>
            <a:srgbClr val="0EA5E9"/>
          </a:solidFill>
          <a:ln/>
        </p:spPr>
      </p:sp>
      <p:sp>
        <p:nvSpPr>
          <p:cNvPr id="36" name="Text 34"/>
          <p:cNvSpPr/>
          <p:nvPr/>
        </p:nvSpPr>
        <p:spPr>
          <a:xfrm>
            <a:off x="10858500" y="2951559"/>
            <a:ext cx="609600" cy="190500"/>
          </a:xfrm>
          <a:prstGeom prst="rect">
            <a:avLst/>
          </a:prstGeom>
          <a:noFill/>
          <a:ln/>
        </p:spPr>
        <p:txBody>
          <a:bodyPr wrap="square" lIns="25400" tIns="25400" rIns="25400" bIns="25400" rtlCol="0" anchor="t">
            <a:normAutofit/>
          </a:bodyPr>
          <a:lstStyle/>
          <a:p>
            <a:pPr algn="r" indent="0" marL="0">
              <a:buNone/>
            </a:pPr>
            <a:r>
              <a:rPr lang="en-US" sz="975" b="1" dirty="0">
                <a:solidFill>
                  <a:srgbClr val="334155"/>
                </a:solidFill>
                <a:latin typeface="Inter" pitchFamily="34" charset="0"/>
                <a:ea typeface="Inter" pitchFamily="34" charset="-122"/>
                <a:cs typeface="Inter" pitchFamily="34" charset="-120"/>
              </a:rPr>
              <a:t>-4.9</a:t>
            </a:r>
            <a:endParaRPr lang="en-US" sz="975" dirty="0"/>
          </a:p>
        </p:txBody>
      </p:sp>
      <p:sp>
        <p:nvSpPr>
          <p:cNvPr id="37" name="Text 35"/>
          <p:cNvSpPr/>
          <p:nvPr/>
        </p:nvSpPr>
        <p:spPr>
          <a:xfrm>
            <a:off x="5093494" y="3180159"/>
            <a:ext cx="1695450" cy="196850"/>
          </a:xfrm>
          <a:prstGeom prst="rect">
            <a:avLst/>
          </a:prstGeom>
          <a:noFill/>
          <a:ln/>
        </p:spPr>
        <p:txBody>
          <a:bodyPr wrap="square" lIns="25400" tIns="25400" rIns="25400" bIns="25400" rtlCol="0" anchor="t">
            <a:normAutofit/>
          </a:bodyPr>
          <a:lstStyle/>
          <a:p>
            <a:pPr algn="r" indent="0" marL="0">
              <a:buNone/>
            </a:pPr>
            <a:r>
              <a:rPr lang="en-US" sz="1013" spc="-5" kern="0" dirty="0">
                <a:solidFill>
                  <a:srgbClr val="334155"/>
                </a:solidFill>
                <a:latin typeface="Inter" pitchFamily="34" charset="0"/>
                <a:ea typeface="Inter" pitchFamily="34" charset="-122"/>
                <a:cs typeface="Inter" pitchFamily="34" charset="-120"/>
              </a:rPr>
              <a:t>HyperLogLog</a:t>
            </a:r>
            <a:endParaRPr lang="en-US" sz="1013" dirty="0"/>
          </a:p>
        </p:txBody>
      </p:sp>
      <p:sp>
        <p:nvSpPr>
          <p:cNvPr id="38" name="Shape 36"/>
          <p:cNvSpPr/>
          <p:nvPr/>
        </p:nvSpPr>
        <p:spPr>
          <a:xfrm>
            <a:off x="6922294" y="3183334"/>
            <a:ext cx="3879056" cy="152400"/>
          </a:xfrm>
          <a:prstGeom prst="rect">
            <a:avLst/>
          </a:prstGeom>
          <a:solidFill>
            <a:srgbClr val="F1F5F9"/>
          </a:solidFill>
          <a:ln/>
        </p:spPr>
      </p:sp>
      <p:sp>
        <p:nvSpPr>
          <p:cNvPr id="39" name="Shape 37"/>
          <p:cNvSpPr/>
          <p:nvPr/>
        </p:nvSpPr>
        <p:spPr>
          <a:xfrm>
            <a:off x="6922294" y="3183334"/>
            <a:ext cx="2754114" cy="152400"/>
          </a:xfrm>
          <a:prstGeom prst="rect">
            <a:avLst/>
          </a:prstGeom>
          <a:solidFill>
            <a:srgbClr val="0EA5E9"/>
          </a:solidFill>
          <a:ln/>
        </p:spPr>
      </p:sp>
      <p:sp>
        <p:nvSpPr>
          <p:cNvPr id="40" name="Text 38"/>
          <p:cNvSpPr/>
          <p:nvPr/>
        </p:nvSpPr>
        <p:spPr>
          <a:xfrm>
            <a:off x="10858500" y="3183334"/>
            <a:ext cx="609600" cy="190500"/>
          </a:xfrm>
          <a:prstGeom prst="rect">
            <a:avLst/>
          </a:prstGeom>
          <a:noFill/>
          <a:ln/>
        </p:spPr>
        <p:txBody>
          <a:bodyPr wrap="square" lIns="25400" tIns="25400" rIns="25400" bIns="25400" rtlCol="0" anchor="t">
            <a:normAutofit/>
          </a:bodyPr>
          <a:lstStyle/>
          <a:p>
            <a:pPr algn="r" indent="0" marL="0">
              <a:buNone/>
            </a:pPr>
            <a:r>
              <a:rPr lang="en-US" sz="975" b="1" dirty="0">
                <a:solidFill>
                  <a:srgbClr val="334155"/>
                </a:solidFill>
                <a:latin typeface="Inter" pitchFamily="34" charset="0"/>
                <a:ea typeface="Inter" pitchFamily="34" charset="-122"/>
                <a:cs typeface="Inter" pitchFamily="34" charset="-120"/>
              </a:rPr>
              <a:t>-4.6</a:t>
            </a:r>
            <a:endParaRPr lang="en-US" sz="975" dirty="0"/>
          </a:p>
        </p:txBody>
      </p:sp>
      <p:sp>
        <p:nvSpPr>
          <p:cNvPr id="41" name="Text 39"/>
          <p:cNvSpPr/>
          <p:nvPr/>
        </p:nvSpPr>
        <p:spPr>
          <a:xfrm>
            <a:off x="5093494" y="3396060"/>
            <a:ext cx="1695450" cy="228600"/>
          </a:xfrm>
          <a:prstGeom prst="rect">
            <a:avLst/>
          </a:prstGeom>
          <a:noFill/>
          <a:ln/>
        </p:spPr>
        <p:txBody>
          <a:bodyPr wrap="square" lIns="25400" tIns="25400" rIns="25400" bIns="25400" rtlCol="0" anchor="t">
            <a:normAutofit/>
          </a:bodyPr>
          <a:lstStyle/>
          <a:p>
            <a:pPr algn="r" indent="0" marL="0">
              <a:buNone/>
            </a:pPr>
            <a:r>
              <a:rPr lang="en-US" sz="1013" spc="-5" kern="0" dirty="0">
                <a:solidFill>
                  <a:srgbClr val="334155"/>
                </a:solidFill>
                <a:latin typeface="Inter" pitchFamily="34" charset="0"/>
                <a:ea typeface="Inter" pitchFamily="34" charset="-122"/>
                <a:cs typeface="Inter" pitchFamily="34" charset="-120"/>
              </a:rPr>
              <a:t>누적 제곱근 층화</a:t>
            </a:r>
            <a:endParaRPr lang="en-US" sz="1013" dirty="0"/>
          </a:p>
        </p:txBody>
      </p:sp>
      <p:sp>
        <p:nvSpPr>
          <p:cNvPr id="42" name="Shape 40"/>
          <p:cNvSpPr/>
          <p:nvPr/>
        </p:nvSpPr>
        <p:spPr>
          <a:xfrm>
            <a:off x="6922294" y="3415110"/>
            <a:ext cx="3879056" cy="152400"/>
          </a:xfrm>
          <a:prstGeom prst="rect">
            <a:avLst/>
          </a:prstGeom>
          <a:solidFill>
            <a:srgbClr val="F1F5F9"/>
          </a:solidFill>
          <a:ln/>
        </p:spPr>
      </p:sp>
      <p:sp>
        <p:nvSpPr>
          <p:cNvPr id="43" name="Shape 41"/>
          <p:cNvSpPr/>
          <p:nvPr/>
        </p:nvSpPr>
        <p:spPr>
          <a:xfrm>
            <a:off x="6922294" y="3415110"/>
            <a:ext cx="2676525" cy="152400"/>
          </a:xfrm>
          <a:prstGeom prst="rect">
            <a:avLst/>
          </a:prstGeom>
          <a:solidFill>
            <a:srgbClr val="0EA5E9"/>
          </a:solidFill>
          <a:ln/>
        </p:spPr>
      </p:sp>
      <p:sp>
        <p:nvSpPr>
          <p:cNvPr id="44" name="Text 42"/>
          <p:cNvSpPr/>
          <p:nvPr/>
        </p:nvSpPr>
        <p:spPr>
          <a:xfrm>
            <a:off x="10858500" y="3415110"/>
            <a:ext cx="609600" cy="190500"/>
          </a:xfrm>
          <a:prstGeom prst="rect">
            <a:avLst/>
          </a:prstGeom>
          <a:noFill/>
          <a:ln/>
        </p:spPr>
        <p:txBody>
          <a:bodyPr wrap="square" lIns="25400" tIns="25400" rIns="25400" bIns="25400" rtlCol="0" anchor="t">
            <a:normAutofit/>
          </a:bodyPr>
          <a:lstStyle/>
          <a:p>
            <a:pPr algn="r" indent="0" marL="0">
              <a:buNone/>
            </a:pPr>
            <a:r>
              <a:rPr lang="en-US" sz="975" b="1" dirty="0">
                <a:solidFill>
                  <a:srgbClr val="334155"/>
                </a:solidFill>
                <a:latin typeface="Inter" pitchFamily="34" charset="0"/>
                <a:ea typeface="Inter" pitchFamily="34" charset="-122"/>
                <a:cs typeface="Inter" pitchFamily="34" charset="-120"/>
              </a:rPr>
              <a:t>-4.5</a:t>
            </a:r>
            <a:endParaRPr lang="en-US" sz="975" dirty="0"/>
          </a:p>
        </p:txBody>
      </p:sp>
      <p:sp>
        <p:nvSpPr>
          <p:cNvPr id="45" name="Text 43"/>
          <p:cNvSpPr/>
          <p:nvPr/>
        </p:nvSpPr>
        <p:spPr>
          <a:xfrm>
            <a:off x="5093494" y="3643710"/>
            <a:ext cx="1695450" cy="228600"/>
          </a:xfrm>
          <a:prstGeom prst="rect">
            <a:avLst/>
          </a:prstGeom>
          <a:noFill/>
          <a:ln/>
        </p:spPr>
        <p:txBody>
          <a:bodyPr wrap="square" lIns="25400" tIns="25400" rIns="25400" bIns="25400" rtlCol="0" anchor="t">
            <a:normAutofit/>
          </a:bodyPr>
          <a:lstStyle/>
          <a:p>
            <a:pPr algn="r" indent="0" marL="0">
              <a:buNone/>
            </a:pPr>
            <a:r>
              <a:rPr lang="en-US" sz="1013" spc="-5" kern="0" dirty="0">
                <a:solidFill>
                  <a:srgbClr val="334155"/>
                </a:solidFill>
                <a:latin typeface="Inter" pitchFamily="34" charset="0"/>
                <a:ea typeface="Inter" pitchFamily="34" charset="-122"/>
                <a:cs typeface="Inter" pitchFamily="34" charset="-120"/>
              </a:rPr>
              <a:t>Lavallée–Hidiroglou 층화</a:t>
            </a:r>
            <a:endParaRPr lang="en-US" sz="1013" dirty="0"/>
          </a:p>
        </p:txBody>
      </p:sp>
      <p:sp>
        <p:nvSpPr>
          <p:cNvPr id="46" name="Shape 44"/>
          <p:cNvSpPr/>
          <p:nvPr/>
        </p:nvSpPr>
        <p:spPr>
          <a:xfrm>
            <a:off x="6922294" y="3662760"/>
            <a:ext cx="3879056" cy="152400"/>
          </a:xfrm>
          <a:prstGeom prst="rect">
            <a:avLst/>
          </a:prstGeom>
          <a:solidFill>
            <a:srgbClr val="F1F5F9"/>
          </a:solidFill>
          <a:ln/>
        </p:spPr>
      </p:sp>
      <p:sp>
        <p:nvSpPr>
          <p:cNvPr id="47" name="Shape 45"/>
          <p:cNvSpPr/>
          <p:nvPr/>
        </p:nvSpPr>
        <p:spPr>
          <a:xfrm>
            <a:off x="6922294" y="3662760"/>
            <a:ext cx="2637731" cy="152400"/>
          </a:xfrm>
          <a:prstGeom prst="rect">
            <a:avLst/>
          </a:prstGeom>
          <a:solidFill>
            <a:srgbClr val="0EA5E9"/>
          </a:solidFill>
          <a:ln/>
        </p:spPr>
      </p:sp>
      <p:sp>
        <p:nvSpPr>
          <p:cNvPr id="48" name="Text 46"/>
          <p:cNvSpPr/>
          <p:nvPr/>
        </p:nvSpPr>
        <p:spPr>
          <a:xfrm>
            <a:off x="10858500" y="3662760"/>
            <a:ext cx="609600" cy="190500"/>
          </a:xfrm>
          <a:prstGeom prst="rect">
            <a:avLst/>
          </a:prstGeom>
          <a:noFill/>
          <a:ln/>
        </p:spPr>
        <p:txBody>
          <a:bodyPr wrap="square" lIns="25400" tIns="25400" rIns="25400" bIns="25400" rtlCol="0" anchor="t">
            <a:normAutofit/>
          </a:bodyPr>
          <a:lstStyle/>
          <a:p>
            <a:pPr algn="r" indent="0" marL="0">
              <a:buNone/>
            </a:pPr>
            <a:r>
              <a:rPr lang="en-US" sz="975" b="1" dirty="0">
                <a:solidFill>
                  <a:srgbClr val="334155"/>
                </a:solidFill>
                <a:latin typeface="Inter" pitchFamily="34" charset="0"/>
                <a:ea typeface="Inter" pitchFamily="34" charset="-122"/>
                <a:cs typeface="Inter" pitchFamily="34" charset="-120"/>
              </a:rPr>
              <a:t>-4.4</a:t>
            </a:r>
            <a:endParaRPr lang="en-US" sz="975" dirty="0"/>
          </a:p>
        </p:txBody>
      </p:sp>
      <p:sp>
        <p:nvSpPr>
          <p:cNvPr id="49" name="Text 47"/>
          <p:cNvSpPr/>
          <p:nvPr/>
        </p:nvSpPr>
        <p:spPr>
          <a:xfrm>
            <a:off x="5093494" y="3891360"/>
            <a:ext cx="1695450" cy="228600"/>
          </a:xfrm>
          <a:prstGeom prst="rect">
            <a:avLst/>
          </a:prstGeom>
          <a:noFill/>
          <a:ln/>
        </p:spPr>
        <p:txBody>
          <a:bodyPr wrap="square" lIns="25400" tIns="25400" rIns="25400" bIns="25400" rtlCol="0" anchor="t">
            <a:normAutofit/>
          </a:bodyPr>
          <a:lstStyle/>
          <a:p>
            <a:pPr algn="r" indent="0" marL="0">
              <a:buNone/>
            </a:pPr>
            <a:r>
              <a:rPr lang="en-US" sz="1013" spc="-5" kern="0" dirty="0">
                <a:solidFill>
                  <a:srgbClr val="334155"/>
                </a:solidFill>
                <a:latin typeface="Inter" pitchFamily="34" charset="0"/>
                <a:ea typeface="Inter" pitchFamily="34" charset="-122"/>
                <a:cs typeface="Inter" pitchFamily="34" charset="-120"/>
              </a:rPr>
              <a:t>희소 랜덤 투영</a:t>
            </a:r>
            <a:endParaRPr lang="en-US" sz="1013" dirty="0"/>
          </a:p>
        </p:txBody>
      </p:sp>
      <p:sp>
        <p:nvSpPr>
          <p:cNvPr id="50" name="Shape 48"/>
          <p:cNvSpPr/>
          <p:nvPr/>
        </p:nvSpPr>
        <p:spPr>
          <a:xfrm>
            <a:off x="6922294" y="3910410"/>
            <a:ext cx="3879056" cy="152400"/>
          </a:xfrm>
          <a:prstGeom prst="rect">
            <a:avLst/>
          </a:prstGeom>
          <a:solidFill>
            <a:srgbClr val="F1F5F9"/>
          </a:solidFill>
          <a:ln/>
        </p:spPr>
      </p:sp>
      <p:sp>
        <p:nvSpPr>
          <p:cNvPr id="51" name="Shape 49"/>
          <p:cNvSpPr/>
          <p:nvPr/>
        </p:nvSpPr>
        <p:spPr>
          <a:xfrm>
            <a:off x="6922294" y="3910410"/>
            <a:ext cx="2637731" cy="152400"/>
          </a:xfrm>
          <a:prstGeom prst="rect">
            <a:avLst/>
          </a:prstGeom>
          <a:solidFill>
            <a:srgbClr val="0EA5E9"/>
          </a:solidFill>
          <a:ln/>
        </p:spPr>
      </p:sp>
      <p:sp>
        <p:nvSpPr>
          <p:cNvPr id="52" name="Text 50"/>
          <p:cNvSpPr/>
          <p:nvPr/>
        </p:nvSpPr>
        <p:spPr>
          <a:xfrm>
            <a:off x="10858500" y="3910410"/>
            <a:ext cx="609600" cy="190500"/>
          </a:xfrm>
          <a:prstGeom prst="rect">
            <a:avLst/>
          </a:prstGeom>
          <a:noFill/>
          <a:ln/>
        </p:spPr>
        <p:txBody>
          <a:bodyPr wrap="square" lIns="25400" tIns="25400" rIns="25400" bIns="25400" rtlCol="0" anchor="t">
            <a:normAutofit/>
          </a:bodyPr>
          <a:lstStyle/>
          <a:p>
            <a:pPr algn="r" indent="0" marL="0">
              <a:buNone/>
            </a:pPr>
            <a:r>
              <a:rPr lang="en-US" sz="975" b="1" dirty="0">
                <a:solidFill>
                  <a:srgbClr val="334155"/>
                </a:solidFill>
                <a:latin typeface="Inter" pitchFamily="34" charset="0"/>
                <a:ea typeface="Inter" pitchFamily="34" charset="-122"/>
                <a:cs typeface="Inter" pitchFamily="34" charset="-120"/>
              </a:rPr>
              <a:t>-4.4</a:t>
            </a:r>
            <a:endParaRPr lang="en-US" sz="975" dirty="0"/>
          </a:p>
        </p:txBody>
      </p:sp>
      <p:sp>
        <p:nvSpPr>
          <p:cNvPr id="53" name="Text 51"/>
          <p:cNvSpPr/>
          <p:nvPr/>
        </p:nvSpPr>
        <p:spPr>
          <a:xfrm>
            <a:off x="5093494" y="4139010"/>
            <a:ext cx="1695450" cy="228600"/>
          </a:xfrm>
          <a:prstGeom prst="rect">
            <a:avLst/>
          </a:prstGeom>
          <a:noFill/>
          <a:ln/>
        </p:spPr>
        <p:txBody>
          <a:bodyPr wrap="square" lIns="25400" tIns="25400" rIns="25400" bIns="25400" rtlCol="0" anchor="t">
            <a:normAutofit/>
          </a:bodyPr>
          <a:lstStyle/>
          <a:p>
            <a:pPr algn="r" indent="0" marL="0">
              <a:buNone/>
            </a:pPr>
            <a:r>
              <a:rPr lang="en-US" sz="1013" spc="-5" kern="0" dirty="0">
                <a:solidFill>
                  <a:srgbClr val="334155"/>
                </a:solidFill>
                <a:latin typeface="Inter" pitchFamily="34" charset="0"/>
                <a:ea typeface="Inter" pitchFamily="34" charset="-122"/>
                <a:cs typeface="Inter" pitchFamily="34" charset="-120"/>
              </a:rPr>
              <a:t>랜덤 SVD</a:t>
            </a:r>
            <a:endParaRPr lang="en-US" sz="1013" dirty="0"/>
          </a:p>
        </p:txBody>
      </p:sp>
      <p:sp>
        <p:nvSpPr>
          <p:cNvPr id="54" name="Shape 52"/>
          <p:cNvSpPr/>
          <p:nvPr/>
        </p:nvSpPr>
        <p:spPr>
          <a:xfrm>
            <a:off x="6922294" y="4158060"/>
            <a:ext cx="3879056" cy="152400"/>
          </a:xfrm>
          <a:prstGeom prst="rect">
            <a:avLst/>
          </a:prstGeom>
          <a:solidFill>
            <a:srgbClr val="F1F5F9"/>
          </a:solidFill>
          <a:ln/>
        </p:spPr>
      </p:sp>
      <p:sp>
        <p:nvSpPr>
          <p:cNvPr id="55" name="Shape 53"/>
          <p:cNvSpPr/>
          <p:nvPr/>
        </p:nvSpPr>
        <p:spPr>
          <a:xfrm>
            <a:off x="6922294" y="4158060"/>
            <a:ext cx="2443758" cy="152400"/>
          </a:xfrm>
          <a:prstGeom prst="rect">
            <a:avLst/>
          </a:prstGeom>
          <a:solidFill>
            <a:srgbClr val="0EA5E9"/>
          </a:solidFill>
          <a:ln/>
        </p:spPr>
      </p:sp>
      <p:sp>
        <p:nvSpPr>
          <p:cNvPr id="56" name="Text 54"/>
          <p:cNvSpPr/>
          <p:nvPr/>
        </p:nvSpPr>
        <p:spPr>
          <a:xfrm>
            <a:off x="10858500" y="4158060"/>
            <a:ext cx="609600" cy="190500"/>
          </a:xfrm>
          <a:prstGeom prst="rect">
            <a:avLst/>
          </a:prstGeom>
          <a:noFill/>
          <a:ln/>
        </p:spPr>
        <p:txBody>
          <a:bodyPr wrap="square" lIns="25400" tIns="25400" rIns="25400" bIns="25400" rtlCol="0" anchor="t">
            <a:normAutofit/>
          </a:bodyPr>
          <a:lstStyle/>
          <a:p>
            <a:pPr algn="r" indent="0" marL="0">
              <a:buNone/>
            </a:pPr>
            <a:r>
              <a:rPr lang="en-US" sz="975" b="1" dirty="0">
                <a:solidFill>
                  <a:srgbClr val="334155"/>
                </a:solidFill>
                <a:latin typeface="Inter" pitchFamily="34" charset="0"/>
                <a:ea typeface="Inter" pitchFamily="34" charset="-122"/>
                <a:cs typeface="Inter" pitchFamily="34" charset="-120"/>
              </a:rPr>
              <a:t>-4.1</a:t>
            </a:r>
            <a:endParaRPr lang="en-US" sz="975" dirty="0"/>
          </a:p>
        </p:txBody>
      </p:sp>
      <p:sp>
        <p:nvSpPr>
          <p:cNvPr id="57" name="Text 55"/>
          <p:cNvSpPr/>
          <p:nvPr/>
        </p:nvSpPr>
        <p:spPr>
          <a:xfrm>
            <a:off x="5093494" y="4386660"/>
            <a:ext cx="1695450" cy="228600"/>
          </a:xfrm>
          <a:prstGeom prst="rect">
            <a:avLst/>
          </a:prstGeom>
          <a:noFill/>
          <a:ln/>
        </p:spPr>
        <p:txBody>
          <a:bodyPr wrap="square" lIns="25400" tIns="25400" rIns="25400" bIns="25400" rtlCol="0" anchor="t">
            <a:normAutofit/>
          </a:bodyPr>
          <a:lstStyle/>
          <a:p>
            <a:pPr algn="r" indent="0" marL="0">
              <a:buNone/>
            </a:pPr>
            <a:r>
              <a:rPr lang="en-US" sz="1013" b="1" spc="-5" kern="0" dirty="0">
                <a:solidFill>
                  <a:srgbClr val="475569"/>
                </a:solidFill>
                <a:latin typeface="Inter" pitchFamily="34" charset="0"/>
                <a:ea typeface="Inter" pitchFamily="34" charset="-122"/>
                <a:cs typeface="Inter" pitchFamily="34" charset="-120"/>
              </a:rPr>
              <a:t>미니배치 K-means</a:t>
            </a:r>
            <a:endParaRPr lang="en-US" sz="1013" dirty="0"/>
          </a:p>
        </p:txBody>
      </p:sp>
      <p:sp>
        <p:nvSpPr>
          <p:cNvPr id="58" name="Shape 56"/>
          <p:cNvSpPr/>
          <p:nvPr/>
        </p:nvSpPr>
        <p:spPr>
          <a:xfrm>
            <a:off x="6922294" y="4405710"/>
            <a:ext cx="3879056" cy="152400"/>
          </a:xfrm>
          <a:prstGeom prst="rect">
            <a:avLst/>
          </a:prstGeom>
          <a:solidFill>
            <a:srgbClr val="F1F5F9"/>
          </a:solidFill>
          <a:ln/>
        </p:spPr>
      </p:sp>
      <p:sp>
        <p:nvSpPr>
          <p:cNvPr id="59" name="Shape 57"/>
          <p:cNvSpPr/>
          <p:nvPr/>
        </p:nvSpPr>
        <p:spPr>
          <a:xfrm>
            <a:off x="6922294" y="4405710"/>
            <a:ext cx="2133402" cy="152400"/>
          </a:xfrm>
          <a:prstGeom prst="rect">
            <a:avLst/>
          </a:prstGeom>
          <a:solidFill>
            <a:srgbClr val="F97316"/>
          </a:solidFill>
          <a:ln/>
        </p:spPr>
      </p:sp>
      <p:sp>
        <p:nvSpPr>
          <p:cNvPr id="60" name="Text 58"/>
          <p:cNvSpPr/>
          <p:nvPr/>
        </p:nvSpPr>
        <p:spPr>
          <a:xfrm>
            <a:off x="10858500" y="4405710"/>
            <a:ext cx="609600" cy="190500"/>
          </a:xfrm>
          <a:prstGeom prst="rect">
            <a:avLst/>
          </a:prstGeom>
          <a:noFill/>
          <a:ln/>
        </p:spPr>
        <p:txBody>
          <a:bodyPr wrap="square" lIns="25400" tIns="25400" rIns="25400" bIns="25400" rtlCol="0" anchor="t">
            <a:normAutofit/>
          </a:bodyPr>
          <a:lstStyle/>
          <a:p>
            <a:pPr algn="r" indent="0" marL="0">
              <a:buNone/>
            </a:pPr>
            <a:r>
              <a:rPr lang="en-US" sz="975" b="1" dirty="0">
                <a:solidFill>
                  <a:srgbClr val="475569"/>
                </a:solidFill>
                <a:latin typeface="Inter" pitchFamily="34" charset="0"/>
                <a:ea typeface="Inter" pitchFamily="34" charset="-122"/>
                <a:cs typeface="Inter" pitchFamily="34" charset="-120"/>
              </a:rPr>
              <a:t>-3.6</a:t>
            </a:r>
            <a:endParaRPr lang="en-US" sz="975" dirty="0"/>
          </a:p>
        </p:txBody>
      </p:sp>
      <p:sp>
        <p:nvSpPr>
          <p:cNvPr id="61" name="Text 59"/>
          <p:cNvSpPr/>
          <p:nvPr/>
        </p:nvSpPr>
        <p:spPr>
          <a:xfrm>
            <a:off x="5093494" y="4634310"/>
            <a:ext cx="1695450" cy="228600"/>
          </a:xfrm>
          <a:prstGeom prst="rect">
            <a:avLst/>
          </a:prstGeom>
          <a:noFill/>
          <a:ln/>
        </p:spPr>
        <p:txBody>
          <a:bodyPr wrap="square" lIns="25400" tIns="25400" rIns="25400" bIns="25400" rtlCol="0" anchor="t">
            <a:normAutofit/>
          </a:bodyPr>
          <a:lstStyle/>
          <a:p>
            <a:pPr algn="r" indent="0" marL="0">
              <a:buNone/>
            </a:pPr>
            <a:r>
              <a:rPr lang="en-US" sz="1013" spc="-5" kern="0" dirty="0">
                <a:solidFill>
                  <a:srgbClr val="334155"/>
                </a:solidFill>
                <a:latin typeface="Inter" pitchFamily="34" charset="0"/>
                <a:ea typeface="Inter" pitchFamily="34" charset="-122"/>
                <a:cs typeface="Inter" pitchFamily="34" charset="-120"/>
              </a:rPr>
              <a:t>RaBitQ 양자화</a:t>
            </a:r>
            <a:endParaRPr lang="en-US" sz="1013" dirty="0"/>
          </a:p>
        </p:txBody>
      </p:sp>
      <p:sp>
        <p:nvSpPr>
          <p:cNvPr id="62" name="Shape 60"/>
          <p:cNvSpPr/>
          <p:nvPr/>
        </p:nvSpPr>
        <p:spPr>
          <a:xfrm>
            <a:off x="6922294" y="4653360"/>
            <a:ext cx="3879056" cy="152400"/>
          </a:xfrm>
          <a:prstGeom prst="rect">
            <a:avLst/>
          </a:prstGeom>
          <a:solidFill>
            <a:srgbClr val="F1F5F9"/>
          </a:solidFill>
          <a:ln/>
        </p:spPr>
      </p:sp>
      <p:sp>
        <p:nvSpPr>
          <p:cNvPr id="63" name="Shape 61"/>
          <p:cNvSpPr/>
          <p:nvPr/>
        </p:nvSpPr>
        <p:spPr>
          <a:xfrm>
            <a:off x="6922294" y="4653360"/>
            <a:ext cx="2133402" cy="152400"/>
          </a:xfrm>
          <a:prstGeom prst="rect">
            <a:avLst/>
          </a:prstGeom>
          <a:solidFill>
            <a:srgbClr val="0EA5E9"/>
          </a:solidFill>
          <a:ln/>
        </p:spPr>
      </p:sp>
      <p:sp>
        <p:nvSpPr>
          <p:cNvPr id="64" name="Text 62"/>
          <p:cNvSpPr/>
          <p:nvPr/>
        </p:nvSpPr>
        <p:spPr>
          <a:xfrm>
            <a:off x="10858500" y="4653360"/>
            <a:ext cx="609600" cy="190500"/>
          </a:xfrm>
          <a:prstGeom prst="rect">
            <a:avLst/>
          </a:prstGeom>
          <a:noFill/>
          <a:ln/>
        </p:spPr>
        <p:txBody>
          <a:bodyPr wrap="square" lIns="25400" tIns="25400" rIns="25400" bIns="25400" rtlCol="0" anchor="t">
            <a:normAutofit/>
          </a:bodyPr>
          <a:lstStyle/>
          <a:p>
            <a:pPr algn="r" indent="0" marL="0">
              <a:buNone/>
            </a:pPr>
            <a:r>
              <a:rPr lang="en-US" sz="975" b="1" dirty="0">
                <a:solidFill>
                  <a:srgbClr val="334155"/>
                </a:solidFill>
                <a:latin typeface="Inter" pitchFamily="34" charset="0"/>
                <a:ea typeface="Inter" pitchFamily="34" charset="-122"/>
                <a:cs typeface="Inter" pitchFamily="34" charset="-120"/>
              </a:rPr>
              <a:t>-3.6</a:t>
            </a:r>
            <a:endParaRPr lang="en-US" sz="975" dirty="0"/>
          </a:p>
        </p:txBody>
      </p:sp>
      <p:sp>
        <p:nvSpPr>
          <p:cNvPr id="65" name="Text 63"/>
          <p:cNvSpPr/>
          <p:nvPr/>
        </p:nvSpPr>
        <p:spPr>
          <a:xfrm>
            <a:off x="5093494" y="4881960"/>
            <a:ext cx="1695450" cy="228600"/>
          </a:xfrm>
          <a:prstGeom prst="rect">
            <a:avLst/>
          </a:prstGeom>
          <a:noFill/>
          <a:ln/>
        </p:spPr>
        <p:txBody>
          <a:bodyPr wrap="square" lIns="25400" tIns="25400" rIns="25400" bIns="25400" rtlCol="0" anchor="t">
            <a:normAutofit/>
          </a:bodyPr>
          <a:lstStyle/>
          <a:p>
            <a:pPr algn="r" indent="0" marL="0">
              <a:buNone/>
            </a:pPr>
            <a:r>
              <a:rPr lang="en-US" sz="1013" spc="-5" kern="0" dirty="0">
                <a:solidFill>
                  <a:srgbClr val="334155"/>
                </a:solidFill>
                <a:latin typeface="Inter" pitchFamily="34" charset="0"/>
                <a:ea typeface="Inter" pitchFamily="34" charset="-122"/>
                <a:cs typeface="Inter" pitchFamily="34" charset="-120"/>
              </a:rPr>
              <a:t>다차원 히스토그램</a:t>
            </a:r>
            <a:endParaRPr lang="en-US" sz="1013" dirty="0"/>
          </a:p>
        </p:txBody>
      </p:sp>
      <p:sp>
        <p:nvSpPr>
          <p:cNvPr id="66" name="Shape 64"/>
          <p:cNvSpPr/>
          <p:nvPr/>
        </p:nvSpPr>
        <p:spPr>
          <a:xfrm>
            <a:off x="6922294" y="4901010"/>
            <a:ext cx="3879056" cy="152400"/>
          </a:xfrm>
          <a:prstGeom prst="rect">
            <a:avLst/>
          </a:prstGeom>
          <a:solidFill>
            <a:srgbClr val="F1F5F9"/>
          </a:solidFill>
          <a:ln/>
        </p:spPr>
      </p:sp>
      <p:sp>
        <p:nvSpPr>
          <p:cNvPr id="67" name="Shape 65"/>
          <p:cNvSpPr/>
          <p:nvPr/>
        </p:nvSpPr>
        <p:spPr>
          <a:xfrm>
            <a:off x="6922294" y="4901010"/>
            <a:ext cx="2017018" cy="152400"/>
          </a:xfrm>
          <a:prstGeom prst="rect">
            <a:avLst/>
          </a:prstGeom>
          <a:solidFill>
            <a:srgbClr val="0EA5E9"/>
          </a:solidFill>
          <a:ln/>
        </p:spPr>
      </p:sp>
      <p:sp>
        <p:nvSpPr>
          <p:cNvPr id="68" name="Text 66"/>
          <p:cNvSpPr/>
          <p:nvPr/>
        </p:nvSpPr>
        <p:spPr>
          <a:xfrm>
            <a:off x="10858500" y="4901010"/>
            <a:ext cx="609600" cy="190500"/>
          </a:xfrm>
          <a:prstGeom prst="rect">
            <a:avLst/>
          </a:prstGeom>
          <a:noFill/>
          <a:ln/>
        </p:spPr>
        <p:txBody>
          <a:bodyPr wrap="square" lIns="25400" tIns="25400" rIns="25400" bIns="25400" rtlCol="0" anchor="t">
            <a:normAutofit/>
          </a:bodyPr>
          <a:lstStyle/>
          <a:p>
            <a:pPr algn="r" indent="0" marL="0">
              <a:buNone/>
            </a:pPr>
            <a:r>
              <a:rPr lang="en-US" sz="975" b="1" dirty="0">
                <a:solidFill>
                  <a:srgbClr val="334155"/>
                </a:solidFill>
                <a:latin typeface="Inter" pitchFamily="34" charset="0"/>
                <a:ea typeface="Inter" pitchFamily="34" charset="-122"/>
                <a:cs typeface="Inter" pitchFamily="34" charset="-120"/>
              </a:rPr>
              <a:t>-3.4</a:t>
            </a:r>
            <a:endParaRPr lang="en-US" sz="975" dirty="0"/>
          </a:p>
        </p:txBody>
      </p:sp>
      <p:sp>
        <p:nvSpPr>
          <p:cNvPr id="69" name="Text 67"/>
          <p:cNvSpPr/>
          <p:nvPr/>
        </p:nvSpPr>
        <p:spPr>
          <a:xfrm>
            <a:off x="5093494" y="5129610"/>
            <a:ext cx="1695450" cy="228600"/>
          </a:xfrm>
          <a:prstGeom prst="rect">
            <a:avLst/>
          </a:prstGeom>
          <a:noFill/>
          <a:ln/>
        </p:spPr>
        <p:txBody>
          <a:bodyPr wrap="square" lIns="25400" tIns="25400" rIns="25400" bIns="25400" rtlCol="0" anchor="t">
            <a:normAutofit/>
          </a:bodyPr>
          <a:lstStyle/>
          <a:p>
            <a:pPr algn="r" indent="0" marL="0">
              <a:buNone/>
            </a:pPr>
            <a:r>
              <a:rPr lang="en-US" sz="1013" b="1" spc="-5" kern="0" dirty="0">
                <a:solidFill>
                  <a:srgbClr val="475569"/>
                </a:solidFill>
                <a:latin typeface="Inter" pitchFamily="34" charset="0"/>
                <a:ea typeface="Inter" pitchFamily="34" charset="-122"/>
                <a:cs typeface="Inter" pitchFamily="34" charset="-120"/>
              </a:rPr>
              <a:t>IVF 클러스터링</a:t>
            </a:r>
            <a:endParaRPr lang="en-US" sz="1013" dirty="0"/>
          </a:p>
        </p:txBody>
      </p:sp>
      <p:sp>
        <p:nvSpPr>
          <p:cNvPr id="70" name="Shape 68"/>
          <p:cNvSpPr/>
          <p:nvPr/>
        </p:nvSpPr>
        <p:spPr>
          <a:xfrm>
            <a:off x="6922294" y="5148660"/>
            <a:ext cx="3879056" cy="152400"/>
          </a:xfrm>
          <a:prstGeom prst="rect">
            <a:avLst/>
          </a:prstGeom>
          <a:solidFill>
            <a:srgbClr val="F1F5F9"/>
          </a:solidFill>
          <a:ln/>
        </p:spPr>
      </p:sp>
      <p:sp>
        <p:nvSpPr>
          <p:cNvPr id="71" name="Shape 69"/>
          <p:cNvSpPr/>
          <p:nvPr/>
        </p:nvSpPr>
        <p:spPr>
          <a:xfrm>
            <a:off x="6922294" y="5148660"/>
            <a:ext cx="1629172" cy="152400"/>
          </a:xfrm>
          <a:prstGeom prst="rect">
            <a:avLst/>
          </a:prstGeom>
          <a:solidFill>
            <a:srgbClr val="F97316"/>
          </a:solidFill>
          <a:ln/>
        </p:spPr>
      </p:sp>
      <p:sp>
        <p:nvSpPr>
          <p:cNvPr id="72" name="Text 70"/>
          <p:cNvSpPr/>
          <p:nvPr/>
        </p:nvSpPr>
        <p:spPr>
          <a:xfrm>
            <a:off x="10858500" y="5148660"/>
            <a:ext cx="609600" cy="190500"/>
          </a:xfrm>
          <a:prstGeom prst="rect">
            <a:avLst/>
          </a:prstGeom>
          <a:noFill/>
          <a:ln/>
        </p:spPr>
        <p:txBody>
          <a:bodyPr wrap="square" lIns="25400" tIns="25400" rIns="25400" bIns="25400" rtlCol="0" anchor="t">
            <a:normAutofit/>
          </a:bodyPr>
          <a:lstStyle/>
          <a:p>
            <a:pPr algn="r" indent="0" marL="0">
              <a:buNone/>
            </a:pPr>
            <a:r>
              <a:rPr lang="en-US" sz="975" b="1" dirty="0">
                <a:solidFill>
                  <a:srgbClr val="475569"/>
                </a:solidFill>
                <a:latin typeface="Inter" pitchFamily="34" charset="0"/>
                <a:ea typeface="Inter" pitchFamily="34" charset="-122"/>
                <a:cs typeface="Inter" pitchFamily="34" charset="-120"/>
              </a:rPr>
              <a:t>-2.7</a:t>
            </a:r>
            <a:endParaRPr lang="en-US" sz="975" dirty="0"/>
          </a:p>
        </p:txBody>
      </p:sp>
      <p:sp>
        <p:nvSpPr>
          <p:cNvPr id="73" name="Shape 71"/>
          <p:cNvSpPr/>
          <p:nvPr/>
        </p:nvSpPr>
        <p:spPr>
          <a:xfrm>
            <a:off x="5169694" y="5415360"/>
            <a:ext cx="6298406" cy="9525"/>
          </a:xfrm>
          <a:prstGeom prst="rect">
            <a:avLst/>
          </a:prstGeom>
          <a:solidFill>
            <a:srgbClr val="E5E7EB"/>
          </a:solidFill>
          <a:ln/>
        </p:spPr>
      </p:sp>
      <p:sp>
        <p:nvSpPr>
          <p:cNvPr id="74" name="Text 72"/>
          <p:cNvSpPr/>
          <p:nvPr/>
        </p:nvSpPr>
        <p:spPr>
          <a:xfrm>
            <a:off x="5093494" y="5478860"/>
            <a:ext cx="1695450" cy="228600"/>
          </a:xfrm>
          <a:prstGeom prst="rect">
            <a:avLst/>
          </a:prstGeom>
          <a:noFill/>
          <a:ln/>
        </p:spPr>
        <p:txBody>
          <a:bodyPr wrap="square" lIns="25400" tIns="25400" rIns="25400" bIns="25400" rtlCol="0" anchor="t">
            <a:normAutofit/>
          </a:bodyPr>
          <a:lstStyle/>
          <a:p>
            <a:pPr algn="r" indent="0" marL="0">
              <a:buNone/>
            </a:pPr>
            <a:r>
              <a:rPr lang="en-US" sz="1013" b="1" spc="-5" kern="0" dirty="0">
                <a:solidFill>
                  <a:srgbClr val="475569"/>
                </a:solidFill>
                <a:latin typeface="Inter" pitchFamily="34" charset="0"/>
                <a:ea typeface="Inter" pitchFamily="34" charset="-122"/>
                <a:cs typeface="Inter" pitchFamily="34" charset="-120"/>
              </a:rPr>
              <a:t>가우시안 혼합 모델</a:t>
            </a:r>
            <a:endParaRPr lang="en-US" sz="1013" dirty="0"/>
          </a:p>
        </p:txBody>
      </p:sp>
      <p:sp>
        <p:nvSpPr>
          <p:cNvPr id="75" name="Shape 73"/>
          <p:cNvSpPr/>
          <p:nvPr/>
        </p:nvSpPr>
        <p:spPr>
          <a:xfrm>
            <a:off x="6922294" y="5497910"/>
            <a:ext cx="3879056" cy="152400"/>
          </a:xfrm>
          <a:prstGeom prst="rect">
            <a:avLst/>
          </a:prstGeom>
          <a:solidFill>
            <a:srgbClr val="F1F5F9"/>
          </a:solidFill>
          <a:ln/>
        </p:spPr>
      </p:sp>
      <p:sp>
        <p:nvSpPr>
          <p:cNvPr id="76" name="Shape 74"/>
          <p:cNvSpPr/>
          <p:nvPr/>
        </p:nvSpPr>
        <p:spPr>
          <a:xfrm>
            <a:off x="8861822" y="5497910"/>
            <a:ext cx="814586" cy="152400"/>
          </a:xfrm>
          <a:prstGeom prst="rect">
            <a:avLst/>
          </a:prstGeom>
          <a:solidFill>
            <a:srgbClr val="F97316"/>
          </a:solidFill>
          <a:ln/>
        </p:spPr>
      </p:sp>
      <p:sp>
        <p:nvSpPr>
          <p:cNvPr id="77" name="Shape 75"/>
          <p:cNvSpPr/>
          <p:nvPr/>
        </p:nvSpPr>
        <p:spPr>
          <a:xfrm>
            <a:off x="8861822" y="5469335"/>
            <a:ext cx="14288" cy="209550"/>
          </a:xfrm>
          <a:prstGeom prst="rect">
            <a:avLst/>
          </a:prstGeom>
          <a:solidFill>
            <a:srgbClr val="475569"/>
          </a:solidFill>
          <a:ln/>
        </p:spPr>
      </p:sp>
      <p:sp>
        <p:nvSpPr>
          <p:cNvPr id="78" name="Text 76"/>
          <p:cNvSpPr/>
          <p:nvPr/>
        </p:nvSpPr>
        <p:spPr>
          <a:xfrm>
            <a:off x="10858500" y="5497910"/>
            <a:ext cx="609600" cy="190500"/>
          </a:xfrm>
          <a:prstGeom prst="rect">
            <a:avLst/>
          </a:prstGeom>
          <a:noFill/>
          <a:ln/>
        </p:spPr>
        <p:txBody>
          <a:bodyPr wrap="square" lIns="25400" tIns="25400" rIns="25400" bIns="25400" rtlCol="0" anchor="t">
            <a:normAutofit/>
          </a:bodyPr>
          <a:lstStyle/>
          <a:p>
            <a:pPr algn="r" indent="0" marL="0">
              <a:buNone/>
            </a:pPr>
            <a:r>
              <a:rPr lang="en-US" sz="975" b="1" dirty="0">
                <a:solidFill>
                  <a:srgbClr val="475569"/>
                </a:solidFill>
                <a:latin typeface="Inter" pitchFamily="34" charset="0"/>
                <a:ea typeface="Inter" pitchFamily="34" charset="-122"/>
                <a:cs typeface="Inter" pitchFamily="34" charset="-120"/>
              </a:rPr>
              <a:t>+2.7</a:t>
            </a:r>
            <a:endParaRPr lang="en-US" sz="975" dirty="0"/>
          </a:p>
        </p:txBody>
      </p:sp>
      <p:sp>
        <p:nvSpPr>
          <p:cNvPr id="79" name="Text 77"/>
          <p:cNvSpPr/>
          <p:nvPr/>
        </p:nvSpPr>
        <p:spPr>
          <a:xfrm>
            <a:off x="5169694" y="5783660"/>
            <a:ext cx="6487358"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spc="-5" kern="0" dirty="0">
                <a:solidFill>
                  <a:srgbClr val="64748B"/>
                </a:solidFill>
                <a:latin typeface="Inter" pitchFamily="34" charset="0"/>
                <a:ea typeface="Inter" pitchFamily="34" charset="-122"/>
                <a:cs typeface="Inter" pitchFamily="34" charset="-120"/>
              </a:rPr>
              <a:t>개선 폭의 중앙값(%) — 음수가 개선</a:t>
            </a:r>
            <a:endParaRPr lang="en-US" sz="9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285750"/>
            <a:ext cx="497979" cy="222250"/>
          </a:xfrm>
          <a:prstGeom prst="rect">
            <a:avLst/>
          </a:prstGeom>
          <a:noFill/>
          <a:ln/>
        </p:spPr>
        <p:txBody>
          <a:bodyPr wrap="square" lIns="25400" tIns="25400" rIns="25400" bIns="25400" rtlCol="0" anchor="ctr">
            <a:normAutofit/>
          </a:bodyPr>
          <a:lstStyle/>
          <a:p>
            <a:pPr algn="l" indent="0" marL="0">
              <a:buNone/>
            </a:pPr>
            <a:r>
              <a:rPr lang="en-US" sz="975" b="1" spc="116" kern="0" dirty="0">
                <a:solidFill>
                  <a:srgbClr val="10B981"/>
                </a:solidFill>
                <a:latin typeface="Inter" pitchFamily="34" charset="0"/>
                <a:ea typeface="Inter" pitchFamily="34" charset="-122"/>
                <a:cs typeface="Inter" pitchFamily="34" charset="-120"/>
              </a:rPr>
              <a:t>결과</a:t>
            </a:r>
            <a:endParaRPr lang="en-US" sz="975" dirty="0"/>
          </a:p>
        </p:txBody>
      </p:sp>
      <p:sp>
        <p:nvSpPr>
          <p:cNvPr id="3" name="Text 1"/>
          <p:cNvSpPr/>
          <p:nvPr/>
        </p:nvSpPr>
        <p:spPr>
          <a:xfrm>
            <a:off x="723900" y="533400"/>
            <a:ext cx="10791825" cy="520005"/>
          </a:xfrm>
          <a:prstGeom prst="rect">
            <a:avLst/>
          </a:prstGeom>
          <a:noFill/>
          <a:ln/>
        </p:spPr>
        <p:txBody>
          <a:bodyPr wrap="square" lIns="25400" tIns="25400" rIns="25400" bIns="25400" rtlCol="0" anchor="t">
            <a:normAutofit/>
          </a:bodyPr>
          <a:lstStyle/>
          <a:p>
            <a:pPr algn="l" indent="0" marL="0">
              <a:lnSpc>
                <a:spcPct val="115000"/>
              </a:lnSpc>
              <a:buNone/>
            </a:pPr>
            <a:r>
              <a:rPr lang="en-US" sz="3300" b="1" spc="-82" kern="0" dirty="0">
                <a:solidFill>
                  <a:srgbClr val="1E3A5F"/>
                </a:solidFill>
                <a:latin typeface="Inter" pitchFamily="34" charset="0"/>
                <a:ea typeface="Inter" pitchFamily="34" charset="-122"/>
                <a:cs typeface="Inter" pitchFamily="34" charset="-120"/>
              </a:rPr>
              <a:t>선택도·데이터 구조·계층 수 — 모든 조건에서 일관되게 우월</a:t>
            </a:r>
            <a:endParaRPr lang="en-US" sz="3300" dirty="0"/>
          </a:p>
        </p:txBody>
      </p:sp>
      <p:sp>
        <p:nvSpPr>
          <p:cNvPr id="4" name="Shape 2"/>
          <p:cNvSpPr/>
          <p:nvPr/>
        </p:nvSpPr>
        <p:spPr>
          <a:xfrm>
            <a:off x="723900" y="1148655"/>
            <a:ext cx="381000" cy="28575"/>
          </a:xfrm>
          <a:prstGeom prst="rect">
            <a:avLst/>
          </a:prstGeom>
          <a:solidFill>
            <a:srgbClr val="10B981"/>
          </a:solidFill>
          <a:ln/>
        </p:spPr>
      </p:sp>
      <p:sp>
        <p:nvSpPr>
          <p:cNvPr id="5" name="Shape 3"/>
          <p:cNvSpPr/>
          <p:nvPr/>
        </p:nvSpPr>
        <p:spPr>
          <a:xfrm>
            <a:off x="723900" y="2293441"/>
            <a:ext cx="3441700" cy="2447925"/>
          </a:xfrm>
          <a:prstGeom prst="rect">
            <a:avLst/>
          </a:prstGeom>
          <a:solidFill>
            <a:srgbClr val="FFFFFF"/>
          </a:solidFill>
          <a:ln w="6350">
            <a:solidFill>
              <a:srgbClr val="E5E7EB"/>
            </a:solidFill>
            <a:prstDash val="solid"/>
          </a:ln>
        </p:spPr>
      </p:sp>
      <p:sp>
        <p:nvSpPr>
          <p:cNvPr id="6" name="Text 4"/>
          <p:cNvSpPr/>
          <p:nvPr/>
        </p:nvSpPr>
        <p:spPr>
          <a:xfrm>
            <a:off x="939800" y="2490292"/>
            <a:ext cx="3100197" cy="241300"/>
          </a:xfrm>
          <a:prstGeom prst="rect">
            <a:avLst/>
          </a:prstGeom>
          <a:noFill/>
          <a:ln/>
        </p:spPr>
        <p:txBody>
          <a:bodyPr wrap="square" lIns="25400" tIns="25400" rIns="25400" bIns="25400" rtlCol="0" anchor="t">
            <a:normAutofit/>
          </a:bodyPr>
          <a:lstStyle/>
          <a:p>
            <a:pPr algn="l" indent="0" marL="0">
              <a:buNone/>
            </a:pPr>
            <a:r>
              <a:rPr lang="en-US" sz="1050" b="1" spc="42" kern="0" dirty="0">
                <a:solidFill>
                  <a:srgbClr val="64748B"/>
                </a:solidFill>
                <a:latin typeface="Inter" pitchFamily="34" charset="0"/>
                <a:ea typeface="Inter" pitchFamily="34" charset="-122"/>
                <a:cs typeface="Inter" pitchFamily="34" charset="-120"/>
              </a:rPr>
              <a:t>선택도</a:t>
            </a:r>
            <a:endParaRPr lang="en-US" sz="1050" dirty="0"/>
          </a:p>
        </p:txBody>
      </p:sp>
      <p:sp>
        <p:nvSpPr>
          <p:cNvPr id="7" name="Text 5"/>
          <p:cNvSpPr/>
          <p:nvPr/>
        </p:nvSpPr>
        <p:spPr>
          <a:xfrm>
            <a:off x="939800" y="2826841"/>
            <a:ext cx="3100197" cy="561975"/>
          </a:xfrm>
          <a:prstGeom prst="rect">
            <a:avLst/>
          </a:prstGeom>
          <a:noFill/>
          <a:ln/>
        </p:spPr>
        <p:txBody>
          <a:bodyPr wrap="square" lIns="25400" tIns="25400" rIns="25400" bIns="25400" rtlCol="0" anchor="t">
            <a:normAutofit/>
          </a:bodyPr>
          <a:lstStyle/>
          <a:p>
            <a:pPr algn="l" indent="0" marL="0">
              <a:lnSpc>
                <a:spcPct val="125000"/>
              </a:lnSpc>
              <a:buNone/>
            </a:pPr>
            <a:r>
              <a:rPr lang="en-US" sz="1650" b="1" spc="-16" kern="0" dirty="0">
                <a:solidFill>
                  <a:srgbClr val="1E293B"/>
                </a:solidFill>
                <a:latin typeface="Inter" pitchFamily="34" charset="0"/>
                <a:ea typeface="Inter" pitchFamily="34" charset="-122"/>
                <a:cs typeface="Inter" pitchFamily="34" charset="-120"/>
              </a:rPr>
              <a:t>조건이 넓을수록 </a:t>
            </a:r>
            <a:pPr algn="l" indent="0" marL="0">
              <a:lnSpc>
                <a:spcPct val="125000"/>
              </a:lnSpc>
              <a:buNone/>
            </a:pPr>
            <a:r>
              <a:rPr lang="en-US" sz="1650" b="1" spc="-16" kern="0" dirty="0">
                <a:solidFill>
                  <a:srgbClr val="0EA5E9"/>
                </a:solidFill>
                <a:latin typeface="Inter" pitchFamily="34" charset="0"/>
                <a:ea typeface="Inter" pitchFamily="34" charset="-122"/>
                <a:cs typeface="Inter" pitchFamily="34" charset="-120"/>
              </a:rPr>
              <a:t>더 우월</a:t>
            </a:r>
            <a:endParaRPr lang="en-US" sz="1650" dirty="0"/>
          </a:p>
        </p:txBody>
      </p:sp>
      <p:sp>
        <p:nvSpPr>
          <p:cNvPr id="8" name="Text 6"/>
          <p:cNvSpPr/>
          <p:nvPr/>
        </p:nvSpPr>
        <p:spPr>
          <a:xfrm>
            <a:off x="863600" y="3614242"/>
            <a:ext cx="914400" cy="222250"/>
          </a:xfrm>
          <a:prstGeom prst="rect">
            <a:avLst/>
          </a:prstGeom>
          <a:noFill/>
          <a:ln/>
        </p:spPr>
        <p:txBody>
          <a:bodyPr wrap="square" lIns="25400" tIns="25400" rIns="25400" bIns="25400" rtlCol="0" anchor="t">
            <a:normAutofit/>
          </a:bodyPr>
          <a:lstStyle/>
          <a:p>
            <a:pPr algn="r" indent="0" marL="0">
              <a:buNone/>
            </a:pPr>
            <a:r>
              <a:rPr lang="en-US" sz="975" dirty="0">
                <a:solidFill>
                  <a:srgbClr val="475569"/>
                </a:solidFill>
                <a:latin typeface="Inter" pitchFamily="34" charset="0"/>
                <a:ea typeface="Inter" pitchFamily="34" charset="-122"/>
                <a:cs typeface="Inter" pitchFamily="34" charset="-120"/>
              </a:rPr>
              <a:t>낮음 0.1%</a:t>
            </a:r>
            <a:endParaRPr lang="en-US" sz="975" dirty="0"/>
          </a:p>
        </p:txBody>
      </p:sp>
      <p:sp>
        <p:nvSpPr>
          <p:cNvPr id="9" name="Shape 7"/>
          <p:cNvSpPr/>
          <p:nvPr/>
        </p:nvSpPr>
        <p:spPr>
          <a:xfrm>
            <a:off x="1873250" y="3592017"/>
            <a:ext cx="1238250" cy="228600"/>
          </a:xfrm>
          <a:prstGeom prst="rect">
            <a:avLst/>
          </a:prstGeom>
          <a:solidFill>
            <a:srgbClr val="F1F5F9"/>
          </a:solidFill>
          <a:ln/>
        </p:spPr>
      </p:sp>
      <p:sp>
        <p:nvSpPr>
          <p:cNvPr id="10" name="Shape 8"/>
          <p:cNvSpPr/>
          <p:nvPr/>
        </p:nvSpPr>
        <p:spPr>
          <a:xfrm>
            <a:off x="1873250" y="3592017"/>
            <a:ext cx="1031379" cy="228600"/>
          </a:xfrm>
          <a:prstGeom prst="rect">
            <a:avLst/>
          </a:prstGeom>
          <a:solidFill>
            <a:srgbClr val="7DD3FC"/>
          </a:solidFill>
          <a:ln/>
        </p:spPr>
      </p:sp>
      <p:sp>
        <p:nvSpPr>
          <p:cNvPr id="11" name="Text 9"/>
          <p:cNvSpPr/>
          <p:nvPr/>
        </p:nvSpPr>
        <p:spPr>
          <a:xfrm>
            <a:off x="3130550" y="3601542"/>
            <a:ext cx="819150" cy="247650"/>
          </a:xfrm>
          <a:prstGeom prst="rect">
            <a:avLst/>
          </a:prstGeom>
          <a:noFill/>
          <a:ln/>
        </p:spPr>
        <p:txBody>
          <a:bodyPr wrap="square" lIns="25400" tIns="25400" rIns="25400" bIns="25400" rtlCol="0" anchor="t">
            <a:normAutofit/>
          </a:bodyPr>
          <a:lstStyle/>
          <a:p>
            <a:pPr algn="r" indent="0" marL="0">
              <a:buNone/>
            </a:pPr>
            <a:r>
              <a:rPr lang="en-US" sz="1350" b="1" spc="-27" kern="0" dirty="0">
                <a:solidFill>
                  <a:srgbClr val="1E293B"/>
                </a:solidFill>
                <a:latin typeface="Inter" pitchFamily="34" charset="0"/>
                <a:ea typeface="Inter" pitchFamily="34" charset="-122"/>
                <a:cs typeface="Inter" pitchFamily="34" charset="-120"/>
              </a:rPr>
              <a:t>83.3</a:t>
            </a:r>
            <a:pPr algn="r" indent="0" marL="0">
              <a:buNone/>
            </a:pPr>
            <a:r>
              <a:rPr lang="en-US" sz="975" b="1" spc="-27" kern="0" dirty="0">
                <a:solidFill>
                  <a:srgbClr val="1E293B"/>
                </a:solidFill>
                <a:latin typeface="Inter" pitchFamily="34" charset="0"/>
                <a:ea typeface="Inter" pitchFamily="34" charset="-122"/>
                <a:cs typeface="Inter" pitchFamily="34" charset="-120"/>
              </a:rPr>
              <a:t>%</a:t>
            </a:r>
            <a:endParaRPr lang="en-US" sz="1350" dirty="0"/>
          </a:p>
        </p:txBody>
      </p:sp>
      <p:sp>
        <p:nvSpPr>
          <p:cNvPr id="12" name="Text 10"/>
          <p:cNvSpPr/>
          <p:nvPr/>
        </p:nvSpPr>
        <p:spPr>
          <a:xfrm>
            <a:off x="863600" y="3976192"/>
            <a:ext cx="914400" cy="222250"/>
          </a:xfrm>
          <a:prstGeom prst="rect">
            <a:avLst/>
          </a:prstGeom>
          <a:noFill/>
          <a:ln/>
        </p:spPr>
        <p:txBody>
          <a:bodyPr wrap="square" lIns="25400" tIns="25400" rIns="25400" bIns="25400" rtlCol="0" anchor="t">
            <a:normAutofit/>
          </a:bodyPr>
          <a:lstStyle/>
          <a:p>
            <a:pPr algn="r" indent="0" marL="0">
              <a:buNone/>
            </a:pPr>
            <a:r>
              <a:rPr lang="en-US" sz="975" dirty="0">
                <a:solidFill>
                  <a:srgbClr val="475569"/>
                </a:solidFill>
                <a:latin typeface="Inter" pitchFamily="34" charset="0"/>
                <a:ea typeface="Inter" pitchFamily="34" charset="-122"/>
                <a:cs typeface="Inter" pitchFamily="34" charset="-120"/>
              </a:rPr>
              <a:t>중간 1%</a:t>
            </a:r>
            <a:endParaRPr lang="en-US" sz="975" dirty="0"/>
          </a:p>
        </p:txBody>
      </p:sp>
      <p:sp>
        <p:nvSpPr>
          <p:cNvPr id="13" name="Shape 11"/>
          <p:cNvSpPr/>
          <p:nvPr/>
        </p:nvSpPr>
        <p:spPr>
          <a:xfrm>
            <a:off x="1873250" y="3953967"/>
            <a:ext cx="1238250" cy="228600"/>
          </a:xfrm>
          <a:prstGeom prst="rect">
            <a:avLst/>
          </a:prstGeom>
          <a:solidFill>
            <a:srgbClr val="F1F5F9"/>
          </a:solidFill>
          <a:ln/>
        </p:spPr>
      </p:sp>
      <p:sp>
        <p:nvSpPr>
          <p:cNvPr id="14" name="Shape 12"/>
          <p:cNvSpPr/>
          <p:nvPr/>
        </p:nvSpPr>
        <p:spPr>
          <a:xfrm>
            <a:off x="1873250" y="3953967"/>
            <a:ext cx="1084659" cy="228600"/>
          </a:xfrm>
          <a:prstGeom prst="rect">
            <a:avLst/>
          </a:prstGeom>
          <a:solidFill>
            <a:srgbClr val="38BDF8"/>
          </a:solidFill>
          <a:ln/>
        </p:spPr>
      </p:sp>
      <p:sp>
        <p:nvSpPr>
          <p:cNvPr id="15" name="Text 13"/>
          <p:cNvSpPr/>
          <p:nvPr/>
        </p:nvSpPr>
        <p:spPr>
          <a:xfrm>
            <a:off x="3130550" y="3963492"/>
            <a:ext cx="819150" cy="247650"/>
          </a:xfrm>
          <a:prstGeom prst="rect">
            <a:avLst/>
          </a:prstGeom>
          <a:noFill/>
          <a:ln/>
        </p:spPr>
        <p:txBody>
          <a:bodyPr wrap="square" lIns="25400" tIns="25400" rIns="25400" bIns="25400" rtlCol="0" anchor="t">
            <a:normAutofit/>
          </a:bodyPr>
          <a:lstStyle/>
          <a:p>
            <a:pPr algn="r" indent="0" marL="0">
              <a:buNone/>
            </a:pPr>
            <a:r>
              <a:rPr lang="en-US" sz="1350" b="1" spc="-27" kern="0" dirty="0">
                <a:solidFill>
                  <a:srgbClr val="1E293B"/>
                </a:solidFill>
                <a:latin typeface="Inter" pitchFamily="34" charset="0"/>
                <a:ea typeface="Inter" pitchFamily="34" charset="-122"/>
                <a:cs typeface="Inter" pitchFamily="34" charset="-120"/>
              </a:rPr>
              <a:t>87.6</a:t>
            </a:r>
            <a:pPr algn="r" indent="0" marL="0">
              <a:buNone/>
            </a:pPr>
            <a:r>
              <a:rPr lang="en-US" sz="975" b="1" spc="-27" kern="0" dirty="0">
                <a:solidFill>
                  <a:srgbClr val="1E293B"/>
                </a:solidFill>
                <a:latin typeface="Inter" pitchFamily="34" charset="0"/>
                <a:ea typeface="Inter" pitchFamily="34" charset="-122"/>
                <a:cs typeface="Inter" pitchFamily="34" charset="-120"/>
              </a:rPr>
              <a:t>%</a:t>
            </a:r>
            <a:endParaRPr lang="en-US" sz="1350" dirty="0"/>
          </a:p>
        </p:txBody>
      </p:sp>
      <p:sp>
        <p:nvSpPr>
          <p:cNvPr id="16" name="Text 14"/>
          <p:cNvSpPr/>
          <p:nvPr/>
        </p:nvSpPr>
        <p:spPr>
          <a:xfrm>
            <a:off x="863600" y="4338142"/>
            <a:ext cx="914400" cy="222250"/>
          </a:xfrm>
          <a:prstGeom prst="rect">
            <a:avLst/>
          </a:prstGeom>
          <a:noFill/>
          <a:ln/>
        </p:spPr>
        <p:txBody>
          <a:bodyPr wrap="square" lIns="25400" tIns="25400" rIns="25400" bIns="25400" rtlCol="0" anchor="t">
            <a:normAutofit/>
          </a:bodyPr>
          <a:lstStyle/>
          <a:p>
            <a:pPr algn="r" indent="0" marL="0">
              <a:buNone/>
            </a:pPr>
            <a:r>
              <a:rPr lang="en-US" sz="975" b="1" dirty="0">
                <a:solidFill>
                  <a:srgbClr val="0EA5E9"/>
                </a:solidFill>
                <a:latin typeface="Inter" pitchFamily="34" charset="0"/>
                <a:ea typeface="Inter" pitchFamily="34" charset="-122"/>
                <a:cs typeface="Inter" pitchFamily="34" charset="-120"/>
              </a:rPr>
              <a:t>높음 10%</a:t>
            </a:r>
            <a:endParaRPr lang="en-US" sz="975" dirty="0"/>
          </a:p>
        </p:txBody>
      </p:sp>
      <p:sp>
        <p:nvSpPr>
          <p:cNvPr id="17" name="Shape 15"/>
          <p:cNvSpPr/>
          <p:nvPr/>
        </p:nvSpPr>
        <p:spPr>
          <a:xfrm>
            <a:off x="1873250" y="4315917"/>
            <a:ext cx="1238250" cy="228600"/>
          </a:xfrm>
          <a:prstGeom prst="rect">
            <a:avLst/>
          </a:prstGeom>
          <a:solidFill>
            <a:srgbClr val="F1F5F9"/>
          </a:solidFill>
          <a:ln/>
        </p:spPr>
      </p:sp>
      <p:sp>
        <p:nvSpPr>
          <p:cNvPr id="18" name="Shape 16"/>
          <p:cNvSpPr/>
          <p:nvPr/>
        </p:nvSpPr>
        <p:spPr>
          <a:xfrm>
            <a:off x="1873250" y="4315917"/>
            <a:ext cx="1207294" cy="228600"/>
          </a:xfrm>
          <a:prstGeom prst="rect">
            <a:avLst/>
          </a:prstGeom>
          <a:solidFill>
            <a:srgbClr val="0EA5E9"/>
          </a:solidFill>
          <a:ln/>
        </p:spPr>
      </p:sp>
      <p:sp>
        <p:nvSpPr>
          <p:cNvPr id="19" name="Text 17"/>
          <p:cNvSpPr/>
          <p:nvPr/>
        </p:nvSpPr>
        <p:spPr>
          <a:xfrm>
            <a:off x="3130550" y="4325442"/>
            <a:ext cx="819150" cy="247650"/>
          </a:xfrm>
          <a:prstGeom prst="rect">
            <a:avLst/>
          </a:prstGeom>
          <a:noFill/>
          <a:ln/>
        </p:spPr>
        <p:txBody>
          <a:bodyPr wrap="square" lIns="25400" tIns="25400" rIns="25400" bIns="25400" rtlCol="0" anchor="t">
            <a:normAutofit/>
          </a:bodyPr>
          <a:lstStyle/>
          <a:p>
            <a:pPr algn="r" indent="0" marL="0">
              <a:buNone/>
            </a:pPr>
            <a:r>
              <a:rPr lang="en-US" sz="1350" b="1" spc="-27" kern="0" dirty="0">
                <a:solidFill>
                  <a:srgbClr val="0EA5E9"/>
                </a:solidFill>
                <a:latin typeface="Inter" pitchFamily="34" charset="0"/>
                <a:ea typeface="Inter" pitchFamily="34" charset="-122"/>
                <a:cs typeface="Inter" pitchFamily="34" charset="-120"/>
              </a:rPr>
              <a:t>97.5</a:t>
            </a:r>
            <a:pPr algn="r" indent="0" marL="0">
              <a:buNone/>
            </a:pPr>
            <a:r>
              <a:rPr lang="en-US" sz="975" b="1" spc="-27" kern="0" dirty="0">
                <a:solidFill>
                  <a:srgbClr val="0EA5E9"/>
                </a:solidFill>
                <a:latin typeface="Inter" pitchFamily="34" charset="0"/>
                <a:ea typeface="Inter" pitchFamily="34" charset="-122"/>
                <a:cs typeface="Inter" pitchFamily="34" charset="-120"/>
              </a:rPr>
              <a:t>%</a:t>
            </a:r>
            <a:endParaRPr lang="en-US" sz="1350" dirty="0"/>
          </a:p>
        </p:txBody>
      </p:sp>
      <p:sp>
        <p:nvSpPr>
          <p:cNvPr id="20" name="Shape 18"/>
          <p:cNvSpPr/>
          <p:nvPr/>
        </p:nvSpPr>
        <p:spPr>
          <a:xfrm>
            <a:off x="4375150" y="2293441"/>
            <a:ext cx="3441700" cy="2447925"/>
          </a:xfrm>
          <a:prstGeom prst="rect">
            <a:avLst/>
          </a:prstGeom>
          <a:solidFill>
            <a:srgbClr val="FFFFFF"/>
          </a:solidFill>
          <a:ln w="6350">
            <a:solidFill>
              <a:srgbClr val="E5E7EB"/>
            </a:solidFill>
            <a:prstDash val="solid"/>
          </a:ln>
        </p:spPr>
      </p:sp>
      <p:sp>
        <p:nvSpPr>
          <p:cNvPr id="21" name="Text 19"/>
          <p:cNvSpPr/>
          <p:nvPr/>
        </p:nvSpPr>
        <p:spPr>
          <a:xfrm>
            <a:off x="4591050" y="2490292"/>
            <a:ext cx="3100197" cy="241300"/>
          </a:xfrm>
          <a:prstGeom prst="rect">
            <a:avLst/>
          </a:prstGeom>
          <a:noFill/>
          <a:ln/>
        </p:spPr>
        <p:txBody>
          <a:bodyPr wrap="square" lIns="25400" tIns="25400" rIns="25400" bIns="25400" rtlCol="0" anchor="t">
            <a:normAutofit/>
          </a:bodyPr>
          <a:lstStyle/>
          <a:p>
            <a:pPr algn="l" indent="0" marL="0">
              <a:buNone/>
            </a:pPr>
            <a:r>
              <a:rPr lang="en-US" sz="1050" b="1" spc="42" kern="0" dirty="0">
                <a:solidFill>
                  <a:srgbClr val="64748B"/>
                </a:solidFill>
                <a:latin typeface="Inter" pitchFamily="34" charset="0"/>
                <a:ea typeface="Inter" pitchFamily="34" charset="-122"/>
                <a:cs typeface="Inter" pitchFamily="34" charset="-120"/>
              </a:rPr>
              <a:t>데이터 구조</a:t>
            </a:r>
            <a:endParaRPr lang="en-US" sz="1050" dirty="0"/>
          </a:p>
        </p:txBody>
      </p:sp>
      <p:sp>
        <p:nvSpPr>
          <p:cNvPr id="22" name="Text 20"/>
          <p:cNvSpPr/>
          <p:nvPr/>
        </p:nvSpPr>
        <p:spPr>
          <a:xfrm>
            <a:off x="4591050" y="2826841"/>
            <a:ext cx="3100197" cy="561975"/>
          </a:xfrm>
          <a:prstGeom prst="rect">
            <a:avLst/>
          </a:prstGeom>
          <a:noFill/>
          <a:ln/>
        </p:spPr>
        <p:txBody>
          <a:bodyPr wrap="square" lIns="25400" tIns="25400" rIns="25400" bIns="25400" rtlCol="0" anchor="t">
            <a:normAutofit/>
          </a:bodyPr>
          <a:lstStyle/>
          <a:p>
            <a:pPr algn="l" indent="0" marL="0">
              <a:lnSpc>
                <a:spcPct val="125000"/>
              </a:lnSpc>
              <a:buNone/>
            </a:pPr>
            <a:r>
              <a:rPr lang="en-US" sz="1650" b="1" spc="-16" kern="0" dirty="0">
                <a:solidFill>
                  <a:srgbClr val="1E293B"/>
                </a:solidFill>
                <a:latin typeface="Inter" pitchFamily="34" charset="0"/>
                <a:ea typeface="Inter" pitchFamily="34" charset="-122"/>
                <a:cs typeface="Inter" pitchFamily="34" charset="-120"/>
              </a:rPr>
              <a:t>단일·다중 </a:t>
            </a:r>
            <a:pPr algn="l" indent="0" marL="0">
              <a:lnSpc>
                <a:spcPct val="125000"/>
              </a:lnSpc>
              <a:buNone/>
            </a:pPr>
            <a:r>
              <a:rPr lang="en-US" sz="1650" b="1" spc="-16" kern="0" dirty="0">
                <a:solidFill>
                  <a:srgbClr val="0EA5E9"/>
                </a:solidFill>
                <a:latin typeface="Inter" pitchFamily="34" charset="0"/>
                <a:ea typeface="Inter" pitchFamily="34" charset="-122"/>
                <a:cs typeface="Inter" pitchFamily="34" charset="-120"/>
              </a:rPr>
              <a:t>거의 동일</a:t>
            </a:r>
            <a:endParaRPr lang="en-US" sz="1650" dirty="0"/>
          </a:p>
        </p:txBody>
      </p:sp>
      <p:sp>
        <p:nvSpPr>
          <p:cNvPr id="23" name="Text 21"/>
          <p:cNvSpPr/>
          <p:nvPr/>
        </p:nvSpPr>
        <p:spPr>
          <a:xfrm>
            <a:off x="4591050" y="3611067"/>
            <a:ext cx="551061" cy="222250"/>
          </a:xfrm>
          <a:prstGeom prst="rect">
            <a:avLst/>
          </a:prstGeom>
          <a:noFill/>
          <a:ln/>
        </p:spPr>
        <p:txBody>
          <a:bodyPr wrap="square" lIns="25400" tIns="25400" rIns="25400" bIns="25400" rtlCol="0" anchor="t">
            <a:normAutofit/>
          </a:bodyPr>
          <a:lstStyle/>
          <a:p>
            <a:pPr algn="l" indent="0" marL="0">
              <a:buNone/>
            </a:pPr>
            <a:r>
              <a:rPr lang="en-US" sz="975" dirty="0">
                <a:solidFill>
                  <a:srgbClr val="475569"/>
                </a:solidFill>
                <a:latin typeface="Inter" pitchFamily="34" charset="0"/>
                <a:ea typeface="Inter" pitchFamily="34" charset="-122"/>
                <a:cs typeface="Inter" pitchFamily="34" charset="-120"/>
              </a:rPr>
              <a:t>단일 벡터</a:t>
            </a:r>
            <a:endParaRPr lang="en-US" sz="975" dirty="0"/>
          </a:p>
        </p:txBody>
      </p:sp>
      <p:sp>
        <p:nvSpPr>
          <p:cNvPr id="24" name="Text 22"/>
          <p:cNvSpPr/>
          <p:nvPr/>
        </p:nvSpPr>
        <p:spPr>
          <a:xfrm>
            <a:off x="6801942" y="3484066"/>
            <a:ext cx="875209" cy="342900"/>
          </a:xfrm>
          <a:prstGeom prst="rect">
            <a:avLst/>
          </a:prstGeom>
          <a:noFill/>
          <a:ln/>
        </p:spPr>
        <p:txBody>
          <a:bodyPr wrap="square" lIns="25400" tIns="25400" rIns="25400" bIns="25400" rtlCol="0" anchor="t">
            <a:normAutofit/>
          </a:bodyPr>
          <a:lstStyle/>
          <a:p>
            <a:pPr algn="l" indent="0" marL="0">
              <a:lnSpc>
                <a:spcPct val="100000"/>
              </a:lnSpc>
              <a:buNone/>
            </a:pPr>
            <a:r>
              <a:rPr lang="en-US" sz="2400" b="1" spc="-72" kern="0" dirty="0">
                <a:solidFill>
                  <a:srgbClr val="1E293B"/>
                </a:solidFill>
                <a:latin typeface="Inter" pitchFamily="34" charset="0"/>
                <a:ea typeface="Inter" pitchFamily="34" charset="-122"/>
                <a:cs typeface="Inter" pitchFamily="34" charset="-120"/>
              </a:rPr>
              <a:t>89.1</a:t>
            </a:r>
            <a:pPr algn="l" indent="0" marL="0">
              <a:lnSpc>
                <a:spcPct val="100000"/>
              </a:lnSpc>
              <a:buNone/>
            </a:pPr>
            <a:r>
              <a:rPr lang="en-US" sz="1320" b="1" spc="-72" kern="0" dirty="0">
                <a:solidFill>
                  <a:srgbClr val="1E293B"/>
                </a:solidFill>
                <a:latin typeface="Inter" pitchFamily="34" charset="0"/>
                <a:ea typeface="Inter" pitchFamily="34" charset="-122"/>
                <a:cs typeface="Inter" pitchFamily="34" charset="-120"/>
              </a:rPr>
              <a:t>%</a:t>
            </a:r>
            <a:endParaRPr lang="en-US" sz="2400" dirty="0"/>
          </a:p>
        </p:txBody>
      </p:sp>
      <p:sp>
        <p:nvSpPr>
          <p:cNvPr id="25" name="Shape 23"/>
          <p:cNvSpPr/>
          <p:nvPr/>
        </p:nvSpPr>
        <p:spPr>
          <a:xfrm>
            <a:off x="4591050" y="3852367"/>
            <a:ext cx="3009900" cy="76200"/>
          </a:xfrm>
          <a:prstGeom prst="rect">
            <a:avLst/>
          </a:prstGeom>
          <a:solidFill>
            <a:srgbClr val="F1F5F9"/>
          </a:solidFill>
          <a:ln/>
        </p:spPr>
      </p:sp>
      <p:sp>
        <p:nvSpPr>
          <p:cNvPr id="26" name="Shape 24"/>
          <p:cNvSpPr/>
          <p:nvPr/>
        </p:nvSpPr>
        <p:spPr>
          <a:xfrm>
            <a:off x="4591050" y="3852367"/>
            <a:ext cx="2681784" cy="76200"/>
          </a:xfrm>
          <a:prstGeom prst="rect">
            <a:avLst/>
          </a:prstGeom>
          <a:solidFill>
            <a:srgbClr val="0EA5E9"/>
          </a:solidFill>
          <a:ln/>
        </p:spPr>
      </p:sp>
      <p:sp>
        <p:nvSpPr>
          <p:cNvPr id="27" name="Text 25"/>
          <p:cNvSpPr/>
          <p:nvPr/>
        </p:nvSpPr>
        <p:spPr>
          <a:xfrm>
            <a:off x="4591050" y="4227016"/>
            <a:ext cx="547390" cy="222250"/>
          </a:xfrm>
          <a:prstGeom prst="rect">
            <a:avLst/>
          </a:prstGeom>
          <a:noFill/>
          <a:ln/>
        </p:spPr>
        <p:txBody>
          <a:bodyPr wrap="square" lIns="25400" tIns="25400" rIns="25400" bIns="25400" rtlCol="0" anchor="t">
            <a:normAutofit/>
          </a:bodyPr>
          <a:lstStyle/>
          <a:p>
            <a:pPr algn="l" indent="0" marL="0">
              <a:buNone/>
            </a:pPr>
            <a:r>
              <a:rPr lang="en-US" sz="975" b="1" dirty="0">
                <a:solidFill>
                  <a:srgbClr val="0EA5E9"/>
                </a:solidFill>
                <a:latin typeface="Inter" pitchFamily="34" charset="0"/>
                <a:ea typeface="Inter" pitchFamily="34" charset="-122"/>
                <a:cs typeface="Inter" pitchFamily="34" charset="-120"/>
              </a:rPr>
              <a:t>다중 벡터</a:t>
            </a:r>
            <a:endParaRPr lang="en-US" sz="975" dirty="0"/>
          </a:p>
        </p:txBody>
      </p:sp>
      <p:sp>
        <p:nvSpPr>
          <p:cNvPr id="28" name="Text 26"/>
          <p:cNvSpPr/>
          <p:nvPr/>
        </p:nvSpPr>
        <p:spPr>
          <a:xfrm>
            <a:off x="6801942" y="4100017"/>
            <a:ext cx="875209" cy="342900"/>
          </a:xfrm>
          <a:prstGeom prst="rect">
            <a:avLst/>
          </a:prstGeom>
          <a:noFill/>
          <a:ln/>
        </p:spPr>
        <p:txBody>
          <a:bodyPr wrap="square" lIns="25400" tIns="25400" rIns="25400" bIns="25400" rtlCol="0" anchor="t">
            <a:normAutofit/>
          </a:bodyPr>
          <a:lstStyle/>
          <a:p>
            <a:pPr algn="l" indent="0" marL="0">
              <a:lnSpc>
                <a:spcPct val="100000"/>
              </a:lnSpc>
              <a:buNone/>
            </a:pPr>
            <a:r>
              <a:rPr lang="en-US" sz="2400" b="1" spc="-72" kern="0" dirty="0">
                <a:solidFill>
                  <a:srgbClr val="0EA5E9"/>
                </a:solidFill>
                <a:latin typeface="Inter" pitchFamily="34" charset="0"/>
                <a:ea typeface="Inter" pitchFamily="34" charset="-122"/>
                <a:cs typeface="Inter" pitchFamily="34" charset="-120"/>
              </a:rPr>
              <a:t>89.2</a:t>
            </a:r>
            <a:pPr algn="l" indent="0" marL="0">
              <a:lnSpc>
                <a:spcPct val="100000"/>
              </a:lnSpc>
              <a:buNone/>
            </a:pPr>
            <a:r>
              <a:rPr lang="en-US" sz="1320" b="1" spc="-72" kern="0" dirty="0">
                <a:solidFill>
                  <a:srgbClr val="0EA5E9"/>
                </a:solidFill>
                <a:latin typeface="Inter" pitchFamily="34" charset="0"/>
                <a:ea typeface="Inter" pitchFamily="34" charset="-122"/>
                <a:cs typeface="Inter" pitchFamily="34" charset="-120"/>
              </a:rPr>
              <a:t>%</a:t>
            </a:r>
            <a:endParaRPr lang="en-US" sz="2400" dirty="0"/>
          </a:p>
        </p:txBody>
      </p:sp>
      <p:sp>
        <p:nvSpPr>
          <p:cNvPr id="29" name="Shape 27"/>
          <p:cNvSpPr/>
          <p:nvPr/>
        </p:nvSpPr>
        <p:spPr>
          <a:xfrm>
            <a:off x="4591050" y="4468317"/>
            <a:ext cx="3009900" cy="76200"/>
          </a:xfrm>
          <a:prstGeom prst="rect">
            <a:avLst/>
          </a:prstGeom>
          <a:solidFill>
            <a:srgbClr val="F1F5F9"/>
          </a:solidFill>
          <a:ln/>
        </p:spPr>
      </p:sp>
      <p:sp>
        <p:nvSpPr>
          <p:cNvPr id="30" name="Shape 28"/>
          <p:cNvSpPr/>
          <p:nvPr/>
        </p:nvSpPr>
        <p:spPr>
          <a:xfrm>
            <a:off x="4591050" y="4468317"/>
            <a:ext cx="2684760" cy="76200"/>
          </a:xfrm>
          <a:prstGeom prst="rect">
            <a:avLst/>
          </a:prstGeom>
          <a:solidFill>
            <a:srgbClr val="0EA5E9"/>
          </a:solidFill>
          <a:ln/>
        </p:spPr>
      </p:sp>
      <p:sp>
        <p:nvSpPr>
          <p:cNvPr id="31" name="Shape 29"/>
          <p:cNvSpPr/>
          <p:nvPr/>
        </p:nvSpPr>
        <p:spPr>
          <a:xfrm>
            <a:off x="8026400" y="2293441"/>
            <a:ext cx="3441700" cy="2447925"/>
          </a:xfrm>
          <a:prstGeom prst="rect">
            <a:avLst/>
          </a:prstGeom>
          <a:solidFill>
            <a:srgbClr val="FFFFFF"/>
          </a:solidFill>
          <a:ln w="6350">
            <a:solidFill>
              <a:srgbClr val="E5E7EB"/>
            </a:solidFill>
            <a:prstDash val="solid"/>
          </a:ln>
        </p:spPr>
      </p:sp>
      <p:sp>
        <p:nvSpPr>
          <p:cNvPr id="32" name="Text 30"/>
          <p:cNvSpPr/>
          <p:nvPr/>
        </p:nvSpPr>
        <p:spPr>
          <a:xfrm>
            <a:off x="8242300" y="2490292"/>
            <a:ext cx="3100197" cy="241300"/>
          </a:xfrm>
          <a:prstGeom prst="rect">
            <a:avLst/>
          </a:prstGeom>
          <a:noFill/>
          <a:ln/>
        </p:spPr>
        <p:txBody>
          <a:bodyPr wrap="square" lIns="25400" tIns="25400" rIns="25400" bIns="25400" rtlCol="0" anchor="t">
            <a:normAutofit/>
          </a:bodyPr>
          <a:lstStyle/>
          <a:p>
            <a:pPr algn="l" indent="0" marL="0">
              <a:buNone/>
            </a:pPr>
            <a:r>
              <a:rPr lang="en-US" sz="1050" b="1" spc="42" kern="0" dirty="0">
                <a:solidFill>
                  <a:srgbClr val="64748B"/>
                </a:solidFill>
                <a:latin typeface="Inter" pitchFamily="34" charset="0"/>
                <a:ea typeface="Inter" pitchFamily="34" charset="-122"/>
                <a:cs typeface="Inter" pitchFamily="34" charset="-120"/>
              </a:rPr>
              <a:t>계층 수</a:t>
            </a:r>
            <a:endParaRPr lang="en-US" sz="1050" dirty="0"/>
          </a:p>
        </p:txBody>
      </p:sp>
      <p:sp>
        <p:nvSpPr>
          <p:cNvPr id="33" name="Text 31"/>
          <p:cNvSpPr/>
          <p:nvPr/>
        </p:nvSpPr>
        <p:spPr>
          <a:xfrm>
            <a:off x="8242300" y="2826841"/>
            <a:ext cx="3100197" cy="561975"/>
          </a:xfrm>
          <a:prstGeom prst="rect">
            <a:avLst/>
          </a:prstGeom>
          <a:noFill/>
          <a:ln/>
        </p:spPr>
        <p:txBody>
          <a:bodyPr wrap="square" lIns="25400" tIns="25400" rIns="25400" bIns="25400" rtlCol="0" anchor="t">
            <a:normAutofit/>
          </a:bodyPr>
          <a:lstStyle/>
          <a:p>
            <a:pPr algn="l" indent="0" marL="0">
              <a:lnSpc>
                <a:spcPct val="125000"/>
              </a:lnSpc>
              <a:buNone/>
            </a:pPr>
            <a:r>
              <a:rPr lang="en-US" sz="1650" b="1" spc="-16" kern="0" dirty="0">
                <a:solidFill>
                  <a:srgbClr val="1E293B"/>
                </a:solidFill>
                <a:latin typeface="Inter" pitchFamily="34" charset="0"/>
                <a:ea typeface="Inter" pitchFamily="34" charset="-122"/>
                <a:cs typeface="Inter" pitchFamily="34" charset="-120"/>
              </a:rPr>
              <a:t>20개 계층이 </a:t>
            </a:r>
            <a:pPr algn="l" indent="0" marL="0">
              <a:lnSpc>
                <a:spcPct val="125000"/>
              </a:lnSpc>
              <a:buNone/>
            </a:pPr>
            <a:r>
              <a:rPr lang="en-US" sz="1650" b="1" spc="-16" kern="0" dirty="0">
                <a:solidFill>
                  <a:srgbClr val="0EA5E9"/>
                </a:solidFill>
                <a:latin typeface="Inter" pitchFamily="34" charset="0"/>
                <a:ea typeface="Inter" pitchFamily="34" charset="-122"/>
                <a:cs typeface="Inter" pitchFamily="34" charset="-120"/>
              </a:rPr>
              <a:t>최적</a:t>
            </a:r>
            <a:endParaRPr lang="en-US" sz="1650" dirty="0"/>
          </a:p>
        </p:txBody>
      </p:sp>
      <p:sp>
        <p:nvSpPr>
          <p:cNvPr id="34" name="Text 32"/>
          <p:cNvSpPr/>
          <p:nvPr/>
        </p:nvSpPr>
        <p:spPr>
          <a:xfrm>
            <a:off x="8166100" y="3614242"/>
            <a:ext cx="647700" cy="222250"/>
          </a:xfrm>
          <a:prstGeom prst="rect">
            <a:avLst/>
          </a:prstGeom>
          <a:noFill/>
          <a:ln/>
        </p:spPr>
        <p:txBody>
          <a:bodyPr wrap="square" lIns="25400" tIns="25400" rIns="25400" bIns="25400" rtlCol="0" anchor="t">
            <a:normAutofit/>
          </a:bodyPr>
          <a:lstStyle/>
          <a:p>
            <a:pPr algn="r" indent="0" marL="0">
              <a:buNone/>
            </a:pPr>
            <a:r>
              <a:rPr lang="en-US" sz="975" dirty="0">
                <a:solidFill>
                  <a:srgbClr val="475569"/>
                </a:solidFill>
                <a:latin typeface="Inter" pitchFamily="34" charset="0"/>
                <a:ea typeface="Inter" pitchFamily="34" charset="-122"/>
                <a:cs typeface="Inter" pitchFamily="34" charset="-120"/>
              </a:rPr>
              <a:t>10개</a:t>
            </a:r>
            <a:endParaRPr lang="en-US" sz="975" dirty="0"/>
          </a:p>
        </p:txBody>
      </p:sp>
      <p:sp>
        <p:nvSpPr>
          <p:cNvPr id="35" name="Shape 33"/>
          <p:cNvSpPr/>
          <p:nvPr/>
        </p:nvSpPr>
        <p:spPr>
          <a:xfrm>
            <a:off x="8909050" y="3592017"/>
            <a:ext cx="1504950" cy="228600"/>
          </a:xfrm>
          <a:prstGeom prst="rect">
            <a:avLst/>
          </a:prstGeom>
          <a:solidFill>
            <a:srgbClr val="F1F5F9"/>
          </a:solidFill>
          <a:ln/>
        </p:spPr>
      </p:sp>
      <p:sp>
        <p:nvSpPr>
          <p:cNvPr id="36" name="Shape 34"/>
          <p:cNvSpPr/>
          <p:nvPr/>
        </p:nvSpPr>
        <p:spPr>
          <a:xfrm>
            <a:off x="8909050" y="3592017"/>
            <a:ext cx="1258094" cy="228600"/>
          </a:xfrm>
          <a:prstGeom prst="rect">
            <a:avLst/>
          </a:prstGeom>
          <a:solidFill>
            <a:srgbClr val="7DD3FC"/>
          </a:solidFill>
          <a:ln/>
        </p:spPr>
      </p:sp>
      <p:sp>
        <p:nvSpPr>
          <p:cNvPr id="37" name="Text 35"/>
          <p:cNvSpPr/>
          <p:nvPr/>
        </p:nvSpPr>
        <p:spPr>
          <a:xfrm>
            <a:off x="10433050" y="3601542"/>
            <a:ext cx="819150" cy="247650"/>
          </a:xfrm>
          <a:prstGeom prst="rect">
            <a:avLst/>
          </a:prstGeom>
          <a:noFill/>
          <a:ln/>
        </p:spPr>
        <p:txBody>
          <a:bodyPr wrap="square" lIns="25400" tIns="25400" rIns="25400" bIns="25400" rtlCol="0" anchor="t">
            <a:normAutofit/>
          </a:bodyPr>
          <a:lstStyle/>
          <a:p>
            <a:pPr algn="r" indent="0" marL="0">
              <a:buNone/>
            </a:pPr>
            <a:r>
              <a:rPr lang="en-US" sz="1350" b="1" spc="-27" kern="0" dirty="0">
                <a:solidFill>
                  <a:srgbClr val="1E293B"/>
                </a:solidFill>
                <a:latin typeface="Inter" pitchFamily="34" charset="0"/>
                <a:ea typeface="Inter" pitchFamily="34" charset="-122"/>
                <a:cs typeface="Inter" pitchFamily="34" charset="-120"/>
              </a:rPr>
              <a:t>83.6</a:t>
            </a:r>
            <a:pPr algn="r" indent="0" marL="0">
              <a:buNone/>
            </a:pPr>
            <a:r>
              <a:rPr lang="en-US" sz="975" b="1" spc="-27" kern="0" dirty="0">
                <a:solidFill>
                  <a:srgbClr val="1E293B"/>
                </a:solidFill>
                <a:latin typeface="Inter" pitchFamily="34" charset="0"/>
                <a:ea typeface="Inter" pitchFamily="34" charset="-122"/>
                <a:cs typeface="Inter" pitchFamily="34" charset="-120"/>
              </a:rPr>
              <a:t>%</a:t>
            </a:r>
            <a:endParaRPr lang="en-US" sz="1350" dirty="0"/>
          </a:p>
        </p:txBody>
      </p:sp>
      <p:sp>
        <p:nvSpPr>
          <p:cNvPr id="38" name="Text 36"/>
          <p:cNvSpPr/>
          <p:nvPr/>
        </p:nvSpPr>
        <p:spPr>
          <a:xfrm>
            <a:off x="8166100" y="3976192"/>
            <a:ext cx="647700" cy="222250"/>
          </a:xfrm>
          <a:prstGeom prst="rect">
            <a:avLst/>
          </a:prstGeom>
          <a:noFill/>
          <a:ln/>
        </p:spPr>
        <p:txBody>
          <a:bodyPr wrap="square" lIns="25400" tIns="25400" rIns="25400" bIns="25400" rtlCol="0" anchor="t">
            <a:normAutofit/>
          </a:bodyPr>
          <a:lstStyle/>
          <a:p>
            <a:pPr algn="r" indent="0" marL="0">
              <a:buNone/>
            </a:pPr>
            <a:r>
              <a:rPr lang="en-US" sz="975" b="1" dirty="0">
                <a:solidFill>
                  <a:srgbClr val="0EA5E9"/>
                </a:solidFill>
                <a:latin typeface="Inter" pitchFamily="34" charset="0"/>
                <a:ea typeface="Inter" pitchFamily="34" charset="-122"/>
                <a:cs typeface="Inter" pitchFamily="34" charset="-120"/>
              </a:rPr>
              <a:t>20개</a:t>
            </a:r>
            <a:endParaRPr lang="en-US" sz="975" dirty="0"/>
          </a:p>
        </p:txBody>
      </p:sp>
      <p:sp>
        <p:nvSpPr>
          <p:cNvPr id="39" name="Shape 37"/>
          <p:cNvSpPr/>
          <p:nvPr/>
        </p:nvSpPr>
        <p:spPr>
          <a:xfrm>
            <a:off x="8909050" y="3953967"/>
            <a:ext cx="1504950" cy="228600"/>
          </a:xfrm>
          <a:prstGeom prst="rect">
            <a:avLst/>
          </a:prstGeom>
          <a:solidFill>
            <a:srgbClr val="F1F5F9"/>
          </a:solidFill>
          <a:ln/>
        </p:spPr>
      </p:sp>
      <p:sp>
        <p:nvSpPr>
          <p:cNvPr id="40" name="Shape 38"/>
          <p:cNvSpPr/>
          <p:nvPr/>
        </p:nvSpPr>
        <p:spPr>
          <a:xfrm>
            <a:off x="8909050" y="3953967"/>
            <a:ext cx="1351359" cy="228600"/>
          </a:xfrm>
          <a:prstGeom prst="rect">
            <a:avLst/>
          </a:prstGeom>
          <a:solidFill>
            <a:srgbClr val="0EA5E9"/>
          </a:solidFill>
          <a:ln/>
        </p:spPr>
      </p:sp>
      <p:sp>
        <p:nvSpPr>
          <p:cNvPr id="41" name="Text 39"/>
          <p:cNvSpPr/>
          <p:nvPr/>
        </p:nvSpPr>
        <p:spPr>
          <a:xfrm>
            <a:off x="10433050" y="3963492"/>
            <a:ext cx="819150" cy="247650"/>
          </a:xfrm>
          <a:prstGeom prst="rect">
            <a:avLst/>
          </a:prstGeom>
          <a:noFill/>
          <a:ln/>
        </p:spPr>
        <p:txBody>
          <a:bodyPr wrap="square" lIns="25400" tIns="25400" rIns="25400" bIns="25400" rtlCol="0" anchor="t">
            <a:normAutofit/>
          </a:bodyPr>
          <a:lstStyle/>
          <a:p>
            <a:pPr algn="r" indent="0" marL="0">
              <a:buNone/>
            </a:pPr>
            <a:r>
              <a:rPr lang="en-US" sz="1350" b="1" spc="-27" kern="0" dirty="0">
                <a:solidFill>
                  <a:srgbClr val="0EA5E9"/>
                </a:solidFill>
                <a:latin typeface="Inter" pitchFamily="34" charset="0"/>
                <a:ea typeface="Inter" pitchFamily="34" charset="-122"/>
                <a:cs typeface="Inter" pitchFamily="34" charset="-120"/>
              </a:rPr>
              <a:t>89.8</a:t>
            </a:r>
            <a:pPr algn="r" indent="0" marL="0">
              <a:buNone/>
            </a:pPr>
            <a:r>
              <a:rPr lang="en-US" sz="975" b="1" spc="-27" kern="0" dirty="0">
                <a:solidFill>
                  <a:srgbClr val="0EA5E9"/>
                </a:solidFill>
                <a:latin typeface="Inter" pitchFamily="34" charset="0"/>
                <a:ea typeface="Inter" pitchFamily="34" charset="-122"/>
                <a:cs typeface="Inter" pitchFamily="34" charset="-120"/>
              </a:rPr>
              <a:t>%</a:t>
            </a:r>
            <a:endParaRPr lang="en-US" sz="1350" dirty="0"/>
          </a:p>
        </p:txBody>
      </p:sp>
      <p:sp>
        <p:nvSpPr>
          <p:cNvPr id="42" name="Text 40"/>
          <p:cNvSpPr/>
          <p:nvPr/>
        </p:nvSpPr>
        <p:spPr>
          <a:xfrm>
            <a:off x="8166100" y="4338142"/>
            <a:ext cx="647700" cy="222250"/>
          </a:xfrm>
          <a:prstGeom prst="rect">
            <a:avLst/>
          </a:prstGeom>
          <a:noFill/>
          <a:ln/>
        </p:spPr>
        <p:txBody>
          <a:bodyPr wrap="square" lIns="25400" tIns="25400" rIns="25400" bIns="25400" rtlCol="0" anchor="t">
            <a:normAutofit/>
          </a:bodyPr>
          <a:lstStyle/>
          <a:p>
            <a:pPr algn="r" indent="0" marL="0">
              <a:buNone/>
            </a:pPr>
            <a:r>
              <a:rPr lang="en-US" sz="975" dirty="0">
                <a:solidFill>
                  <a:srgbClr val="475569"/>
                </a:solidFill>
                <a:latin typeface="Inter" pitchFamily="34" charset="0"/>
                <a:ea typeface="Inter" pitchFamily="34" charset="-122"/>
                <a:cs typeface="Inter" pitchFamily="34" charset="-120"/>
              </a:rPr>
              <a:t>30개</a:t>
            </a:r>
            <a:endParaRPr lang="en-US" sz="975" dirty="0"/>
          </a:p>
        </p:txBody>
      </p:sp>
      <p:sp>
        <p:nvSpPr>
          <p:cNvPr id="43" name="Shape 41"/>
          <p:cNvSpPr/>
          <p:nvPr/>
        </p:nvSpPr>
        <p:spPr>
          <a:xfrm>
            <a:off x="8909050" y="4315917"/>
            <a:ext cx="1504950" cy="228600"/>
          </a:xfrm>
          <a:prstGeom prst="rect">
            <a:avLst/>
          </a:prstGeom>
          <a:solidFill>
            <a:srgbClr val="F1F5F9"/>
          </a:solidFill>
          <a:ln/>
        </p:spPr>
      </p:sp>
      <p:sp>
        <p:nvSpPr>
          <p:cNvPr id="44" name="Shape 42"/>
          <p:cNvSpPr/>
          <p:nvPr/>
        </p:nvSpPr>
        <p:spPr>
          <a:xfrm>
            <a:off x="8909050" y="4315917"/>
            <a:ext cx="1292721" cy="228600"/>
          </a:xfrm>
          <a:prstGeom prst="rect">
            <a:avLst/>
          </a:prstGeom>
          <a:solidFill>
            <a:srgbClr val="38BDF8"/>
          </a:solidFill>
          <a:ln/>
        </p:spPr>
      </p:sp>
      <p:sp>
        <p:nvSpPr>
          <p:cNvPr id="45" name="Text 43"/>
          <p:cNvSpPr/>
          <p:nvPr/>
        </p:nvSpPr>
        <p:spPr>
          <a:xfrm>
            <a:off x="10433050" y="4325442"/>
            <a:ext cx="819150" cy="247650"/>
          </a:xfrm>
          <a:prstGeom prst="rect">
            <a:avLst/>
          </a:prstGeom>
          <a:noFill/>
          <a:ln/>
        </p:spPr>
        <p:txBody>
          <a:bodyPr wrap="square" lIns="25400" tIns="25400" rIns="25400" bIns="25400" rtlCol="0" anchor="t">
            <a:normAutofit/>
          </a:bodyPr>
          <a:lstStyle/>
          <a:p>
            <a:pPr algn="r" indent="0" marL="0">
              <a:buNone/>
            </a:pPr>
            <a:r>
              <a:rPr lang="en-US" sz="1350" b="1" spc="-27" kern="0" dirty="0">
                <a:solidFill>
                  <a:srgbClr val="1E293B"/>
                </a:solidFill>
                <a:latin typeface="Inter" pitchFamily="34" charset="0"/>
                <a:ea typeface="Inter" pitchFamily="34" charset="-122"/>
                <a:cs typeface="Inter" pitchFamily="34" charset="-120"/>
              </a:rPr>
              <a:t>85.9</a:t>
            </a:r>
            <a:pPr algn="r" indent="0" marL="0">
              <a:buNone/>
            </a:pPr>
            <a:r>
              <a:rPr lang="en-US" sz="975" b="1" spc="-27" kern="0" dirty="0">
                <a:solidFill>
                  <a:srgbClr val="1E293B"/>
                </a:solidFill>
                <a:latin typeface="Inter" pitchFamily="34" charset="0"/>
                <a:ea typeface="Inter" pitchFamily="34" charset="-122"/>
                <a:cs typeface="Inter" pitchFamily="34" charset="-120"/>
              </a:rPr>
              <a:t>%</a:t>
            </a:r>
            <a:endParaRPr lang="en-US" sz="1350" dirty="0"/>
          </a:p>
        </p:txBody>
      </p:sp>
      <p:sp>
        <p:nvSpPr>
          <p:cNvPr id="46" name="Shape 44"/>
          <p:cNvSpPr/>
          <p:nvPr/>
        </p:nvSpPr>
        <p:spPr>
          <a:xfrm>
            <a:off x="723900" y="4912816"/>
            <a:ext cx="10744200" cy="457398"/>
          </a:xfrm>
          <a:prstGeom prst="rect">
            <a:avLst/>
          </a:prstGeom>
          <a:solidFill>
            <a:srgbClr val="FAFAFA"/>
          </a:solidFill>
          <a:ln/>
        </p:spPr>
      </p:sp>
      <p:sp>
        <p:nvSpPr>
          <p:cNvPr id="47" name="Shape 45"/>
          <p:cNvSpPr/>
          <p:nvPr/>
        </p:nvSpPr>
        <p:spPr>
          <a:xfrm>
            <a:off x="723900" y="4912816"/>
            <a:ext cx="25400" cy="457398"/>
          </a:xfrm>
          <a:prstGeom prst="rect">
            <a:avLst/>
          </a:prstGeom>
          <a:solidFill>
            <a:srgbClr val="1E3A5F"/>
          </a:solidFill>
          <a:ln/>
        </p:spPr>
      </p:sp>
      <p:sp>
        <p:nvSpPr>
          <p:cNvPr id="48" name="Text 46"/>
          <p:cNvSpPr/>
          <p:nvPr/>
        </p:nvSpPr>
        <p:spPr>
          <a:xfrm>
            <a:off x="958850" y="5027116"/>
            <a:ext cx="10622026" cy="266898"/>
          </a:xfrm>
          <a:prstGeom prst="rect">
            <a:avLst/>
          </a:prstGeom>
          <a:noFill/>
          <a:ln/>
        </p:spPr>
        <p:txBody>
          <a:bodyPr wrap="square" lIns="25400" tIns="25400" rIns="25400" bIns="25400" rtlCol="0" anchor="t">
            <a:normAutofit/>
          </a:bodyPr>
          <a:lstStyle/>
          <a:p>
            <a:pPr algn="l" indent="0" marL="0">
              <a:lnSpc>
                <a:spcPct val="155000"/>
              </a:lnSpc>
              <a:buNone/>
            </a:pPr>
            <a:r>
              <a:rPr lang="en-US" sz="1163" spc="-6" kern="0" dirty="0">
                <a:solidFill>
                  <a:srgbClr val="1E293B"/>
                </a:solidFill>
                <a:highlight>
                  <a:srgbClr val="FAFAFA"/>
                </a:highlight>
                <a:latin typeface="Inter" pitchFamily="34" charset="0"/>
                <a:ea typeface="Inter" pitchFamily="34" charset="-122"/>
                <a:cs typeface="Inter" pitchFamily="34" charset="-120"/>
              </a:rPr>
              <a:t>세 패널 수치는 모두 </a:t>
            </a:r>
            <a:pPr algn="l" indent="0" marL="0">
              <a:lnSpc>
                <a:spcPct val="155000"/>
              </a:lnSpc>
              <a:buNone/>
            </a:pPr>
            <a:r>
              <a:rPr lang="en-US" sz="1163" b="1" spc="-6" kern="0" dirty="0">
                <a:solidFill>
                  <a:srgbClr val="1E293B"/>
                </a:solidFill>
                <a:latin typeface="Inter" pitchFamily="34" charset="0"/>
                <a:ea typeface="Inter" pitchFamily="34" charset="-122"/>
                <a:cs typeface="Inter" pitchFamily="34" charset="-120"/>
              </a:rPr>
              <a:t>결합 방식이 기존 방식을 이긴 비율 </a:t>
            </a:r>
            <a:pPr algn="l" indent="0" marL="0">
              <a:lnSpc>
                <a:spcPct val="155000"/>
              </a:lnSpc>
              <a:buNone/>
            </a:pPr>
            <a:r>
              <a:rPr lang="en-US" sz="1163" spc="-6" kern="0" dirty="0">
                <a:solidFill>
                  <a:srgbClr val="1E293B"/>
                </a:solidFill>
                <a:highlight>
                  <a:srgbClr val="FAFAFA"/>
                </a:highlight>
                <a:latin typeface="Inter" pitchFamily="34" charset="0"/>
                <a:ea typeface="Inter" pitchFamily="34" charset="-122"/>
                <a:cs typeface="Inter" pitchFamily="34" charset="-120"/>
              </a:rPr>
              <a:t>— 조건이 달라져도 개선이 일관된다</a:t>
            </a:r>
            <a:endParaRPr lang="en-US" sz="1163"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285750"/>
            <a:ext cx="497979" cy="222250"/>
          </a:xfrm>
          <a:prstGeom prst="rect">
            <a:avLst/>
          </a:prstGeom>
          <a:noFill/>
          <a:ln/>
        </p:spPr>
        <p:txBody>
          <a:bodyPr wrap="square" lIns="25400" tIns="25400" rIns="25400" bIns="25400" rtlCol="0" anchor="ctr">
            <a:normAutofit/>
          </a:bodyPr>
          <a:lstStyle/>
          <a:p>
            <a:pPr algn="l" indent="0" marL="0">
              <a:buNone/>
            </a:pPr>
            <a:r>
              <a:rPr lang="en-US" sz="975" b="1" spc="116" kern="0" dirty="0">
                <a:solidFill>
                  <a:srgbClr val="10B981"/>
                </a:solidFill>
                <a:latin typeface="Inter" pitchFamily="34" charset="0"/>
                <a:ea typeface="Inter" pitchFamily="34" charset="-122"/>
                <a:cs typeface="Inter" pitchFamily="34" charset="-120"/>
              </a:rPr>
              <a:t>결과</a:t>
            </a:r>
            <a:endParaRPr lang="en-US" sz="975" dirty="0"/>
          </a:p>
        </p:txBody>
      </p:sp>
      <p:sp>
        <p:nvSpPr>
          <p:cNvPr id="3" name="Text 1"/>
          <p:cNvSpPr/>
          <p:nvPr/>
        </p:nvSpPr>
        <p:spPr>
          <a:xfrm>
            <a:off x="723900" y="533400"/>
            <a:ext cx="10791825" cy="1001911"/>
          </a:xfrm>
          <a:prstGeom prst="rect">
            <a:avLst/>
          </a:prstGeom>
          <a:noFill/>
          <a:ln/>
        </p:spPr>
        <p:txBody>
          <a:bodyPr wrap="square" lIns="25400" tIns="25400" rIns="25400" bIns="25400" rtlCol="0" anchor="t">
            <a:normAutofit/>
          </a:bodyPr>
          <a:lstStyle/>
          <a:p>
            <a:pPr algn="l" indent="0" marL="0">
              <a:lnSpc>
                <a:spcPct val="115000"/>
              </a:lnSpc>
              <a:buNone/>
            </a:pPr>
            <a:r>
              <a:rPr lang="en-US" sz="3300" b="1" spc="-82" kern="0" dirty="0">
                <a:solidFill>
                  <a:srgbClr val="1E3A5F"/>
                </a:solidFill>
                <a:latin typeface="Inter" pitchFamily="34" charset="0"/>
                <a:ea typeface="Inter" pitchFamily="34" charset="-122"/>
                <a:cs typeface="Inter" pitchFamily="34" charset="-120"/>
              </a:rPr>
              <a:t>검증된 추정치를 실제 엔진에 주입했더니 — 모든 구간에서 3~7배 빨라졌다</a:t>
            </a:r>
            <a:endParaRPr lang="en-US" sz="3300" dirty="0"/>
          </a:p>
        </p:txBody>
      </p:sp>
      <p:sp>
        <p:nvSpPr>
          <p:cNvPr id="4" name="Shape 2"/>
          <p:cNvSpPr/>
          <p:nvPr/>
        </p:nvSpPr>
        <p:spPr>
          <a:xfrm>
            <a:off x="723900" y="1630561"/>
            <a:ext cx="381000" cy="28575"/>
          </a:xfrm>
          <a:prstGeom prst="rect">
            <a:avLst/>
          </a:prstGeom>
          <a:solidFill>
            <a:srgbClr val="10B981"/>
          </a:solidFill>
          <a:ln/>
        </p:spPr>
      </p:sp>
      <p:sp>
        <p:nvSpPr>
          <p:cNvPr id="5" name="Shape 3"/>
          <p:cNvSpPr/>
          <p:nvPr/>
        </p:nvSpPr>
        <p:spPr>
          <a:xfrm>
            <a:off x="723900" y="1782961"/>
            <a:ext cx="4264521" cy="4029670"/>
          </a:xfrm>
          <a:prstGeom prst="rect">
            <a:avLst/>
          </a:prstGeom>
          <a:solidFill>
            <a:srgbClr val="F2FAFD"/>
          </a:solidFill>
          <a:ln/>
        </p:spPr>
      </p:sp>
      <p:sp>
        <p:nvSpPr>
          <p:cNvPr id="6" name="Text 4"/>
          <p:cNvSpPr/>
          <p:nvPr/>
        </p:nvSpPr>
        <p:spPr>
          <a:xfrm>
            <a:off x="952500" y="1973461"/>
            <a:ext cx="3921541" cy="222250"/>
          </a:xfrm>
          <a:prstGeom prst="rect">
            <a:avLst/>
          </a:prstGeom>
          <a:noFill/>
          <a:ln/>
        </p:spPr>
        <p:txBody>
          <a:bodyPr wrap="square" lIns="25400" tIns="25400" rIns="25400" bIns="25400" rtlCol="0" anchor="t">
            <a:normAutofit/>
          </a:bodyPr>
          <a:lstStyle/>
          <a:p>
            <a:pPr algn="l" indent="0" marL="0">
              <a:buNone/>
            </a:pPr>
            <a:r>
              <a:rPr lang="en-US" sz="975" b="1" spc="90" kern="0" dirty="0">
                <a:solidFill>
                  <a:srgbClr val="64748B"/>
                </a:solidFill>
                <a:latin typeface="Inter" pitchFamily="34" charset="0"/>
                <a:ea typeface="Inter" pitchFamily="34" charset="-122"/>
                <a:cs typeface="Inter" pitchFamily="34" charset="-120"/>
              </a:rPr>
              <a:t>엔진 적용 가속 폭</a:t>
            </a:r>
            <a:endParaRPr lang="en-US" sz="975" dirty="0"/>
          </a:p>
        </p:txBody>
      </p:sp>
      <p:sp>
        <p:nvSpPr>
          <p:cNvPr id="7" name="Shape 5"/>
          <p:cNvSpPr/>
          <p:nvPr/>
        </p:nvSpPr>
        <p:spPr>
          <a:xfrm>
            <a:off x="952500" y="2290961"/>
            <a:ext cx="3807321" cy="1240532"/>
          </a:xfrm>
          <a:prstGeom prst="rect">
            <a:avLst/>
          </a:prstGeom>
          <a:solidFill>
            <a:srgbClr val="1E3A5F"/>
          </a:solidFill>
          <a:ln/>
        </p:spPr>
      </p:sp>
      <p:sp>
        <p:nvSpPr>
          <p:cNvPr id="8" name="Text 6"/>
          <p:cNvSpPr/>
          <p:nvPr/>
        </p:nvSpPr>
        <p:spPr>
          <a:xfrm>
            <a:off x="952500" y="2290961"/>
            <a:ext cx="3921541" cy="1278632"/>
          </a:xfrm>
          <a:prstGeom prst="rect">
            <a:avLst/>
          </a:prstGeom>
          <a:noFill/>
          <a:ln/>
        </p:spPr>
        <p:txBody>
          <a:bodyPr wrap="square" lIns="25400" tIns="25400" rIns="25400" bIns="25400" rtlCol="0" anchor="t">
            <a:normAutofit/>
          </a:bodyPr>
          <a:lstStyle/>
          <a:p>
            <a:pPr algn="l" indent="0" marL="0">
              <a:lnSpc>
                <a:spcPct val="88000"/>
              </a:lnSpc>
              <a:buNone/>
            </a:pPr>
            <a:r>
              <a:rPr lang="en-US" sz="11100" b="1" spc="-666" kern="0" dirty="0">
                <a:solidFill>
                  <a:srgbClr val="000000"/>
                </a:solidFill>
                <a:latin typeface="Inter" pitchFamily="34" charset="0"/>
                <a:ea typeface="Inter" pitchFamily="34" charset="-122"/>
                <a:cs typeface="Inter" pitchFamily="34" charset="-120"/>
              </a:rPr>
              <a:t>3</a:t>
            </a:r>
            <a:pPr algn="l" indent="0" marL="0">
              <a:lnSpc>
                <a:spcPct val="88000"/>
              </a:lnSpc>
              <a:buNone/>
            </a:pPr>
            <a:r>
              <a:rPr lang="en-US" sz="6105" b="1" spc="-666" kern="0" dirty="0">
                <a:solidFill>
                  <a:srgbClr val="000000"/>
                </a:solidFill>
                <a:latin typeface="Inter" pitchFamily="34" charset="0"/>
                <a:ea typeface="Inter" pitchFamily="34" charset="-122"/>
                <a:cs typeface="Inter" pitchFamily="34" charset="-120"/>
              </a:rPr>
              <a:t>~</a:t>
            </a:r>
            <a:pPr algn="l" indent="0" marL="0">
              <a:lnSpc>
                <a:spcPct val="88000"/>
              </a:lnSpc>
              <a:buNone/>
            </a:pPr>
            <a:r>
              <a:rPr lang="en-US" sz="11100" b="1" spc="-666" kern="0" dirty="0">
                <a:solidFill>
                  <a:srgbClr val="000000"/>
                </a:solidFill>
                <a:latin typeface="Inter" pitchFamily="34" charset="0"/>
                <a:ea typeface="Inter" pitchFamily="34" charset="-122"/>
                <a:cs typeface="Inter" pitchFamily="34" charset="-120"/>
              </a:rPr>
              <a:t>7</a:t>
            </a:r>
            <a:pPr algn="l" indent="0" marL="0">
              <a:lnSpc>
                <a:spcPct val="88000"/>
              </a:lnSpc>
              <a:buNone/>
            </a:pPr>
            <a:r>
              <a:rPr lang="en-US" sz="5550" b="1" spc="-666" kern="0" dirty="0">
                <a:solidFill>
                  <a:srgbClr val="000000"/>
                </a:solidFill>
                <a:latin typeface="Inter" pitchFamily="34" charset="0"/>
                <a:ea typeface="Inter" pitchFamily="34" charset="-122"/>
                <a:cs typeface="Inter" pitchFamily="34" charset="-120"/>
              </a:rPr>
              <a:t>×</a:t>
            </a:r>
            <a:endParaRPr lang="en-US" sz="11100" dirty="0"/>
          </a:p>
        </p:txBody>
      </p:sp>
      <p:sp>
        <p:nvSpPr>
          <p:cNvPr id="9" name="Shape 7"/>
          <p:cNvSpPr/>
          <p:nvPr/>
        </p:nvSpPr>
        <p:spPr>
          <a:xfrm>
            <a:off x="952500" y="3664843"/>
            <a:ext cx="2667000" cy="95250"/>
          </a:xfrm>
          <a:prstGeom prst="rect">
            <a:avLst/>
          </a:prstGeom>
          <a:solidFill>
            <a:srgbClr val="F1F5F9"/>
          </a:solidFill>
          <a:ln/>
        </p:spPr>
      </p:sp>
      <p:sp>
        <p:nvSpPr>
          <p:cNvPr id="10" name="Shape 8"/>
          <p:cNvSpPr/>
          <p:nvPr/>
        </p:nvSpPr>
        <p:spPr>
          <a:xfrm>
            <a:off x="952500" y="3664843"/>
            <a:ext cx="2667000" cy="95250"/>
          </a:xfrm>
          <a:prstGeom prst="rect">
            <a:avLst/>
          </a:prstGeom>
          <a:solidFill>
            <a:srgbClr val="1E3A5F"/>
          </a:solidFill>
          <a:ln/>
        </p:spPr>
      </p:sp>
      <p:sp>
        <p:nvSpPr>
          <p:cNvPr id="11" name="Text 9"/>
          <p:cNvSpPr/>
          <p:nvPr/>
        </p:nvSpPr>
        <p:spPr>
          <a:xfrm>
            <a:off x="952500" y="3893443"/>
            <a:ext cx="3921541" cy="491331"/>
          </a:xfrm>
          <a:prstGeom prst="rect">
            <a:avLst/>
          </a:prstGeom>
          <a:noFill/>
          <a:ln/>
        </p:spPr>
        <p:txBody>
          <a:bodyPr wrap="square" lIns="25400" tIns="25400" rIns="25400" bIns="25400" rtlCol="0" anchor="t">
            <a:normAutofit/>
          </a:bodyPr>
          <a:lstStyle/>
          <a:p>
            <a:pPr algn="l" indent="0" marL="0">
              <a:lnSpc>
                <a:spcPct val="140000"/>
              </a:lnSpc>
              <a:buNone/>
            </a:pPr>
            <a:r>
              <a:rPr lang="en-US" sz="1275" b="1" spc="-13" kern="0" dirty="0">
                <a:solidFill>
                  <a:srgbClr val="1E293B"/>
                </a:solidFill>
                <a:latin typeface="Inter" pitchFamily="34" charset="0"/>
                <a:ea typeface="Inter" pitchFamily="34" charset="-122"/>
                <a:cs typeface="Inter" pitchFamily="34" charset="-120"/>
              </a:rPr>
              <a:t>모든 12 구간에서 기본 엔진보다 빠른 실행 계획</a:t>
            </a:r>
            <a:endParaRPr lang="en-US" sz="1275" dirty="0"/>
          </a:p>
        </p:txBody>
      </p:sp>
      <p:sp>
        <p:nvSpPr>
          <p:cNvPr id="12" name="Shape 10"/>
          <p:cNvSpPr/>
          <p:nvPr/>
        </p:nvSpPr>
        <p:spPr>
          <a:xfrm>
            <a:off x="952500" y="5069086"/>
            <a:ext cx="3807321" cy="9525"/>
          </a:xfrm>
          <a:prstGeom prst="rect">
            <a:avLst/>
          </a:prstGeom>
          <a:solidFill>
            <a:srgbClr val="E5E7EB"/>
          </a:solidFill>
          <a:ln/>
        </p:spPr>
      </p:sp>
      <p:sp>
        <p:nvSpPr>
          <p:cNvPr id="13" name="Text 11"/>
          <p:cNvSpPr/>
          <p:nvPr/>
        </p:nvSpPr>
        <p:spPr>
          <a:xfrm>
            <a:off x="952500" y="5208786"/>
            <a:ext cx="3921541" cy="451445"/>
          </a:xfrm>
          <a:prstGeom prst="rect">
            <a:avLst/>
          </a:prstGeom>
          <a:noFill/>
          <a:ln/>
        </p:spPr>
        <p:txBody>
          <a:bodyPr wrap="square" lIns="25400" tIns="25400" rIns="25400" bIns="25400" rtlCol="0" anchor="t">
            <a:normAutofit/>
          </a:bodyPr>
          <a:lstStyle/>
          <a:p>
            <a:pPr algn="l" indent="0" marL="0">
              <a:lnSpc>
                <a:spcPct val="155000"/>
              </a:lnSpc>
              <a:buNone/>
            </a:pPr>
            <a:r>
              <a:rPr lang="en-US" sz="1050" spc="-5" kern="0" dirty="0">
                <a:solidFill>
                  <a:srgbClr val="475569"/>
                </a:solidFill>
                <a:latin typeface="Inter" pitchFamily="34" charset="0"/>
                <a:ea typeface="Inter" pitchFamily="34" charset="-122"/>
                <a:cs typeface="Inter" pitchFamily="34" charset="-120"/>
              </a:rPr>
              <a:t>12 구간 평균 가속 </a:t>
            </a:r>
            <a:pPr algn="l" indent="0" marL="0">
              <a:lnSpc>
                <a:spcPct val="155000"/>
              </a:lnSpc>
              <a:buNone/>
            </a:pPr>
            <a:r>
              <a:rPr lang="en-US" sz="1050" b="1" spc="-5" kern="0" dirty="0">
                <a:solidFill>
                  <a:srgbClr val="1E3A5F"/>
                </a:solidFill>
                <a:latin typeface="Inter" pitchFamily="34" charset="0"/>
                <a:ea typeface="Inter" pitchFamily="34" charset="-122"/>
                <a:cs typeface="Inter" pitchFamily="34" charset="-120"/>
              </a:rPr>
              <a:t>5.7× </a:t>
            </a:r>
            <a:pPr algn="l" indent="0" marL="0">
              <a:lnSpc>
                <a:spcPct val="155000"/>
              </a:lnSpc>
              <a:buNone/>
            </a:pPr>
            <a:r>
              <a:rPr lang="en-US" sz="1050" spc="-5" kern="0" dirty="0">
                <a:solidFill>
                  <a:srgbClr val="475569"/>
                </a:solidFill>
                <a:latin typeface="Inter" pitchFamily="34" charset="0"/>
                <a:ea typeface="Inter" pitchFamily="34" charset="-122"/>
                <a:cs typeface="Inter" pitchFamily="34" charset="-120"/>
              </a:rPr>
              <a:t>— 기본 엔진의 데이터 무관 33%·100% 고정 추정에 비해</a:t>
            </a:r>
            <a:endParaRPr lang="en-US" sz="1050" dirty="0"/>
          </a:p>
        </p:txBody>
      </p:sp>
      <p:sp>
        <p:nvSpPr>
          <p:cNvPr id="14" name="Shape 12"/>
          <p:cNvSpPr/>
          <p:nvPr/>
        </p:nvSpPr>
        <p:spPr>
          <a:xfrm>
            <a:off x="5331321" y="1782961"/>
            <a:ext cx="6136779" cy="1139031"/>
          </a:xfrm>
          <a:prstGeom prst="rect">
            <a:avLst/>
          </a:prstGeom>
          <a:ln w="6350">
            <a:solidFill>
              <a:srgbClr val="E5E7EB"/>
            </a:solidFill>
            <a:prstDash val="solid"/>
          </a:ln>
        </p:spPr>
      </p:sp>
      <p:sp>
        <p:nvSpPr>
          <p:cNvPr id="15" name="Text 13"/>
          <p:cNvSpPr/>
          <p:nvPr/>
        </p:nvSpPr>
        <p:spPr>
          <a:xfrm>
            <a:off x="5490071" y="1913136"/>
            <a:ext cx="606425" cy="222250"/>
          </a:xfrm>
          <a:prstGeom prst="rect">
            <a:avLst/>
          </a:prstGeom>
          <a:noFill/>
          <a:ln/>
        </p:spPr>
        <p:txBody>
          <a:bodyPr wrap="square" lIns="25400" tIns="25400" rIns="25400" bIns="25400" rtlCol="0" anchor="t">
            <a:normAutofit/>
          </a:bodyPr>
          <a:lstStyle/>
          <a:p>
            <a:pPr algn="l" indent="0" marL="0">
              <a:buNone/>
            </a:pPr>
            <a:r>
              <a:rPr lang="en-US" sz="975" b="1" spc="90" kern="0" dirty="0">
                <a:solidFill>
                  <a:srgbClr val="64748B"/>
                </a:solidFill>
                <a:latin typeface="Inter" pitchFamily="34" charset="0"/>
                <a:ea typeface="Inter" pitchFamily="34" charset="-122"/>
                <a:cs typeface="Inter" pitchFamily="34" charset="-120"/>
              </a:rPr>
              <a:t>측정 설계</a:t>
            </a:r>
            <a:endParaRPr lang="en-US" sz="975" dirty="0"/>
          </a:p>
        </p:txBody>
      </p:sp>
      <p:sp>
        <p:nvSpPr>
          <p:cNvPr id="16" name="Text 14"/>
          <p:cNvSpPr/>
          <p:nvPr/>
        </p:nvSpPr>
        <p:spPr>
          <a:xfrm>
            <a:off x="10587534" y="1913136"/>
            <a:ext cx="798016" cy="222250"/>
          </a:xfrm>
          <a:prstGeom prst="rect">
            <a:avLst/>
          </a:prstGeom>
          <a:noFill/>
          <a:ln/>
        </p:spPr>
        <p:txBody>
          <a:bodyPr wrap="square" lIns="25400" tIns="25400" rIns="25400" bIns="25400" rtlCol="0" anchor="t">
            <a:normAutofit/>
          </a:bodyPr>
          <a:lstStyle/>
          <a:p>
            <a:pPr algn="l" indent="0" marL="0">
              <a:buNone/>
            </a:pPr>
            <a:r>
              <a:rPr lang="en-US" sz="975" b="1" spc="-4" kern="0" dirty="0">
                <a:solidFill>
                  <a:srgbClr val="1E3A5F"/>
                </a:solidFill>
                <a:latin typeface="Inter" pitchFamily="34" charset="0"/>
                <a:ea typeface="Inter" pitchFamily="34" charset="-122"/>
                <a:cs typeface="Inter" pitchFamily="34" charset="-120"/>
              </a:rPr>
              <a:t>2,880회 </a:t>
            </a:r>
            <a:pPr algn="l" indent="0" marL="0">
              <a:buNone/>
            </a:pPr>
            <a:r>
              <a:rPr lang="en-US" sz="975" spc="-4" kern="0" dirty="0">
                <a:solidFill>
                  <a:srgbClr val="64748B"/>
                </a:solidFill>
                <a:latin typeface="Inter" pitchFamily="34" charset="0"/>
                <a:ea typeface="Inter" pitchFamily="34" charset="-122"/>
                <a:cs typeface="Inter" pitchFamily="34" charset="-120"/>
              </a:rPr>
              <a:t>측정</a:t>
            </a:r>
            <a:endParaRPr lang="en-US" sz="975" dirty="0"/>
          </a:p>
        </p:txBody>
      </p:sp>
      <p:sp>
        <p:nvSpPr>
          <p:cNvPr id="17" name="Text 15"/>
          <p:cNvSpPr/>
          <p:nvPr/>
        </p:nvSpPr>
        <p:spPr>
          <a:xfrm>
            <a:off x="5490071" y="2183011"/>
            <a:ext cx="5993857" cy="230981"/>
          </a:xfrm>
          <a:prstGeom prst="rect">
            <a:avLst/>
          </a:prstGeom>
          <a:noFill/>
          <a:ln/>
        </p:spPr>
        <p:txBody>
          <a:bodyPr wrap="square" lIns="25400" tIns="25400" rIns="25400" bIns="25400" rtlCol="0" anchor="t">
            <a:normAutofit/>
          </a:bodyPr>
          <a:lstStyle/>
          <a:p>
            <a:pPr algn="l" indent="0" marL="0">
              <a:lnSpc>
                <a:spcPct val="150000"/>
              </a:lnSpc>
              <a:buNone/>
            </a:pPr>
            <a:r>
              <a:rPr lang="en-US" sz="1013" spc="-5" kern="0" dirty="0">
                <a:solidFill>
                  <a:srgbClr val="1E293B"/>
                </a:solidFill>
                <a:latin typeface="Inter" pitchFamily="34" charset="0"/>
                <a:ea typeface="Inter" pitchFamily="34" charset="-122"/>
                <a:cs typeface="Inter" pitchFamily="34" charset="-120"/>
              </a:rPr>
              <a:t>TPC-H </a:t>
            </a:r>
            <a:pPr algn="l" indent="0" marL="0">
              <a:lnSpc>
                <a:spcPct val="150000"/>
              </a:lnSpc>
              <a:buNone/>
            </a:pPr>
            <a:r>
              <a:rPr lang="en-US" sz="1013" b="1" spc="-5" kern="0" dirty="0">
                <a:solidFill>
                  <a:srgbClr val="1E293B"/>
                </a:solidFill>
                <a:latin typeface="Inter" pitchFamily="34" charset="0"/>
                <a:ea typeface="Inter" pitchFamily="34" charset="-122"/>
                <a:cs typeface="Inter" pitchFamily="34" charset="-120"/>
              </a:rPr>
              <a:t>Q3·Q9·Q10·Q12 </a:t>
            </a:r>
            <a:pPr algn="l" indent="0" marL="0">
              <a:lnSpc>
                <a:spcPct val="150000"/>
              </a:lnSpc>
              <a:buNone/>
            </a:pPr>
            <a:r>
              <a:rPr lang="en-US" sz="1013" spc="-5" kern="0" dirty="0">
                <a:solidFill>
                  <a:srgbClr val="1E293B"/>
                </a:solidFill>
                <a:latin typeface="Inter" pitchFamily="34" charset="0"/>
                <a:ea typeface="Inter" pitchFamily="34" charset="-122"/>
                <a:cs typeface="Inter" pitchFamily="34" charset="-120"/>
              </a:rPr>
              <a:t>· DEEP 8천만 벡터 · 질의 벡터 3개 × 16 변형 × 15회 반복 = </a:t>
            </a:r>
            <a:pPr algn="l" indent="0" marL="0">
              <a:lnSpc>
                <a:spcPct val="150000"/>
              </a:lnSpc>
              <a:buNone/>
            </a:pPr>
            <a:r>
              <a:rPr lang="en-US" sz="1013" b="1" spc="-5" kern="0" dirty="0">
                <a:solidFill>
                  <a:srgbClr val="1E293B"/>
                </a:solidFill>
                <a:latin typeface="Inter" pitchFamily="34" charset="0"/>
                <a:ea typeface="Inter" pitchFamily="34" charset="-122"/>
                <a:cs typeface="Inter" pitchFamily="34" charset="-120"/>
              </a:rPr>
              <a:t>12 구간</a:t>
            </a:r>
            <a:endParaRPr lang="en-US" sz="1013" dirty="0"/>
          </a:p>
        </p:txBody>
      </p:sp>
      <p:sp>
        <p:nvSpPr>
          <p:cNvPr id="18" name="Shape 16"/>
          <p:cNvSpPr/>
          <p:nvPr/>
        </p:nvSpPr>
        <p:spPr>
          <a:xfrm>
            <a:off x="5490071" y="2480667"/>
            <a:ext cx="1292820" cy="311150"/>
          </a:xfrm>
          <a:prstGeom prst="rect">
            <a:avLst/>
          </a:prstGeom>
          <a:solidFill>
            <a:srgbClr val="F8FAFC"/>
          </a:solidFill>
          <a:ln w="6350">
            <a:solidFill>
              <a:srgbClr val="E5E7EB"/>
            </a:solidFill>
            <a:prstDash val="solid"/>
          </a:ln>
        </p:spPr>
      </p:sp>
      <p:sp>
        <p:nvSpPr>
          <p:cNvPr id="19" name="Text 17"/>
          <p:cNvSpPr/>
          <p:nvPr/>
        </p:nvSpPr>
        <p:spPr>
          <a:xfrm>
            <a:off x="5534521" y="2544167"/>
            <a:ext cx="1203920" cy="222250"/>
          </a:xfrm>
          <a:prstGeom prst="rect">
            <a:avLst/>
          </a:prstGeom>
          <a:noFill/>
          <a:ln/>
        </p:spPr>
        <p:txBody>
          <a:bodyPr wrap="square" lIns="25400" tIns="25400" rIns="25400" bIns="25400" rtlCol="0" anchor="t">
            <a:normAutofit/>
          </a:bodyPr>
          <a:lstStyle/>
          <a:p>
            <a:pPr algn="ctr" indent="0" marL="0">
              <a:buNone/>
            </a:pPr>
            <a:r>
              <a:rPr lang="en-US" sz="975" b="1" spc="-4" kern="0" dirty="0">
                <a:solidFill>
                  <a:srgbClr val="1E293B"/>
                </a:solidFill>
                <a:latin typeface="Inter" pitchFamily="34" charset="0"/>
                <a:ea typeface="Inter" pitchFamily="34" charset="-122"/>
                <a:cs typeface="Inter" pitchFamily="34" charset="-120"/>
              </a:rPr>
              <a:t>추정치</a:t>
            </a:r>
            <a:endParaRPr lang="en-US" sz="975" dirty="0"/>
          </a:p>
        </p:txBody>
      </p:sp>
      <p:sp>
        <p:nvSpPr>
          <p:cNvPr id="20" name="Text 18"/>
          <p:cNvSpPr/>
          <p:nvPr/>
        </p:nvSpPr>
        <p:spPr>
          <a:xfrm>
            <a:off x="6840042" y="2480667"/>
            <a:ext cx="177800" cy="349250"/>
          </a:xfrm>
          <a:prstGeom prst="rect">
            <a:avLst/>
          </a:prstGeom>
          <a:noFill/>
          <a:ln/>
        </p:spPr>
        <p:txBody>
          <a:bodyPr wrap="square" lIns="25400" tIns="25400" rIns="25400" bIns="25400" rtlCol="0" anchor="ctr">
            <a:normAutofit/>
          </a:bodyPr>
          <a:lstStyle/>
          <a:p>
            <a:pPr algn="l" indent="0" marL="0">
              <a:buNone/>
            </a:pPr>
            <a:r>
              <a:rPr lang="en-US" sz="975" dirty="0">
                <a:solidFill>
                  <a:srgbClr val="64748B"/>
                </a:solidFill>
                <a:latin typeface="Inter" pitchFamily="34" charset="0"/>
                <a:ea typeface="Inter" pitchFamily="34" charset="-122"/>
                <a:cs typeface="Inter" pitchFamily="34" charset="-120"/>
              </a:rPr>
              <a:t>→</a:t>
            </a:r>
            <a:endParaRPr lang="en-US" sz="975" dirty="0"/>
          </a:p>
        </p:txBody>
      </p:sp>
      <p:sp>
        <p:nvSpPr>
          <p:cNvPr id="21" name="Shape 19"/>
          <p:cNvSpPr/>
          <p:nvPr/>
        </p:nvSpPr>
        <p:spPr>
          <a:xfrm>
            <a:off x="6998791" y="2480667"/>
            <a:ext cx="1292920" cy="311150"/>
          </a:xfrm>
          <a:prstGeom prst="rect">
            <a:avLst/>
          </a:prstGeom>
          <a:solidFill>
            <a:srgbClr val="F8FAFC"/>
          </a:solidFill>
          <a:ln w="6350">
            <a:solidFill>
              <a:srgbClr val="E5E7EB"/>
            </a:solidFill>
            <a:prstDash val="solid"/>
          </a:ln>
        </p:spPr>
      </p:sp>
      <p:sp>
        <p:nvSpPr>
          <p:cNvPr id="22" name="Text 20"/>
          <p:cNvSpPr/>
          <p:nvPr/>
        </p:nvSpPr>
        <p:spPr>
          <a:xfrm>
            <a:off x="7043241" y="2544167"/>
            <a:ext cx="1204020" cy="222250"/>
          </a:xfrm>
          <a:prstGeom prst="rect">
            <a:avLst/>
          </a:prstGeom>
          <a:noFill/>
          <a:ln/>
        </p:spPr>
        <p:txBody>
          <a:bodyPr wrap="square" lIns="25400" tIns="25400" rIns="25400" bIns="25400" rtlCol="0" anchor="t">
            <a:normAutofit/>
          </a:bodyPr>
          <a:lstStyle/>
          <a:p>
            <a:pPr algn="ctr" indent="0" marL="0">
              <a:buNone/>
            </a:pPr>
            <a:r>
              <a:rPr lang="en-US" sz="975" b="1" spc="-4" kern="0" dirty="0">
                <a:solidFill>
                  <a:srgbClr val="1E293B"/>
                </a:solidFill>
                <a:latin typeface="Inter" pitchFamily="34" charset="0"/>
                <a:ea typeface="Inter" pitchFamily="34" charset="-122"/>
                <a:cs typeface="Inter" pitchFamily="34" charset="-120"/>
              </a:rPr>
              <a:t>PostgreSQL 주입</a:t>
            </a:r>
            <a:endParaRPr lang="en-US" sz="975" dirty="0"/>
          </a:p>
        </p:txBody>
      </p:sp>
      <p:sp>
        <p:nvSpPr>
          <p:cNvPr id="23" name="Text 21"/>
          <p:cNvSpPr/>
          <p:nvPr/>
        </p:nvSpPr>
        <p:spPr>
          <a:xfrm>
            <a:off x="8348861" y="2480667"/>
            <a:ext cx="177800" cy="349250"/>
          </a:xfrm>
          <a:prstGeom prst="rect">
            <a:avLst/>
          </a:prstGeom>
          <a:noFill/>
          <a:ln/>
        </p:spPr>
        <p:txBody>
          <a:bodyPr wrap="square" lIns="25400" tIns="25400" rIns="25400" bIns="25400" rtlCol="0" anchor="ctr">
            <a:normAutofit/>
          </a:bodyPr>
          <a:lstStyle/>
          <a:p>
            <a:pPr algn="l" indent="0" marL="0">
              <a:buNone/>
            </a:pPr>
            <a:r>
              <a:rPr lang="en-US" sz="975" dirty="0">
                <a:solidFill>
                  <a:srgbClr val="64748B"/>
                </a:solidFill>
                <a:latin typeface="Inter" pitchFamily="34" charset="0"/>
                <a:ea typeface="Inter" pitchFamily="34" charset="-122"/>
                <a:cs typeface="Inter" pitchFamily="34" charset="-120"/>
              </a:rPr>
              <a:t>→</a:t>
            </a:r>
            <a:endParaRPr lang="en-US" sz="975" dirty="0"/>
          </a:p>
        </p:txBody>
      </p:sp>
      <p:sp>
        <p:nvSpPr>
          <p:cNvPr id="24" name="Shape 22"/>
          <p:cNvSpPr/>
          <p:nvPr/>
        </p:nvSpPr>
        <p:spPr>
          <a:xfrm>
            <a:off x="8507611" y="2480667"/>
            <a:ext cx="1292920" cy="311150"/>
          </a:xfrm>
          <a:prstGeom prst="rect">
            <a:avLst/>
          </a:prstGeom>
          <a:solidFill>
            <a:srgbClr val="F8FAFC"/>
          </a:solidFill>
          <a:ln w="6350">
            <a:solidFill>
              <a:srgbClr val="E5E7EB"/>
            </a:solidFill>
            <a:prstDash val="solid"/>
          </a:ln>
        </p:spPr>
      </p:sp>
      <p:sp>
        <p:nvSpPr>
          <p:cNvPr id="25" name="Text 23"/>
          <p:cNvSpPr/>
          <p:nvPr/>
        </p:nvSpPr>
        <p:spPr>
          <a:xfrm>
            <a:off x="8552061" y="2544167"/>
            <a:ext cx="1204020" cy="222250"/>
          </a:xfrm>
          <a:prstGeom prst="rect">
            <a:avLst/>
          </a:prstGeom>
          <a:noFill/>
          <a:ln/>
        </p:spPr>
        <p:txBody>
          <a:bodyPr wrap="square" lIns="25400" tIns="25400" rIns="25400" bIns="25400" rtlCol="0" anchor="t">
            <a:normAutofit/>
          </a:bodyPr>
          <a:lstStyle/>
          <a:p>
            <a:pPr algn="ctr" indent="0" marL="0">
              <a:buNone/>
            </a:pPr>
            <a:r>
              <a:rPr lang="en-US" sz="975" b="1" spc="-4" kern="0" dirty="0">
                <a:solidFill>
                  <a:srgbClr val="1E293B"/>
                </a:solidFill>
                <a:latin typeface="Inter" pitchFamily="34" charset="0"/>
                <a:ea typeface="Inter" pitchFamily="34" charset="-122"/>
                <a:cs typeface="Inter" pitchFamily="34" charset="-120"/>
              </a:rPr>
              <a:t>실행 계획 변화</a:t>
            </a:r>
            <a:endParaRPr lang="en-US" sz="975" dirty="0"/>
          </a:p>
        </p:txBody>
      </p:sp>
      <p:sp>
        <p:nvSpPr>
          <p:cNvPr id="26" name="Text 24"/>
          <p:cNvSpPr/>
          <p:nvPr/>
        </p:nvSpPr>
        <p:spPr>
          <a:xfrm>
            <a:off x="9857681" y="2480667"/>
            <a:ext cx="177800" cy="349250"/>
          </a:xfrm>
          <a:prstGeom prst="rect">
            <a:avLst/>
          </a:prstGeom>
          <a:noFill/>
          <a:ln/>
        </p:spPr>
        <p:txBody>
          <a:bodyPr wrap="square" lIns="25400" tIns="25400" rIns="25400" bIns="25400" rtlCol="0" anchor="ctr">
            <a:normAutofit/>
          </a:bodyPr>
          <a:lstStyle/>
          <a:p>
            <a:pPr algn="l" indent="0" marL="0">
              <a:buNone/>
            </a:pPr>
            <a:r>
              <a:rPr lang="en-US" sz="975" dirty="0">
                <a:solidFill>
                  <a:srgbClr val="64748B"/>
                </a:solidFill>
                <a:latin typeface="Inter" pitchFamily="34" charset="0"/>
                <a:ea typeface="Inter" pitchFamily="34" charset="-122"/>
                <a:cs typeface="Inter" pitchFamily="34" charset="-120"/>
              </a:rPr>
              <a:t>→</a:t>
            </a:r>
            <a:endParaRPr lang="en-US" sz="975" dirty="0"/>
          </a:p>
        </p:txBody>
      </p:sp>
      <p:sp>
        <p:nvSpPr>
          <p:cNvPr id="27" name="Shape 25"/>
          <p:cNvSpPr/>
          <p:nvPr/>
        </p:nvSpPr>
        <p:spPr>
          <a:xfrm>
            <a:off x="10016430" y="2480667"/>
            <a:ext cx="1292920" cy="311150"/>
          </a:xfrm>
          <a:prstGeom prst="rect">
            <a:avLst/>
          </a:prstGeom>
          <a:solidFill>
            <a:srgbClr val="E5F4FB"/>
          </a:solidFill>
          <a:ln w="6350">
            <a:solidFill>
              <a:srgbClr val="0EA5E9"/>
            </a:solidFill>
            <a:prstDash val="solid"/>
          </a:ln>
        </p:spPr>
      </p:sp>
      <p:sp>
        <p:nvSpPr>
          <p:cNvPr id="28" name="Text 26"/>
          <p:cNvSpPr/>
          <p:nvPr/>
        </p:nvSpPr>
        <p:spPr>
          <a:xfrm>
            <a:off x="10060880" y="2544167"/>
            <a:ext cx="1204020" cy="222250"/>
          </a:xfrm>
          <a:prstGeom prst="rect">
            <a:avLst/>
          </a:prstGeom>
          <a:noFill/>
          <a:ln/>
        </p:spPr>
        <p:txBody>
          <a:bodyPr wrap="square" lIns="25400" tIns="25400" rIns="25400" bIns="25400" rtlCol="0" anchor="t">
            <a:normAutofit/>
          </a:bodyPr>
          <a:lstStyle/>
          <a:p>
            <a:pPr algn="ctr" indent="0" marL="0">
              <a:buNone/>
            </a:pPr>
            <a:r>
              <a:rPr lang="en-US" sz="975" b="1" spc="-4" kern="0" dirty="0">
                <a:solidFill>
                  <a:srgbClr val="0EA5E9"/>
                </a:solidFill>
                <a:latin typeface="Inter" pitchFamily="34" charset="0"/>
                <a:ea typeface="Inter" pitchFamily="34" charset="-122"/>
                <a:cs typeface="Inter" pitchFamily="34" charset="-120"/>
              </a:rPr>
              <a:t>시간 측정</a:t>
            </a:r>
            <a:endParaRPr lang="en-US" sz="975" dirty="0"/>
          </a:p>
        </p:txBody>
      </p:sp>
      <p:sp>
        <p:nvSpPr>
          <p:cNvPr id="29" name="Shape 27"/>
          <p:cNvSpPr/>
          <p:nvPr/>
        </p:nvSpPr>
        <p:spPr>
          <a:xfrm>
            <a:off x="5331321" y="3026767"/>
            <a:ext cx="6136779" cy="2242939"/>
          </a:xfrm>
          <a:prstGeom prst="rect">
            <a:avLst/>
          </a:prstGeom>
          <a:ln w="6350">
            <a:solidFill>
              <a:srgbClr val="E5E7EB"/>
            </a:solidFill>
            <a:prstDash val="solid"/>
          </a:ln>
        </p:spPr>
      </p:sp>
      <p:sp>
        <p:nvSpPr>
          <p:cNvPr id="30" name="Text 28"/>
          <p:cNvSpPr/>
          <p:nvPr/>
        </p:nvSpPr>
        <p:spPr>
          <a:xfrm>
            <a:off x="5490071" y="3156942"/>
            <a:ext cx="1014611" cy="222250"/>
          </a:xfrm>
          <a:prstGeom prst="rect">
            <a:avLst/>
          </a:prstGeom>
          <a:noFill/>
          <a:ln/>
        </p:spPr>
        <p:txBody>
          <a:bodyPr wrap="square" lIns="25400" tIns="25400" rIns="25400" bIns="25400" rtlCol="0" anchor="t">
            <a:normAutofit/>
          </a:bodyPr>
          <a:lstStyle/>
          <a:p>
            <a:pPr algn="l" indent="0" marL="0">
              <a:buNone/>
            </a:pPr>
            <a:r>
              <a:rPr lang="en-US" sz="975" b="1" spc="90" kern="0" dirty="0">
                <a:solidFill>
                  <a:srgbClr val="64748B"/>
                </a:solidFill>
                <a:latin typeface="Inter" pitchFamily="34" charset="0"/>
                <a:ea typeface="Inter" pitchFamily="34" charset="-122"/>
                <a:cs typeface="Inter" pitchFamily="34" charset="-120"/>
              </a:rPr>
              <a:t>쿼리별 평균 가속</a:t>
            </a:r>
            <a:endParaRPr lang="en-US" sz="975" dirty="0"/>
          </a:p>
        </p:txBody>
      </p:sp>
      <p:sp>
        <p:nvSpPr>
          <p:cNvPr id="31" name="Text 29"/>
          <p:cNvSpPr/>
          <p:nvPr/>
        </p:nvSpPr>
        <p:spPr>
          <a:xfrm>
            <a:off x="10554295" y="3156942"/>
            <a:ext cx="831255" cy="222250"/>
          </a:xfrm>
          <a:prstGeom prst="rect">
            <a:avLst/>
          </a:prstGeom>
          <a:noFill/>
          <a:ln/>
        </p:spPr>
        <p:txBody>
          <a:bodyPr wrap="square" lIns="25400" tIns="25400" rIns="25400" bIns="25400" rtlCol="0" anchor="t">
            <a:normAutofit/>
          </a:bodyPr>
          <a:lstStyle/>
          <a:p>
            <a:pPr algn="l" indent="0" marL="0">
              <a:buNone/>
            </a:pPr>
            <a:r>
              <a:rPr lang="en-US" sz="975" spc="-4" kern="0" dirty="0">
                <a:solidFill>
                  <a:srgbClr val="64748B"/>
                </a:solidFill>
                <a:latin typeface="Inter" pitchFamily="34" charset="0"/>
                <a:ea typeface="Inter" pitchFamily="34" charset="-122"/>
                <a:cs typeface="Inter" pitchFamily="34" charset="-120"/>
              </a:rPr>
              <a:t>기본 엔진 = 1×</a:t>
            </a:r>
            <a:endParaRPr lang="en-US" sz="975" dirty="0"/>
          </a:p>
        </p:txBody>
      </p:sp>
      <p:sp>
        <p:nvSpPr>
          <p:cNvPr id="32" name="Text 30"/>
          <p:cNvSpPr/>
          <p:nvPr/>
        </p:nvSpPr>
        <p:spPr>
          <a:xfrm>
            <a:off x="5413871" y="3671987"/>
            <a:ext cx="476250" cy="190500"/>
          </a:xfrm>
          <a:prstGeom prst="rect">
            <a:avLst/>
          </a:prstGeom>
          <a:noFill/>
          <a:ln/>
        </p:spPr>
        <p:txBody>
          <a:bodyPr wrap="square" lIns="25400" tIns="25400" rIns="25400" bIns="25400" rtlCol="0" anchor="t">
            <a:normAutofit/>
          </a:bodyPr>
          <a:lstStyle/>
          <a:p>
            <a:pPr algn="r" indent="0" marL="0">
              <a:buNone/>
            </a:pPr>
            <a:r>
              <a:rPr lang="en-US" sz="975" b="1" dirty="0">
                <a:solidFill>
                  <a:srgbClr val="1E293B"/>
                </a:solidFill>
                <a:latin typeface="Inter" pitchFamily="34" charset="0"/>
                <a:ea typeface="Inter" pitchFamily="34" charset="-122"/>
                <a:cs typeface="Inter" pitchFamily="34" charset="-120"/>
              </a:rPr>
              <a:t>Q3</a:t>
            </a:r>
            <a:endParaRPr lang="en-US" sz="975" dirty="0"/>
          </a:p>
        </p:txBody>
      </p:sp>
      <p:sp>
        <p:nvSpPr>
          <p:cNvPr id="33" name="Shape 31"/>
          <p:cNvSpPr/>
          <p:nvPr/>
        </p:nvSpPr>
        <p:spPr>
          <a:xfrm>
            <a:off x="5985371" y="3662462"/>
            <a:ext cx="4695329" cy="171450"/>
          </a:xfrm>
          <a:prstGeom prst="rect">
            <a:avLst/>
          </a:prstGeom>
          <a:solidFill>
            <a:srgbClr val="F1F5F9"/>
          </a:solidFill>
          <a:ln/>
        </p:spPr>
      </p:sp>
      <p:sp>
        <p:nvSpPr>
          <p:cNvPr id="34" name="Shape 32"/>
          <p:cNvSpPr/>
          <p:nvPr/>
        </p:nvSpPr>
        <p:spPr>
          <a:xfrm>
            <a:off x="5985371" y="3662462"/>
            <a:ext cx="4695329" cy="171450"/>
          </a:xfrm>
          <a:prstGeom prst="rect">
            <a:avLst/>
          </a:prstGeom>
          <a:solidFill>
            <a:srgbClr val="1E3A5F"/>
          </a:solidFill>
          <a:ln/>
        </p:spPr>
      </p:sp>
      <p:sp>
        <p:nvSpPr>
          <p:cNvPr id="35" name="Shape 33"/>
          <p:cNvSpPr/>
          <p:nvPr/>
        </p:nvSpPr>
        <p:spPr>
          <a:xfrm>
            <a:off x="6656784" y="3643412"/>
            <a:ext cx="9525" cy="209550"/>
          </a:xfrm>
          <a:prstGeom prst="rect">
            <a:avLst/>
          </a:prstGeom>
          <a:solidFill>
            <a:srgbClr val="94A3B8">
              <a:alpha val="50000"/>
            </a:srgbClr>
          </a:solidFill>
          <a:ln/>
        </p:spPr>
      </p:sp>
      <p:sp>
        <p:nvSpPr>
          <p:cNvPr id="36" name="Text 34"/>
          <p:cNvSpPr/>
          <p:nvPr/>
        </p:nvSpPr>
        <p:spPr>
          <a:xfrm>
            <a:off x="10699750" y="3643412"/>
            <a:ext cx="609600" cy="247650"/>
          </a:xfrm>
          <a:prstGeom prst="rect">
            <a:avLst/>
          </a:prstGeom>
          <a:noFill/>
          <a:ln/>
        </p:spPr>
        <p:txBody>
          <a:bodyPr wrap="square" lIns="25400" tIns="25400" rIns="25400" bIns="25400" rtlCol="0" anchor="t">
            <a:normAutofit/>
          </a:bodyPr>
          <a:lstStyle/>
          <a:p>
            <a:pPr algn="r" indent="0" marL="0">
              <a:buNone/>
            </a:pPr>
            <a:r>
              <a:rPr lang="en-US" sz="1350" b="1" spc="-27" kern="0" dirty="0">
                <a:solidFill>
                  <a:srgbClr val="0EA5E9"/>
                </a:solidFill>
                <a:latin typeface="Inter" pitchFamily="34" charset="0"/>
                <a:ea typeface="Inter" pitchFamily="34" charset="-122"/>
                <a:cs typeface="Inter" pitchFamily="34" charset="-120"/>
              </a:rPr>
              <a:t>7.0</a:t>
            </a:r>
            <a:pPr algn="r" indent="0" marL="0">
              <a:buNone/>
            </a:pPr>
            <a:r>
              <a:rPr lang="en-US" sz="975" b="1" spc="-27" kern="0" dirty="0">
                <a:solidFill>
                  <a:srgbClr val="0EA5E9"/>
                </a:solidFill>
                <a:latin typeface="Inter" pitchFamily="34" charset="0"/>
                <a:ea typeface="Inter" pitchFamily="34" charset="-122"/>
                <a:cs typeface="Inter" pitchFamily="34" charset="-120"/>
              </a:rPr>
              <a:t>×</a:t>
            </a:r>
            <a:endParaRPr lang="en-US" sz="1350" dirty="0"/>
          </a:p>
        </p:txBody>
      </p:sp>
      <p:sp>
        <p:nvSpPr>
          <p:cNvPr id="37" name="Text 35"/>
          <p:cNvSpPr/>
          <p:nvPr/>
        </p:nvSpPr>
        <p:spPr>
          <a:xfrm>
            <a:off x="5413871" y="3938687"/>
            <a:ext cx="476250" cy="190500"/>
          </a:xfrm>
          <a:prstGeom prst="rect">
            <a:avLst/>
          </a:prstGeom>
          <a:noFill/>
          <a:ln/>
        </p:spPr>
        <p:txBody>
          <a:bodyPr wrap="square" lIns="25400" tIns="25400" rIns="25400" bIns="25400" rtlCol="0" anchor="t">
            <a:normAutofit/>
          </a:bodyPr>
          <a:lstStyle/>
          <a:p>
            <a:pPr algn="r" indent="0" marL="0">
              <a:buNone/>
            </a:pPr>
            <a:r>
              <a:rPr lang="en-US" sz="975" b="1" dirty="0">
                <a:solidFill>
                  <a:srgbClr val="1E293B"/>
                </a:solidFill>
                <a:latin typeface="Inter" pitchFamily="34" charset="0"/>
                <a:ea typeface="Inter" pitchFamily="34" charset="-122"/>
                <a:cs typeface="Inter" pitchFamily="34" charset="-120"/>
              </a:rPr>
              <a:t>Q9</a:t>
            </a:r>
            <a:endParaRPr lang="en-US" sz="975" dirty="0"/>
          </a:p>
        </p:txBody>
      </p:sp>
      <p:sp>
        <p:nvSpPr>
          <p:cNvPr id="38" name="Shape 36"/>
          <p:cNvSpPr/>
          <p:nvPr/>
        </p:nvSpPr>
        <p:spPr>
          <a:xfrm>
            <a:off x="5985371" y="3929162"/>
            <a:ext cx="4695329" cy="171450"/>
          </a:xfrm>
          <a:prstGeom prst="rect">
            <a:avLst/>
          </a:prstGeom>
          <a:solidFill>
            <a:srgbClr val="F1F5F9"/>
          </a:solidFill>
          <a:ln/>
        </p:spPr>
      </p:sp>
      <p:sp>
        <p:nvSpPr>
          <p:cNvPr id="39" name="Shape 37"/>
          <p:cNvSpPr/>
          <p:nvPr/>
        </p:nvSpPr>
        <p:spPr>
          <a:xfrm>
            <a:off x="5985371" y="3929162"/>
            <a:ext cx="2014240" cy="171450"/>
          </a:xfrm>
          <a:prstGeom prst="rect">
            <a:avLst/>
          </a:prstGeom>
          <a:solidFill>
            <a:srgbClr val="1E3A5F"/>
          </a:solidFill>
          <a:ln/>
        </p:spPr>
      </p:sp>
      <p:sp>
        <p:nvSpPr>
          <p:cNvPr id="40" name="Shape 38"/>
          <p:cNvSpPr/>
          <p:nvPr/>
        </p:nvSpPr>
        <p:spPr>
          <a:xfrm>
            <a:off x="6656784" y="3910112"/>
            <a:ext cx="9525" cy="209550"/>
          </a:xfrm>
          <a:prstGeom prst="rect">
            <a:avLst/>
          </a:prstGeom>
          <a:solidFill>
            <a:srgbClr val="94A3B8">
              <a:alpha val="50000"/>
            </a:srgbClr>
          </a:solidFill>
          <a:ln/>
        </p:spPr>
      </p:sp>
      <p:sp>
        <p:nvSpPr>
          <p:cNvPr id="41" name="Text 39"/>
          <p:cNvSpPr/>
          <p:nvPr/>
        </p:nvSpPr>
        <p:spPr>
          <a:xfrm>
            <a:off x="10699750" y="3910112"/>
            <a:ext cx="609600" cy="247650"/>
          </a:xfrm>
          <a:prstGeom prst="rect">
            <a:avLst/>
          </a:prstGeom>
          <a:noFill/>
          <a:ln/>
        </p:spPr>
        <p:txBody>
          <a:bodyPr wrap="square" lIns="25400" tIns="25400" rIns="25400" bIns="25400" rtlCol="0" anchor="t">
            <a:normAutofit/>
          </a:bodyPr>
          <a:lstStyle/>
          <a:p>
            <a:pPr algn="r" indent="0" marL="0">
              <a:buNone/>
            </a:pPr>
            <a:r>
              <a:rPr lang="en-US" sz="1350" b="1" spc="-27" kern="0" dirty="0">
                <a:solidFill>
                  <a:srgbClr val="0EA5E9"/>
                </a:solidFill>
                <a:latin typeface="Inter" pitchFamily="34" charset="0"/>
                <a:ea typeface="Inter" pitchFamily="34" charset="-122"/>
                <a:cs typeface="Inter" pitchFamily="34" charset="-120"/>
              </a:rPr>
              <a:t>3.0</a:t>
            </a:r>
            <a:pPr algn="r" indent="0" marL="0">
              <a:buNone/>
            </a:pPr>
            <a:r>
              <a:rPr lang="en-US" sz="975" b="1" spc="-27" kern="0" dirty="0">
                <a:solidFill>
                  <a:srgbClr val="0EA5E9"/>
                </a:solidFill>
                <a:latin typeface="Inter" pitchFamily="34" charset="0"/>
                <a:ea typeface="Inter" pitchFamily="34" charset="-122"/>
                <a:cs typeface="Inter" pitchFamily="34" charset="-120"/>
              </a:rPr>
              <a:t>×</a:t>
            </a:r>
            <a:endParaRPr lang="en-US" sz="1350" dirty="0"/>
          </a:p>
        </p:txBody>
      </p:sp>
      <p:sp>
        <p:nvSpPr>
          <p:cNvPr id="42" name="Text 40"/>
          <p:cNvSpPr/>
          <p:nvPr/>
        </p:nvSpPr>
        <p:spPr>
          <a:xfrm>
            <a:off x="5413871" y="4205387"/>
            <a:ext cx="476250" cy="190500"/>
          </a:xfrm>
          <a:prstGeom prst="rect">
            <a:avLst/>
          </a:prstGeom>
          <a:noFill/>
          <a:ln/>
        </p:spPr>
        <p:txBody>
          <a:bodyPr wrap="square" lIns="25400" tIns="25400" rIns="25400" bIns="25400" rtlCol="0" anchor="t">
            <a:normAutofit/>
          </a:bodyPr>
          <a:lstStyle/>
          <a:p>
            <a:pPr algn="r" indent="0" marL="0">
              <a:buNone/>
            </a:pPr>
            <a:r>
              <a:rPr lang="en-US" sz="975" b="1" dirty="0">
                <a:solidFill>
                  <a:srgbClr val="1E293B"/>
                </a:solidFill>
                <a:latin typeface="Inter" pitchFamily="34" charset="0"/>
                <a:ea typeface="Inter" pitchFamily="34" charset="-122"/>
                <a:cs typeface="Inter" pitchFamily="34" charset="-120"/>
              </a:rPr>
              <a:t>Q10</a:t>
            </a:r>
            <a:endParaRPr lang="en-US" sz="975" dirty="0"/>
          </a:p>
        </p:txBody>
      </p:sp>
      <p:sp>
        <p:nvSpPr>
          <p:cNvPr id="43" name="Shape 41"/>
          <p:cNvSpPr/>
          <p:nvPr/>
        </p:nvSpPr>
        <p:spPr>
          <a:xfrm>
            <a:off x="5985371" y="4195862"/>
            <a:ext cx="4695329" cy="171450"/>
          </a:xfrm>
          <a:prstGeom prst="rect">
            <a:avLst/>
          </a:prstGeom>
          <a:solidFill>
            <a:srgbClr val="F1F5F9"/>
          </a:solidFill>
          <a:ln/>
        </p:spPr>
      </p:sp>
      <p:sp>
        <p:nvSpPr>
          <p:cNvPr id="44" name="Shape 42"/>
          <p:cNvSpPr/>
          <p:nvPr/>
        </p:nvSpPr>
        <p:spPr>
          <a:xfrm>
            <a:off x="5985371" y="4195862"/>
            <a:ext cx="4023817" cy="171450"/>
          </a:xfrm>
          <a:prstGeom prst="rect">
            <a:avLst/>
          </a:prstGeom>
          <a:solidFill>
            <a:srgbClr val="1E3A5F"/>
          </a:solidFill>
          <a:ln/>
        </p:spPr>
      </p:sp>
      <p:sp>
        <p:nvSpPr>
          <p:cNvPr id="45" name="Shape 43"/>
          <p:cNvSpPr/>
          <p:nvPr/>
        </p:nvSpPr>
        <p:spPr>
          <a:xfrm>
            <a:off x="6656784" y="4176812"/>
            <a:ext cx="9525" cy="209550"/>
          </a:xfrm>
          <a:prstGeom prst="rect">
            <a:avLst/>
          </a:prstGeom>
          <a:solidFill>
            <a:srgbClr val="94A3B8">
              <a:alpha val="50000"/>
            </a:srgbClr>
          </a:solidFill>
          <a:ln/>
        </p:spPr>
      </p:sp>
      <p:sp>
        <p:nvSpPr>
          <p:cNvPr id="46" name="Text 44"/>
          <p:cNvSpPr/>
          <p:nvPr/>
        </p:nvSpPr>
        <p:spPr>
          <a:xfrm>
            <a:off x="10699750" y="4176812"/>
            <a:ext cx="609600" cy="247650"/>
          </a:xfrm>
          <a:prstGeom prst="rect">
            <a:avLst/>
          </a:prstGeom>
          <a:noFill/>
          <a:ln/>
        </p:spPr>
        <p:txBody>
          <a:bodyPr wrap="square" lIns="25400" tIns="25400" rIns="25400" bIns="25400" rtlCol="0" anchor="t">
            <a:normAutofit/>
          </a:bodyPr>
          <a:lstStyle/>
          <a:p>
            <a:pPr algn="r" indent="0" marL="0">
              <a:buNone/>
            </a:pPr>
            <a:r>
              <a:rPr lang="en-US" sz="1350" b="1" spc="-27" kern="0" dirty="0">
                <a:solidFill>
                  <a:srgbClr val="0EA5E9"/>
                </a:solidFill>
                <a:latin typeface="Inter" pitchFamily="34" charset="0"/>
                <a:ea typeface="Inter" pitchFamily="34" charset="-122"/>
                <a:cs typeface="Inter" pitchFamily="34" charset="-120"/>
              </a:rPr>
              <a:t>6.0</a:t>
            </a:r>
            <a:pPr algn="r" indent="0" marL="0">
              <a:buNone/>
            </a:pPr>
            <a:r>
              <a:rPr lang="en-US" sz="975" b="1" spc="-27" kern="0" dirty="0">
                <a:solidFill>
                  <a:srgbClr val="0EA5E9"/>
                </a:solidFill>
                <a:latin typeface="Inter" pitchFamily="34" charset="0"/>
                <a:ea typeface="Inter" pitchFamily="34" charset="-122"/>
                <a:cs typeface="Inter" pitchFamily="34" charset="-120"/>
              </a:rPr>
              <a:t>×</a:t>
            </a:r>
            <a:endParaRPr lang="en-US" sz="1350" dirty="0"/>
          </a:p>
        </p:txBody>
      </p:sp>
      <p:sp>
        <p:nvSpPr>
          <p:cNvPr id="47" name="Text 45"/>
          <p:cNvSpPr/>
          <p:nvPr/>
        </p:nvSpPr>
        <p:spPr>
          <a:xfrm>
            <a:off x="5413871" y="4472087"/>
            <a:ext cx="476250" cy="190500"/>
          </a:xfrm>
          <a:prstGeom prst="rect">
            <a:avLst/>
          </a:prstGeom>
          <a:noFill/>
          <a:ln/>
        </p:spPr>
        <p:txBody>
          <a:bodyPr wrap="square" lIns="25400" tIns="25400" rIns="25400" bIns="25400" rtlCol="0" anchor="t">
            <a:normAutofit/>
          </a:bodyPr>
          <a:lstStyle/>
          <a:p>
            <a:pPr algn="r" indent="0" marL="0">
              <a:buNone/>
            </a:pPr>
            <a:r>
              <a:rPr lang="en-US" sz="975" b="1" dirty="0">
                <a:solidFill>
                  <a:srgbClr val="1E293B"/>
                </a:solidFill>
                <a:latin typeface="Inter" pitchFamily="34" charset="0"/>
                <a:ea typeface="Inter" pitchFamily="34" charset="-122"/>
                <a:cs typeface="Inter" pitchFamily="34" charset="-120"/>
              </a:rPr>
              <a:t>Q12</a:t>
            </a:r>
            <a:endParaRPr lang="en-US" sz="975" dirty="0"/>
          </a:p>
        </p:txBody>
      </p:sp>
      <p:sp>
        <p:nvSpPr>
          <p:cNvPr id="48" name="Shape 46"/>
          <p:cNvSpPr/>
          <p:nvPr/>
        </p:nvSpPr>
        <p:spPr>
          <a:xfrm>
            <a:off x="5985371" y="4462562"/>
            <a:ext cx="4695329" cy="171450"/>
          </a:xfrm>
          <a:prstGeom prst="rect">
            <a:avLst/>
          </a:prstGeom>
          <a:solidFill>
            <a:srgbClr val="F1F5F9"/>
          </a:solidFill>
          <a:ln/>
        </p:spPr>
      </p:sp>
      <p:sp>
        <p:nvSpPr>
          <p:cNvPr id="49" name="Shape 47"/>
          <p:cNvSpPr/>
          <p:nvPr/>
        </p:nvSpPr>
        <p:spPr>
          <a:xfrm>
            <a:off x="5985371" y="4462562"/>
            <a:ext cx="4023817" cy="171450"/>
          </a:xfrm>
          <a:prstGeom prst="rect">
            <a:avLst/>
          </a:prstGeom>
          <a:solidFill>
            <a:srgbClr val="1E3A5F"/>
          </a:solidFill>
          <a:ln/>
        </p:spPr>
      </p:sp>
      <p:sp>
        <p:nvSpPr>
          <p:cNvPr id="50" name="Shape 48"/>
          <p:cNvSpPr/>
          <p:nvPr/>
        </p:nvSpPr>
        <p:spPr>
          <a:xfrm>
            <a:off x="6656784" y="4443512"/>
            <a:ext cx="9525" cy="209550"/>
          </a:xfrm>
          <a:prstGeom prst="rect">
            <a:avLst/>
          </a:prstGeom>
          <a:solidFill>
            <a:srgbClr val="94A3B8">
              <a:alpha val="50000"/>
            </a:srgbClr>
          </a:solidFill>
          <a:ln/>
        </p:spPr>
      </p:sp>
      <p:sp>
        <p:nvSpPr>
          <p:cNvPr id="51" name="Text 49"/>
          <p:cNvSpPr/>
          <p:nvPr/>
        </p:nvSpPr>
        <p:spPr>
          <a:xfrm>
            <a:off x="10699750" y="4443512"/>
            <a:ext cx="609600" cy="247650"/>
          </a:xfrm>
          <a:prstGeom prst="rect">
            <a:avLst/>
          </a:prstGeom>
          <a:noFill/>
          <a:ln/>
        </p:spPr>
        <p:txBody>
          <a:bodyPr wrap="square" lIns="25400" tIns="25400" rIns="25400" bIns="25400" rtlCol="0" anchor="t">
            <a:normAutofit/>
          </a:bodyPr>
          <a:lstStyle/>
          <a:p>
            <a:pPr algn="r" indent="0" marL="0">
              <a:buNone/>
            </a:pPr>
            <a:r>
              <a:rPr lang="en-US" sz="1350" b="1" spc="-27" kern="0" dirty="0">
                <a:solidFill>
                  <a:srgbClr val="0EA5E9"/>
                </a:solidFill>
                <a:latin typeface="Inter" pitchFamily="34" charset="0"/>
                <a:ea typeface="Inter" pitchFamily="34" charset="-122"/>
                <a:cs typeface="Inter" pitchFamily="34" charset="-120"/>
              </a:rPr>
              <a:t>6.0</a:t>
            </a:r>
            <a:pPr algn="r" indent="0" marL="0">
              <a:buNone/>
            </a:pPr>
            <a:r>
              <a:rPr lang="en-US" sz="975" b="1" spc="-27" kern="0" dirty="0">
                <a:solidFill>
                  <a:srgbClr val="0EA5E9"/>
                </a:solidFill>
                <a:latin typeface="Inter" pitchFamily="34" charset="0"/>
                <a:ea typeface="Inter" pitchFamily="34" charset="-122"/>
                <a:cs typeface="Inter" pitchFamily="34" charset="-120"/>
              </a:rPr>
              <a:t>×</a:t>
            </a:r>
            <a:endParaRPr lang="en-US" sz="1350" dirty="0"/>
          </a:p>
        </p:txBody>
      </p:sp>
      <p:sp>
        <p:nvSpPr>
          <p:cNvPr id="52" name="Text 50"/>
          <p:cNvSpPr/>
          <p:nvPr/>
        </p:nvSpPr>
        <p:spPr>
          <a:xfrm>
            <a:off x="5490071" y="4955381"/>
            <a:ext cx="5993857" cy="222250"/>
          </a:xfrm>
          <a:prstGeom prst="rect">
            <a:avLst/>
          </a:prstGeom>
          <a:noFill/>
          <a:ln/>
        </p:spPr>
        <p:txBody>
          <a:bodyPr wrap="square" lIns="25400" tIns="25400" rIns="25400" bIns="25400" rtlCol="0" anchor="t">
            <a:normAutofit/>
          </a:bodyPr>
          <a:lstStyle/>
          <a:p>
            <a:pPr algn="l" indent="0" marL="0">
              <a:buNone/>
            </a:pPr>
            <a:r>
              <a:rPr lang="en-US" sz="975" spc="-4" kern="0" dirty="0">
                <a:solidFill>
                  <a:srgbClr val="64748B"/>
                </a:solidFill>
                <a:latin typeface="Inter" pitchFamily="34" charset="0"/>
                <a:ea typeface="Inter" pitchFamily="34" charset="-122"/>
                <a:cs typeface="Inter" pitchFamily="34" charset="-120"/>
              </a:rPr>
              <a:t>모든 구간이 </a:t>
            </a:r>
            <a:pPr algn="l" indent="0" marL="0">
              <a:buNone/>
            </a:pPr>
            <a:r>
              <a:rPr lang="en-US" sz="975" b="1" spc="-4" kern="0" dirty="0">
                <a:solidFill>
                  <a:srgbClr val="0EA5E9"/>
                </a:solidFill>
                <a:latin typeface="Inter" pitchFamily="34" charset="0"/>
                <a:ea typeface="Inter" pitchFamily="34" charset="-122"/>
                <a:cs typeface="Inter" pitchFamily="34" charset="-120"/>
              </a:rPr>
              <a:t>1× 위</a:t>
            </a:r>
            <a:pPr algn="l" indent="0" marL="0">
              <a:buNone/>
            </a:pPr>
            <a:r>
              <a:rPr lang="en-US" sz="975" spc="-4" kern="0" dirty="0">
                <a:solidFill>
                  <a:srgbClr val="64748B"/>
                </a:solidFill>
                <a:latin typeface="Inter" pitchFamily="34" charset="0"/>
                <a:ea typeface="Inter" pitchFamily="34" charset="-122"/>
                <a:cs typeface="Inter" pitchFamily="34" charset="-120"/>
              </a:rPr>
              <a:t>로 가속 — 한 구간도 느려진 곳 없음</a:t>
            </a:r>
            <a:endParaRPr lang="en-US" sz="975" dirty="0"/>
          </a:p>
        </p:txBody>
      </p:sp>
      <p:sp>
        <p:nvSpPr>
          <p:cNvPr id="53" name="Shape 51"/>
          <p:cNvSpPr/>
          <p:nvPr/>
        </p:nvSpPr>
        <p:spPr>
          <a:xfrm>
            <a:off x="5331321" y="5374481"/>
            <a:ext cx="6136779" cy="438150"/>
          </a:xfrm>
          <a:prstGeom prst="rect">
            <a:avLst/>
          </a:prstGeom>
          <a:solidFill>
            <a:srgbClr val="FAFAFA"/>
          </a:solidFill>
          <a:ln/>
        </p:spPr>
      </p:sp>
      <p:sp>
        <p:nvSpPr>
          <p:cNvPr id="54" name="Shape 52"/>
          <p:cNvSpPr/>
          <p:nvPr/>
        </p:nvSpPr>
        <p:spPr>
          <a:xfrm>
            <a:off x="5331321" y="5374481"/>
            <a:ext cx="25400" cy="438150"/>
          </a:xfrm>
          <a:prstGeom prst="rect">
            <a:avLst/>
          </a:prstGeom>
          <a:solidFill>
            <a:srgbClr val="10B981"/>
          </a:solidFill>
          <a:ln/>
        </p:spPr>
      </p:sp>
      <p:sp>
        <p:nvSpPr>
          <p:cNvPr id="55" name="Text 53"/>
          <p:cNvSpPr/>
          <p:nvPr/>
        </p:nvSpPr>
        <p:spPr>
          <a:xfrm>
            <a:off x="5509121" y="5479256"/>
            <a:ext cx="620911"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54" kern="0" dirty="0">
                <a:solidFill>
                  <a:srgbClr val="10B981"/>
                </a:solidFill>
                <a:latin typeface="Inter" pitchFamily="34" charset="0"/>
                <a:ea typeface="Inter" pitchFamily="34" charset="-122"/>
                <a:cs typeface="Inter" pitchFamily="34" charset="-120"/>
              </a:rPr>
              <a:t>100</a:t>
            </a:r>
            <a:pPr algn="l" indent="0" marL="0">
              <a:lnSpc>
                <a:spcPct val="100000"/>
              </a:lnSpc>
              <a:buNone/>
            </a:pPr>
            <a:r>
              <a:rPr lang="en-US" sz="990" b="1" spc="-54" kern="0" dirty="0">
                <a:solidFill>
                  <a:srgbClr val="10B981"/>
                </a:solidFill>
                <a:latin typeface="Inter" pitchFamily="34" charset="0"/>
                <a:ea typeface="Inter" pitchFamily="34" charset="-122"/>
                <a:cs typeface="Inter" pitchFamily="34" charset="-120"/>
              </a:rPr>
              <a:t>%</a:t>
            </a:r>
            <a:endParaRPr lang="en-US" sz="1800" dirty="0"/>
          </a:p>
        </p:txBody>
      </p:sp>
      <p:sp>
        <p:nvSpPr>
          <p:cNvPr id="56" name="Text 54"/>
          <p:cNvSpPr/>
          <p:nvPr/>
        </p:nvSpPr>
        <p:spPr>
          <a:xfrm>
            <a:off x="6187182" y="5500291"/>
            <a:ext cx="4092820" cy="224532"/>
          </a:xfrm>
          <a:prstGeom prst="rect">
            <a:avLst/>
          </a:prstGeom>
          <a:noFill/>
          <a:ln/>
        </p:spPr>
        <p:txBody>
          <a:bodyPr wrap="square" lIns="25400" tIns="25400" rIns="25400" bIns="25400" rtlCol="0" anchor="t">
            <a:normAutofit/>
          </a:bodyPr>
          <a:lstStyle/>
          <a:p>
            <a:pPr algn="l" indent="0" marL="0">
              <a:lnSpc>
                <a:spcPct val="145000"/>
              </a:lnSpc>
              <a:buNone/>
            </a:pPr>
            <a:r>
              <a:rPr lang="en-US" sz="1013" spc="-5" kern="0" dirty="0">
                <a:solidFill>
                  <a:srgbClr val="1E293B"/>
                </a:solidFill>
                <a:latin typeface="Inter" pitchFamily="34" charset="0"/>
                <a:ea typeface="Inter" pitchFamily="34" charset="-122"/>
                <a:cs typeface="Inter" pitchFamily="34" charset="-120"/>
              </a:rPr>
              <a:t>기본 엔진 대비 </a:t>
            </a:r>
            <a:pPr algn="l" indent="0" marL="0">
              <a:lnSpc>
                <a:spcPct val="145000"/>
              </a:lnSpc>
              <a:buNone/>
            </a:pPr>
            <a:r>
              <a:rPr lang="en-US" sz="1013" b="1" spc="-5" kern="0" dirty="0">
                <a:solidFill>
                  <a:srgbClr val="1E293B"/>
                </a:solidFill>
                <a:latin typeface="Inter" pitchFamily="34" charset="0"/>
                <a:ea typeface="Inter" pitchFamily="34" charset="-122"/>
                <a:cs typeface="Inter" pitchFamily="34" charset="-120"/>
              </a:rPr>
              <a:t>180건 짝지은 통계 검정 </a:t>
            </a:r>
            <a:pPr algn="l" indent="0" marL="0">
              <a:lnSpc>
                <a:spcPct val="145000"/>
              </a:lnSpc>
              <a:buNone/>
            </a:pPr>
            <a:r>
              <a:rPr lang="en-US" sz="1013" spc="-5" kern="0" dirty="0">
                <a:solidFill>
                  <a:srgbClr val="1E293B"/>
                </a:solidFill>
                <a:latin typeface="Inter" pitchFamily="34" charset="0"/>
                <a:ea typeface="Inter" pitchFamily="34" charset="-122"/>
                <a:cs typeface="Inter" pitchFamily="34" charset="-120"/>
              </a:rPr>
              <a:t>100% 유의 — 의심의 여지 없는 가속</a:t>
            </a:r>
            <a:endParaRPr lang="en-US" sz="1013" dirty="0"/>
          </a:p>
        </p:txBody>
      </p:sp>
      <p:sp>
        <p:nvSpPr>
          <p:cNvPr id="57" name="Shape 55"/>
          <p:cNvSpPr/>
          <p:nvPr/>
        </p:nvSpPr>
        <p:spPr>
          <a:xfrm>
            <a:off x="723900" y="5945981"/>
            <a:ext cx="10744200" cy="416719"/>
          </a:xfrm>
          <a:prstGeom prst="rect">
            <a:avLst/>
          </a:prstGeom>
          <a:solidFill>
            <a:srgbClr val="1E3A5F"/>
          </a:solidFill>
          <a:ln/>
        </p:spPr>
      </p:sp>
      <p:sp>
        <p:nvSpPr>
          <p:cNvPr id="58" name="Shape 56"/>
          <p:cNvSpPr/>
          <p:nvPr/>
        </p:nvSpPr>
        <p:spPr>
          <a:xfrm>
            <a:off x="723900" y="5945981"/>
            <a:ext cx="25400" cy="416719"/>
          </a:xfrm>
          <a:prstGeom prst="rect">
            <a:avLst/>
          </a:prstGeom>
          <a:solidFill>
            <a:srgbClr val="0EA5E9"/>
          </a:solidFill>
          <a:ln/>
        </p:spPr>
      </p:sp>
      <p:sp>
        <p:nvSpPr>
          <p:cNvPr id="59" name="Text 57"/>
          <p:cNvSpPr/>
          <p:nvPr/>
        </p:nvSpPr>
        <p:spPr>
          <a:xfrm>
            <a:off x="920750" y="6050756"/>
            <a:ext cx="10698226" cy="245269"/>
          </a:xfrm>
          <a:prstGeom prst="rect">
            <a:avLst/>
          </a:prstGeom>
          <a:noFill/>
          <a:ln/>
        </p:spPr>
        <p:txBody>
          <a:bodyPr wrap="square" lIns="25400" tIns="25400" rIns="25400" bIns="25400" rtlCol="0" anchor="t">
            <a:normAutofit/>
          </a:bodyPr>
          <a:lstStyle/>
          <a:p>
            <a:pPr algn="l" indent="0" marL="0">
              <a:lnSpc>
                <a:spcPct val="150000"/>
              </a:lnSpc>
              <a:buNone/>
            </a:pPr>
            <a:r>
              <a:rPr lang="en-US" sz="1088" spc="-5" kern="0" dirty="0">
                <a:solidFill>
                  <a:srgbClr val="FFFFFF"/>
                </a:solidFill>
                <a:highlight>
                  <a:srgbClr val="1E3A5F"/>
                </a:highlight>
                <a:latin typeface="Inter" pitchFamily="34" charset="0"/>
                <a:ea typeface="Inter" pitchFamily="34" charset="-122"/>
                <a:cs typeface="Inter" pitchFamily="34" charset="-120"/>
              </a:rPr>
              <a:t>추정치를 정확히 주입하기만 하면, 기본 엔진보다 </a:t>
            </a:r>
            <a:pPr algn="l" indent="0" marL="0">
              <a:lnSpc>
                <a:spcPct val="150000"/>
              </a:lnSpc>
              <a:buNone/>
            </a:pPr>
            <a:r>
              <a:rPr lang="en-US" sz="1088" b="1" spc="-5" kern="0" dirty="0">
                <a:solidFill>
                  <a:srgbClr val="7DD3FC"/>
                </a:solidFill>
                <a:latin typeface="Inter" pitchFamily="34" charset="0"/>
                <a:ea typeface="Inter" pitchFamily="34" charset="-122"/>
                <a:cs typeface="Inter" pitchFamily="34" charset="-120"/>
              </a:rPr>
              <a:t>평균 5.7배 </a:t>
            </a:r>
            <a:pPr algn="l" indent="0" marL="0">
              <a:lnSpc>
                <a:spcPct val="150000"/>
              </a:lnSpc>
              <a:buNone/>
            </a:pPr>
            <a:r>
              <a:rPr lang="en-US" sz="1088" spc="-5" kern="0" dirty="0">
                <a:solidFill>
                  <a:srgbClr val="FFFFFF"/>
                </a:solidFill>
                <a:highlight>
                  <a:srgbClr val="1E3A5F"/>
                </a:highlight>
                <a:latin typeface="Inter" pitchFamily="34" charset="0"/>
                <a:ea typeface="Inter" pitchFamily="34" charset="-122"/>
                <a:cs typeface="Inter" pitchFamily="34" charset="-120"/>
              </a:rPr>
              <a:t>빠른 실행 계획을 만든다</a:t>
            </a:r>
            <a:endParaRPr lang="en-US" sz="1088"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285750"/>
            <a:ext cx="497979" cy="222250"/>
          </a:xfrm>
          <a:prstGeom prst="rect">
            <a:avLst/>
          </a:prstGeom>
          <a:noFill/>
          <a:ln/>
        </p:spPr>
        <p:txBody>
          <a:bodyPr wrap="square" lIns="25400" tIns="25400" rIns="25400" bIns="25400" rtlCol="0" anchor="ctr">
            <a:normAutofit/>
          </a:bodyPr>
          <a:lstStyle/>
          <a:p>
            <a:pPr algn="l" indent="0" marL="0">
              <a:buNone/>
            </a:pPr>
            <a:r>
              <a:rPr lang="en-US" sz="975" b="1" spc="116" kern="0" dirty="0">
                <a:solidFill>
                  <a:srgbClr val="10B981"/>
                </a:solidFill>
                <a:latin typeface="Inter" pitchFamily="34" charset="0"/>
                <a:ea typeface="Inter" pitchFamily="34" charset="-122"/>
                <a:cs typeface="Inter" pitchFamily="34" charset="-120"/>
              </a:rPr>
              <a:t>결과</a:t>
            </a:r>
            <a:endParaRPr lang="en-US" sz="975" dirty="0"/>
          </a:p>
        </p:txBody>
      </p:sp>
      <p:sp>
        <p:nvSpPr>
          <p:cNvPr id="3" name="Text 1"/>
          <p:cNvSpPr/>
          <p:nvPr/>
        </p:nvSpPr>
        <p:spPr>
          <a:xfrm>
            <a:off x="723900" y="533400"/>
            <a:ext cx="10791825" cy="520005"/>
          </a:xfrm>
          <a:prstGeom prst="rect">
            <a:avLst/>
          </a:prstGeom>
          <a:noFill/>
          <a:ln/>
        </p:spPr>
        <p:txBody>
          <a:bodyPr wrap="square" lIns="25400" tIns="25400" rIns="25400" bIns="25400" rtlCol="0" anchor="t">
            <a:normAutofit/>
          </a:bodyPr>
          <a:lstStyle/>
          <a:p>
            <a:pPr algn="l" indent="0" marL="0">
              <a:lnSpc>
                <a:spcPct val="115000"/>
              </a:lnSpc>
              <a:buNone/>
            </a:pPr>
            <a:r>
              <a:rPr lang="en-US" sz="3300" b="1" spc="-82" kern="0" dirty="0">
                <a:solidFill>
                  <a:srgbClr val="1E3A5F"/>
                </a:solidFill>
                <a:latin typeface="Inter" pitchFamily="34" charset="0"/>
                <a:ea typeface="Inter" pitchFamily="34" charset="-122"/>
                <a:cs typeface="Inter" pitchFamily="34" charset="-120"/>
              </a:rPr>
              <a:t>결합 방식이 정답 계획을 94.9% 견고하게 회복한다</a:t>
            </a:r>
            <a:endParaRPr lang="en-US" sz="3300" dirty="0"/>
          </a:p>
        </p:txBody>
      </p:sp>
      <p:sp>
        <p:nvSpPr>
          <p:cNvPr id="4" name="Shape 2"/>
          <p:cNvSpPr/>
          <p:nvPr/>
        </p:nvSpPr>
        <p:spPr>
          <a:xfrm>
            <a:off x="723900" y="1148655"/>
            <a:ext cx="381000" cy="28575"/>
          </a:xfrm>
          <a:prstGeom prst="rect">
            <a:avLst/>
          </a:prstGeom>
          <a:solidFill>
            <a:srgbClr val="10B981"/>
          </a:solidFill>
          <a:ln/>
        </p:spPr>
      </p:sp>
      <p:sp>
        <p:nvSpPr>
          <p:cNvPr id="5" name="Shape 3"/>
          <p:cNvSpPr/>
          <p:nvPr/>
        </p:nvSpPr>
        <p:spPr>
          <a:xfrm>
            <a:off x="723900" y="1301055"/>
            <a:ext cx="4264521" cy="4511576"/>
          </a:xfrm>
          <a:prstGeom prst="rect">
            <a:avLst/>
          </a:prstGeom>
          <a:solidFill>
            <a:srgbClr val="F2FAFD"/>
          </a:solidFill>
          <a:ln/>
        </p:spPr>
      </p:sp>
      <p:sp>
        <p:nvSpPr>
          <p:cNvPr id="6" name="Text 4"/>
          <p:cNvSpPr/>
          <p:nvPr/>
        </p:nvSpPr>
        <p:spPr>
          <a:xfrm>
            <a:off x="952500" y="1491555"/>
            <a:ext cx="3921541" cy="222250"/>
          </a:xfrm>
          <a:prstGeom prst="rect">
            <a:avLst/>
          </a:prstGeom>
          <a:noFill/>
          <a:ln/>
        </p:spPr>
        <p:txBody>
          <a:bodyPr wrap="square" lIns="25400" tIns="25400" rIns="25400" bIns="25400" rtlCol="0" anchor="t">
            <a:normAutofit/>
          </a:bodyPr>
          <a:lstStyle/>
          <a:p>
            <a:pPr algn="l" indent="0" marL="0">
              <a:buNone/>
            </a:pPr>
            <a:r>
              <a:rPr lang="en-US" sz="975" b="1" spc="90" kern="0" dirty="0">
                <a:solidFill>
                  <a:srgbClr val="64748B"/>
                </a:solidFill>
                <a:latin typeface="Inter" pitchFamily="34" charset="0"/>
                <a:ea typeface="Inter" pitchFamily="34" charset="-122"/>
                <a:cs typeface="Inter" pitchFamily="34" charset="-120"/>
              </a:rPr>
              <a:t>정답 계획 회복률</a:t>
            </a:r>
            <a:endParaRPr lang="en-US" sz="975" dirty="0"/>
          </a:p>
        </p:txBody>
      </p:sp>
      <p:sp>
        <p:nvSpPr>
          <p:cNvPr id="7" name="Shape 5"/>
          <p:cNvSpPr/>
          <p:nvPr/>
        </p:nvSpPr>
        <p:spPr>
          <a:xfrm>
            <a:off x="952500" y="1809056"/>
            <a:ext cx="3807321" cy="1240532"/>
          </a:xfrm>
          <a:prstGeom prst="rect">
            <a:avLst/>
          </a:prstGeom>
          <a:solidFill>
            <a:srgbClr val="1E3A5F"/>
          </a:solidFill>
          <a:ln/>
        </p:spPr>
      </p:sp>
      <p:sp>
        <p:nvSpPr>
          <p:cNvPr id="8" name="Text 6"/>
          <p:cNvSpPr/>
          <p:nvPr/>
        </p:nvSpPr>
        <p:spPr>
          <a:xfrm>
            <a:off x="952500" y="1809056"/>
            <a:ext cx="3921541" cy="1278632"/>
          </a:xfrm>
          <a:prstGeom prst="rect">
            <a:avLst/>
          </a:prstGeom>
          <a:noFill/>
          <a:ln/>
        </p:spPr>
        <p:txBody>
          <a:bodyPr wrap="square" lIns="25400" tIns="25400" rIns="25400" bIns="25400" rtlCol="0" anchor="t">
            <a:normAutofit/>
          </a:bodyPr>
          <a:lstStyle/>
          <a:p>
            <a:pPr algn="l" indent="0" marL="0">
              <a:lnSpc>
                <a:spcPct val="88000"/>
              </a:lnSpc>
              <a:buNone/>
            </a:pPr>
            <a:r>
              <a:rPr lang="en-US" sz="11100" b="1" spc="-555" kern="0" dirty="0">
                <a:solidFill>
                  <a:srgbClr val="000000"/>
                </a:solidFill>
                <a:latin typeface="Inter" pitchFamily="34" charset="0"/>
                <a:ea typeface="Inter" pitchFamily="34" charset="-122"/>
                <a:cs typeface="Inter" pitchFamily="34" charset="-120"/>
              </a:rPr>
              <a:t>94.9</a:t>
            </a:r>
            <a:pPr algn="l" indent="0" marL="0">
              <a:lnSpc>
                <a:spcPct val="88000"/>
              </a:lnSpc>
              <a:buNone/>
            </a:pPr>
            <a:r>
              <a:rPr lang="en-US" sz="4662" b="1" spc="-555" kern="0" dirty="0">
                <a:solidFill>
                  <a:srgbClr val="000000"/>
                </a:solidFill>
                <a:latin typeface="Inter" pitchFamily="34" charset="0"/>
                <a:ea typeface="Inter" pitchFamily="34" charset="-122"/>
                <a:cs typeface="Inter" pitchFamily="34" charset="-120"/>
              </a:rPr>
              <a:t>%</a:t>
            </a:r>
            <a:endParaRPr lang="en-US" sz="11100" dirty="0"/>
          </a:p>
        </p:txBody>
      </p:sp>
      <p:sp>
        <p:nvSpPr>
          <p:cNvPr id="9" name="Shape 7"/>
          <p:cNvSpPr/>
          <p:nvPr/>
        </p:nvSpPr>
        <p:spPr>
          <a:xfrm>
            <a:off x="952500" y="3182938"/>
            <a:ext cx="2667000" cy="95250"/>
          </a:xfrm>
          <a:prstGeom prst="rect">
            <a:avLst/>
          </a:prstGeom>
          <a:solidFill>
            <a:srgbClr val="F1F5F9"/>
          </a:solidFill>
          <a:ln/>
        </p:spPr>
      </p:sp>
      <p:sp>
        <p:nvSpPr>
          <p:cNvPr id="10" name="Shape 8"/>
          <p:cNvSpPr/>
          <p:nvPr/>
        </p:nvSpPr>
        <p:spPr>
          <a:xfrm>
            <a:off x="952500" y="3182938"/>
            <a:ext cx="2530971" cy="95250"/>
          </a:xfrm>
          <a:prstGeom prst="rect">
            <a:avLst/>
          </a:prstGeom>
          <a:solidFill>
            <a:srgbClr val="1E3A5F"/>
          </a:solidFill>
          <a:ln/>
        </p:spPr>
      </p:sp>
      <p:sp>
        <p:nvSpPr>
          <p:cNvPr id="11" name="Text 9"/>
          <p:cNvSpPr/>
          <p:nvPr/>
        </p:nvSpPr>
        <p:spPr>
          <a:xfrm>
            <a:off x="952500" y="3411538"/>
            <a:ext cx="3921541" cy="491331"/>
          </a:xfrm>
          <a:prstGeom prst="rect">
            <a:avLst/>
          </a:prstGeom>
          <a:noFill/>
          <a:ln/>
        </p:spPr>
        <p:txBody>
          <a:bodyPr wrap="square" lIns="25400" tIns="25400" rIns="25400" bIns="25400" rtlCol="0" anchor="t">
            <a:normAutofit/>
          </a:bodyPr>
          <a:lstStyle/>
          <a:p>
            <a:pPr algn="l" indent="0" marL="0">
              <a:lnSpc>
                <a:spcPct val="140000"/>
              </a:lnSpc>
              <a:buNone/>
            </a:pPr>
            <a:r>
              <a:rPr lang="en-US" sz="1275" b="1" spc="-13" kern="0" dirty="0">
                <a:solidFill>
                  <a:srgbClr val="1E293B"/>
                </a:solidFill>
                <a:latin typeface="Inter" pitchFamily="34" charset="0"/>
                <a:ea typeface="Inter" pitchFamily="34" charset="-122"/>
                <a:cs typeface="Inter" pitchFamily="34" charset="-120"/>
              </a:rPr>
              <a:t>결합 방식 13종 평균 — 148 / 156 구간 회복</a:t>
            </a:r>
            <a:endParaRPr lang="en-US" sz="1275" dirty="0"/>
          </a:p>
        </p:txBody>
      </p:sp>
      <p:sp>
        <p:nvSpPr>
          <p:cNvPr id="12" name="Shape 10"/>
          <p:cNvSpPr/>
          <p:nvPr/>
        </p:nvSpPr>
        <p:spPr>
          <a:xfrm>
            <a:off x="952500" y="5275759"/>
            <a:ext cx="3807321" cy="9525"/>
          </a:xfrm>
          <a:prstGeom prst="rect">
            <a:avLst/>
          </a:prstGeom>
          <a:solidFill>
            <a:srgbClr val="E5E7EB"/>
          </a:solidFill>
          <a:ln/>
        </p:spPr>
      </p:sp>
      <p:sp>
        <p:nvSpPr>
          <p:cNvPr id="13" name="Text 11"/>
          <p:cNvSpPr/>
          <p:nvPr/>
        </p:nvSpPr>
        <p:spPr>
          <a:xfrm>
            <a:off x="952500" y="5415459"/>
            <a:ext cx="3921541" cy="244773"/>
          </a:xfrm>
          <a:prstGeom prst="rect">
            <a:avLst/>
          </a:prstGeom>
          <a:noFill/>
          <a:ln/>
        </p:spPr>
        <p:txBody>
          <a:bodyPr wrap="square" lIns="25400" tIns="25400" rIns="25400" bIns="25400" rtlCol="0" anchor="t">
            <a:normAutofit/>
          </a:bodyPr>
          <a:lstStyle/>
          <a:p>
            <a:pPr algn="l" indent="0" marL="0">
              <a:lnSpc>
                <a:spcPct val="155000"/>
              </a:lnSpc>
              <a:buNone/>
            </a:pPr>
            <a:r>
              <a:rPr lang="en-US" sz="1050" spc="-5" kern="0" dirty="0">
                <a:solidFill>
                  <a:srgbClr val="475569"/>
                </a:solidFill>
                <a:latin typeface="Inter" pitchFamily="34" charset="0"/>
                <a:ea typeface="Inter" pitchFamily="34" charset="-122"/>
                <a:cs typeface="Inter" pitchFamily="34" charset="-120"/>
              </a:rPr>
              <a:t>질의 벡터와 무관하게 견고. 회복 실패 8건은 </a:t>
            </a:r>
            <a:pPr algn="l" indent="0" marL="0">
              <a:lnSpc>
                <a:spcPct val="155000"/>
              </a:lnSpc>
              <a:buNone/>
            </a:pPr>
            <a:r>
              <a:rPr lang="en-US" sz="1050" b="1" spc="-5" kern="0" dirty="0">
                <a:solidFill>
                  <a:srgbClr val="1E3A5F"/>
                </a:solidFill>
                <a:latin typeface="Inter" pitchFamily="34" charset="0"/>
                <a:ea typeface="Inter" pitchFamily="34" charset="-122"/>
                <a:cs typeface="Inter" pitchFamily="34" charset="-120"/>
              </a:rPr>
              <a:t>모두 Q3 한정</a:t>
            </a:r>
            <a:pPr algn="l" indent="0" marL="0">
              <a:lnSpc>
                <a:spcPct val="155000"/>
              </a:lnSpc>
              <a:buNone/>
            </a:pPr>
            <a:r>
              <a:rPr lang="en-US" sz="1050" spc="-5" kern="0" dirty="0">
                <a:solidFill>
                  <a:srgbClr val="475569"/>
                </a:solidFill>
                <a:latin typeface="Inter" pitchFamily="34" charset="0"/>
                <a:ea typeface="Inter" pitchFamily="34" charset="-122"/>
                <a:cs typeface="Inter" pitchFamily="34" charset="-120"/>
              </a:rPr>
              <a:t>.</a:t>
            </a:r>
            <a:endParaRPr lang="en-US" sz="1050" dirty="0"/>
          </a:p>
        </p:txBody>
      </p:sp>
      <p:sp>
        <p:nvSpPr>
          <p:cNvPr id="14" name="Shape 12"/>
          <p:cNvSpPr/>
          <p:nvPr/>
        </p:nvSpPr>
        <p:spPr>
          <a:xfrm>
            <a:off x="5331321" y="1301055"/>
            <a:ext cx="3011190" cy="1298575"/>
          </a:xfrm>
          <a:prstGeom prst="rect">
            <a:avLst/>
          </a:prstGeom>
          <a:solidFill>
            <a:srgbClr val="FFFFFF"/>
          </a:solidFill>
          <a:ln/>
        </p:spPr>
      </p:sp>
      <p:sp>
        <p:nvSpPr>
          <p:cNvPr id="15" name="Shape 13"/>
          <p:cNvSpPr/>
          <p:nvPr/>
        </p:nvSpPr>
        <p:spPr>
          <a:xfrm>
            <a:off x="5331321" y="2593281"/>
            <a:ext cx="3011190" cy="9525"/>
          </a:xfrm>
          <a:prstGeom prst="rect">
            <a:avLst/>
          </a:prstGeom>
          <a:solidFill>
            <a:srgbClr val="F97316"/>
          </a:solidFill>
          <a:ln/>
        </p:spPr>
      </p:sp>
      <p:sp>
        <p:nvSpPr>
          <p:cNvPr id="16" name="Shape 14"/>
          <p:cNvSpPr/>
          <p:nvPr/>
        </p:nvSpPr>
        <p:spPr>
          <a:xfrm>
            <a:off x="5331321" y="1301055"/>
            <a:ext cx="3011190" cy="25400"/>
          </a:xfrm>
          <a:prstGeom prst="rect">
            <a:avLst/>
          </a:prstGeom>
          <a:solidFill>
            <a:srgbClr val="F97316"/>
          </a:solidFill>
          <a:ln/>
        </p:spPr>
      </p:sp>
      <p:sp>
        <p:nvSpPr>
          <p:cNvPr id="17" name="Shape 15"/>
          <p:cNvSpPr/>
          <p:nvPr/>
        </p:nvSpPr>
        <p:spPr>
          <a:xfrm>
            <a:off x="5331321" y="1301055"/>
            <a:ext cx="9525" cy="1298575"/>
          </a:xfrm>
          <a:prstGeom prst="rect">
            <a:avLst/>
          </a:prstGeom>
          <a:solidFill>
            <a:srgbClr val="F97316"/>
          </a:solidFill>
          <a:ln/>
        </p:spPr>
      </p:sp>
      <p:sp>
        <p:nvSpPr>
          <p:cNvPr id="18" name="Shape 16"/>
          <p:cNvSpPr/>
          <p:nvPr/>
        </p:nvSpPr>
        <p:spPr>
          <a:xfrm>
            <a:off x="8336161" y="1301055"/>
            <a:ext cx="9525" cy="1298575"/>
          </a:xfrm>
          <a:prstGeom prst="rect">
            <a:avLst/>
          </a:prstGeom>
          <a:solidFill>
            <a:srgbClr val="F97316"/>
          </a:solidFill>
          <a:ln/>
        </p:spPr>
      </p:sp>
      <p:sp>
        <p:nvSpPr>
          <p:cNvPr id="19" name="Text 17"/>
          <p:cNvSpPr/>
          <p:nvPr/>
        </p:nvSpPr>
        <p:spPr>
          <a:xfrm>
            <a:off x="5490071" y="1450281"/>
            <a:ext cx="2774501" cy="222250"/>
          </a:xfrm>
          <a:prstGeom prst="rect">
            <a:avLst/>
          </a:prstGeom>
          <a:noFill/>
          <a:ln/>
        </p:spPr>
        <p:txBody>
          <a:bodyPr wrap="square" lIns="25400" tIns="25400" rIns="25400" bIns="25400" rtlCol="0" anchor="t">
            <a:normAutofit/>
          </a:bodyPr>
          <a:lstStyle/>
          <a:p>
            <a:pPr algn="l" indent="0" marL="0">
              <a:buNone/>
            </a:pPr>
            <a:r>
              <a:rPr lang="en-US" sz="975" b="1" spc="54" kern="0" dirty="0">
                <a:solidFill>
                  <a:srgbClr val="F97316"/>
                </a:solidFill>
                <a:latin typeface="Inter" pitchFamily="34" charset="0"/>
                <a:ea typeface="Inter" pitchFamily="34" charset="-122"/>
                <a:cs typeface="Inter" pitchFamily="34" charset="-120"/>
              </a:rPr>
              <a:t>베이스라인 방식</a:t>
            </a:r>
            <a:endParaRPr lang="en-US" sz="975" dirty="0"/>
          </a:p>
        </p:txBody>
      </p:sp>
      <p:sp>
        <p:nvSpPr>
          <p:cNvPr id="20" name="Text 18"/>
          <p:cNvSpPr/>
          <p:nvPr/>
        </p:nvSpPr>
        <p:spPr>
          <a:xfrm>
            <a:off x="5490071" y="1701105"/>
            <a:ext cx="544413" cy="361950"/>
          </a:xfrm>
          <a:prstGeom prst="rect">
            <a:avLst/>
          </a:prstGeom>
          <a:noFill/>
          <a:ln/>
        </p:spPr>
        <p:txBody>
          <a:bodyPr wrap="square" lIns="25400" tIns="25400" rIns="25400" bIns="25400" rtlCol="0" anchor="t">
            <a:normAutofit/>
          </a:bodyPr>
          <a:lstStyle/>
          <a:p>
            <a:pPr algn="l" indent="0" marL="0">
              <a:lnSpc>
                <a:spcPct val="100000"/>
              </a:lnSpc>
              <a:buNone/>
            </a:pPr>
            <a:r>
              <a:rPr lang="en-US" sz="2550" b="1" spc="-76" kern="0" dirty="0">
                <a:solidFill>
                  <a:srgbClr val="F97316"/>
                </a:solidFill>
                <a:latin typeface="Inter" pitchFamily="34" charset="0"/>
                <a:ea typeface="Inter" pitchFamily="34" charset="-122"/>
                <a:cs typeface="Inter" pitchFamily="34" charset="-120"/>
              </a:rPr>
              <a:t>7</a:t>
            </a:r>
            <a:pPr algn="l" indent="0" marL="0">
              <a:lnSpc>
                <a:spcPct val="100000"/>
              </a:lnSpc>
              <a:buNone/>
            </a:pPr>
            <a:r>
              <a:rPr lang="en-US" sz="1402" b="1" spc="-76" kern="0" dirty="0">
                <a:solidFill>
                  <a:srgbClr val="64748B"/>
                </a:solidFill>
                <a:latin typeface="Inter" pitchFamily="34" charset="0"/>
                <a:ea typeface="Inter" pitchFamily="34" charset="-122"/>
                <a:cs typeface="Inter" pitchFamily="34" charset="-120"/>
              </a:rPr>
              <a:t>/12</a:t>
            </a:r>
            <a:endParaRPr lang="en-US" sz="2550" dirty="0"/>
          </a:p>
        </p:txBody>
      </p:sp>
      <p:sp>
        <p:nvSpPr>
          <p:cNvPr id="21" name="Text 19"/>
          <p:cNvSpPr/>
          <p:nvPr/>
        </p:nvSpPr>
        <p:spPr>
          <a:xfrm>
            <a:off x="6053535" y="1840806"/>
            <a:ext cx="1238746" cy="228600"/>
          </a:xfrm>
          <a:prstGeom prst="rect">
            <a:avLst/>
          </a:prstGeom>
          <a:noFill/>
          <a:ln/>
        </p:spPr>
        <p:txBody>
          <a:bodyPr wrap="square" lIns="25400" tIns="25400" rIns="25400" bIns="25400" rtlCol="0" anchor="t">
            <a:normAutofit/>
          </a:bodyPr>
          <a:lstStyle/>
          <a:p>
            <a:pPr algn="l" indent="0" marL="0">
              <a:buNone/>
            </a:pPr>
            <a:r>
              <a:rPr lang="en-US" sz="1013" b="1" spc="-5" kern="0" dirty="0">
                <a:solidFill>
                  <a:srgbClr val="475569"/>
                </a:solidFill>
                <a:latin typeface="Inter" pitchFamily="34" charset="0"/>
                <a:ea typeface="Inter" pitchFamily="34" charset="-122"/>
                <a:cs typeface="Inter" pitchFamily="34" charset="-120"/>
              </a:rPr>
              <a:t>정답 계획 회복 (58%)</a:t>
            </a:r>
            <a:endParaRPr lang="en-US" sz="1013" dirty="0"/>
          </a:p>
        </p:txBody>
      </p:sp>
      <p:sp>
        <p:nvSpPr>
          <p:cNvPr id="22" name="Text 20"/>
          <p:cNvSpPr/>
          <p:nvPr/>
        </p:nvSpPr>
        <p:spPr>
          <a:xfrm>
            <a:off x="5490071" y="2097981"/>
            <a:ext cx="2774501" cy="409575"/>
          </a:xfrm>
          <a:prstGeom prst="rect">
            <a:avLst/>
          </a:prstGeom>
          <a:noFill/>
          <a:ln/>
        </p:spPr>
        <p:txBody>
          <a:bodyPr wrap="square" lIns="25400" tIns="25400" rIns="25400" bIns="25400" rtlCol="0" anchor="t">
            <a:normAutofit/>
          </a:bodyPr>
          <a:lstStyle/>
          <a:p>
            <a:pPr algn="l" indent="0" marL="0">
              <a:lnSpc>
                <a:spcPct val="150000"/>
              </a:lnSpc>
              <a:buNone/>
            </a:pPr>
            <a:r>
              <a:rPr lang="en-US" sz="975" spc="-4" kern="0" dirty="0">
                <a:solidFill>
                  <a:srgbClr val="475569"/>
                </a:solidFill>
                <a:latin typeface="Inter" pitchFamily="34" charset="0"/>
                <a:ea typeface="Inter" pitchFamily="34" charset="-122"/>
                <a:cs typeface="Inter" pitchFamily="34" charset="-120"/>
              </a:rPr>
              <a:t>질의 벡터에 따라 회복 여부가 흔들린다 — </a:t>
            </a:r>
            <a:pPr algn="l" indent="0" marL="0">
              <a:lnSpc>
                <a:spcPct val="150000"/>
              </a:lnSpc>
              <a:buNone/>
            </a:pPr>
            <a:r>
              <a:rPr lang="en-US" sz="975" b="1" spc="-4" kern="0" dirty="0">
                <a:solidFill>
                  <a:srgbClr val="475569"/>
                </a:solidFill>
                <a:latin typeface="Inter" pitchFamily="34" charset="0"/>
                <a:ea typeface="Inter" pitchFamily="34" charset="-122"/>
                <a:cs typeface="Inter" pitchFamily="34" charset="-120"/>
              </a:rPr>
              <a:t>질의 0: 0/4 · 질의 1: 4/4 · 질의 2: 3/4 </a:t>
            </a:r>
            <a:pPr algn="l" indent="0" marL="0">
              <a:lnSpc>
                <a:spcPct val="150000"/>
              </a:lnSpc>
              <a:buNone/>
            </a:pPr>
            <a:r>
              <a:rPr lang="en-US" sz="975" spc="-4" kern="0" dirty="0">
                <a:solidFill>
                  <a:srgbClr val="475569"/>
                </a:solidFill>
                <a:latin typeface="Inter" pitchFamily="34" charset="0"/>
                <a:ea typeface="Inter" pitchFamily="34" charset="-122"/>
                <a:cs typeface="Inter" pitchFamily="34" charset="-120"/>
              </a:rPr>
              <a:t>. 불안정.</a:t>
            </a:r>
            <a:endParaRPr lang="en-US" sz="975" dirty="0"/>
          </a:p>
        </p:txBody>
      </p:sp>
      <p:sp>
        <p:nvSpPr>
          <p:cNvPr id="23" name="Shape 21"/>
          <p:cNvSpPr/>
          <p:nvPr/>
        </p:nvSpPr>
        <p:spPr>
          <a:xfrm>
            <a:off x="8456811" y="1301055"/>
            <a:ext cx="3011289" cy="1298575"/>
          </a:xfrm>
          <a:prstGeom prst="rect">
            <a:avLst/>
          </a:prstGeom>
          <a:solidFill>
            <a:srgbClr val="E5F4FB"/>
          </a:solidFill>
          <a:ln/>
        </p:spPr>
      </p:sp>
      <p:sp>
        <p:nvSpPr>
          <p:cNvPr id="24" name="Shape 22"/>
          <p:cNvSpPr/>
          <p:nvPr/>
        </p:nvSpPr>
        <p:spPr>
          <a:xfrm>
            <a:off x="8456811" y="2593281"/>
            <a:ext cx="3011289" cy="9525"/>
          </a:xfrm>
          <a:prstGeom prst="rect">
            <a:avLst/>
          </a:prstGeom>
          <a:solidFill>
            <a:srgbClr val="0EA5E9"/>
          </a:solidFill>
          <a:ln/>
        </p:spPr>
      </p:sp>
      <p:sp>
        <p:nvSpPr>
          <p:cNvPr id="25" name="Shape 23"/>
          <p:cNvSpPr/>
          <p:nvPr/>
        </p:nvSpPr>
        <p:spPr>
          <a:xfrm>
            <a:off x="8456811" y="1301055"/>
            <a:ext cx="3011289" cy="25400"/>
          </a:xfrm>
          <a:prstGeom prst="rect">
            <a:avLst/>
          </a:prstGeom>
          <a:solidFill>
            <a:srgbClr val="0EA5E9"/>
          </a:solidFill>
          <a:ln/>
        </p:spPr>
      </p:sp>
      <p:sp>
        <p:nvSpPr>
          <p:cNvPr id="26" name="Shape 24"/>
          <p:cNvSpPr/>
          <p:nvPr/>
        </p:nvSpPr>
        <p:spPr>
          <a:xfrm>
            <a:off x="8456811" y="1301055"/>
            <a:ext cx="9525" cy="1298575"/>
          </a:xfrm>
          <a:prstGeom prst="rect">
            <a:avLst/>
          </a:prstGeom>
          <a:solidFill>
            <a:srgbClr val="0EA5E9"/>
          </a:solidFill>
          <a:ln/>
        </p:spPr>
      </p:sp>
      <p:sp>
        <p:nvSpPr>
          <p:cNvPr id="27" name="Shape 25"/>
          <p:cNvSpPr/>
          <p:nvPr/>
        </p:nvSpPr>
        <p:spPr>
          <a:xfrm>
            <a:off x="11461750" y="1301055"/>
            <a:ext cx="9525" cy="1298575"/>
          </a:xfrm>
          <a:prstGeom prst="rect">
            <a:avLst/>
          </a:prstGeom>
          <a:solidFill>
            <a:srgbClr val="0EA5E9"/>
          </a:solidFill>
          <a:ln/>
        </p:spPr>
      </p:sp>
      <p:sp>
        <p:nvSpPr>
          <p:cNvPr id="28" name="Text 26"/>
          <p:cNvSpPr/>
          <p:nvPr/>
        </p:nvSpPr>
        <p:spPr>
          <a:xfrm>
            <a:off x="8615561" y="1450281"/>
            <a:ext cx="2774603" cy="222250"/>
          </a:xfrm>
          <a:prstGeom prst="rect">
            <a:avLst/>
          </a:prstGeom>
          <a:noFill/>
          <a:ln/>
        </p:spPr>
        <p:txBody>
          <a:bodyPr wrap="square" lIns="25400" tIns="25400" rIns="25400" bIns="25400" rtlCol="0" anchor="t">
            <a:normAutofit/>
          </a:bodyPr>
          <a:lstStyle/>
          <a:p>
            <a:pPr algn="l" indent="0" marL="0">
              <a:buNone/>
            </a:pPr>
            <a:r>
              <a:rPr lang="en-US" sz="975" b="1" spc="54" kern="0" dirty="0">
                <a:solidFill>
                  <a:srgbClr val="0EA5E9"/>
                </a:solidFill>
                <a:latin typeface="Inter" pitchFamily="34" charset="0"/>
                <a:ea typeface="Inter" pitchFamily="34" charset="-122"/>
                <a:cs typeface="Inter" pitchFamily="34" charset="-120"/>
              </a:rPr>
              <a:t>결합 방식 13종 평균</a:t>
            </a:r>
            <a:endParaRPr lang="en-US" sz="975" dirty="0"/>
          </a:p>
        </p:txBody>
      </p:sp>
      <p:sp>
        <p:nvSpPr>
          <p:cNvPr id="29" name="Text 27"/>
          <p:cNvSpPr/>
          <p:nvPr/>
        </p:nvSpPr>
        <p:spPr>
          <a:xfrm>
            <a:off x="8615561" y="1701105"/>
            <a:ext cx="973534" cy="361950"/>
          </a:xfrm>
          <a:prstGeom prst="rect">
            <a:avLst/>
          </a:prstGeom>
          <a:noFill/>
          <a:ln/>
        </p:spPr>
        <p:txBody>
          <a:bodyPr wrap="square" lIns="25400" tIns="25400" rIns="25400" bIns="25400" rtlCol="0" anchor="t">
            <a:normAutofit/>
          </a:bodyPr>
          <a:lstStyle/>
          <a:p>
            <a:pPr algn="l" indent="0" marL="0">
              <a:lnSpc>
                <a:spcPct val="100000"/>
              </a:lnSpc>
              <a:buNone/>
            </a:pPr>
            <a:r>
              <a:rPr lang="en-US" sz="2550" b="1" spc="-76" kern="0" dirty="0">
                <a:solidFill>
                  <a:srgbClr val="0EA5E9"/>
                </a:solidFill>
                <a:latin typeface="Inter" pitchFamily="34" charset="0"/>
                <a:ea typeface="Inter" pitchFamily="34" charset="-122"/>
                <a:cs typeface="Inter" pitchFamily="34" charset="-120"/>
              </a:rPr>
              <a:t>148</a:t>
            </a:r>
            <a:pPr algn="l" indent="0" marL="0">
              <a:lnSpc>
                <a:spcPct val="100000"/>
              </a:lnSpc>
              <a:buNone/>
            </a:pPr>
            <a:r>
              <a:rPr lang="en-US" sz="1148" b="1" spc="-76" kern="0" dirty="0">
                <a:solidFill>
                  <a:srgbClr val="64748B"/>
                </a:solidFill>
                <a:latin typeface="Inter" pitchFamily="34" charset="0"/>
                <a:ea typeface="Inter" pitchFamily="34" charset="-122"/>
                <a:cs typeface="Inter" pitchFamily="34" charset="-120"/>
              </a:rPr>
              <a:t>/156</a:t>
            </a:r>
            <a:endParaRPr lang="en-US" sz="2550" dirty="0"/>
          </a:p>
        </p:txBody>
      </p:sp>
      <p:sp>
        <p:nvSpPr>
          <p:cNvPr id="30" name="Text 28"/>
          <p:cNvSpPr/>
          <p:nvPr/>
        </p:nvSpPr>
        <p:spPr>
          <a:xfrm>
            <a:off x="9608146" y="1840806"/>
            <a:ext cx="1361777" cy="228600"/>
          </a:xfrm>
          <a:prstGeom prst="rect">
            <a:avLst/>
          </a:prstGeom>
          <a:noFill/>
          <a:ln/>
        </p:spPr>
        <p:txBody>
          <a:bodyPr wrap="square" lIns="25400" tIns="25400" rIns="25400" bIns="25400" rtlCol="0" anchor="t">
            <a:normAutofit/>
          </a:bodyPr>
          <a:lstStyle/>
          <a:p>
            <a:pPr algn="l" indent="0" marL="0">
              <a:buNone/>
            </a:pPr>
            <a:r>
              <a:rPr lang="en-US" sz="1013" b="1" spc="-5" kern="0" dirty="0">
                <a:solidFill>
                  <a:srgbClr val="1E293B"/>
                </a:solidFill>
                <a:latin typeface="Inter" pitchFamily="34" charset="0"/>
                <a:ea typeface="Inter" pitchFamily="34" charset="-122"/>
                <a:cs typeface="Inter" pitchFamily="34" charset="-120"/>
              </a:rPr>
              <a:t>정답 계획 회복 (94.9%)</a:t>
            </a:r>
            <a:endParaRPr lang="en-US" sz="1013" dirty="0"/>
          </a:p>
        </p:txBody>
      </p:sp>
      <p:sp>
        <p:nvSpPr>
          <p:cNvPr id="31" name="Text 29"/>
          <p:cNvSpPr/>
          <p:nvPr/>
        </p:nvSpPr>
        <p:spPr>
          <a:xfrm>
            <a:off x="8615561" y="2097981"/>
            <a:ext cx="2774603" cy="409575"/>
          </a:xfrm>
          <a:prstGeom prst="rect">
            <a:avLst/>
          </a:prstGeom>
          <a:noFill/>
          <a:ln/>
        </p:spPr>
        <p:txBody>
          <a:bodyPr wrap="square" lIns="25400" tIns="25400" rIns="25400" bIns="25400" rtlCol="0" anchor="t">
            <a:normAutofit/>
          </a:bodyPr>
          <a:lstStyle/>
          <a:p>
            <a:pPr algn="l" indent="0" marL="0">
              <a:lnSpc>
                <a:spcPct val="150000"/>
              </a:lnSpc>
              <a:buNone/>
            </a:pPr>
            <a:r>
              <a:rPr lang="en-US" sz="975" spc="-4" kern="0" dirty="0">
                <a:solidFill>
                  <a:srgbClr val="475569"/>
                </a:solidFill>
                <a:latin typeface="Inter" pitchFamily="34" charset="0"/>
                <a:ea typeface="Inter" pitchFamily="34" charset="-122"/>
                <a:cs typeface="Inter" pitchFamily="34" charset="-120"/>
              </a:rPr>
              <a:t>질의 벡터와 무관하게 회복 — </a:t>
            </a:r>
            <a:pPr algn="l" indent="0" marL="0">
              <a:lnSpc>
                <a:spcPct val="150000"/>
              </a:lnSpc>
              <a:buNone/>
            </a:pPr>
            <a:r>
              <a:rPr lang="en-US" sz="975" b="1" spc="-4" kern="0" dirty="0">
                <a:solidFill>
                  <a:srgbClr val="0EA5E9"/>
                </a:solidFill>
                <a:latin typeface="Inter" pitchFamily="34" charset="0"/>
                <a:ea typeface="Inter" pitchFamily="34" charset="-122"/>
                <a:cs typeface="Inter" pitchFamily="34" charset="-120"/>
              </a:rPr>
              <a:t>모든 13개 방법 </a:t>
            </a:r>
            <a:pPr algn="l" indent="0" marL="0">
              <a:lnSpc>
                <a:spcPct val="150000"/>
              </a:lnSpc>
              <a:buNone/>
            </a:pPr>
            <a:r>
              <a:rPr lang="en-US" sz="975" spc="-4" kern="0" dirty="0">
                <a:solidFill>
                  <a:srgbClr val="475569"/>
                </a:solidFill>
                <a:latin typeface="Inter" pitchFamily="34" charset="0"/>
                <a:ea typeface="Inter" pitchFamily="34" charset="-122"/>
                <a:cs typeface="Inter" pitchFamily="34" charset="-120"/>
              </a:rPr>
              <a:t>이 견고하게 정답을 짚는다.</a:t>
            </a:r>
            <a:endParaRPr lang="en-US" sz="975" dirty="0"/>
          </a:p>
        </p:txBody>
      </p:sp>
      <p:sp>
        <p:nvSpPr>
          <p:cNvPr id="32" name="Shape 30"/>
          <p:cNvSpPr/>
          <p:nvPr/>
        </p:nvSpPr>
        <p:spPr>
          <a:xfrm>
            <a:off x="5331321" y="2704406"/>
            <a:ext cx="6136779" cy="658019"/>
          </a:xfrm>
          <a:prstGeom prst="rect">
            <a:avLst/>
          </a:prstGeom>
          <a:solidFill>
            <a:srgbClr val="1E3A5F"/>
          </a:solidFill>
          <a:ln/>
        </p:spPr>
      </p:sp>
      <p:sp>
        <p:nvSpPr>
          <p:cNvPr id="33" name="Shape 31"/>
          <p:cNvSpPr/>
          <p:nvPr/>
        </p:nvSpPr>
        <p:spPr>
          <a:xfrm>
            <a:off x="5331321" y="2704406"/>
            <a:ext cx="25400" cy="658019"/>
          </a:xfrm>
          <a:prstGeom prst="rect">
            <a:avLst/>
          </a:prstGeom>
          <a:solidFill>
            <a:srgbClr val="0EA5E9"/>
          </a:solidFill>
          <a:ln/>
        </p:spPr>
      </p:sp>
      <p:sp>
        <p:nvSpPr>
          <p:cNvPr id="34" name="Text 32"/>
          <p:cNvSpPr/>
          <p:nvPr/>
        </p:nvSpPr>
        <p:spPr>
          <a:xfrm>
            <a:off x="5509121" y="2818706"/>
            <a:ext cx="5980777" cy="222250"/>
          </a:xfrm>
          <a:prstGeom prst="rect">
            <a:avLst/>
          </a:prstGeom>
          <a:noFill/>
          <a:ln/>
        </p:spPr>
        <p:txBody>
          <a:bodyPr wrap="square" lIns="25400" tIns="25400" rIns="25400" bIns="25400" rtlCol="0" anchor="t">
            <a:normAutofit/>
          </a:bodyPr>
          <a:lstStyle/>
          <a:p>
            <a:pPr algn="l" indent="0" marL="0">
              <a:buNone/>
            </a:pPr>
            <a:r>
              <a:rPr lang="en-US" sz="975" b="1" spc="83" kern="0" dirty="0">
                <a:solidFill>
                  <a:srgbClr val="A3B7D1"/>
                </a:solidFill>
                <a:latin typeface="Inter" pitchFamily="34" charset="0"/>
                <a:ea typeface="Inter" pitchFamily="34" charset="-122"/>
                <a:cs typeface="Inter" pitchFamily="34" charset="-120"/>
              </a:rPr>
              <a:t>핵심 메시지</a:t>
            </a:r>
            <a:endParaRPr lang="en-US" sz="975" dirty="0"/>
          </a:p>
        </p:txBody>
      </p:sp>
      <p:sp>
        <p:nvSpPr>
          <p:cNvPr id="35" name="Text 33"/>
          <p:cNvSpPr/>
          <p:nvPr/>
        </p:nvSpPr>
        <p:spPr>
          <a:xfrm>
            <a:off x="5509121" y="3040956"/>
            <a:ext cx="5980777" cy="245269"/>
          </a:xfrm>
          <a:prstGeom prst="rect">
            <a:avLst/>
          </a:prstGeom>
          <a:noFill/>
          <a:ln/>
        </p:spPr>
        <p:txBody>
          <a:bodyPr wrap="square" lIns="25400" tIns="25400" rIns="25400" bIns="25400" rtlCol="0" anchor="t">
            <a:normAutofit/>
          </a:bodyPr>
          <a:lstStyle/>
          <a:p>
            <a:pPr algn="l" indent="0" marL="0">
              <a:lnSpc>
                <a:spcPct val="150000"/>
              </a:lnSpc>
              <a:buNone/>
            </a:pPr>
            <a:r>
              <a:rPr lang="en-US" sz="1088" spc="-5" kern="0" dirty="0">
                <a:solidFill>
                  <a:srgbClr val="FFFFFF"/>
                </a:solidFill>
                <a:latin typeface="Inter" pitchFamily="34" charset="0"/>
                <a:ea typeface="Inter" pitchFamily="34" charset="-122"/>
                <a:cs typeface="Inter" pitchFamily="34" charset="-120"/>
              </a:rPr>
              <a:t>실행 시간은 두 방식이 거의 같다. 결합 방식의 가치는 — </a:t>
            </a:r>
            <a:pPr algn="l" indent="0" marL="0">
              <a:lnSpc>
                <a:spcPct val="150000"/>
              </a:lnSpc>
              <a:buNone/>
            </a:pPr>
            <a:r>
              <a:rPr lang="en-US" sz="1088" b="1" spc="-5" kern="0" dirty="0">
                <a:solidFill>
                  <a:srgbClr val="7DD3FC"/>
                </a:solidFill>
                <a:latin typeface="Inter" pitchFamily="34" charset="0"/>
                <a:ea typeface="Inter" pitchFamily="34" charset="-122"/>
                <a:cs typeface="Inter" pitchFamily="34" charset="-120"/>
              </a:rPr>
              <a:t>정답 계획을 더 흔들림 없이 만든다</a:t>
            </a:r>
            <a:pPr algn="l" indent="0" marL="0">
              <a:lnSpc>
                <a:spcPct val="150000"/>
              </a:lnSpc>
              <a:buNone/>
            </a:pPr>
            <a:r>
              <a:rPr lang="en-US" sz="1088" spc="-5" kern="0" dirty="0">
                <a:solidFill>
                  <a:srgbClr val="FFFFFF"/>
                </a:solidFill>
                <a:latin typeface="Inter" pitchFamily="34" charset="0"/>
                <a:ea typeface="Inter" pitchFamily="34" charset="-122"/>
                <a:cs typeface="Inter" pitchFamily="34" charset="-120"/>
              </a:rPr>
              <a:t>는 그 견고함.</a:t>
            </a:r>
            <a:endParaRPr lang="en-US" sz="1088" dirty="0"/>
          </a:p>
        </p:txBody>
      </p:sp>
      <p:sp>
        <p:nvSpPr>
          <p:cNvPr id="36" name="Shape 34"/>
          <p:cNvSpPr/>
          <p:nvPr/>
        </p:nvSpPr>
        <p:spPr>
          <a:xfrm>
            <a:off x="5331321" y="3467199"/>
            <a:ext cx="6136779" cy="2345432"/>
          </a:xfrm>
          <a:prstGeom prst="rect">
            <a:avLst/>
          </a:prstGeom>
          <a:ln w="6350">
            <a:solidFill>
              <a:srgbClr val="E5E7EB"/>
            </a:solidFill>
            <a:prstDash val="solid"/>
          </a:ln>
        </p:spPr>
      </p:sp>
      <p:sp>
        <p:nvSpPr>
          <p:cNvPr id="37" name="Text 35"/>
          <p:cNvSpPr/>
          <p:nvPr/>
        </p:nvSpPr>
        <p:spPr>
          <a:xfrm>
            <a:off x="5490071" y="3584674"/>
            <a:ext cx="2045295" cy="222250"/>
          </a:xfrm>
          <a:prstGeom prst="rect">
            <a:avLst/>
          </a:prstGeom>
          <a:noFill/>
          <a:ln/>
        </p:spPr>
        <p:txBody>
          <a:bodyPr wrap="square" lIns="25400" tIns="25400" rIns="25400" bIns="25400" rtlCol="0" anchor="t">
            <a:normAutofit/>
          </a:bodyPr>
          <a:lstStyle/>
          <a:p>
            <a:pPr algn="l" indent="0" marL="0">
              <a:buNone/>
            </a:pPr>
            <a:r>
              <a:rPr lang="en-US" sz="975" b="1" spc="90" kern="0" dirty="0">
                <a:solidFill>
                  <a:srgbClr val="64748B"/>
                </a:solidFill>
                <a:latin typeface="Inter" pitchFamily="34" charset="0"/>
                <a:ea typeface="Inter" pitchFamily="34" charset="-122"/>
                <a:cs typeface="Inter" pitchFamily="34" charset="-120"/>
              </a:rPr>
              <a:t>결과 매트릭스 · 13 방법 × 12 구간</a:t>
            </a:r>
            <a:endParaRPr lang="en-US" sz="975" dirty="0"/>
          </a:p>
        </p:txBody>
      </p:sp>
      <p:sp>
        <p:nvSpPr>
          <p:cNvPr id="38" name="Shape 36"/>
          <p:cNvSpPr/>
          <p:nvPr/>
        </p:nvSpPr>
        <p:spPr>
          <a:xfrm>
            <a:off x="9610725" y="3622774"/>
            <a:ext cx="95250" cy="95250"/>
          </a:xfrm>
          <a:prstGeom prst="rect">
            <a:avLst/>
          </a:prstGeom>
          <a:solidFill>
            <a:srgbClr val="10B981"/>
          </a:solidFill>
          <a:ln/>
        </p:spPr>
      </p:sp>
      <p:sp>
        <p:nvSpPr>
          <p:cNvPr id="39" name="Text 37"/>
          <p:cNvSpPr/>
          <p:nvPr/>
        </p:nvSpPr>
        <p:spPr>
          <a:xfrm>
            <a:off x="9753600" y="3591024"/>
            <a:ext cx="790179" cy="190500"/>
          </a:xfrm>
          <a:prstGeom prst="rect">
            <a:avLst/>
          </a:prstGeom>
          <a:noFill/>
          <a:ln/>
        </p:spPr>
        <p:txBody>
          <a:bodyPr wrap="square" lIns="0" tIns="0" rIns="0" bIns="0" rtlCol="0" anchor="t">
            <a:normAutofit/>
          </a:bodyPr>
          <a:lstStyle/>
          <a:p>
            <a:pPr algn="l" indent="0" marL="0">
              <a:buNone/>
            </a:pPr>
            <a:r>
              <a:rPr lang="en-US" sz="975" spc="-4" kern="0" dirty="0">
                <a:solidFill>
                  <a:srgbClr val="475569"/>
                </a:solidFill>
                <a:latin typeface="Inter" pitchFamily="34" charset="0"/>
                <a:ea typeface="Inter" pitchFamily="34" charset="-122"/>
                <a:cs typeface="Inter" pitchFamily="34" charset="-120"/>
              </a:rPr>
              <a:t>정답 계획 148</a:t>
            </a:r>
            <a:endParaRPr lang="en-US" sz="975" dirty="0"/>
          </a:p>
        </p:txBody>
      </p:sp>
      <p:sp>
        <p:nvSpPr>
          <p:cNvPr id="40" name="Shape 38"/>
          <p:cNvSpPr/>
          <p:nvPr/>
        </p:nvSpPr>
        <p:spPr>
          <a:xfrm>
            <a:off x="10581879" y="3622774"/>
            <a:ext cx="95250" cy="95250"/>
          </a:xfrm>
          <a:prstGeom prst="rect">
            <a:avLst/>
          </a:prstGeom>
          <a:solidFill>
            <a:srgbClr val="FCD34D"/>
          </a:solidFill>
          <a:ln/>
        </p:spPr>
      </p:sp>
      <p:sp>
        <p:nvSpPr>
          <p:cNvPr id="41" name="Text 39"/>
          <p:cNvSpPr/>
          <p:nvPr/>
        </p:nvSpPr>
        <p:spPr>
          <a:xfrm>
            <a:off x="10724754" y="3591024"/>
            <a:ext cx="660797" cy="190500"/>
          </a:xfrm>
          <a:prstGeom prst="rect">
            <a:avLst/>
          </a:prstGeom>
          <a:noFill/>
          <a:ln/>
        </p:spPr>
        <p:txBody>
          <a:bodyPr wrap="square" lIns="0" tIns="0" rIns="0" bIns="0" rtlCol="0" anchor="t">
            <a:normAutofit/>
          </a:bodyPr>
          <a:lstStyle/>
          <a:p>
            <a:pPr algn="l" indent="0" marL="0">
              <a:buNone/>
            </a:pPr>
            <a:r>
              <a:rPr lang="en-US" sz="975" spc="-4" kern="0" dirty="0">
                <a:solidFill>
                  <a:srgbClr val="475569"/>
                </a:solidFill>
                <a:latin typeface="Inter" pitchFamily="34" charset="0"/>
                <a:ea typeface="Inter" pitchFamily="34" charset="-122"/>
                <a:cs typeface="Inter" pitchFamily="34" charset="-120"/>
              </a:rPr>
              <a:t>회복 실패 8</a:t>
            </a:r>
            <a:endParaRPr lang="en-US" sz="975" dirty="0"/>
          </a:p>
        </p:txBody>
      </p:sp>
      <p:sp>
        <p:nvSpPr>
          <p:cNvPr id="42" name="Shape 40"/>
          <p:cNvSpPr/>
          <p:nvPr/>
        </p:nvSpPr>
        <p:spPr>
          <a:xfrm>
            <a:off x="5490071" y="3845024"/>
            <a:ext cx="467420" cy="125214"/>
          </a:xfrm>
          <a:prstGeom prst="roundRect">
            <a:avLst>
              <a:gd name="adj" fmla="val 7607"/>
            </a:avLst>
          </a:prstGeom>
          <a:solidFill>
            <a:srgbClr val="FCD34D">
              <a:alpha val="85000"/>
            </a:srgbClr>
          </a:solidFill>
          <a:ln/>
        </p:spPr>
      </p:sp>
      <p:sp>
        <p:nvSpPr>
          <p:cNvPr id="43" name="Shape 41"/>
          <p:cNvSpPr/>
          <p:nvPr/>
        </p:nvSpPr>
        <p:spPr>
          <a:xfrm>
            <a:off x="5976541" y="3845024"/>
            <a:ext cx="467519" cy="125214"/>
          </a:xfrm>
          <a:prstGeom prst="roundRect">
            <a:avLst>
              <a:gd name="adj" fmla="val 7607"/>
            </a:avLst>
          </a:prstGeom>
          <a:solidFill>
            <a:srgbClr val="10B981">
              <a:alpha val="88000"/>
            </a:srgbClr>
          </a:solidFill>
          <a:ln/>
        </p:spPr>
      </p:sp>
      <p:sp>
        <p:nvSpPr>
          <p:cNvPr id="44" name="Shape 42"/>
          <p:cNvSpPr/>
          <p:nvPr/>
        </p:nvSpPr>
        <p:spPr>
          <a:xfrm>
            <a:off x="6463110" y="3845024"/>
            <a:ext cx="467420" cy="125214"/>
          </a:xfrm>
          <a:prstGeom prst="roundRect">
            <a:avLst>
              <a:gd name="adj" fmla="val 7607"/>
            </a:avLst>
          </a:prstGeom>
          <a:solidFill>
            <a:srgbClr val="10B981">
              <a:alpha val="88000"/>
            </a:srgbClr>
          </a:solidFill>
          <a:ln/>
        </p:spPr>
      </p:sp>
      <p:sp>
        <p:nvSpPr>
          <p:cNvPr id="45" name="Shape 43"/>
          <p:cNvSpPr/>
          <p:nvPr/>
        </p:nvSpPr>
        <p:spPr>
          <a:xfrm>
            <a:off x="6949579" y="3845024"/>
            <a:ext cx="467519" cy="125214"/>
          </a:xfrm>
          <a:prstGeom prst="roundRect">
            <a:avLst>
              <a:gd name="adj" fmla="val 7607"/>
            </a:avLst>
          </a:prstGeom>
          <a:solidFill>
            <a:srgbClr val="10B981">
              <a:alpha val="88000"/>
            </a:srgbClr>
          </a:solidFill>
          <a:ln/>
        </p:spPr>
      </p:sp>
      <p:sp>
        <p:nvSpPr>
          <p:cNvPr id="46" name="Shape 44"/>
          <p:cNvSpPr/>
          <p:nvPr/>
        </p:nvSpPr>
        <p:spPr>
          <a:xfrm>
            <a:off x="7436148" y="3845024"/>
            <a:ext cx="467420" cy="125214"/>
          </a:xfrm>
          <a:prstGeom prst="roundRect">
            <a:avLst>
              <a:gd name="adj" fmla="val 7607"/>
            </a:avLst>
          </a:prstGeom>
          <a:solidFill>
            <a:srgbClr val="10B981">
              <a:alpha val="88000"/>
            </a:srgbClr>
          </a:solidFill>
          <a:ln/>
        </p:spPr>
      </p:sp>
      <p:sp>
        <p:nvSpPr>
          <p:cNvPr id="47" name="Shape 45"/>
          <p:cNvSpPr/>
          <p:nvPr/>
        </p:nvSpPr>
        <p:spPr>
          <a:xfrm>
            <a:off x="7922618" y="3845024"/>
            <a:ext cx="467519" cy="125214"/>
          </a:xfrm>
          <a:prstGeom prst="roundRect">
            <a:avLst>
              <a:gd name="adj" fmla="val 7607"/>
            </a:avLst>
          </a:prstGeom>
          <a:solidFill>
            <a:srgbClr val="10B981">
              <a:alpha val="88000"/>
            </a:srgbClr>
          </a:solidFill>
          <a:ln/>
        </p:spPr>
      </p:sp>
      <p:sp>
        <p:nvSpPr>
          <p:cNvPr id="48" name="Shape 46"/>
          <p:cNvSpPr/>
          <p:nvPr/>
        </p:nvSpPr>
        <p:spPr>
          <a:xfrm>
            <a:off x="8409186" y="3845024"/>
            <a:ext cx="467519" cy="125214"/>
          </a:xfrm>
          <a:prstGeom prst="roundRect">
            <a:avLst>
              <a:gd name="adj" fmla="val 7607"/>
            </a:avLst>
          </a:prstGeom>
          <a:solidFill>
            <a:srgbClr val="10B981">
              <a:alpha val="88000"/>
            </a:srgbClr>
          </a:solidFill>
          <a:ln/>
        </p:spPr>
      </p:sp>
      <p:sp>
        <p:nvSpPr>
          <p:cNvPr id="49" name="Shape 47"/>
          <p:cNvSpPr/>
          <p:nvPr/>
        </p:nvSpPr>
        <p:spPr>
          <a:xfrm>
            <a:off x="8895755" y="3845024"/>
            <a:ext cx="467420" cy="125214"/>
          </a:xfrm>
          <a:prstGeom prst="roundRect">
            <a:avLst>
              <a:gd name="adj" fmla="val 7607"/>
            </a:avLst>
          </a:prstGeom>
          <a:solidFill>
            <a:srgbClr val="10B981">
              <a:alpha val="88000"/>
            </a:srgbClr>
          </a:solidFill>
          <a:ln/>
        </p:spPr>
      </p:sp>
      <p:sp>
        <p:nvSpPr>
          <p:cNvPr id="50" name="Shape 48"/>
          <p:cNvSpPr/>
          <p:nvPr/>
        </p:nvSpPr>
        <p:spPr>
          <a:xfrm>
            <a:off x="9382224" y="3845024"/>
            <a:ext cx="467519" cy="125214"/>
          </a:xfrm>
          <a:prstGeom prst="roundRect">
            <a:avLst>
              <a:gd name="adj" fmla="val 7607"/>
            </a:avLst>
          </a:prstGeom>
          <a:solidFill>
            <a:srgbClr val="10B981">
              <a:alpha val="88000"/>
            </a:srgbClr>
          </a:solidFill>
          <a:ln/>
        </p:spPr>
      </p:sp>
      <p:sp>
        <p:nvSpPr>
          <p:cNvPr id="51" name="Shape 49"/>
          <p:cNvSpPr/>
          <p:nvPr/>
        </p:nvSpPr>
        <p:spPr>
          <a:xfrm>
            <a:off x="9868793" y="3845024"/>
            <a:ext cx="467420" cy="125214"/>
          </a:xfrm>
          <a:prstGeom prst="roundRect">
            <a:avLst>
              <a:gd name="adj" fmla="val 7607"/>
            </a:avLst>
          </a:prstGeom>
          <a:solidFill>
            <a:srgbClr val="10B981">
              <a:alpha val="88000"/>
            </a:srgbClr>
          </a:solidFill>
          <a:ln/>
        </p:spPr>
      </p:sp>
      <p:sp>
        <p:nvSpPr>
          <p:cNvPr id="52" name="Shape 50"/>
          <p:cNvSpPr/>
          <p:nvPr/>
        </p:nvSpPr>
        <p:spPr>
          <a:xfrm>
            <a:off x="10355263" y="3845024"/>
            <a:ext cx="467519" cy="125214"/>
          </a:xfrm>
          <a:prstGeom prst="roundRect">
            <a:avLst>
              <a:gd name="adj" fmla="val 7607"/>
            </a:avLst>
          </a:prstGeom>
          <a:solidFill>
            <a:srgbClr val="10B981">
              <a:alpha val="88000"/>
            </a:srgbClr>
          </a:solidFill>
          <a:ln/>
        </p:spPr>
      </p:sp>
      <p:sp>
        <p:nvSpPr>
          <p:cNvPr id="53" name="Shape 51"/>
          <p:cNvSpPr/>
          <p:nvPr/>
        </p:nvSpPr>
        <p:spPr>
          <a:xfrm>
            <a:off x="10841831" y="3845024"/>
            <a:ext cx="467519" cy="125214"/>
          </a:xfrm>
          <a:prstGeom prst="roundRect">
            <a:avLst>
              <a:gd name="adj" fmla="val 7607"/>
            </a:avLst>
          </a:prstGeom>
          <a:solidFill>
            <a:srgbClr val="10B981">
              <a:alpha val="88000"/>
            </a:srgbClr>
          </a:solidFill>
          <a:ln/>
        </p:spPr>
      </p:sp>
      <p:sp>
        <p:nvSpPr>
          <p:cNvPr id="54" name="Shape 52"/>
          <p:cNvSpPr/>
          <p:nvPr/>
        </p:nvSpPr>
        <p:spPr>
          <a:xfrm>
            <a:off x="5490071" y="3989288"/>
            <a:ext cx="467420" cy="125214"/>
          </a:xfrm>
          <a:prstGeom prst="roundRect">
            <a:avLst>
              <a:gd name="adj" fmla="val 7607"/>
            </a:avLst>
          </a:prstGeom>
          <a:solidFill>
            <a:srgbClr val="10B981">
              <a:alpha val="88000"/>
            </a:srgbClr>
          </a:solidFill>
          <a:ln/>
        </p:spPr>
      </p:sp>
      <p:sp>
        <p:nvSpPr>
          <p:cNvPr id="55" name="Shape 53"/>
          <p:cNvSpPr/>
          <p:nvPr/>
        </p:nvSpPr>
        <p:spPr>
          <a:xfrm>
            <a:off x="5976541" y="3989288"/>
            <a:ext cx="467519" cy="125214"/>
          </a:xfrm>
          <a:prstGeom prst="roundRect">
            <a:avLst>
              <a:gd name="adj" fmla="val 7607"/>
            </a:avLst>
          </a:prstGeom>
          <a:solidFill>
            <a:srgbClr val="FCD34D">
              <a:alpha val="85000"/>
            </a:srgbClr>
          </a:solidFill>
          <a:ln/>
        </p:spPr>
      </p:sp>
      <p:sp>
        <p:nvSpPr>
          <p:cNvPr id="56" name="Shape 54"/>
          <p:cNvSpPr/>
          <p:nvPr/>
        </p:nvSpPr>
        <p:spPr>
          <a:xfrm>
            <a:off x="6463110" y="3989288"/>
            <a:ext cx="467420" cy="125214"/>
          </a:xfrm>
          <a:prstGeom prst="roundRect">
            <a:avLst>
              <a:gd name="adj" fmla="val 7607"/>
            </a:avLst>
          </a:prstGeom>
          <a:solidFill>
            <a:srgbClr val="10B981">
              <a:alpha val="88000"/>
            </a:srgbClr>
          </a:solidFill>
          <a:ln/>
        </p:spPr>
      </p:sp>
      <p:sp>
        <p:nvSpPr>
          <p:cNvPr id="57" name="Shape 55"/>
          <p:cNvSpPr/>
          <p:nvPr/>
        </p:nvSpPr>
        <p:spPr>
          <a:xfrm>
            <a:off x="6949579" y="3989288"/>
            <a:ext cx="467519" cy="125214"/>
          </a:xfrm>
          <a:prstGeom prst="roundRect">
            <a:avLst>
              <a:gd name="adj" fmla="val 7607"/>
            </a:avLst>
          </a:prstGeom>
          <a:solidFill>
            <a:srgbClr val="10B981">
              <a:alpha val="88000"/>
            </a:srgbClr>
          </a:solidFill>
          <a:ln/>
        </p:spPr>
      </p:sp>
      <p:sp>
        <p:nvSpPr>
          <p:cNvPr id="58" name="Shape 56"/>
          <p:cNvSpPr/>
          <p:nvPr/>
        </p:nvSpPr>
        <p:spPr>
          <a:xfrm>
            <a:off x="7436148" y="3989288"/>
            <a:ext cx="467420" cy="125214"/>
          </a:xfrm>
          <a:prstGeom prst="roundRect">
            <a:avLst>
              <a:gd name="adj" fmla="val 7607"/>
            </a:avLst>
          </a:prstGeom>
          <a:solidFill>
            <a:srgbClr val="10B981">
              <a:alpha val="88000"/>
            </a:srgbClr>
          </a:solidFill>
          <a:ln/>
        </p:spPr>
      </p:sp>
      <p:sp>
        <p:nvSpPr>
          <p:cNvPr id="59" name="Shape 57"/>
          <p:cNvSpPr/>
          <p:nvPr/>
        </p:nvSpPr>
        <p:spPr>
          <a:xfrm>
            <a:off x="7922618" y="3989288"/>
            <a:ext cx="467519" cy="125214"/>
          </a:xfrm>
          <a:prstGeom prst="roundRect">
            <a:avLst>
              <a:gd name="adj" fmla="val 7607"/>
            </a:avLst>
          </a:prstGeom>
          <a:solidFill>
            <a:srgbClr val="10B981">
              <a:alpha val="88000"/>
            </a:srgbClr>
          </a:solidFill>
          <a:ln/>
        </p:spPr>
      </p:sp>
      <p:sp>
        <p:nvSpPr>
          <p:cNvPr id="60" name="Shape 58"/>
          <p:cNvSpPr/>
          <p:nvPr/>
        </p:nvSpPr>
        <p:spPr>
          <a:xfrm>
            <a:off x="8409186" y="3989288"/>
            <a:ext cx="467519" cy="125214"/>
          </a:xfrm>
          <a:prstGeom prst="roundRect">
            <a:avLst>
              <a:gd name="adj" fmla="val 7607"/>
            </a:avLst>
          </a:prstGeom>
          <a:solidFill>
            <a:srgbClr val="10B981">
              <a:alpha val="88000"/>
            </a:srgbClr>
          </a:solidFill>
          <a:ln/>
        </p:spPr>
      </p:sp>
      <p:sp>
        <p:nvSpPr>
          <p:cNvPr id="61" name="Shape 59"/>
          <p:cNvSpPr/>
          <p:nvPr/>
        </p:nvSpPr>
        <p:spPr>
          <a:xfrm>
            <a:off x="8895755" y="3989288"/>
            <a:ext cx="467420" cy="125214"/>
          </a:xfrm>
          <a:prstGeom prst="roundRect">
            <a:avLst>
              <a:gd name="adj" fmla="val 7607"/>
            </a:avLst>
          </a:prstGeom>
          <a:solidFill>
            <a:srgbClr val="10B981">
              <a:alpha val="88000"/>
            </a:srgbClr>
          </a:solidFill>
          <a:ln/>
        </p:spPr>
      </p:sp>
      <p:sp>
        <p:nvSpPr>
          <p:cNvPr id="62" name="Shape 60"/>
          <p:cNvSpPr/>
          <p:nvPr/>
        </p:nvSpPr>
        <p:spPr>
          <a:xfrm>
            <a:off x="9382224" y="3989288"/>
            <a:ext cx="467519" cy="125214"/>
          </a:xfrm>
          <a:prstGeom prst="roundRect">
            <a:avLst>
              <a:gd name="adj" fmla="val 7607"/>
            </a:avLst>
          </a:prstGeom>
          <a:solidFill>
            <a:srgbClr val="10B981">
              <a:alpha val="88000"/>
            </a:srgbClr>
          </a:solidFill>
          <a:ln/>
        </p:spPr>
      </p:sp>
      <p:sp>
        <p:nvSpPr>
          <p:cNvPr id="63" name="Shape 61"/>
          <p:cNvSpPr/>
          <p:nvPr/>
        </p:nvSpPr>
        <p:spPr>
          <a:xfrm>
            <a:off x="9868793" y="3989288"/>
            <a:ext cx="467420" cy="125214"/>
          </a:xfrm>
          <a:prstGeom prst="roundRect">
            <a:avLst>
              <a:gd name="adj" fmla="val 7607"/>
            </a:avLst>
          </a:prstGeom>
          <a:solidFill>
            <a:srgbClr val="10B981">
              <a:alpha val="88000"/>
            </a:srgbClr>
          </a:solidFill>
          <a:ln/>
        </p:spPr>
      </p:sp>
      <p:sp>
        <p:nvSpPr>
          <p:cNvPr id="64" name="Shape 62"/>
          <p:cNvSpPr/>
          <p:nvPr/>
        </p:nvSpPr>
        <p:spPr>
          <a:xfrm>
            <a:off x="10355263" y="3989288"/>
            <a:ext cx="467519" cy="125214"/>
          </a:xfrm>
          <a:prstGeom prst="roundRect">
            <a:avLst>
              <a:gd name="adj" fmla="val 7607"/>
            </a:avLst>
          </a:prstGeom>
          <a:solidFill>
            <a:srgbClr val="10B981">
              <a:alpha val="88000"/>
            </a:srgbClr>
          </a:solidFill>
          <a:ln/>
        </p:spPr>
      </p:sp>
      <p:sp>
        <p:nvSpPr>
          <p:cNvPr id="65" name="Shape 63"/>
          <p:cNvSpPr/>
          <p:nvPr/>
        </p:nvSpPr>
        <p:spPr>
          <a:xfrm>
            <a:off x="10841831" y="3989288"/>
            <a:ext cx="467519" cy="125214"/>
          </a:xfrm>
          <a:prstGeom prst="roundRect">
            <a:avLst>
              <a:gd name="adj" fmla="val 7607"/>
            </a:avLst>
          </a:prstGeom>
          <a:solidFill>
            <a:srgbClr val="10B981">
              <a:alpha val="88000"/>
            </a:srgbClr>
          </a:solidFill>
          <a:ln/>
        </p:spPr>
      </p:sp>
      <p:sp>
        <p:nvSpPr>
          <p:cNvPr id="66" name="Shape 64"/>
          <p:cNvSpPr/>
          <p:nvPr/>
        </p:nvSpPr>
        <p:spPr>
          <a:xfrm>
            <a:off x="5490071" y="4133552"/>
            <a:ext cx="467420" cy="125214"/>
          </a:xfrm>
          <a:prstGeom prst="roundRect">
            <a:avLst>
              <a:gd name="adj" fmla="val 7607"/>
            </a:avLst>
          </a:prstGeom>
          <a:solidFill>
            <a:srgbClr val="FCD34D">
              <a:alpha val="85000"/>
            </a:srgbClr>
          </a:solidFill>
          <a:ln/>
        </p:spPr>
      </p:sp>
      <p:sp>
        <p:nvSpPr>
          <p:cNvPr id="67" name="Shape 65"/>
          <p:cNvSpPr/>
          <p:nvPr/>
        </p:nvSpPr>
        <p:spPr>
          <a:xfrm>
            <a:off x="5976541" y="4133552"/>
            <a:ext cx="467519" cy="125214"/>
          </a:xfrm>
          <a:prstGeom prst="roundRect">
            <a:avLst>
              <a:gd name="adj" fmla="val 7607"/>
            </a:avLst>
          </a:prstGeom>
          <a:solidFill>
            <a:srgbClr val="10B981">
              <a:alpha val="88000"/>
            </a:srgbClr>
          </a:solidFill>
          <a:ln/>
        </p:spPr>
      </p:sp>
      <p:sp>
        <p:nvSpPr>
          <p:cNvPr id="68" name="Shape 66"/>
          <p:cNvSpPr/>
          <p:nvPr/>
        </p:nvSpPr>
        <p:spPr>
          <a:xfrm>
            <a:off x="6463110" y="4133552"/>
            <a:ext cx="467420" cy="125214"/>
          </a:xfrm>
          <a:prstGeom prst="roundRect">
            <a:avLst>
              <a:gd name="adj" fmla="val 7607"/>
            </a:avLst>
          </a:prstGeom>
          <a:solidFill>
            <a:srgbClr val="10B981">
              <a:alpha val="88000"/>
            </a:srgbClr>
          </a:solidFill>
          <a:ln/>
        </p:spPr>
      </p:sp>
      <p:sp>
        <p:nvSpPr>
          <p:cNvPr id="69" name="Shape 67"/>
          <p:cNvSpPr/>
          <p:nvPr/>
        </p:nvSpPr>
        <p:spPr>
          <a:xfrm>
            <a:off x="6949579" y="4133552"/>
            <a:ext cx="467519" cy="125214"/>
          </a:xfrm>
          <a:prstGeom prst="roundRect">
            <a:avLst>
              <a:gd name="adj" fmla="val 7607"/>
            </a:avLst>
          </a:prstGeom>
          <a:solidFill>
            <a:srgbClr val="10B981">
              <a:alpha val="88000"/>
            </a:srgbClr>
          </a:solidFill>
          <a:ln/>
        </p:spPr>
      </p:sp>
      <p:sp>
        <p:nvSpPr>
          <p:cNvPr id="70" name="Shape 68"/>
          <p:cNvSpPr/>
          <p:nvPr/>
        </p:nvSpPr>
        <p:spPr>
          <a:xfrm>
            <a:off x="7436148" y="4133552"/>
            <a:ext cx="467420" cy="125214"/>
          </a:xfrm>
          <a:prstGeom prst="roundRect">
            <a:avLst>
              <a:gd name="adj" fmla="val 7607"/>
            </a:avLst>
          </a:prstGeom>
          <a:solidFill>
            <a:srgbClr val="10B981">
              <a:alpha val="88000"/>
            </a:srgbClr>
          </a:solidFill>
          <a:ln/>
        </p:spPr>
      </p:sp>
      <p:sp>
        <p:nvSpPr>
          <p:cNvPr id="71" name="Shape 69"/>
          <p:cNvSpPr/>
          <p:nvPr/>
        </p:nvSpPr>
        <p:spPr>
          <a:xfrm>
            <a:off x="7922618" y="4133552"/>
            <a:ext cx="467519" cy="125214"/>
          </a:xfrm>
          <a:prstGeom prst="roundRect">
            <a:avLst>
              <a:gd name="adj" fmla="val 7607"/>
            </a:avLst>
          </a:prstGeom>
          <a:solidFill>
            <a:srgbClr val="10B981">
              <a:alpha val="88000"/>
            </a:srgbClr>
          </a:solidFill>
          <a:ln/>
        </p:spPr>
      </p:sp>
      <p:sp>
        <p:nvSpPr>
          <p:cNvPr id="72" name="Shape 70"/>
          <p:cNvSpPr/>
          <p:nvPr/>
        </p:nvSpPr>
        <p:spPr>
          <a:xfrm>
            <a:off x="8409186" y="4133552"/>
            <a:ext cx="467519" cy="125214"/>
          </a:xfrm>
          <a:prstGeom prst="roundRect">
            <a:avLst>
              <a:gd name="adj" fmla="val 7607"/>
            </a:avLst>
          </a:prstGeom>
          <a:solidFill>
            <a:srgbClr val="10B981">
              <a:alpha val="88000"/>
            </a:srgbClr>
          </a:solidFill>
          <a:ln/>
        </p:spPr>
      </p:sp>
      <p:sp>
        <p:nvSpPr>
          <p:cNvPr id="73" name="Shape 71"/>
          <p:cNvSpPr/>
          <p:nvPr/>
        </p:nvSpPr>
        <p:spPr>
          <a:xfrm>
            <a:off x="8895755" y="4133552"/>
            <a:ext cx="467420" cy="125214"/>
          </a:xfrm>
          <a:prstGeom prst="roundRect">
            <a:avLst>
              <a:gd name="adj" fmla="val 7607"/>
            </a:avLst>
          </a:prstGeom>
          <a:solidFill>
            <a:srgbClr val="10B981">
              <a:alpha val="88000"/>
            </a:srgbClr>
          </a:solidFill>
          <a:ln/>
        </p:spPr>
      </p:sp>
      <p:sp>
        <p:nvSpPr>
          <p:cNvPr id="74" name="Shape 72"/>
          <p:cNvSpPr/>
          <p:nvPr/>
        </p:nvSpPr>
        <p:spPr>
          <a:xfrm>
            <a:off x="9382224" y="4133552"/>
            <a:ext cx="467519" cy="125214"/>
          </a:xfrm>
          <a:prstGeom prst="roundRect">
            <a:avLst>
              <a:gd name="adj" fmla="val 7607"/>
            </a:avLst>
          </a:prstGeom>
          <a:solidFill>
            <a:srgbClr val="10B981">
              <a:alpha val="88000"/>
            </a:srgbClr>
          </a:solidFill>
          <a:ln/>
        </p:spPr>
      </p:sp>
      <p:sp>
        <p:nvSpPr>
          <p:cNvPr id="75" name="Shape 73"/>
          <p:cNvSpPr/>
          <p:nvPr/>
        </p:nvSpPr>
        <p:spPr>
          <a:xfrm>
            <a:off x="9868793" y="4133552"/>
            <a:ext cx="467420" cy="125214"/>
          </a:xfrm>
          <a:prstGeom prst="roundRect">
            <a:avLst>
              <a:gd name="adj" fmla="val 7607"/>
            </a:avLst>
          </a:prstGeom>
          <a:solidFill>
            <a:srgbClr val="10B981">
              <a:alpha val="88000"/>
            </a:srgbClr>
          </a:solidFill>
          <a:ln/>
        </p:spPr>
      </p:sp>
      <p:sp>
        <p:nvSpPr>
          <p:cNvPr id="76" name="Shape 74"/>
          <p:cNvSpPr/>
          <p:nvPr/>
        </p:nvSpPr>
        <p:spPr>
          <a:xfrm>
            <a:off x="10355263" y="4133552"/>
            <a:ext cx="467519" cy="125214"/>
          </a:xfrm>
          <a:prstGeom prst="roundRect">
            <a:avLst>
              <a:gd name="adj" fmla="val 7607"/>
            </a:avLst>
          </a:prstGeom>
          <a:solidFill>
            <a:srgbClr val="10B981">
              <a:alpha val="88000"/>
            </a:srgbClr>
          </a:solidFill>
          <a:ln/>
        </p:spPr>
      </p:sp>
      <p:sp>
        <p:nvSpPr>
          <p:cNvPr id="77" name="Shape 75"/>
          <p:cNvSpPr/>
          <p:nvPr/>
        </p:nvSpPr>
        <p:spPr>
          <a:xfrm>
            <a:off x="10841831" y="4133552"/>
            <a:ext cx="467519" cy="125214"/>
          </a:xfrm>
          <a:prstGeom prst="roundRect">
            <a:avLst>
              <a:gd name="adj" fmla="val 7607"/>
            </a:avLst>
          </a:prstGeom>
          <a:solidFill>
            <a:srgbClr val="10B981">
              <a:alpha val="88000"/>
            </a:srgbClr>
          </a:solidFill>
          <a:ln/>
        </p:spPr>
      </p:sp>
      <p:sp>
        <p:nvSpPr>
          <p:cNvPr id="78" name="Shape 76"/>
          <p:cNvSpPr/>
          <p:nvPr/>
        </p:nvSpPr>
        <p:spPr>
          <a:xfrm>
            <a:off x="5490071" y="4277817"/>
            <a:ext cx="467420" cy="125214"/>
          </a:xfrm>
          <a:prstGeom prst="roundRect">
            <a:avLst>
              <a:gd name="adj" fmla="val 7607"/>
            </a:avLst>
          </a:prstGeom>
          <a:solidFill>
            <a:srgbClr val="10B981">
              <a:alpha val="88000"/>
            </a:srgbClr>
          </a:solidFill>
          <a:ln/>
        </p:spPr>
      </p:sp>
      <p:sp>
        <p:nvSpPr>
          <p:cNvPr id="79" name="Shape 77"/>
          <p:cNvSpPr/>
          <p:nvPr/>
        </p:nvSpPr>
        <p:spPr>
          <a:xfrm>
            <a:off x="5976541" y="4277817"/>
            <a:ext cx="467519" cy="125214"/>
          </a:xfrm>
          <a:prstGeom prst="roundRect">
            <a:avLst>
              <a:gd name="adj" fmla="val 7607"/>
            </a:avLst>
          </a:prstGeom>
          <a:solidFill>
            <a:srgbClr val="10B981">
              <a:alpha val="88000"/>
            </a:srgbClr>
          </a:solidFill>
          <a:ln/>
        </p:spPr>
      </p:sp>
      <p:sp>
        <p:nvSpPr>
          <p:cNvPr id="80" name="Shape 78"/>
          <p:cNvSpPr/>
          <p:nvPr/>
        </p:nvSpPr>
        <p:spPr>
          <a:xfrm>
            <a:off x="6463110" y="4277817"/>
            <a:ext cx="467420" cy="125214"/>
          </a:xfrm>
          <a:prstGeom prst="roundRect">
            <a:avLst>
              <a:gd name="adj" fmla="val 7607"/>
            </a:avLst>
          </a:prstGeom>
          <a:solidFill>
            <a:srgbClr val="FCD34D">
              <a:alpha val="85000"/>
            </a:srgbClr>
          </a:solidFill>
          <a:ln/>
        </p:spPr>
      </p:sp>
      <p:sp>
        <p:nvSpPr>
          <p:cNvPr id="81" name="Shape 79"/>
          <p:cNvSpPr/>
          <p:nvPr/>
        </p:nvSpPr>
        <p:spPr>
          <a:xfrm>
            <a:off x="6949579" y="4277817"/>
            <a:ext cx="467519" cy="125214"/>
          </a:xfrm>
          <a:prstGeom prst="roundRect">
            <a:avLst>
              <a:gd name="adj" fmla="val 7607"/>
            </a:avLst>
          </a:prstGeom>
          <a:solidFill>
            <a:srgbClr val="10B981">
              <a:alpha val="88000"/>
            </a:srgbClr>
          </a:solidFill>
          <a:ln/>
        </p:spPr>
      </p:sp>
      <p:sp>
        <p:nvSpPr>
          <p:cNvPr id="82" name="Shape 80"/>
          <p:cNvSpPr/>
          <p:nvPr/>
        </p:nvSpPr>
        <p:spPr>
          <a:xfrm>
            <a:off x="7436148" y="4277817"/>
            <a:ext cx="467420" cy="125214"/>
          </a:xfrm>
          <a:prstGeom prst="roundRect">
            <a:avLst>
              <a:gd name="adj" fmla="val 7607"/>
            </a:avLst>
          </a:prstGeom>
          <a:solidFill>
            <a:srgbClr val="10B981">
              <a:alpha val="88000"/>
            </a:srgbClr>
          </a:solidFill>
          <a:ln/>
        </p:spPr>
      </p:sp>
      <p:sp>
        <p:nvSpPr>
          <p:cNvPr id="83" name="Shape 81"/>
          <p:cNvSpPr/>
          <p:nvPr/>
        </p:nvSpPr>
        <p:spPr>
          <a:xfrm>
            <a:off x="7922618" y="4277817"/>
            <a:ext cx="467519" cy="125214"/>
          </a:xfrm>
          <a:prstGeom prst="roundRect">
            <a:avLst>
              <a:gd name="adj" fmla="val 7607"/>
            </a:avLst>
          </a:prstGeom>
          <a:solidFill>
            <a:srgbClr val="10B981">
              <a:alpha val="88000"/>
            </a:srgbClr>
          </a:solidFill>
          <a:ln/>
        </p:spPr>
      </p:sp>
      <p:sp>
        <p:nvSpPr>
          <p:cNvPr id="84" name="Shape 82"/>
          <p:cNvSpPr/>
          <p:nvPr/>
        </p:nvSpPr>
        <p:spPr>
          <a:xfrm>
            <a:off x="8409186" y="4277817"/>
            <a:ext cx="467519" cy="125214"/>
          </a:xfrm>
          <a:prstGeom prst="roundRect">
            <a:avLst>
              <a:gd name="adj" fmla="val 7607"/>
            </a:avLst>
          </a:prstGeom>
          <a:solidFill>
            <a:srgbClr val="10B981">
              <a:alpha val="88000"/>
            </a:srgbClr>
          </a:solidFill>
          <a:ln/>
        </p:spPr>
      </p:sp>
      <p:sp>
        <p:nvSpPr>
          <p:cNvPr id="85" name="Shape 83"/>
          <p:cNvSpPr/>
          <p:nvPr/>
        </p:nvSpPr>
        <p:spPr>
          <a:xfrm>
            <a:off x="8895755" y="4277817"/>
            <a:ext cx="467420" cy="125214"/>
          </a:xfrm>
          <a:prstGeom prst="roundRect">
            <a:avLst>
              <a:gd name="adj" fmla="val 7607"/>
            </a:avLst>
          </a:prstGeom>
          <a:solidFill>
            <a:srgbClr val="10B981">
              <a:alpha val="88000"/>
            </a:srgbClr>
          </a:solidFill>
          <a:ln/>
        </p:spPr>
      </p:sp>
      <p:sp>
        <p:nvSpPr>
          <p:cNvPr id="86" name="Shape 84"/>
          <p:cNvSpPr/>
          <p:nvPr/>
        </p:nvSpPr>
        <p:spPr>
          <a:xfrm>
            <a:off x="9382224" y="4277817"/>
            <a:ext cx="467519" cy="125214"/>
          </a:xfrm>
          <a:prstGeom prst="roundRect">
            <a:avLst>
              <a:gd name="adj" fmla="val 7607"/>
            </a:avLst>
          </a:prstGeom>
          <a:solidFill>
            <a:srgbClr val="10B981">
              <a:alpha val="88000"/>
            </a:srgbClr>
          </a:solidFill>
          <a:ln/>
        </p:spPr>
      </p:sp>
      <p:sp>
        <p:nvSpPr>
          <p:cNvPr id="87" name="Shape 85"/>
          <p:cNvSpPr/>
          <p:nvPr/>
        </p:nvSpPr>
        <p:spPr>
          <a:xfrm>
            <a:off x="9868793" y="4277817"/>
            <a:ext cx="467420" cy="125214"/>
          </a:xfrm>
          <a:prstGeom prst="roundRect">
            <a:avLst>
              <a:gd name="adj" fmla="val 7607"/>
            </a:avLst>
          </a:prstGeom>
          <a:solidFill>
            <a:srgbClr val="10B981">
              <a:alpha val="88000"/>
            </a:srgbClr>
          </a:solidFill>
          <a:ln/>
        </p:spPr>
      </p:sp>
      <p:sp>
        <p:nvSpPr>
          <p:cNvPr id="88" name="Shape 86"/>
          <p:cNvSpPr/>
          <p:nvPr/>
        </p:nvSpPr>
        <p:spPr>
          <a:xfrm>
            <a:off x="10355263" y="4277817"/>
            <a:ext cx="467519" cy="125214"/>
          </a:xfrm>
          <a:prstGeom prst="roundRect">
            <a:avLst>
              <a:gd name="adj" fmla="val 7607"/>
            </a:avLst>
          </a:prstGeom>
          <a:solidFill>
            <a:srgbClr val="10B981">
              <a:alpha val="88000"/>
            </a:srgbClr>
          </a:solidFill>
          <a:ln/>
        </p:spPr>
      </p:sp>
      <p:sp>
        <p:nvSpPr>
          <p:cNvPr id="89" name="Shape 87"/>
          <p:cNvSpPr/>
          <p:nvPr/>
        </p:nvSpPr>
        <p:spPr>
          <a:xfrm>
            <a:off x="10841831" y="4277817"/>
            <a:ext cx="467519" cy="125214"/>
          </a:xfrm>
          <a:prstGeom prst="roundRect">
            <a:avLst>
              <a:gd name="adj" fmla="val 7607"/>
            </a:avLst>
          </a:prstGeom>
          <a:solidFill>
            <a:srgbClr val="10B981">
              <a:alpha val="88000"/>
            </a:srgbClr>
          </a:solidFill>
          <a:ln/>
        </p:spPr>
      </p:sp>
      <p:sp>
        <p:nvSpPr>
          <p:cNvPr id="90" name="Shape 88"/>
          <p:cNvSpPr/>
          <p:nvPr/>
        </p:nvSpPr>
        <p:spPr>
          <a:xfrm>
            <a:off x="5490071" y="4422081"/>
            <a:ext cx="467420" cy="125214"/>
          </a:xfrm>
          <a:prstGeom prst="roundRect">
            <a:avLst>
              <a:gd name="adj" fmla="val 7607"/>
            </a:avLst>
          </a:prstGeom>
          <a:solidFill>
            <a:srgbClr val="FCD34D">
              <a:alpha val="85000"/>
            </a:srgbClr>
          </a:solidFill>
          <a:ln/>
        </p:spPr>
      </p:sp>
      <p:sp>
        <p:nvSpPr>
          <p:cNvPr id="91" name="Shape 89"/>
          <p:cNvSpPr/>
          <p:nvPr/>
        </p:nvSpPr>
        <p:spPr>
          <a:xfrm>
            <a:off x="5976541" y="4422081"/>
            <a:ext cx="467519" cy="125214"/>
          </a:xfrm>
          <a:prstGeom prst="roundRect">
            <a:avLst>
              <a:gd name="adj" fmla="val 7607"/>
            </a:avLst>
          </a:prstGeom>
          <a:solidFill>
            <a:srgbClr val="10B981">
              <a:alpha val="88000"/>
            </a:srgbClr>
          </a:solidFill>
          <a:ln/>
        </p:spPr>
      </p:sp>
      <p:sp>
        <p:nvSpPr>
          <p:cNvPr id="92" name="Shape 90"/>
          <p:cNvSpPr/>
          <p:nvPr/>
        </p:nvSpPr>
        <p:spPr>
          <a:xfrm>
            <a:off x="6463110" y="4422081"/>
            <a:ext cx="467420" cy="125214"/>
          </a:xfrm>
          <a:prstGeom prst="roundRect">
            <a:avLst>
              <a:gd name="adj" fmla="val 7607"/>
            </a:avLst>
          </a:prstGeom>
          <a:solidFill>
            <a:srgbClr val="10B981">
              <a:alpha val="88000"/>
            </a:srgbClr>
          </a:solidFill>
          <a:ln/>
        </p:spPr>
      </p:sp>
      <p:sp>
        <p:nvSpPr>
          <p:cNvPr id="93" name="Shape 91"/>
          <p:cNvSpPr/>
          <p:nvPr/>
        </p:nvSpPr>
        <p:spPr>
          <a:xfrm>
            <a:off x="6949579" y="4422081"/>
            <a:ext cx="467519" cy="125214"/>
          </a:xfrm>
          <a:prstGeom prst="roundRect">
            <a:avLst>
              <a:gd name="adj" fmla="val 7607"/>
            </a:avLst>
          </a:prstGeom>
          <a:solidFill>
            <a:srgbClr val="10B981">
              <a:alpha val="88000"/>
            </a:srgbClr>
          </a:solidFill>
          <a:ln/>
        </p:spPr>
      </p:sp>
      <p:sp>
        <p:nvSpPr>
          <p:cNvPr id="94" name="Shape 92"/>
          <p:cNvSpPr/>
          <p:nvPr/>
        </p:nvSpPr>
        <p:spPr>
          <a:xfrm>
            <a:off x="7436148" y="4422081"/>
            <a:ext cx="467420" cy="125214"/>
          </a:xfrm>
          <a:prstGeom prst="roundRect">
            <a:avLst>
              <a:gd name="adj" fmla="val 7607"/>
            </a:avLst>
          </a:prstGeom>
          <a:solidFill>
            <a:srgbClr val="10B981">
              <a:alpha val="88000"/>
            </a:srgbClr>
          </a:solidFill>
          <a:ln/>
        </p:spPr>
      </p:sp>
      <p:sp>
        <p:nvSpPr>
          <p:cNvPr id="95" name="Shape 93"/>
          <p:cNvSpPr/>
          <p:nvPr/>
        </p:nvSpPr>
        <p:spPr>
          <a:xfrm>
            <a:off x="7922618" y="4422081"/>
            <a:ext cx="467519" cy="125214"/>
          </a:xfrm>
          <a:prstGeom prst="roundRect">
            <a:avLst>
              <a:gd name="adj" fmla="val 7607"/>
            </a:avLst>
          </a:prstGeom>
          <a:solidFill>
            <a:srgbClr val="10B981">
              <a:alpha val="88000"/>
            </a:srgbClr>
          </a:solidFill>
          <a:ln/>
        </p:spPr>
      </p:sp>
      <p:sp>
        <p:nvSpPr>
          <p:cNvPr id="96" name="Shape 94"/>
          <p:cNvSpPr/>
          <p:nvPr/>
        </p:nvSpPr>
        <p:spPr>
          <a:xfrm>
            <a:off x="8409186" y="4422081"/>
            <a:ext cx="467519" cy="125214"/>
          </a:xfrm>
          <a:prstGeom prst="roundRect">
            <a:avLst>
              <a:gd name="adj" fmla="val 7607"/>
            </a:avLst>
          </a:prstGeom>
          <a:solidFill>
            <a:srgbClr val="10B981">
              <a:alpha val="88000"/>
            </a:srgbClr>
          </a:solidFill>
          <a:ln/>
        </p:spPr>
      </p:sp>
      <p:sp>
        <p:nvSpPr>
          <p:cNvPr id="97" name="Shape 95"/>
          <p:cNvSpPr/>
          <p:nvPr/>
        </p:nvSpPr>
        <p:spPr>
          <a:xfrm>
            <a:off x="8895755" y="4422081"/>
            <a:ext cx="467420" cy="125214"/>
          </a:xfrm>
          <a:prstGeom prst="roundRect">
            <a:avLst>
              <a:gd name="adj" fmla="val 7607"/>
            </a:avLst>
          </a:prstGeom>
          <a:solidFill>
            <a:srgbClr val="10B981">
              <a:alpha val="88000"/>
            </a:srgbClr>
          </a:solidFill>
          <a:ln/>
        </p:spPr>
      </p:sp>
      <p:sp>
        <p:nvSpPr>
          <p:cNvPr id="98" name="Shape 96"/>
          <p:cNvSpPr/>
          <p:nvPr/>
        </p:nvSpPr>
        <p:spPr>
          <a:xfrm>
            <a:off x="9382224" y="4422081"/>
            <a:ext cx="467519" cy="125214"/>
          </a:xfrm>
          <a:prstGeom prst="roundRect">
            <a:avLst>
              <a:gd name="adj" fmla="val 7607"/>
            </a:avLst>
          </a:prstGeom>
          <a:solidFill>
            <a:srgbClr val="10B981">
              <a:alpha val="88000"/>
            </a:srgbClr>
          </a:solidFill>
          <a:ln/>
        </p:spPr>
      </p:sp>
      <p:sp>
        <p:nvSpPr>
          <p:cNvPr id="99" name="Shape 97"/>
          <p:cNvSpPr/>
          <p:nvPr/>
        </p:nvSpPr>
        <p:spPr>
          <a:xfrm>
            <a:off x="9868793" y="4422081"/>
            <a:ext cx="467420" cy="125214"/>
          </a:xfrm>
          <a:prstGeom prst="roundRect">
            <a:avLst>
              <a:gd name="adj" fmla="val 7607"/>
            </a:avLst>
          </a:prstGeom>
          <a:solidFill>
            <a:srgbClr val="10B981">
              <a:alpha val="88000"/>
            </a:srgbClr>
          </a:solidFill>
          <a:ln/>
        </p:spPr>
      </p:sp>
      <p:sp>
        <p:nvSpPr>
          <p:cNvPr id="100" name="Shape 98"/>
          <p:cNvSpPr/>
          <p:nvPr/>
        </p:nvSpPr>
        <p:spPr>
          <a:xfrm>
            <a:off x="10355263" y="4422081"/>
            <a:ext cx="467519" cy="125214"/>
          </a:xfrm>
          <a:prstGeom prst="roundRect">
            <a:avLst>
              <a:gd name="adj" fmla="val 7607"/>
            </a:avLst>
          </a:prstGeom>
          <a:solidFill>
            <a:srgbClr val="10B981">
              <a:alpha val="88000"/>
            </a:srgbClr>
          </a:solidFill>
          <a:ln/>
        </p:spPr>
      </p:sp>
      <p:sp>
        <p:nvSpPr>
          <p:cNvPr id="101" name="Shape 99"/>
          <p:cNvSpPr/>
          <p:nvPr/>
        </p:nvSpPr>
        <p:spPr>
          <a:xfrm>
            <a:off x="10841831" y="4422081"/>
            <a:ext cx="467519" cy="125214"/>
          </a:xfrm>
          <a:prstGeom prst="roundRect">
            <a:avLst>
              <a:gd name="adj" fmla="val 7607"/>
            </a:avLst>
          </a:prstGeom>
          <a:solidFill>
            <a:srgbClr val="10B981">
              <a:alpha val="88000"/>
            </a:srgbClr>
          </a:solidFill>
          <a:ln/>
        </p:spPr>
      </p:sp>
      <p:sp>
        <p:nvSpPr>
          <p:cNvPr id="102" name="Shape 100"/>
          <p:cNvSpPr/>
          <p:nvPr/>
        </p:nvSpPr>
        <p:spPr>
          <a:xfrm>
            <a:off x="5490071" y="4566345"/>
            <a:ext cx="467420" cy="125214"/>
          </a:xfrm>
          <a:prstGeom prst="roundRect">
            <a:avLst>
              <a:gd name="adj" fmla="val 7607"/>
            </a:avLst>
          </a:prstGeom>
          <a:solidFill>
            <a:srgbClr val="10B981">
              <a:alpha val="88000"/>
            </a:srgbClr>
          </a:solidFill>
          <a:ln/>
        </p:spPr>
      </p:sp>
      <p:sp>
        <p:nvSpPr>
          <p:cNvPr id="103" name="Shape 101"/>
          <p:cNvSpPr/>
          <p:nvPr/>
        </p:nvSpPr>
        <p:spPr>
          <a:xfrm>
            <a:off x="5976541" y="4566345"/>
            <a:ext cx="467519" cy="125214"/>
          </a:xfrm>
          <a:prstGeom prst="roundRect">
            <a:avLst>
              <a:gd name="adj" fmla="val 7607"/>
            </a:avLst>
          </a:prstGeom>
          <a:solidFill>
            <a:srgbClr val="FCD34D">
              <a:alpha val="85000"/>
            </a:srgbClr>
          </a:solidFill>
          <a:ln/>
        </p:spPr>
      </p:sp>
      <p:sp>
        <p:nvSpPr>
          <p:cNvPr id="104" name="Shape 102"/>
          <p:cNvSpPr/>
          <p:nvPr/>
        </p:nvSpPr>
        <p:spPr>
          <a:xfrm>
            <a:off x="6463110" y="4566345"/>
            <a:ext cx="467420" cy="125214"/>
          </a:xfrm>
          <a:prstGeom prst="roundRect">
            <a:avLst>
              <a:gd name="adj" fmla="val 7607"/>
            </a:avLst>
          </a:prstGeom>
          <a:solidFill>
            <a:srgbClr val="10B981">
              <a:alpha val="88000"/>
            </a:srgbClr>
          </a:solidFill>
          <a:ln/>
        </p:spPr>
      </p:sp>
      <p:sp>
        <p:nvSpPr>
          <p:cNvPr id="105" name="Shape 103"/>
          <p:cNvSpPr/>
          <p:nvPr/>
        </p:nvSpPr>
        <p:spPr>
          <a:xfrm>
            <a:off x="6949579" y="4566345"/>
            <a:ext cx="467519" cy="125214"/>
          </a:xfrm>
          <a:prstGeom prst="roundRect">
            <a:avLst>
              <a:gd name="adj" fmla="val 7607"/>
            </a:avLst>
          </a:prstGeom>
          <a:solidFill>
            <a:srgbClr val="10B981">
              <a:alpha val="88000"/>
            </a:srgbClr>
          </a:solidFill>
          <a:ln/>
        </p:spPr>
      </p:sp>
      <p:sp>
        <p:nvSpPr>
          <p:cNvPr id="106" name="Shape 104"/>
          <p:cNvSpPr/>
          <p:nvPr/>
        </p:nvSpPr>
        <p:spPr>
          <a:xfrm>
            <a:off x="7436148" y="4566345"/>
            <a:ext cx="467420" cy="125214"/>
          </a:xfrm>
          <a:prstGeom prst="roundRect">
            <a:avLst>
              <a:gd name="adj" fmla="val 7607"/>
            </a:avLst>
          </a:prstGeom>
          <a:solidFill>
            <a:srgbClr val="10B981">
              <a:alpha val="88000"/>
            </a:srgbClr>
          </a:solidFill>
          <a:ln/>
        </p:spPr>
      </p:sp>
      <p:sp>
        <p:nvSpPr>
          <p:cNvPr id="107" name="Shape 105"/>
          <p:cNvSpPr/>
          <p:nvPr/>
        </p:nvSpPr>
        <p:spPr>
          <a:xfrm>
            <a:off x="7922618" y="4566345"/>
            <a:ext cx="467519" cy="125214"/>
          </a:xfrm>
          <a:prstGeom prst="roundRect">
            <a:avLst>
              <a:gd name="adj" fmla="val 7607"/>
            </a:avLst>
          </a:prstGeom>
          <a:solidFill>
            <a:srgbClr val="10B981">
              <a:alpha val="88000"/>
            </a:srgbClr>
          </a:solidFill>
          <a:ln/>
        </p:spPr>
      </p:sp>
      <p:sp>
        <p:nvSpPr>
          <p:cNvPr id="108" name="Shape 106"/>
          <p:cNvSpPr/>
          <p:nvPr/>
        </p:nvSpPr>
        <p:spPr>
          <a:xfrm>
            <a:off x="8409186" y="4566345"/>
            <a:ext cx="467519" cy="125214"/>
          </a:xfrm>
          <a:prstGeom prst="roundRect">
            <a:avLst>
              <a:gd name="adj" fmla="val 7607"/>
            </a:avLst>
          </a:prstGeom>
          <a:solidFill>
            <a:srgbClr val="10B981">
              <a:alpha val="88000"/>
            </a:srgbClr>
          </a:solidFill>
          <a:ln/>
        </p:spPr>
      </p:sp>
      <p:sp>
        <p:nvSpPr>
          <p:cNvPr id="109" name="Shape 107"/>
          <p:cNvSpPr/>
          <p:nvPr/>
        </p:nvSpPr>
        <p:spPr>
          <a:xfrm>
            <a:off x="8895755" y="4566345"/>
            <a:ext cx="467420" cy="125214"/>
          </a:xfrm>
          <a:prstGeom prst="roundRect">
            <a:avLst>
              <a:gd name="adj" fmla="val 7607"/>
            </a:avLst>
          </a:prstGeom>
          <a:solidFill>
            <a:srgbClr val="10B981">
              <a:alpha val="88000"/>
            </a:srgbClr>
          </a:solidFill>
          <a:ln/>
        </p:spPr>
      </p:sp>
      <p:sp>
        <p:nvSpPr>
          <p:cNvPr id="110" name="Shape 108"/>
          <p:cNvSpPr/>
          <p:nvPr/>
        </p:nvSpPr>
        <p:spPr>
          <a:xfrm>
            <a:off x="9382224" y="4566345"/>
            <a:ext cx="467519" cy="125214"/>
          </a:xfrm>
          <a:prstGeom prst="roundRect">
            <a:avLst>
              <a:gd name="adj" fmla="val 7607"/>
            </a:avLst>
          </a:prstGeom>
          <a:solidFill>
            <a:srgbClr val="10B981">
              <a:alpha val="88000"/>
            </a:srgbClr>
          </a:solidFill>
          <a:ln/>
        </p:spPr>
      </p:sp>
      <p:sp>
        <p:nvSpPr>
          <p:cNvPr id="111" name="Shape 109"/>
          <p:cNvSpPr/>
          <p:nvPr/>
        </p:nvSpPr>
        <p:spPr>
          <a:xfrm>
            <a:off x="9868793" y="4566345"/>
            <a:ext cx="467420" cy="125214"/>
          </a:xfrm>
          <a:prstGeom prst="roundRect">
            <a:avLst>
              <a:gd name="adj" fmla="val 7607"/>
            </a:avLst>
          </a:prstGeom>
          <a:solidFill>
            <a:srgbClr val="10B981">
              <a:alpha val="88000"/>
            </a:srgbClr>
          </a:solidFill>
          <a:ln/>
        </p:spPr>
      </p:sp>
      <p:sp>
        <p:nvSpPr>
          <p:cNvPr id="112" name="Shape 110"/>
          <p:cNvSpPr/>
          <p:nvPr/>
        </p:nvSpPr>
        <p:spPr>
          <a:xfrm>
            <a:off x="10355263" y="4566345"/>
            <a:ext cx="467519" cy="125214"/>
          </a:xfrm>
          <a:prstGeom prst="roundRect">
            <a:avLst>
              <a:gd name="adj" fmla="val 7607"/>
            </a:avLst>
          </a:prstGeom>
          <a:solidFill>
            <a:srgbClr val="10B981">
              <a:alpha val="88000"/>
            </a:srgbClr>
          </a:solidFill>
          <a:ln/>
        </p:spPr>
      </p:sp>
      <p:sp>
        <p:nvSpPr>
          <p:cNvPr id="113" name="Shape 111"/>
          <p:cNvSpPr/>
          <p:nvPr/>
        </p:nvSpPr>
        <p:spPr>
          <a:xfrm>
            <a:off x="10841831" y="4566345"/>
            <a:ext cx="467519" cy="125214"/>
          </a:xfrm>
          <a:prstGeom prst="roundRect">
            <a:avLst>
              <a:gd name="adj" fmla="val 7607"/>
            </a:avLst>
          </a:prstGeom>
          <a:solidFill>
            <a:srgbClr val="10B981">
              <a:alpha val="88000"/>
            </a:srgbClr>
          </a:solidFill>
          <a:ln/>
        </p:spPr>
      </p:sp>
      <p:sp>
        <p:nvSpPr>
          <p:cNvPr id="114" name="Shape 112"/>
          <p:cNvSpPr/>
          <p:nvPr/>
        </p:nvSpPr>
        <p:spPr>
          <a:xfrm>
            <a:off x="5490071" y="4710609"/>
            <a:ext cx="467420" cy="125214"/>
          </a:xfrm>
          <a:prstGeom prst="roundRect">
            <a:avLst>
              <a:gd name="adj" fmla="val 7607"/>
            </a:avLst>
          </a:prstGeom>
          <a:solidFill>
            <a:srgbClr val="10B981">
              <a:alpha val="88000"/>
            </a:srgbClr>
          </a:solidFill>
          <a:ln/>
        </p:spPr>
      </p:sp>
      <p:sp>
        <p:nvSpPr>
          <p:cNvPr id="115" name="Shape 113"/>
          <p:cNvSpPr/>
          <p:nvPr/>
        </p:nvSpPr>
        <p:spPr>
          <a:xfrm>
            <a:off x="5976541" y="4710609"/>
            <a:ext cx="467519" cy="125214"/>
          </a:xfrm>
          <a:prstGeom prst="roundRect">
            <a:avLst>
              <a:gd name="adj" fmla="val 7607"/>
            </a:avLst>
          </a:prstGeom>
          <a:solidFill>
            <a:srgbClr val="10B981">
              <a:alpha val="88000"/>
            </a:srgbClr>
          </a:solidFill>
          <a:ln/>
        </p:spPr>
      </p:sp>
      <p:sp>
        <p:nvSpPr>
          <p:cNvPr id="116" name="Shape 114"/>
          <p:cNvSpPr/>
          <p:nvPr/>
        </p:nvSpPr>
        <p:spPr>
          <a:xfrm>
            <a:off x="6463110" y="4710609"/>
            <a:ext cx="467420" cy="125214"/>
          </a:xfrm>
          <a:prstGeom prst="roundRect">
            <a:avLst>
              <a:gd name="adj" fmla="val 7607"/>
            </a:avLst>
          </a:prstGeom>
          <a:solidFill>
            <a:srgbClr val="FCD34D">
              <a:alpha val="85000"/>
            </a:srgbClr>
          </a:solidFill>
          <a:ln/>
        </p:spPr>
      </p:sp>
      <p:sp>
        <p:nvSpPr>
          <p:cNvPr id="117" name="Shape 115"/>
          <p:cNvSpPr/>
          <p:nvPr/>
        </p:nvSpPr>
        <p:spPr>
          <a:xfrm>
            <a:off x="6949579" y="4710609"/>
            <a:ext cx="467519" cy="125214"/>
          </a:xfrm>
          <a:prstGeom prst="roundRect">
            <a:avLst>
              <a:gd name="adj" fmla="val 7607"/>
            </a:avLst>
          </a:prstGeom>
          <a:solidFill>
            <a:srgbClr val="10B981">
              <a:alpha val="88000"/>
            </a:srgbClr>
          </a:solidFill>
          <a:ln/>
        </p:spPr>
      </p:sp>
      <p:sp>
        <p:nvSpPr>
          <p:cNvPr id="118" name="Shape 116"/>
          <p:cNvSpPr/>
          <p:nvPr/>
        </p:nvSpPr>
        <p:spPr>
          <a:xfrm>
            <a:off x="7436148" y="4710609"/>
            <a:ext cx="467420" cy="125214"/>
          </a:xfrm>
          <a:prstGeom prst="roundRect">
            <a:avLst>
              <a:gd name="adj" fmla="val 7607"/>
            </a:avLst>
          </a:prstGeom>
          <a:solidFill>
            <a:srgbClr val="10B981">
              <a:alpha val="88000"/>
            </a:srgbClr>
          </a:solidFill>
          <a:ln/>
        </p:spPr>
      </p:sp>
      <p:sp>
        <p:nvSpPr>
          <p:cNvPr id="119" name="Shape 117"/>
          <p:cNvSpPr/>
          <p:nvPr/>
        </p:nvSpPr>
        <p:spPr>
          <a:xfrm>
            <a:off x="7922618" y="4710609"/>
            <a:ext cx="467519" cy="125214"/>
          </a:xfrm>
          <a:prstGeom prst="roundRect">
            <a:avLst>
              <a:gd name="adj" fmla="val 7607"/>
            </a:avLst>
          </a:prstGeom>
          <a:solidFill>
            <a:srgbClr val="10B981">
              <a:alpha val="88000"/>
            </a:srgbClr>
          </a:solidFill>
          <a:ln/>
        </p:spPr>
      </p:sp>
      <p:sp>
        <p:nvSpPr>
          <p:cNvPr id="120" name="Shape 118"/>
          <p:cNvSpPr/>
          <p:nvPr/>
        </p:nvSpPr>
        <p:spPr>
          <a:xfrm>
            <a:off x="8409186" y="4710609"/>
            <a:ext cx="467519" cy="125214"/>
          </a:xfrm>
          <a:prstGeom prst="roundRect">
            <a:avLst>
              <a:gd name="adj" fmla="val 7607"/>
            </a:avLst>
          </a:prstGeom>
          <a:solidFill>
            <a:srgbClr val="10B981">
              <a:alpha val="88000"/>
            </a:srgbClr>
          </a:solidFill>
          <a:ln/>
        </p:spPr>
      </p:sp>
      <p:sp>
        <p:nvSpPr>
          <p:cNvPr id="121" name="Shape 119"/>
          <p:cNvSpPr/>
          <p:nvPr/>
        </p:nvSpPr>
        <p:spPr>
          <a:xfrm>
            <a:off x="8895755" y="4710609"/>
            <a:ext cx="467420" cy="125214"/>
          </a:xfrm>
          <a:prstGeom prst="roundRect">
            <a:avLst>
              <a:gd name="adj" fmla="val 7607"/>
            </a:avLst>
          </a:prstGeom>
          <a:solidFill>
            <a:srgbClr val="10B981">
              <a:alpha val="88000"/>
            </a:srgbClr>
          </a:solidFill>
          <a:ln/>
        </p:spPr>
      </p:sp>
      <p:sp>
        <p:nvSpPr>
          <p:cNvPr id="122" name="Shape 120"/>
          <p:cNvSpPr/>
          <p:nvPr/>
        </p:nvSpPr>
        <p:spPr>
          <a:xfrm>
            <a:off x="9382224" y="4710609"/>
            <a:ext cx="467519" cy="125214"/>
          </a:xfrm>
          <a:prstGeom prst="roundRect">
            <a:avLst>
              <a:gd name="adj" fmla="val 7607"/>
            </a:avLst>
          </a:prstGeom>
          <a:solidFill>
            <a:srgbClr val="10B981">
              <a:alpha val="88000"/>
            </a:srgbClr>
          </a:solidFill>
          <a:ln/>
        </p:spPr>
      </p:sp>
      <p:sp>
        <p:nvSpPr>
          <p:cNvPr id="123" name="Shape 121"/>
          <p:cNvSpPr/>
          <p:nvPr/>
        </p:nvSpPr>
        <p:spPr>
          <a:xfrm>
            <a:off x="9868793" y="4710609"/>
            <a:ext cx="467420" cy="125214"/>
          </a:xfrm>
          <a:prstGeom prst="roundRect">
            <a:avLst>
              <a:gd name="adj" fmla="val 7607"/>
            </a:avLst>
          </a:prstGeom>
          <a:solidFill>
            <a:srgbClr val="10B981">
              <a:alpha val="88000"/>
            </a:srgbClr>
          </a:solidFill>
          <a:ln/>
        </p:spPr>
      </p:sp>
      <p:sp>
        <p:nvSpPr>
          <p:cNvPr id="124" name="Shape 122"/>
          <p:cNvSpPr/>
          <p:nvPr/>
        </p:nvSpPr>
        <p:spPr>
          <a:xfrm>
            <a:off x="10355263" y="4710609"/>
            <a:ext cx="467519" cy="125214"/>
          </a:xfrm>
          <a:prstGeom prst="roundRect">
            <a:avLst>
              <a:gd name="adj" fmla="val 7607"/>
            </a:avLst>
          </a:prstGeom>
          <a:solidFill>
            <a:srgbClr val="10B981">
              <a:alpha val="88000"/>
            </a:srgbClr>
          </a:solidFill>
          <a:ln/>
        </p:spPr>
      </p:sp>
      <p:sp>
        <p:nvSpPr>
          <p:cNvPr id="125" name="Shape 123"/>
          <p:cNvSpPr/>
          <p:nvPr/>
        </p:nvSpPr>
        <p:spPr>
          <a:xfrm>
            <a:off x="10841831" y="4710609"/>
            <a:ext cx="467519" cy="125214"/>
          </a:xfrm>
          <a:prstGeom prst="roundRect">
            <a:avLst>
              <a:gd name="adj" fmla="val 7607"/>
            </a:avLst>
          </a:prstGeom>
          <a:solidFill>
            <a:srgbClr val="10B981">
              <a:alpha val="88000"/>
            </a:srgbClr>
          </a:solidFill>
          <a:ln/>
        </p:spPr>
      </p:sp>
      <p:sp>
        <p:nvSpPr>
          <p:cNvPr id="126" name="Shape 124"/>
          <p:cNvSpPr/>
          <p:nvPr/>
        </p:nvSpPr>
        <p:spPr>
          <a:xfrm>
            <a:off x="5490071" y="4854873"/>
            <a:ext cx="467420" cy="125214"/>
          </a:xfrm>
          <a:prstGeom prst="roundRect">
            <a:avLst>
              <a:gd name="adj" fmla="val 7607"/>
            </a:avLst>
          </a:prstGeom>
          <a:solidFill>
            <a:srgbClr val="FCD34D">
              <a:alpha val="85000"/>
            </a:srgbClr>
          </a:solidFill>
          <a:ln/>
        </p:spPr>
      </p:sp>
      <p:sp>
        <p:nvSpPr>
          <p:cNvPr id="127" name="Shape 125"/>
          <p:cNvSpPr/>
          <p:nvPr/>
        </p:nvSpPr>
        <p:spPr>
          <a:xfrm>
            <a:off x="5976541" y="4854873"/>
            <a:ext cx="467519" cy="125214"/>
          </a:xfrm>
          <a:prstGeom prst="roundRect">
            <a:avLst>
              <a:gd name="adj" fmla="val 7607"/>
            </a:avLst>
          </a:prstGeom>
          <a:solidFill>
            <a:srgbClr val="10B981">
              <a:alpha val="88000"/>
            </a:srgbClr>
          </a:solidFill>
          <a:ln/>
        </p:spPr>
      </p:sp>
      <p:sp>
        <p:nvSpPr>
          <p:cNvPr id="128" name="Shape 126"/>
          <p:cNvSpPr/>
          <p:nvPr/>
        </p:nvSpPr>
        <p:spPr>
          <a:xfrm>
            <a:off x="6463110" y="4854873"/>
            <a:ext cx="467420" cy="125214"/>
          </a:xfrm>
          <a:prstGeom prst="roundRect">
            <a:avLst>
              <a:gd name="adj" fmla="val 7607"/>
            </a:avLst>
          </a:prstGeom>
          <a:solidFill>
            <a:srgbClr val="10B981">
              <a:alpha val="88000"/>
            </a:srgbClr>
          </a:solidFill>
          <a:ln/>
        </p:spPr>
      </p:sp>
      <p:sp>
        <p:nvSpPr>
          <p:cNvPr id="129" name="Shape 127"/>
          <p:cNvSpPr/>
          <p:nvPr/>
        </p:nvSpPr>
        <p:spPr>
          <a:xfrm>
            <a:off x="6949579" y="4854873"/>
            <a:ext cx="467519" cy="125214"/>
          </a:xfrm>
          <a:prstGeom prst="roundRect">
            <a:avLst>
              <a:gd name="adj" fmla="val 7607"/>
            </a:avLst>
          </a:prstGeom>
          <a:solidFill>
            <a:srgbClr val="10B981">
              <a:alpha val="88000"/>
            </a:srgbClr>
          </a:solidFill>
          <a:ln/>
        </p:spPr>
      </p:sp>
      <p:sp>
        <p:nvSpPr>
          <p:cNvPr id="130" name="Shape 128"/>
          <p:cNvSpPr/>
          <p:nvPr/>
        </p:nvSpPr>
        <p:spPr>
          <a:xfrm>
            <a:off x="7436148" y="4854873"/>
            <a:ext cx="467420" cy="125214"/>
          </a:xfrm>
          <a:prstGeom prst="roundRect">
            <a:avLst>
              <a:gd name="adj" fmla="val 7607"/>
            </a:avLst>
          </a:prstGeom>
          <a:solidFill>
            <a:srgbClr val="10B981">
              <a:alpha val="88000"/>
            </a:srgbClr>
          </a:solidFill>
          <a:ln/>
        </p:spPr>
      </p:sp>
      <p:sp>
        <p:nvSpPr>
          <p:cNvPr id="131" name="Shape 129"/>
          <p:cNvSpPr/>
          <p:nvPr/>
        </p:nvSpPr>
        <p:spPr>
          <a:xfrm>
            <a:off x="7922618" y="4854873"/>
            <a:ext cx="467519" cy="125214"/>
          </a:xfrm>
          <a:prstGeom prst="roundRect">
            <a:avLst>
              <a:gd name="adj" fmla="val 7607"/>
            </a:avLst>
          </a:prstGeom>
          <a:solidFill>
            <a:srgbClr val="10B981">
              <a:alpha val="88000"/>
            </a:srgbClr>
          </a:solidFill>
          <a:ln/>
        </p:spPr>
      </p:sp>
      <p:sp>
        <p:nvSpPr>
          <p:cNvPr id="132" name="Shape 130"/>
          <p:cNvSpPr/>
          <p:nvPr/>
        </p:nvSpPr>
        <p:spPr>
          <a:xfrm>
            <a:off x="8409186" y="4854873"/>
            <a:ext cx="467519" cy="125214"/>
          </a:xfrm>
          <a:prstGeom prst="roundRect">
            <a:avLst>
              <a:gd name="adj" fmla="val 7607"/>
            </a:avLst>
          </a:prstGeom>
          <a:solidFill>
            <a:srgbClr val="10B981">
              <a:alpha val="88000"/>
            </a:srgbClr>
          </a:solidFill>
          <a:ln/>
        </p:spPr>
      </p:sp>
      <p:sp>
        <p:nvSpPr>
          <p:cNvPr id="133" name="Shape 131"/>
          <p:cNvSpPr/>
          <p:nvPr/>
        </p:nvSpPr>
        <p:spPr>
          <a:xfrm>
            <a:off x="8895755" y="4854873"/>
            <a:ext cx="467420" cy="125214"/>
          </a:xfrm>
          <a:prstGeom prst="roundRect">
            <a:avLst>
              <a:gd name="adj" fmla="val 7607"/>
            </a:avLst>
          </a:prstGeom>
          <a:solidFill>
            <a:srgbClr val="10B981">
              <a:alpha val="88000"/>
            </a:srgbClr>
          </a:solidFill>
          <a:ln/>
        </p:spPr>
      </p:sp>
      <p:sp>
        <p:nvSpPr>
          <p:cNvPr id="134" name="Shape 132"/>
          <p:cNvSpPr/>
          <p:nvPr/>
        </p:nvSpPr>
        <p:spPr>
          <a:xfrm>
            <a:off x="9382224" y="4854873"/>
            <a:ext cx="467519" cy="125214"/>
          </a:xfrm>
          <a:prstGeom prst="roundRect">
            <a:avLst>
              <a:gd name="adj" fmla="val 7607"/>
            </a:avLst>
          </a:prstGeom>
          <a:solidFill>
            <a:srgbClr val="10B981">
              <a:alpha val="88000"/>
            </a:srgbClr>
          </a:solidFill>
          <a:ln/>
        </p:spPr>
      </p:sp>
      <p:sp>
        <p:nvSpPr>
          <p:cNvPr id="135" name="Shape 133"/>
          <p:cNvSpPr/>
          <p:nvPr/>
        </p:nvSpPr>
        <p:spPr>
          <a:xfrm>
            <a:off x="9868793" y="4854873"/>
            <a:ext cx="467420" cy="125214"/>
          </a:xfrm>
          <a:prstGeom prst="roundRect">
            <a:avLst>
              <a:gd name="adj" fmla="val 7607"/>
            </a:avLst>
          </a:prstGeom>
          <a:solidFill>
            <a:srgbClr val="10B981">
              <a:alpha val="88000"/>
            </a:srgbClr>
          </a:solidFill>
          <a:ln/>
        </p:spPr>
      </p:sp>
      <p:sp>
        <p:nvSpPr>
          <p:cNvPr id="136" name="Shape 134"/>
          <p:cNvSpPr/>
          <p:nvPr/>
        </p:nvSpPr>
        <p:spPr>
          <a:xfrm>
            <a:off x="10355263" y="4854873"/>
            <a:ext cx="467519" cy="125214"/>
          </a:xfrm>
          <a:prstGeom prst="roundRect">
            <a:avLst>
              <a:gd name="adj" fmla="val 7607"/>
            </a:avLst>
          </a:prstGeom>
          <a:solidFill>
            <a:srgbClr val="10B981">
              <a:alpha val="88000"/>
            </a:srgbClr>
          </a:solidFill>
          <a:ln/>
        </p:spPr>
      </p:sp>
      <p:sp>
        <p:nvSpPr>
          <p:cNvPr id="137" name="Shape 135"/>
          <p:cNvSpPr/>
          <p:nvPr/>
        </p:nvSpPr>
        <p:spPr>
          <a:xfrm>
            <a:off x="10841831" y="4854873"/>
            <a:ext cx="467519" cy="125214"/>
          </a:xfrm>
          <a:prstGeom prst="roundRect">
            <a:avLst>
              <a:gd name="adj" fmla="val 7607"/>
            </a:avLst>
          </a:prstGeom>
          <a:solidFill>
            <a:srgbClr val="10B981">
              <a:alpha val="88000"/>
            </a:srgbClr>
          </a:solidFill>
          <a:ln/>
        </p:spPr>
      </p:sp>
      <p:sp>
        <p:nvSpPr>
          <p:cNvPr id="138" name="Shape 136"/>
          <p:cNvSpPr/>
          <p:nvPr/>
        </p:nvSpPr>
        <p:spPr>
          <a:xfrm>
            <a:off x="5490071" y="4999137"/>
            <a:ext cx="467420" cy="125214"/>
          </a:xfrm>
          <a:prstGeom prst="roundRect">
            <a:avLst>
              <a:gd name="adj" fmla="val 7607"/>
            </a:avLst>
          </a:prstGeom>
          <a:solidFill>
            <a:srgbClr val="10B981">
              <a:alpha val="88000"/>
            </a:srgbClr>
          </a:solidFill>
          <a:ln/>
        </p:spPr>
      </p:sp>
      <p:sp>
        <p:nvSpPr>
          <p:cNvPr id="139" name="Shape 137"/>
          <p:cNvSpPr/>
          <p:nvPr/>
        </p:nvSpPr>
        <p:spPr>
          <a:xfrm>
            <a:off x="5976541" y="4999137"/>
            <a:ext cx="467519" cy="125214"/>
          </a:xfrm>
          <a:prstGeom prst="roundRect">
            <a:avLst>
              <a:gd name="adj" fmla="val 7607"/>
            </a:avLst>
          </a:prstGeom>
          <a:solidFill>
            <a:srgbClr val="10B981">
              <a:alpha val="88000"/>
            </a:srgbClr>
          </a:solidFill>
          <a:ln/>
        </p:spPr>
      </p:sp>
      <p:sp>
        <p:nvSpPr>
          <p:cNvPr id="140" name="Shape 138"/>
          <p:cNvSpPr/>
          <p:nvPr/>
        </p:nvSpPr>
        <p:spPr>
          <a:xfrm>
            <a:off x="6463110" y="4999137"/>
            <a:ext cx="467420" cy="125214"/>
          </a:xfrm>
          <a:prstGeom prst="roundRect">
            <a:avLst>
              <a:gd name="adj" fmla="val 7607"/>
            </a:avLst>
          </a:prstGeom>
          <a:solidFill>
            <a:srgbClr val="10B981">
              <a:alpha val="88000"/>
            </a:srgbClr>
          </a:solidFill>
          <a:ln/>
        </p:spPr>
      </p:sp>
      <p:sp>
        <p:nvSpPr>
          <p:cNvPr id="141" name="Shape 139"/>
          <p:cNvSpPr/>
          <p:nvPr/>
        </p:nvSpPr>
        <p:spPr>
          <a:xfrm>
            <a:off x="6949579" y="4999137"/>
            <a:ext cx="467519" cy="125214"/>
          </a:xfrm>
          <a:prstGeom prst="roundRect">
            <a:avLst>
              <a:gd name="adj" fmla="val 7607"/>
            </a:avLst>
          </a:prstGeom>
          <a:solidFill>
            <a:srgbClr val="10B981">
              <a:alpha val="88000"/>
            </a:srgbClr>
          </a:solidFill>
          <a:ln/>
        </p:spPr>
      </p:sp>
      <p:sp>
        <p:nvSpPr>
          <p:cNvPr id="142" name="Shape 140"/>
          <p:cNvSpPr/>
          <p:nvPr/>
        </p:nvSpPr>
        <p:spPr>
          <a:xfrm>
            <a:off x="7436148" y="4999137"/>
            <a:ext cx="467420" cy="125214"/>
          </a:xfrm>
          <a:prstGeom prst="roundRect">
            <a:avLst>
              <a:gd name="adj" fmla="val 7607"/>
            </a:avLst>
          </a:prstGeom>
          <a:solidFill>
            <a:srgbClr val="10B981">
              <a:alpha val="88000"/>
            </a:srgbClr>
          </a:solidFill>
          <a:ln/>
        </p:spPr>
      </p:sp>
      <p:sp>
        <p:nvSpPr>
          <p:cNvPr id="143" name="Shape 141"/>
          <p:cNvSpPr/>
          <p:nvPr/>
        </p:nvSpPr>
        <p:spPr>
          <a:xfrm>
            <a:off x="7922618" y="4999137"/>
            <a:ext cx="467519" cy="125214"/>
          </a:xfrm>
          <a:prstGeom prst="roundRect">
            <a:avLst>
              <a:gd name="adj" fmla="val 7607"/>
            </a:avLst>
          </a:prstGeom>
          <a:solidFill>
            <a:srgbClr val="10B981">
              <a:alpha val="88000"/>
            </a:srgbClr>
          </a:solidFill>
          <a:ln/>
        </p:spPr>
      </p:sp>
      <p:sp>
        <p:nvSpPr>
          <p:cNvPr id="144" name="Shape 142"/>
          <p:cNvSpPr/>
          <p:nvPr/>
        </p:nvSpPr>
        <p:spPr>
          <a:xfrm>
            <a:off x="8409186" y="4999137"/>
            <a:ext cx="467519" cy="125214"/>
          </a:xfrm>
          <a:prstGeom prst="roundRect">
            <a:avLst>
              <a:gd name="adj" fmla="val 7607"/>
            </a:avLst>
          </a:prstGeom>
          <a:solidFill>
            <a:srgbClr val="10B981">
              <a:alpha val="88000"/>
            </a:srgbClr>
          </a:solidFill>
          <a:ln/>
        </p:spPr>
      </p:sp>
      <p:sp>
        <p:nvSpPr>
          <p:cNvPr id="145" name="Shape 143"/>
          <p:cNvSpPr/>
          <p:nvPr/>
        </p:nvSpPr>
        <p:spPr>
          <a:xfrm>
            <a:off x="8895755" y="4999137"/>
            <a:ext cx="467420" cy="125214"/>
          </a:xfrm>
          <a:prstGeom prst="roundRect">
            <a:avLst>
              <a:gd name="adj" fmla="val 7607"/>
            </a:avLst>
          </a:prstGeom>
          <a:solidFill>
            <a:srgbClr val="10B981">
              <a:alpha val="88000"/>
            </a:srgbClr>
          </a:solidFill>
          <a:ln/>
        </p:spPr>
      </p:sp>
      <p:sp>
        <p:nvSpPr>
          <p:cNvPr id="146" name="Shape 144"/>
          <p:cNvSpPr/>
          <p:nvPr/>
        </p:nvSpPr>
        <p:spPr>
          <a:xfrm>
            <a:off x="9382224" y="4999137"/>
            <a:ext cx="467519" cy="125214"/>
          </a:xfrm>
          <a:prstGeom prst="roundRect">
            <a:avLst>
              <a:gd name="adj" fmla="val 7607"/>
            </a:avLst>
          </a:prstGeom>
          <a:solidFill>
            <a:srgbClr val="10B981">
              <a:alpha val="88000"/>
            </a:srgbClr>
          </a:solidFill>
          <a:ln/>
        </p:spPr>
      </p:sp>
      <p:sp>
        <p:nvSpPr>
          <p:cNvPr id="147" name="Shape 145"/>
          <p:cNvSpPr/>
          <p:nvPr/>
        </p:nvSpPr>
        <p:spPr>
          <a:xfrm>
            <a:off x="9868793" y="4999137"/>
            <a:ext cx="467420" cy="125214"/>
          </a:xfrm>
          <a:prstGeom prst="roundRect">
            <a:avLst>
              <a:gd name="adj" fmla="val 7607"/>
            </a:avLst>
          </a:prstGeom>
          <a:solidFill>
            <a:srgbClr val="10B981">
              <a:alpha val="88000"/>
            </a:srgbClr>
          </a:solidFill>
          <a:ln/>
        </p:spPr>
      </p:sp>
      <p:sp>
        <p:nvSpPr>
          <p:cNvPr id="148" name="Shape 146"/>
          <p:cNvSpPr/>
          <p:nvPr/>
        </p:nvSpPr>
        <p:spPr>
          <a:xfrm>
            <a:off x="10355263" y="4999137"/>
            <a:ext cx="467519" cy="125214"/>
          </a:xfrm>
          <a:prstGeom prst="roundRect">
            <a:avLst>
              <a:gd name="adj" fmla="val 7607"/>
            </a:avLst>
          </a:prstGeom>
          <a:solidFill>
            <a:srgbClr val="10B981">
              <a:alpha val="88000"/>
            </a:srgbClr>
          </a:solidFill>
          <a:ln/>
        </p:spPr>
      </p:sp>
      <p:sp>
        <p:nvSpPr>
          <p:cNvPr id="149" name="Shape 147"/>
          <p:cNvSpPr/>
          <p:nvPr/>
        </p:nvSpPr>
        <p:spPr>
          <a:xfrm>
            <a:off x="10841831" y="4999137"/>
            <a:ext cx="467519" cy="125214"/>
          </a:xfrm>
          <a:prstGeom prst="roundRect">
            <a:avLst>
              <a:gd name="adj" fmla="val 7607"/>
            </a:avLst>
          </a:prstGeom>
          <a:solidFill>
            <a:srgbClr val="10B981">
              <a:alpha val="88000"/>
            </a:srgbClr>
          </a:solidFill>
          <a:ln/>
        </p:spPr>
      </p:sp>
      <p:sp>
        <p:nvSpPr>
          <p:cNvPr id="150" name="Shape 148"/>
          <p:cNvSpPr/>
          <p:nvPr/>
        </p:nvSpPr>
        <p:spPr>
          <a:xfrm>
            <a:off x="5490071" y="5143401"/>
            <a:ext cx="467420" cy="125214"/>
          </a:xfrm>
          <a:prstGeom prst="roundRect">
            <a:avLst>
              <a:gd name="adj" fmla="val 7607"/>
            </a:avLst>
          </a:prstGeom>
          <a:solidFill>
            <a:srgbClr val="10B981">
              <a:alpha val="88000"/>
            </a:srgbClr>
          </a:solidFill>
          <a:ln/>
        </p:spPr>
      </p:sp>
      <p:sp>
        <p:nvSpPr>
          <p:cNvPr id="151" name="Shape 149"/>
          <p:cNvSpPr/>
          <p:nvPr/>
        </p:nvSpPr>
        <p:spPr>
          <a:xfrm>
            <a:off x="5976541" y="5143401"/>
            <a:ext cx="467519" cy="125214"/>
          </a:xfrm>
          <a:prstGeom prst="roundRect">
            <a:avLst>
              <a:gd name="adj" fmla="val 7607"/>
            </a:avLst>
          </a:prstGeom>
          <a:solidFill>
            <a:srgbClr val="10B981">
              <a:alpha val="88000"/>
            </a:srgbClr>
          </a:solidFill>
          <a:ln/>
        </p:spPr>
      </p:sp>
      <p:sp>
        <p:nvSpPr>
          <p:cNvPr id="152" name="Shape 150"/>
          <p:cNvSpPr/>
          <p:nvPr/>
        </p:nvSpPr>
        <p:spPr>
          <a:xfrm>
            <a:off x="6463110" y="5143401"/>
            <a:ext cx="467420" cy="125214"/>
          </a:xfrm>
          <a:prstGeom prst="roundRect">
            <a:avLst>
              <a:gd name="adj" fmla="val 7607"/>
            </a:avLst>
          </a:prstGeom>
          <a:solidFill>
            <a:srgbClr val="10B981">
              <a:alpha val="88000"/>
            </a:srgbClr>
          </a:solidFill>
          <a:ln/>
        </p:spPr>
      </p:sp>
      <p:sp>
        <p:nvSpPr>
          <p:cNvPr id="153" name="Shape 151"/>
          <p:cNvSpPr/>
          <p:nvPr/>
        </p:nvSpPr>
        <p:spPr>
          <a:xfrm>
            <a:off x="6949579" y="5143401"/>
            <a:ext cx="467519" cy="125214"/>
          </a:xfrm>
          <a:prstGeom prst="roundRect">
            <a:avLst>
              <a:gd name="adj" fmla="val 7607"/>
            </a:avLst>
          </a:prstGeom>
          <a:solidFill>
            <a:srgbClr val="10B981">
              <a:alpha val="88000"/>
            </a:srgbClr>
          </a:solidFill>
          <a:ln/>
        </p:spPr>
      </p:sp>
      <p:sp>
        <p:nvSpPr>
          <p:cNvPr id="154" name="Shape 152"/>
          <p:cNvSpPr/>
          <p:nvPr/>
        </p:nvSpPr>
        <p:spPr>
          <a:xfrm>
            <a:off x="7436148" y="5143401"/>
            <a:ext cx="467420" cy="125214"/>
          </a:xfrm>
          <a:prstGeom prst="roundRect">
            <a:avLst>
              <a:gd name="adj" fmla="val 7607"/>
            </a:avLst>
          </a:prstGeom>
          <a:solidFill>
            <a:srgbClr val="10B981">
              <a:alpha val="88000"/>
            </a:srgbClr>
          </a:solidFill>
          <a:ln/>
        </p:spPr>
      </p:sp>
      <p:sp>
        <p:nvSpPr>
          <p:cNvPr id="155" name="Shape 153"/>
          <p:cNvSpPr/>
          <p:nvPr/>
        </p:nvSpPr>
        <p:spPr>
          <a:xfrm>
            <a:off x="7922618" y="5143401"/>
            <a:ext cx="467519" cy="125214"/>
          </a:xfrm>
          <a:prstGeom prst="roundRect">
            <a:avLst>
              <a:gd name="adj" fmla="val 7607"/>
            </a:avLst>
          </a:prstGeom>
          <a:solidFill>
            <a:srgbClr val="10B981">
              <a:alpha val="88000"/>
            </a:srgbClr>
          </a:solidFill>
          <a:ln/>
        </p:spPr>
      </p:sp>
      <p:sp>
        <p:nvSpPr>
          <p:cNvPr id="156" name="Shape 154"/>
          <p:cNvSpPr/>
          <p:nvPr/>
        </p:nvSpPr>
        <p:spPr>
          <a:xfrm>
            <a:off x="8409186" y="5143401"/>
            <a:ext cx="467519" cy="125214"/>
          </a:xfrm>
          <a:prstGeom prst="roundRect">
            <a:avLst>
              <a:gd name="adj" fmla="val 7607"/>
            </a:avLst>
          </a:prstGeom>
          <a:solidFill>
            <a:srgbClr val="10B981">
              <a:alpha val="88000"/>
            </a:srgbClr>
          </a:solidFill>
          <a:ln/>
        </p:spPr>
      </p:sp>
      <p:sp>
        <p:nvSpPr>
          <p:cNvPr id="157" name="Shape 155"/>
          <p:cNvSpPr/>
          <p:nvPr/>
        </p:nvSpPr>
        <p:spPr>
          <a:xfrm>
            <a:off x="8895755" y="5143401"/>
            <a:ext cx="467420" cy="125214"/>
          </a:xfrm>
          <a:prstGeom prst="roundRect">
            <a:avLst>
              <a:gd name="adj" fmla="val 7607"/>
            </a:avLst>
          </a:prstGeom>
          <a:solidFill>
            <a:srgbClr val="10B981">
              <a:alpha val="88000"/>
            </a:srgbClr>
          </a:solidFill>
          <a:ln/>
        </p:spPr>
      </p:sp>
      <p:sp>
        <p:nvSpPr>
          <p:cNvPr id="158" name="Shape 156"/>
          <p:cNvSpPr/>
          <p:nvPr/>
        </p:nvSpPr>
        <p:spPr>
          <a:xfrm>
            <a:off x="9382224" y="5143401"/>
            <a:ext cx="467519" cy="125214"/>
          </a:xfrm>
          <a:prstGeom prst="roundRect">
            <a:avLst>
              <a:gd name="adj" fmla="val 7607"/>
            </a:avLst>
          </a:prstGeom>
          <a:solidFill>
            <a:srgbClr val="10B981">
              <a:alpha val="88000"/>
            </a:srgbClr>
          </a:solidFill>
          <a:ln/>
        </p:spPr>
      </p:sp>
      <p:sp>
        <p:nvSpPr>
          <p:cNvPr id="159" name="Shape 157"/>
          <p:cNvSpPr/>
          <p:nvPr/>
        </p:nvSpPr>
        <p:spPr>
          <a:xfrm>
            <a:off x="9868793" y="5143401"/>
            <a:ext cx="467420" cy="125214"/>
          </a:xfrm>
          <a:prstGeom prst="roundRect">
            <a:avLst>
              <a:gd name="adj" fmla="val 7607"/>
            </a:avLst>
          </a:prstGeom>
          <a:solidFill>
            <a:srgbClr val="10B981">
              <a:alpha val="88000"/>
            </a:srgbClr>
          </a:solidFill>
          <a:ln/>
        </p:spPr>
      </p:sp>
      <p:sp>
        <p:nvSpPr>
          <p:cNvPr id="160" name="Shape 158"/>
          <p:cNvSpPr/>
          <p:nvPr/>
        </p:nvSpPr>
        <p:spPr>
          <a:xfrm>
            <a:off x="10355263" y="5143401"/>
            <a:ext cx="467519" cy="125214"/>
          </a:xfrm>
          <a:prstGeom prst="roundRect">
            <a:avLst>
              <a:gd name="adj" fmla="val 7607"/>
            </a:avLst>
          </a:prstGeom>
          <a:solidFill>
            <a:srgbClr val="10B981">
              <a:alpha val="88000"/>
            </a:srgbClr>
          </a:solidFill>
          <a:ln/>
        </p:spPr>
      </p:sp>
      <p:sp>
        <p:nvSpPr>
          <p:cNvPr id="161" name="Shape 159"/>
          <p:cNvSpPr/>
          <p:nvPr/>
        </p:nvSpPr>
        <p:spPr>
          <a:xfrm>
            <a:off x="10841831" y="5143401"/>
            <a:ext cx="467519" cy="125214"/>
          </a:xfrm>
          <a:prstGeom prst="roundRect">
            <a:avLst>
              <a:gd name="adj" fmla="val 7607"/>
            </a:avLst>
          </a:prstGeom>
          <a:solidFill>
            <a:srgbClr val="10B981">
              <a:alpha val="88000"/>
            </a:srgbClr>
          </a:solidFill>
          <a:ln/>
        </p:spPr>
      </p:sp>
      <p:sp>
        <p:nvSpPr>
          <p:cNvPr id="162" name="Shape 160"/>
          <p:cNvSpPr/>
          <p:nvPr/>
        </p:nvSpPr>
        <p:spPr>
          <a:xfrm>
            <a:off x="5490071" y="5287665"/>
            <a:ext cx="467420" cy="125214"/>
          </a:xfrm>
          <a:prstGeom prst="roundRect">
            <a:avLst>
              <a:gd name="adj" fmla="val 7607"/>
            </a:avLst>
          </a:prstGeom>
          <a:solidFill>
            <a:srgbClr val="10B981">
              <a:alpha val="88000"/>
            </a:srgbClr>
          </a:solidFill>
          <a:ln/>
        </p:spPr>
      </p:sp>
      <p:sp>
        <p:nvSpPr>
          <p:cNvPr id="163" name="Shape 161"/>
          <p:cNvSpPr/>
          <p:nvPr/>
        </p:nvSpPr>
        <p:spPr>
          <a:xfrm>
            <a:off x="5976541" y="5287665"/>
            <a:ext cx="467519" cy="125214"/>
          </a:xfrm>
          <a:prstGeom prst="roundRect">
            <a:avLst>
              <a:gd name="adj" fmla="val 7607"/>
            </a:avLst>
          </a:prstGeom>
          <a:solidFill>
            <a:srgbClr val="10B981">
              <a:alpha val="88000"/>
            </a:srgbClr>
          </a:solidFill>
          <a:ln/>
        </p:spPr>
      </p:sp>
      <p:sp>
        <p:nvSpPr>
          <p:cNvPr id="164" name="Shape 162"/>
          <p:cNvSpPr/>
          <p:nvPr/>
        </p:nvSpPr>
        <p:spPr>
          <a:xfrm>
            <a:off x="6463110" y="5287665"/>
            <a:ext cx="467420" cy="125214"/>
          </a:xfrm>
          <a:prstGeom prst="roundRect">
            <a:avLst>
              <a:gd name="adj" fmla="val 7607"/>
            </a:avLst>
          </a:prstGeom>
          <a:solidFill>
            <a:srgbClr val="10B981">
              <a:alpha val="88000"/>
            </a:srgbClr>
          </a:solidFill>
          <a:ln/>
        </p:spPr>
      </p:sp>
      <p:sp>
        <p:nvSpPr>
          <p:cNvPr id="165" name="Shape 163"/>
          <p:cNvSpPr/>
          <p:nvPr/>
        </p:nvSpPr>
        <p:spPr>
          <a:xfrm>
            <a:off x="6949579" y="5287665"/>
            <a:ext cx="467519" cy="125214"/>
          </a:xfrm>
          <a:prstGeom prst="roundRect">
            <a:avLst>
              <a:gd name="adj" fmla="val 7607"/>
            </a:avLst>
          </a:prstGeom>
          <a:solidFill>
            <a:srgbClr val="10B981">
              <a:alpha val="88000"/>
            </a:srgbClr>
          </a:solidFill>
          <a:ln/>
        </p:spPr>
      </p:sp>
      <p:sp>
        <p:nvSpPr>
          <p:cNvPr id="166" name="Shape 164"/>
          <p:cNvSpPr/>
          <p:nvPr/>
        </p:nvSpPr>
        <p:spPr>
          <a:xfrm>
            <a:off x="7436148" y="5287665"/>
            <a:ext cx="467420" cy="125214"/>
          </a:xfrm>
          <a:prstGeom prst="roundRect">
            <a:avLst>
              <a:gd name="adj" fmla="val 7607"/>
            </a:avLst>
          </a:prstGeom>
          <a:solidFill>
            <a:srgbClr val="10B981">
              <a:alpha val="88000"/>
            </a:srgbClr>
          </a:solidFill>
          <a:ln/>
        </p:spPr>
      </p:sp>
      <p:sp>
        <p:nvSpPr>
          <p:cNvPr id="167" name="Shape 165"/>
          <p:cNvSpPr/>
          <p:nvPr/>
        </p:nvSpPr>
        <p:spPr>
          <a:xfrm>
            <a:off x="7922618" y="5287665"/>
            <a:ext cx="467519" cy="125214"/>
          </a:xfrm>
          <a:prstGeom prst="roundRect">
            <a:avLst>
              <a:gd name="adj" fmla="val 7607"/>
            </a:avLst>
          </a:prstGeom>
          <a:solidFill>
            <a:srgbClr val="10B981">
              <a:alpha val="88000"/>
            </a:srgbClr>
          </a:solidFill>
          <a:ln/>
        </p:spPr>
      </p:sp>
      <p:sp>
        <p:nvSpPr>
          <p:cNvPr id="168" name="Shape 166"/>
          <p:cNvSpPr/>
          <p:nvPr/>
        </p:nvSpPr>
        <p:spPr>
          <a:xfrm>
            <a:off x="8409186" y="5287665"/>
            <a:ext cx="467519" cy="125214"/>
          </a:xfrm>
          <a:prstGeom prst="roundRect">
            <a:avLst>
              <a:gd name="adj" fmla="val 7607"/>
            </a:avLst>
          </a:prstGeom>
          <a:solidFill>
            <a:srgbClr val="10B981">
              <a:alpha val="88000"/>
            </a:srgbClr>
          </a:solidFill>
          <a:ln/>
        </p:spPr>
      </p:sp>
      <p:sp>
        <p:nvSpPr>
          <p:cNvPr id="169" name="Shape 167"/>
          <p:cNvSpPr/>
          <p:nvPr/>
        </p:nvSpPr>
        <p:spPr>
          <a:xfrm>
            <a:off x="8895755" y="5287665"/>
            <a:ext cx="467420" cy="125214"/>
          </a:xfrm>
          <a:prstGeom prst="roundRect">
            <a:avLst>
              <a:gd name="adj" fmla="val 7607"/>
            </a:avLst>
          </a:prstGeom>
          <a:solidFill>
            <a:srgbClr val="10B981">
              <a:alpha val="88000"/>
            </a:srgbClr>
          </a:solidFill>
          <a:ln/>
        </p:spPr>
      </p:sp>
      <p:sp>
        <p:nvSpPr>
          <p:cNvPr id="170" name="Shape 168"/>
          <p:cNvSpPr/>
          <p:nvPr/>
        </p:nvSpPr>
        <p:spPr>
          <a:xfrm>
            <a:off x="9382224" y="5287665"/>
            <a:ext cx="467519" cy="125214"/>
          </a:xfrm>
          <a:prstGeom prst="roundRect">
            <a:avLst>
              <a:gd name="adj" fmla="val 7607"/>
            </a:avLst>
          </a:prstGeom>
          <a:solidFill>
            <a:srgbClr val="10B981">
              <a:alpha val="88000"/>
            </a:srgbClr>
          </a:solidFill>
          <a:ln/>
        </p:spPr>
      </p:sp>
      <p:sp>
        <p:nvSpPr>
          <p:cNvPr id="171" name="Shape 169"/>
          <p:cNvSpPr/>
          <p:nvPr/>
        </p:nvSpPr>
        <p:spPr>
          <a:xfrm>
            <a:off x="9868793" y="5287665"/>
            <a:ext cx="467420" cy="125214"/>
          </a:xfrm>
          <a:prstGeom prst="roundRect">
            <a:avLst>
              <a:gd name="adj" fmla="val 7607"/>
            </a:avLst>
          </a:prstGeom>
          <a:solidFill>
            <a:srgbClr val="10B981">
              <a:alpha val="88000"/>
            </a:srgbClr>
          </a:solidFill>
          <a:ln/>
        </p:spPr>
      </p:sp>
      <p:sp>
        <p:nvSpPr>
          <p:cNvPr id="172" name="Shape 170"/>
          <p:cNvSpPr/>
          <p:nvPr/>
        </p:nvSpPr>
        <p:spPr>
          <a:xfrm>
            <a:off x="10355263" y="5287665"/>
            <a:ext cx="467519" cy="125214"/>
          </a:xfrm>
          <a:prstGeom prst="roundRect">
            <a:avLst>
              <a:gd name="adj" fmla="val 7607"/>
            </a:avLst>
          </a:prstGeom>
          <a:solidFill>
            <a:srgbClr val="10B981">
              <a:alpha val="88000"/>
            </a:srgbClr>
          </a:solidFill>
          <a:ln/>
        </p:spPr>
      </p:sp>
      <p:sp>
        <p:nvSpPr>
          <p:cNvPr id="173" name="Shape 171"/>
          <p:cNvSpPr/>
          <p:nvPr/>
        </p:nvSpPr>
        <p:spPr>
          <a:xfrm>
            <a:off x="10841831" y="5287665"/>
            <a:ext cx="467519" cy="125214"/>
          </a:xfrm>
          <a:prstGeom prst="roundRect">
            <a:avLst>
              <a:gd name="adj" fmla="val 7607"/>
            </a:avLst>
          </a:prstGeom>
          <a:solidFill>
            <a:srgbClr val="10B981">
              <a:alpha val="88000"/>
            </a:srgbClr>
          </a:solidFill>
          <a:ln/>
        </p:spPr>
      </p:sp>
      <p:sp>
        <p:nvSpPr>
          <p:cNvPr id="174" name="Shape 172"/>
          <p:cNvSpPr/>
          <p:nvPr/>
        </p:nvSpPr>
        <p:spPr>
          <a:xfrm>
            <a:off x="5490071" y="5431929"/>
            <a:ext cx="467420" cy="125214"/>
          </a:xfrm>
          <a:prstGeom prst="roundRect">
            <a:avLst>
              <a:gd name="adj" fmla="val 7607"/>
            </a:avLst>
          </a:prstGeom>
          <a:solidFill>
            <a:srgbClr val="10B981">
              <a:alpha val="88000"/>
            </a:srgbClr>
          </a:solidFill>
          <a:ln/>
        </p:spPr>
      </p:sp>
      <p:sp>
        <p:nvSpPr>
          <p:cNvPr id="175" name="Shape 173"/>
          <p:cNvSpPr/>
          <p:nvPr/>
        </p:nvSpPr>
        <p:spPr>
          <a:xfrm>
            <a:off x="5976541" y="5431929"/>
            <a:ext cx="467519" cy="125214"/>
          </a:xfrm>
          <a:prstGeom prst="roundRect">
            <a:avLst>
              <a:gd name="adj" fmla="val 7607"/>
            </a:avLst>
          </a:prstGeom>
          <a:solidFill>
            <a:srgbClr val="10B981">
              <a:alpha val="88000"/>
            </a:srgbClr>
          </a:solidFill>
          <a:ln/>
        </p:spPr>
      </p:sp>
      <p:sp>
        <p:nvSpPr>
          <p:cNvPr id="176" name="Shape 174"/>
          <p:cNvSpPr/>
          <p:nvPr/>
        </p:nvSpPr>
        <p:spPr>
          <a:xfrm>
            <a:off x="6463110" y="5431929"/>
            <a:ext cx="467420" cy="125214"/>
          </a:xfrm>
          <a:prstGeom prst="roundRect">
            <a:avLst>
              <a:gd name="adj" fmla="val 7607"/>
            </a:avLst>
          </a:prstGeom>
          <a:solidFill>
            <a:srgbClr val="10B981">
              <a:alpha val="88000"/>
            </a:srgbClr>
          </a:solidFill>
          <a:ln/>
        </p:spPr>
      </p:sp>
      <p:sp>
        <p:nvSpPr>
          <p:cNvPr id="177" name="Shape 175"/>
          <p:cNvSpPr/>
          <p:nvPr/>
        </p:nvSpPr>
        <p:spPr>
          <a:xfrm>
            <a:off x="6949579" y="5431929"/>
            <a:ext cx="467519" cy="125214"/>
          </a:xfrm>
          <a:prstGeom prst="roundRect">
            <a:avLst>
              <a:gd name="adj" fmla="val 7607"/>
            </a:avLst>
          </a:prstGeom>
          <a:solidFill>
            <a:srgbClr val="10B981">
              <a:alpha val="88000"/>
            </a:srgbClr>
          </a:solidFill>
          <a:ln/>
        </p:spPr>
      </p:sp>
      <p:sp>
        <p:nvSpPr>
          <p:cNvPr id="178" name="Shape 176"/>
          <p:cNvSpPr/>
          <p:nvPr/>
        </p:nvSpPr>
        <p:spPr>
          <a:xfrm>
            <a:off x="7436148" y="5431929"/>
            <a:ext cx="467420" cy="125214"/>
          </a:xfrm>
          <a:prstGeom prst="roundRect">
            <a:avLst>
              <a:gd name="adj" fmla="val 7607"/>
            </a:avLst>
          </a:prstGeom>
          <a:solidFill>
            <a:srgbClr val="10B981">
              <a:alpha val="88000"/>
            </a:srgbClr>
          </a:solidFill>
          <a:ln/>
        </p:spPr>
      </p:sp>
      <p:sp>
        <p:nvSpPr>
          <p:cNvPr id="179" name="Shape 177"/>
          <p:cNvSpPr/>
          <p:nvPr/>
        </p:nvSpPr>
        <p:spPr>
          <a:xfrm>
            <a:off x="7922618" y="5431929"/>
            <a:ext cx="467519" cy="125214"/>
          </a:xfrm>
          <a:prstGeom prst="roundRect">
            <a:avLst>
              <a:gd name="adj" fmla="val 7607"/>
            </a:avLst>
          </a:prstGeom>
          <a:solidFill>
            <a:srgbClr val="10B981">
              <a:alpha val="88000"/>
            </a:srgbClr>
          </a:solidFill>
          <a:ln/>
        </p:spPr>
      </p:sp>
      <p:sp>
        <p:nvSpPr>
          <p:cNvPr id="180" name="Shape 178"/>
          <p:cNvSpPr/>
          <p:nvPr/>
        </p:nvSpPr>
        <p:spPr>
          <a:xfrm>
            <a:off x="8409186" y="5431929"/>
            <a:ext cx="467519" cy="125214"/>
          </a:xfrm>
          <a:prstGeom prst="roundRect">
            <a:avLst>
              <a:gd name="adj" fmla="val 7607"/>
            </a:avLst>
          </a:prstGeom>
          <a:solidFill>
            <a:srgbClr val="10B981">
              <a:alpha val="88000"/>
            </a:srgbClr>
          </a:solidFill>
          <a:ln/>
        </p:spPr>
      </p:sp>
      <p:sp>
        <p:nvSpPr>
          <p:cNvPr id="181" name="Shape 179"/>
          <p:cNvSpPr/>
          <p:nvPr/>
        </p:nvSpPr>
        <p:spPr>
          <a:xfrm>
            <a:off x="8895755" y="5431929"/>
            <a:ext cx="467420" cy="125214"/>
          </a:xfrm>
          <a:prstGeom prst="roundRect">
            <a:avLst>
              <a:gd name="adj" fmla="val 7607"/>
            </a:avLst>
          </a:prstGeom>
          <a:solidFill>
            <a:srgbClr val="10B981">
              <a:alpha val="88000"/>
            </a:srgbClr>
          </a:solidFill>
          <a:ln/>
        </p:spPr>
      </p:sp>
      <p:sp>
        <p:nvSpPr>
          <p:cNvPr id="182" name="Shape 180"/>
          <p:cNvSpPr/>
          <p:nvPr/>
        </p:nvSpPr>
        <p:spPr>
          <a:xfrm>
            <a:off x="9382224" y="5431929"/>
            <a:ext cx="467519" cy="125214"/>
          </a:xfrm>
          <a:prstGeom prst="roundRect">
            <a:avLst>
              <a:gd name="adj" fmla="val 7607"/>
            </a:avLst>
          </a:prstGeom>
          <a:solidFill>
            <a:srgbClr val="10B981">
              <a:alpha val="88000"/>
            </a:srgbClr>
          </a:solidFill>
          <a:ln/>
        </p:spPr>
      </p:sp>
      <p:sp>
        <p:nvSpPr>
          <p:cNvPr id="183" name="Shape 181"/>
          <p:cNvSpPr/>
          <p:nvPr/>
        </p:nvSpPr>
        <p:spPr>
          <a:xfrm>
            <a:off x="9868793" y="5431929"/>
            <a:ext cx="467420" cy="125214"/>
          </a:xfrm>
          <a:prstGeom prst="roundRect">
            <a:avLst>
              <a:gd name="adj" fmla="val 7607"/>
            </a:avLst>
          </a:prstGeom>
          <a:solidFill>
            <a:srgbClr val="10B981">
              <a:alpha val="88000"/>
            </a:srgbClr>
          </a:solidFill>
          <a:ln/>
        </p:spPr>
      </p:sp>
      <p:sp>
        <p:nvSpPr>
          <p:cNvPr id="184" name="Shape 182"/>
          <p:cNvSpPr/>
          <p:nvPr/>
        </p:nvSpPr>
        <p:spPr>
          <a:xfrm>
            <a:off x="10355263" y="5431929"/>
            <a:ext cx="467519" cy="125214"/>
          </a:xfrm>
          <a:prstGeom prst="roundRect">
            <a:avLst>
              <a:gd name="adj" fmla="val 7607"/>
            </a:avLst>
          </a:prstGeom>
          <a:solidFill>
            <a:srgbClr val="10B981">
              <a:alpha val="88000"/>
            </a:srgbClr>
          </a:solidFill>
          <a:ln/>
        </p:spPr>
      </p:sp>
      <p:sp>
        <p:nvSpPr>
          <p:cNvPr id="185" name="Shape 183"/>
          <p:cNvSpPr/>
          <p:nvPr/>
        </p:nvSpPr>
        <p:spPr>
          <a:xfrm>
            <a:off x="10841831" y="5431929"/>
            <a:ext cx="467519" cy="125214"/>
          </a:xfrm>
          <a:prstGeom prst="roundRect">
            <a:avLst>
              <a:gd name="adj" fmla="val 7607"/>
            </a:avLst>
          </a:prstGeom>
          <a:solidFill>
            <a:srgbClr val="10B981">
              <a:alpha val="88000"/>
            </a:srgbClr>
          </a:solidFill>
          <a:ln/>
        </p:spPr>
      </p:sp>
      <p:sp>
        <p:nvSpPr>
          <p:cNvPr id="186" name="Shape 184"/>
          <p:cNvSpPr/>
          <p:nvPr/>
        </p:nvSpPr>
        <p:spPr>
          <a:xfrm>
            <a:off x="5490071" y="5576193"/>
            <a:ext cx="467420" cy="125214"/>
          </a:xfrm>
          <a:prstGeom prst="roundRect">
            <a:avLst>
              <a:gd name="adj" fmla="val 7607"/>
            </a:avLst>
          </a:prstGeom>
          <a:solidFill>
            <a:srgbClr val="10B981">
              <a:alpha val="88000"/>
            </a:srgbClr>
          </a:solidFill>
          <a:ln/>
        </p:spPr>
      </p:sp>
      <p:sp>
        <p:nvSpPr>
          <p:cNvPr id="187" name="Shape 185"/>
          <p:cNvSpPr/>
          <p:nvPr/>
        </p:nvSpPr>
        <p:spPr>
          <a:xfrm>
            <a:off x="5976541" y="5576193"/>
            <a:ext cx="467519" cy="125214"/>
          </a:xfrm>
          <a:prstGeom prst="roundRect">
            <a:avLst>
              <a:gd name="adj" fmla="val 7607"/>
            </a:avLst>
          </a:prstGeom>
          <a:solidFill>
            <a:srgbClr val="10B981">
              <a:alpha val="88000"/>
            </a:srgbClr>
          </a:solidFill>
          <a:ln/>
        </p:spPr>
      </p:sp>
      <p:sp>
        <p:nvSpPr>
          <p:cNvPr id="188" name="Shape 186"/>
          <p:cNvSpPr/>
          <p:nvPr/>
        </p:nvSpPr>
        <p:spPr>
          <a:xfrm>
            <a:off x="6463110" y="5576193"/>
            <a:ext cx="467420" cy="125214"/>
          </a:xfrm>
          <a:prstGeom prst="roundRect">
            <a:avLst>
              <a:gd name="adj" fmla="val 7607"/>
            </a:avLst>
          </a:prstGeom>
          <a:solidFill>
            <a:srgbClr val="10B981">
              <a:alpha val="88000"/>
            </a:srgbClr>
          </a:solidFill>
          <a:ln/>
        </p:spPr>
      </p:sp>
      <p:sp>
        <p:nvSpPr>
          <p:cNvPr id="189" name="Shape 187"/>
          <p:cNvSpPr/>
          <p:nvPr/>
        </p:nvSpPr>
        <p:spPr>
          <a:xfrm>
            <a:off x="6949579" y="5576193"/>
            <a:ext cx="467519" cy="125214"/>
          </a:xfrm>
          <a:prstGeom prst="roundRect">
            <a:avLst>
              <a:gd name="adj" fmla="val 7607"/>
            </a:avLst>
          </a:prstGeom>
          <a:solidFill>
            <a:srgbClr val="10B981">
              <a:alpha val="88000"/>
            </a:srgbClr>
          </a:solidFill>
          <a:ln/>
        </p:spPr>
      </p:sp>
      <p:sp>
        <p:nvSpPr>
          <p:cNvPr id="190" name="Shape 188"/>
          <p:cNvSpPr/>
          <p:nvPr/>
        </p:nvSpPr>
        <p:spPr>
          <a:xfrm>
            <a:off x="7436148" y="5576193"/>
            <a:ext cx="467420" cy="125214"/>
          </a:xfrm>
          <a:prstGeom prst="roundRect">
            <a:avLst>
              <a:gd name="adj" fmla="val 7607"/>
            </a:avLst>
          </a:prstGeom>
          <a:solidFill>
            <a:srgbClr val="10B981">
              <a:alpha val="88000"/>
            </a:srgbClr>
          </a:solidFill>
          <a:ln/>
        </p:spPr>
      </p:sp>
      <p:sp>
        <p:nvSpPr>
          <p:cNvPr id="191" name="Shape 189"/>
          <p:cNvSpPr/>
          <p:nvPr/>
        </p:nvSpPr>
        <p:spPr>
          <a:xfrm>
            <a:off x="7922618" y="5576193"/>
            <a:ext cx="467519" cy="125214"/>
          </a:xfrm>
          <a:prstGeom prst="roundRect">
            <a:avLst>
              <a:gd name="adj" fmla="val 7607"/>
            </a:avLst>
          </a:prstGeom>
          <a:solidFill>
            <a:srgbClr val="10B981">
              <a:alpha val="88000"/>
            </a:srgbClr>
          </a:solidFill>
          <a:ln/>
        </p:spPr>
      </p:sp>
      <p:sp>
        <p:nvSpPr>
          <p:cNvPr id="192" name="Shape 190"/>
          <p:cNvSpPr/>
          <p:nvPr/>
        </p:nvSpPr>
        <p:spPr>
          <a:xfrm>
            <a:off x="8409186" y="5576193"/>
            <a:ext cx="467519" cy="125214"/>
          </a:xfrm>
          <a:prstGeom prst="roundRect">
            <a:avLst>
              <a:gd name="adj" fmla="val 7607"/>
            </a:avLst>
          </a:prstGeom>
          <a:solidFill>
            <a:srgbClr val="10B981">
              <a:alpha val="88000"/>
            </a:srgbClr>
          </a:solidFill>
          <a:ln/>
        </p:spPr>
      </p:sp>
      <p:sp>
        <p:nvSpPr>
          <p:cNvPr id="193" name="Shape 191"/>
          <p:cNvSpPr/>
          <p:nvPr/>
        </p:nvSpPr>
        <p:spPr>
          <a:xfrm>
            <a:off x="8895755" y="5576193"/>
            <a:ext cx="467420" cy="125214"/>
          </a:xfrm>
          <a:prstGeom prst="roundRect">
            <a:avLst>
              <a:gd name="adj" fmla="val 7607"/>
            </a:avLst>
          </a:prstGeom>
          <a:solidFill>
            <a:srgbClr val="10B981">
              <a:alpha val="88000"/>
            </a:srgbClr>
          </a:solidFill>
          <a:ln/>
        </p:spPr>
      </p:sp>
      <p:sp>
        <p:nvSpPr>
          <p:cNvPr id="194" name="Shape 192"/>
          <p:cNvSpPr/>
          <p:nvPr/>
        </p:nvSpPr>
        <p:spPr>
          <a:xfrm>
            <a:off x="9382224" y="5576193"/>
            <a:ext cx="467519" cy="125214"/>
          </a:xfrm>
          <a:prstGeom prst="roundRect">
            <a:avLst>
              <a:gd name="adj" fmla="val 7607"/>
            </a:avLst>
          </a:prstGeom>
          <a:solidFill>
            <a:srgbClr val="10B981">
              <a:alpha val="88000"/>
            </a:srgbClr>
          </a:solidFill>
          <a:ln/>
        </p:spPr>
      </p:sp>
      <p:sp>
        <p:nvSpPr>
          <p:cNvPr id="195" name="Shape 193"/>
          <p:cNvSpPr/>
          <p:nvPr/>
        </p:nvSpPr>
        <p:spPr>
          <a:xfrm>
            <a:off x="9868793" y="5576193"/>
            <a:ext cx="467420" cy="125214"/>
          </a:xfrm>
          <a:prstGeom prst="roundRect">
            <a:avLst>
              <a:gd name="adj" fmla="val 7607"/>
            </a:avLst>
          </a:prstGeom>
          <a:solidFill>
            <a:srgbClr val="10B981">
              <a:alpha val="88000"/>
            </a:srgbClr>
          </a:solidFill>
          <a:ln/>
        </p:spPr>
      </p:sp>
      <p:sp>
        <p:nvSpPr>
          <p:cNvPr id="196" name="Shape 194"/>
          <p:cNvSpPr/>
          <p:nvPr/>
        </p:nvSpPr>
        <p:spPr>
          <a:xfrm>
            <a:off x="10355263" y="5576193"/>
            <a:ext cx="467519" cy="125214"/>
          </a:xfrm>
          <a:prstGeom prst="roundRect">
            <a:avLst>
              <a:gd name="adj" fmla="val 7607"/>
            </a:avLst>
          </a:prstGeom>
          <a:solidFill>
            <a:srgbClr val="10B981">
              <a:alpha val="88000"/>
            </a:srgbClr>
          </a:solidFill>
          <a:ln/>
        </p:spPr>
      </p:sp>
      <p:sp>
        <p:nvSpPr>
          <p:cNvPr id="197" name="Shape 195"/>
          <p:cNvSpPr/>
          <p:nvPr/>
        </p:nvSpPr>
        <p:spPr>
          <a:xfrm>
            <a:off x="10841831" y="5576193"/>
            <a:ext cx="467519" cy="125214"/>
          </a:xfrm>
          <a:prstGeom prst="roundRect">
            <a:avLst>
              <a:gd name="adj" fmla="val 7607"/>
            </a:avLst>
          </a:prstGeom>
          <a:solidFill>
            <a:srgbClr val="10B981">
              <a:alpha val="88000"/>
            </a:srgbClr>
          </a:solidFill>
          <a:ln/>
        </p:spPr>
      </p:sp>
      <p:sp>
        <p:nvSpPr>
          <p:cNvPr id="198" name="Shape 196"/>
          <p:cNvSpPr/>
          <p:nvPr/>
        </p:nvSpPr>
        <p:spPr>
          <a:xfrm>
            <a:off x="723900" y="5945981"/>
            <a:ext cx="10744200" cy="416719"/>
          </a:xfrm>
          <a:prstGeom prst="rect">
            <a:avLst/>
          </a:prstGeom>
          <a:solidFill>
            <a:srgbClr val="1E3A5F"/>
          </a:solidFill>
          <a:ln/>
        </p:spPr>
      </p:sp>
      <p:sp>
        <p:nvSpPr>
          <p:cNvPr id="199" name="Shape 197"/>
          <p:cNvSpPr/>
          <p:nvPr/>
        </p:nvSpPr>
        <p:spPr>
          <a:xfrm>
            <a:off x="723900" y="5945981"/>
            <a:ext cx="25400" cy="416719"/>
          </a:xfrm>
          <a:prstGeom prst="rect">
            <a:avLst/>
          </a:prstGeom>
          <a:solidFill>
            <a:srgbClr val="0EA5E9"/>
          </a:solidFill>
          <a:ln/>
        </p:spPr>
      </p:sp>
      <p:sp>
        <p:nvSpPr>
          <p:cNvPr id="200" name="Text 198"/>
          <p:cNvSpPr/>
          <p:nvPr/>
        </p:nvSpPr>
        <p:spPr>
          <a:xfrm>
            <a:off x="920750" y="6050756"/>
            <a:ext cx="10698226" cy="245269"/>
          </a:xfrm>
          <a:prstGeom prst="rect">
            <a:avLst/>
          </a:prstGeom>
          <a:noFill/>
          <a:ln/>
        </p:spPr>
        <p:txBody>
          <a:bodyPr wrap="square" lIns="25400" tIns="25400" rIns="25400" bIns="25400" rtlCol="0" anchor="t">
            <a:normAutofit/>
          </a:bodyPr>
          <a:lstStyle/>
          <a:p>
            <a:pPr algn="l" indent="0" marL="0">
              <a:lnSpc>
                <a:spcPct val="150000"/>
              </a:lnSpc>
              <a:buNone/>
            </a:pPr>
            <a:r>
              <a:rPr lang="en-US" sz="1088" spc="-5" kern="0" dirty="0">
                <a:solidFill>
                  <a:srgbClr val="FFFFFF"/>
                </a:solidFill>
                <a:highlight>
                  <a:srgbClr val="1E3A5F"/>
                </a:highlight>
                <a:latin typeface="Inter" pitchFamily="34" charset="0"/>
                <a:ea typeface="Inter" pitchFamily="34" charset="-122"/>
                <a:cs typeface="Inter" pitchFamily="34" charset="-120"/>
              </a:rPr>
              <a:t>결합 방식이 추정 오차에서 받은 가치 = </a:t>
            </a:r>
            <a:pPr algn="l" indent="0" marL="0">
              <a:lnSpc>
                <a:spcPct val="150000"/>
              </a:lnSpc>
              <a:buNone/>
            </a:pPr>
            <a:r>
              <a:rPr lang="en-US" sz="1088" b="1" spc="-5" kern="0" dirty="0">
                <a:solidFill>
                  <a:srgbClr val="7DD3FC"/>
                </a:solidFill>
                <a:latin typeface="Inter" pitchFamily="34" charset="0"/>
                <a:ea typeface="Inter" pitchFamily="34" charset="-122"/>
                <a:cs typeface="Inter" pitchFamily="34" charset="-120"/>
              </a:rPr>
              <a:t>견고함</a:t>
            </a:r>
            <a:pPr algn="l" indent="0" marL="0">
              <a:lnSpc>
                <a:spcPct val="150000"/>
              </a:lnSpc>
              <a:buNone/>
            </a:pPr>
            <a:r>
              <a:rPr lang="en-US" sz="1088" spc="-5" kern="0" dirty="0">
                <a:solidFill>
                  <a:srgbClr val="FFFFFF"/>
                </a:solidFill>
                <a:highlight>
                  <a:srgbClr val="1E3A5F"/>
                </a:highlight>
                <a:latin typeface="Inter" pitchFamily="34" charset="0"/>
                <a:ea typeface="Inter" pitchFamily="34" charset="-122"/>
                <a:cs typeface="Inter" pitchFamily="34" charset="-120"/>
              </a:rPr>
              <a:t>. 실행 시간이 아니라 정답 계획 회복의 흔들림 없음.</a:t>
            </a:r>
            <a:endParaRPr lang="en-US" sz="1088"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285750"/>
            <a:ext cx="497979" cy="222250"/>
          </a:xfrm>
          <a:prstGeom prst="rect">
            <a:avLst/>
          </a:prstGeom>
          <a:noFill/>
          <a:ln/>
        </p:spPr>
        <p:txBody>
          <a:bodyPr wrap="square" lIns="25400" tIns="25400" rIns="25400" bIns="25400" rtlCol="0" anchor="ctr">
            <a:normAutofit/>
          </a:bodyPr>
          <a:lstStyle/>
          <a:p>
            <a:pPr algn="l" indent="0" marL="0">
              <a:buNone/>
            </a:pPr>
            <a:r>
              <a:rPr lang="en-US" sz="975" b="1" spc="116" kern="0" dirty="0">
                <a:solidFill>
                  <a:srgbClr val="F97316"/>
                </a:solidFill>
                <a:latin typeface="Inter" pitchFamily="34" charset="0"/>
                <a:ea typeface="Inter" pitchFamily="34" charset="-122"/>
                <a:cs typeface="Inter" pitchFamily="34" charset="-120"/>
              </a:rPr>
              <a:t>적용</a:t>
            </a:r>
            <a:endParaRPr lang="en-US" sz="975" dirty="0"/>
          </a:p>
        </p:txBody>
      </p:sp>
      <p:sp>
        <p:nvSpPr>
          <p:cNvPr id="3" name="Text 1"/>
          <p:cNvSpPr/>
          <p:nvPr/>
        </p:nvSpPr>
        <p:spPr>
          <a:xfrm>
            <a:off x="723900" y="533400"/>
            <a:ext cx="10791825" cy="520005"/>
          </a:xfrm>
          <a:prstGeom prst="rect">
            <a:avLst/>
          </a:prstGeom>
          <a:noFill/>
          <a:ln/>
        </p:spPr>
        <p:txBody>
          <a:bodyPr wrap="square" lIns="25400" tIns="25400" rIns="25400" bIns="25400" rtlCol="0" anchor="t">
            <a:normAutofit/>
          </a:bodyPr>
          <a:lstStyle/>
          <a:p>
            <a:pPr algn="l" indent="0" marL="0">
              <a:lnSpc>
                <a:spcPct val="115000"/>
              </a:lnSpc>
              <a:buNone/>
            </a:pPr>
            <a:r>
              <a:rPr lang="en-US" sz="3300" b="1" spc="-82" kern="0" dirty="0">
                <a:solidFill>
                  <a:srgbClr val="1E3A5F"/>
                </a:solidFill>
                <a:latin typeface="Inter" pitchFamily="34" charset="0"/>
                <a:ea typeface="Inter" pitchFamily="34" charset="-122"/>
                <a:cs typeface="Inter" pitchFamily="34" charset="-120"/>
              </a:rPr>
              <a:t>정확도와 분포 파악 시간의 균형</a:t>
            </a:r>
            <a:endParaRPr lang="en-US" sz="3300" dirty="0"/>
          </a:p>
        </p:txBody>
      </p:sp>
      <p:sp>
        <p:nvSpPr>
          <p:cNvPr id="4" name="Shape 2"/>
          <p:cNvSpPr/>
          <p:nvPr/>
        </p:nvSpPr>
        <p:spPr>
          <a:xfrm>
            <a:off x="723900" y="1148655"/>
            <a:ext cx="381000" cy="28575"/>
          </a:xfrm>
          <a:prstGeom prst="rect">
            <a:avLst/>
          </a:prstGeom>
          <a:solidFill>
            <a:srgbClr val="F97316"/>
          </a:solidFill>
          <a:ln/>
        </p:spPr>
      </p:sp>
      <p:sp>
        <p:nvSpPr>
          <p:cNvPr id="5" name="Shape 3"/>
          <p:cNvSpPr/>
          <p:nvPr/>
        </p:nvSpPr>
        <p:spPr>
          <a:xfrm>
            <a:off x="723900" y="2031603"/>
            <a:ext cx="7124700" cy="3562350"/>
          </a:xfrm>
          <a:prstGeom prst="rect">
            <a:avLst/>
          </a:prstGeom>
          <a:solidFill>
            <a:srgbClr val="FAFAFA"/>
          </a:solidFill>
          <a:ln/>
        </p:spPr>
      </p:sp>
      <p:pic>
        <p:nvPicPr>
          <p:cNvPr id="6" name="Image 0" descr="preencoded.png">    </p:cNvPr>
          <p:cNvPicPr>
            <a:picLocks noChangeAspect="1"/>
          </p:cNvPicPr>
          <p:nvPr/>
        </p:nvPicPr>
        <p:blipFill>
          <a:blip r:embed="rId1"/>
          <a:stretch>
            <a:fillRect/>
          </a:stretch>
        </p:blipFill>
        <p:spPr>
          <a:xfrm>
            <a:off x="723900" y="2031603"/>
            <a:ext cx="7124700" cy="3562350"/>
          </a:xfrm>
          <a:prstGeom prst="rect">
            <a:avLst/>
          </a:prstGeom>
        </p:spPr>
      </p:pic>
      <p:sp>
        <p:nvSpPr>
          <p:cNvPr id="7" name="Shape 4"/>
          <p:cNvSpPr/>
          <p:nvPr/>
        </p:nvSpPr>
        <p:spPr>
          <a:xfrm>
            <a:off x="8229600" y="2543572"/>
            <a:ext cx="9525" cy="2576513"/>
          </a:xfrm>
          <a:prstGeom prst="rect">
            <a:avLst/>
          </a:prstGeom>
          <a:solidFill>
            <a:srgbClr val="E5E7EB"/>
          </a:solidFill>
          <a:ln/>
        </p:spPr>
      </p:sp>
      <p:sp>
        <p:nvSpPr>
          <p:cNvPr id="8" name="Text 5"/>
          <p:cNvSpPr/>
          <p:nvPr/>
        </p:nvSpPr>
        <p:spPr>
          <a:xfrm>
            <a:off x="8464550" y="2543572"/>
            <a:ext cx="3093657" cy="222250"/>
          </a:xfrm>
          <a:prstGeom prst="rect">
            <a:avLst/>
          </a:prstGeom>
          <a:noFill/>
          <a:ln/>
        </p:spPr>
        <p:txBody>
          <a:bodyPr wrap="square" lIns="25400" tIns="25400" rIns="25400" bIns="25400" rtlCol="0" anchor="t">
            <a:normAutofit/>
          </a:bodyPr>
          <a:lstStyle/>
          <a:p>
            <a:pPr algn="l" indent="0" marL="0">
              <a:buNone/>
            </a:pPr>
            <a:r>
              <a:rPr lang="en-US" sz="975" b="1" spc="-4" kern="0" dirty="0">
                <a:solidFill>
                  <a:srgbClr val="1E3A5F"/>
                </a:solidFill>
                <a:latin typeface="Inter" pitchFamily="34" charset="0"/>
                <a:ea typeface="Inter" pitchFamily="34" charset="-122"/>
                <a:cs typeface="Inter" pitchFamily="34" charset="-120"/>
              </a:rPr>
              <a:t>균형 — 권장</a:t>
            </a:r>
            <a:endParaRPr lang="en-US" sz="975" dirty="0"/>
          </a:p>
        </p:txBody>
      </p:sp>
      <p:sp>
        <p:nvSpPr>
          <p:cNvPr id="9" name="Text 6"/>
          <p:cNvSpPr/>
          <p:nvPr/>
        </p:nvSpPr>
        <p:spPr>
          <a:xfrm>
            <a:off x="8464550" y="2765822"/>
            <a:ext cx="3093657" cy="311150"/>
          </a:xfrm>
          <a:prstGeom prst="rect">
            <a:avLst/>
          </a:prstGeom>
          <a:noFill/>
          <a:ln/>
        </p:spPr>
        <p:txBody>
          <a:bodyPr wrap="square" lIns="25400" tIns="25400" rIns="25400" bIns="25400" rtlCol="0" anchor="t">
            <a:normAutofit/>
          </a:bodyPr>
          <a:lstStyle/>
          <a:p>
            <a:pPr algn="l" indent="0" marL="0">
              <a:buNone/>
            </a:pPr>
            <a:r>
              <a:rPr lang="en-US" sz="1425" b="1" spc="-14" kern="0" dirty="0">
                <a:solidFill>
                  <a:srgbClr val="1E293B"/>
                </a:solidFill>
                <a:latin typeface="Inter" pitchFamily="34" charset="0"/>
                <a:ea typeface="Inter" pitchFamily="34" charset="-122"/>
                <a:cs typeface="Inter" pitchFamily="34" charset="-120"/>
              </a:rPr>
              <a:t>가중 표본 추출</a:t>
            </a:r>
            <a:endParaRPr lang="en-US" sz="1425" dirty="0"/>
          </a:p>
        </p:txBody>
      </p:sp>
      <p:sp>
        <p:nvSpPr>
          <p:cNvPr id="10" name="Text 7"/>
          <p:cNvSpPr/>
          <p:nvPr/>
        </p:nvSpPr>
        <p:spPr>
          <a:xfrm>
            <a:off x="8464550" y="3076972"/>
            <a:ext cx="3093657"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475569"/>
                </a:solidFill>
                <a:latin typeface="Inter" pitchFamily="34" charset="0"/>
                <a:ea typeface="Inter" pitchFamily="34" charset="-122"/>
                <a:cs typeface="Inter" pitchFamily="34" charset="-120"/>
              </a:rPr>
              <a:t>11초 · 최고 정확도 (−6.2%)</a:t>
            </a:r>
            <a:endParaRPr lang="en-US" sz="975" dirty="0"/>
          </a:p>
        </p:txBody>
      </p:sp>
      <p:sp>
        <p:nvSpPr>
          <p:cNvPr id="11" name="Text 8"/>
          <p:cNvSpPr/>
          <p:nvPr/>
        </p:nvSpPr>
        <p:spPr>
          <a:xfrm>
            <a:off x="8464550" y="3472260"/>
            <a:ext cx="3093657" cy="222250"/>
          </a:xfrm>
          <a:prstGeom prst="rect">
            <a:avLst/>
          </a:prstGeom>
          <a:noFill/>
          <a:ln/>
        </p:spPr>
        <p:txBody>
          <a:bodyPr wrap="square" lIns="25400" tIns="25400" rIns="25400" bIns="25400" rtlCol="0" anchor="t">
            <a:normAutofit/>
          </a:bodyPr>
          <a:lstStyle/>
          <a:p>
            <a:pPr algn="l" indent="0" marL="0">
              <a:buNone/>
            </a:pPr>
            <a:r>
              <a:rPr lang="en-US" sz="975" b="1" spc="-4" kern="0" dirty="0">
                <a:solidFill>
                  <a:srgbClr val="1E3A5F"/>
                </a:solidFill>
                <a:latin typeface="Inter" pitchFamily="34" charset="0"/>
                <a:ea typeface="Inter" pitchFamily="34" charset="-122"/>
                <a:cs typeface="Inter" pitchFamily="34" charset="-120"/>
              </a:rPr>
              <a:t>가장 빠름</a:t>
            </a:r>
            <a:endParaRPr lang="en-US" sz="975" dirty="0"/>
          </a:p>
        </p:txBody>
      </p:sp>
      <p:sp>
        <p:nvSpPr>
          <p:cNvPr id="12" name="Text 9"/>
          <p:cNvSpPr/>
          <p:nvPr/>
        </p:nvSpPr>
        <p:spPr>
          <a:xfrm>
            <a:off x="8464550" y="3694509"/>
            <a:ext cx="3093657" cy="311150"/>
          </a:xfrm>
          <a:prstGeom prst="rect">
            <a:avLst/>
          </a:prstGeom>
          <a:noFill/>
          <a:ln/>
        </p:spPr>
        <p:txBody>
          <a:bodyPr wrap="square" lIns="25400" tIns="25400" rIns="25400" bIns="25400" rtlCol="0" anchor="t">
            <a:normAutofit/>
          </a:bodyPr>
          <a:lstStyle/>
          <a:p>
            <a:pPr algn="l" indent="0" marL="0">
              <a:buNone/>
            </a:pPr>
            <a:r>
              <a:rPr lang="en-US" sz="1425" b="1" spc="-14" kern="0" dirty="0">
                <a:solidFill>
                  <a:srgbClr val="1E293B"/>
                </a:solidFill>
                <a:latin typeface="Inter" pitchFamily="34" charset="0"/>
                <a:ea typeface="Inter" pitchFamily="34" charset="-122"/>
                <a:cs typeface="Inter" pitchFamily="34" charset="-120"/>
              </a:rPr>
              <a:t>희소 랜덤 투영</a:t>
            </a:r>
            <a:endParaRPr lang="en-US" sz="1425" dirty="0"/>
          </a:p>
        </p:txBody>
      </p:sp>
      <p:sp>
        <p:nvSpPr>
          <p:cNvPr id="13" name="Text 10"/>
          <p:cNvSpPr/>
          <p:nvPr/>
        </p:nvSpPr>
        <p:spPr>
          <a:xfrm>
            <a:off x="8464550" y="4005660"/>
            <a:ext cx="3093657"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475569"/>
                </a:solidFill>
                <a:latin typeface="Inter" pitchFamily="34" charset="0"/>
                <a:ea typeface="Inter" pitchFamily="34" charset="-122"/>
                <a:cs typeface="Inter" pitchFamily="34" charset="-120"/>
              </a:rPr>
              <a:t>2.9초 · 분포 파악 최단</a:t>
            </a:r>
            <a:endParaRPr lang="en-US" sz="975" dirty="0"/>
          </a:p>
        </p:txBody>
      </p:sp>
      <p:sp>
        <p:nvSpPr>
          <p:cNvPr id="14" name="Text 11"/>
          <p:cNvSpPr/>
          <p:nvPr/>
        </p:nvSpPr>
        <p:spPr>
          <a:xfrm>
            <a:off x="8464550" y="4400947"/>
            <a:ext cx="3093657" cy="222250"/>
          </a:xfrm>
          <a:prstGeom prst="rect">
            <a:avLst/>
          </a:prstGeom>
          <a:noFill/>
          <a:ln/>
        </p:spPr>
        <p:txBody>
          <a:bodyPr wrap="square" lIns="25400" tIns="25400" rIns="25400" bIns="25400" rtlCol="0" anchor="t">
            <a:normAutofit/>
          </a:bodyPr>
          <a:lstStyle/>
          <a:p>
            <a:pPr algn="l" indent="0" marL="0">
              <a:buNone/>
            </a:pPr>
            <a:r>
              <a:rPr lang="en-US" sz="975" b="1" spc="-4" kern="0" dirty="0">
                <a:solidFill>
                  <a:srgbClr val="64748B"/>
                </a:solidFill>
                <a:latin typeface="Inter" pitchFamily="34" charset="0"/>
                <a:ea typeface="Inter" pitchFamily="34" charset="-122"/>
                <a:cs typeface="Inter" pitchFamily="34" charset="-120"/>
              </a:rPr>
              <a:t>권장 제외</a:t>
            </a:r>
            <a:endParaRPr lang="en-US" sz="975" dirty="0"/>
          </a:p>
        </p:txBody>
      </p:sp>
      <p:sp>
        <p:nvSpPr>
          <p:cNvPr id="15" name="Text 12"/>
          <p:cNvSpPr/>
          <p:nvPr/>
        </p:nvSpPr>
        <p:spPr>
          <a:xfrm>
            <a:off x="8464550" y="4623197"/>
            <a:ext cx="3093657" cy="311150"/>
          </a:xfrm>
          <a:prstGeom prst="rect">
            <a:avLst/>
          </a:prstGeom>
          <a:noFill/>
          <a:ln/>
        </p:spPr>
        <p:txBody>
          <a:bodyPr wrap="square" lIns="25400" tIns="25400" rIns="25400" bIns="25400" rtlCol="0" anchor="t">
            <a:normAutofit/>
          </a:bodyPr>
          <a:lstStyle/>
          <a:p>
            <a:pPr algn="l" indent="0" marL="0">
              <a:buNone/>
            </a:pPr>
            <a:r>
              <a:rPr lang="en-US" sz="1425" b="1" spc="-14" kern="0" dirty="0">
                <a:solidFill>
                  <a:srgbClr val="475569"/>
                </a:solidFill>
                <a:latin typeface="Inter" pitchFamily="34" charset="0"/>
                <a:ea typeface="Inter" pitchFamily="34" charset="-122"/>
                <a:cs typeface="Inter" pitchFamily="34" charset="-120"/>
              </a:rPr>
              <a:t>가우시안 혼합 모델</a:t>
            </a:r>
            <a:endParaRPr lang="en-US" sz="1425" dirty="0"/>
          </a:p>
        </p:txBody>
      </p:sp>
      <p:sp>
        <p:nvSpPr>
          <p:cNvPr id="16" name="Text 13"/>
          <p:cNvSpPr/>
          <p:nvPr/>
        </p:nvSpPr>
        <p:spPr>
          <a:xfrm>
            <a:off x="8464550" y="4934347"/>
            <a:ext cx="3093657"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64748B"/>
                </a:solidFill>
                <a:latin typeface="Inter" pitchFamily="34" charset="0"/>
                <a:ea typeface="Inter" pitchFamily="34" charset="-122"/>
                <a:cs typeface="Inter" pitchFamily="34" charset="-120"/>
              </a:rPr>
              <a:t>느리고 부정확</a:t>
            </a:r>
            <a:endParaRPr lang="en-US" sz="9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285750"/>
            <a:ext cx="497979" cy="222250"/>
          </a:xfrm>
          <a:prstGeom prst="rect">
            <a:avLst/>
          </a:prstGeom>
          <a:noFill/>
          <a:ln/>
        </p:spPr>
        <p:txBody>
          <a:bodyPr wrap="square" lIns="25400" tIns="25400" rIns="25400" bIns="25400" rtlCol="0" anchor="ctr">
            <a:normAutofit/>
          </a:bodyPr>
          <a:lstStyle/>
          <a:p>
            <a:pPr algn="l" indent="0" marL="0">
              <a:buNone/>
            </a:pPr>
            <a:r>
              <a:rPr lang="en-US" sz="975" b="1" spc="116" kern="0" dirty="0">
                <a:solidFill>
                  <a:srgbClr val="F97316"/>
                </a:solidFill>
                <a:latin typeface="Inter" pitchFamily="34" charset="0"/>
                <a:ea typeface="Inter" pitchFamily="34" charset="-122"/>
                <a:cs typeface="Inter" pitchFamily="34" charset="-120"/>
              </a:rPr>
              <a:t>적용</a:t>
            </a:r>
            <a:endParaRPr lang="en-US" sz="975" dirty="0"/>
          </a:p>
        </p:txBody>
      </p:sp>
      <p:sp>
        <p:nvSpPr>
          <p:cNvPr id="3" name="Text 1"/>
          <p:cNvSpPr/>
          <p:nvPr/>
        </p:nvSpPr>
        <p:spPr>
          <a:xfrm>
            <a:off x="723900" y="533400"/>
            <a:ext cx="10791825" cy="520005"/>
          </a:xfrm>
          <a:prstGeom prst="rect">
            <a:avLst/>
          </a:prstGeom>
          <a:noFill/>
          <a:ln/>
        </p:spPr>
        <p:txBody>
          <a:bodyPr wrap="square" lIns="25400" tIns="25400" rIns="25400" bIns="25400" rtlCol="0" anchor="t">
            <a:normAutofit/>
          </a:bodyPr>
          <a:lstStyle/>
          <a:p>
            <a:pPr algn="l" indent="0" marL="0">
              <a:lnSpc>
                <a:spcPct val="115000"/>
              </a:lnSpc>
              <a:buNone/>
            </a:pPr>
            <a:r>
              <a:rPr lang="en-US" sz="3300" b="1" spc="-82" kern="0" dirty="0">
                <a:solidFill>
                  <a:srgbClr val="1E3A5F"/>
                </a:solidFill>
                <a:latin typeface="Inter" pitchFamily="34" charset="0"/>
                <a:ea typeface="Inter" pitchFamily="34" charset="-122"/>
                <a:cs typeface="Inter" pitchFamily="34" charset="-120"/>
              </a:rPr>
              <a:t>데이터 유형을 보고 방법을 자동으로 고른다</a:t>
            </a:r>
            <a:endParaRPr lang="en-US" sz="3300" dirty="0"/>
          </a:p>
        </p:txBody>
      </p:sp>
      <p:sp>
        <p:nvSpPr>
          <p:cNvPr id="4" name="Shape 2"/>
          <p:cNvSpPr/>
          <p:nvPr/>
        </p:nvSpPr>
        <p:spPr>
          <a:xfrm>
            <a:off x="723900" y="1148655"/>
            <a:ext cx="381000" cy="28575"/>
          </a:xfrm>
          <a:prstGeom prst="rect">
            <a:avLst/>
          </a:prstGeom>
          <a:solidFill>
            <a:srgbClr val="F97316"/>
          </a:solidFill>
          <a:ln/>
        </p:spPr>
      </p:sp>
      <p:sp>
        <p:nvSpPr>
          <p:cNvPr id="5" name="Shape 3"/>
          <p:cNvSpPr/>
          <p:nvPr/>
        </p:nvSpPr>
        <p:spPr>
          <a:xfrm>
            <a:off x="723900" y="1792288"/>
            <a:ext cx="5143500" cy="704850"/>
          </a:xfrm>
          <a:prstGeom prst="rect">
            <a:avLst/>
          </a:prstGeom>
          <a:ln w="12700">
            <a:solidFill>
              <a:srgbClr val="1E293B"/>
            </a:solidFill>
            <a:prstDash val="solid"/>
          </a:ln>
        </p:spPr>
      </p:sp>
      <p:sp>
        <p:nvSpPr>
          <p:cNvPr id="6" name="Text 4"/>
          <p:cNvSpPr/>
          <p:nvPr/>
        </p:nvSpPr>
        <p:spPr>
          <a:xfrm>
            <a:off x="946150" y="2017713"/>
            <a:ext cx="361950"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1E3A5F"/>
                </a:solidFill>
                <a:latin typeface="Inter" pitchFamily="34" charset="0"/>
                <a:ea typeface="Inter" pitchFamily="34" charset="-122"/>
                <a:cs typeface="Inter" pitchFamily="34" charset="-120"/>
              </a:rPr>
              <a:t>1</a:t>
            </a:r>
            <a:endParaRPr lang="en-US" sz="1650" dirty="0"/>
          </a:p>
        </p:txBody>
      </p:sp>
      <p:sp>
        <p:nvSpPr>
          <p:cNvPr id="7" name="Text 5"/>
          <p:cNvSpPr/>
          <p:nvPr/>
        </p:nvSpPr>
        <p:spPr>
          <a:xfrm>
            <a:off x="1384300" y="2020888"/>
            <a:ext cx="1262856" cy="285750"/>
          </a:xfrm>
          <a:prstGeom prst="rect">
            <a:avLst/>
          </a:prstGeom>
          <a:noFill/>
          <a:ln/>
        </p:spPr>
        <p:txBody>
          <a:bodyPr wrap="square" lIns="25400" tIns="25400" rIns="25400" bIns="25400" rtlCol="0" anchor="t">
            <a:normAutofit/>
          </a:bodyPr>
          <a:lstStyle/>
          <a:p>
            <a:pPr algn="l" indent="0" marL="0">
              <a:buNone/>
            </a:pPr>
            <a:r>
              <a:rPr lang="en-US" sz="1275" b="1" spc="-6" kern="0" dirty="0">
                <a:solidFill>
                  <a:srgbClr val="1E293B"/>
                </a:solidFill>
                <a:latin typeface="Inter" pitchFamily="34" charset="0"/>
                <a:ea typeface="Inter" pitchFamily="34" charset="-122"/>
                <a:cs typeface="Inter" pitchFamily="34" charset="-120"/>
              </a:rPr>
              <a:t>데이터가 들어온다</a:t>
            </a:r>
            <a:endParaRPr lang="en-US" sz="1275" dirty="0"/>
          </a:p>
        </p:txBody>
      </p:sp>
      <p:sp>
        <p:nvSpPr>
          <p:cNvPr id="8" name="Text 6"/>
          <p:cNvSpPr/>
          <p:nvPr/>
        </p:nvSpPr>
        <p:spPr>
          <a:xfrm>
            <a:off x="646748" y="2611438"/>
            <a:ext cx="5297805" cy="222250"/>
          </a:xfrm>
          <a:prstGeom prst="rect">
            <a:avLst/>
          </a:prstGeom>
          <a:noFill/>
          <a:ln/>
        </p:spPr>
        <p:txBody>
          <a:bodyPr wrap="square" lIns="25400" tIns="25400" rIns="25400" bIns="25400" rtlCol="0" anchor="t">
            <a:normAutofit/>
          </a:bodyPr>
          <a:lstStyle/>
          <a:p>
            <a:pPr algn="ctr" indent="0" marL="0">
              <a:buNone/>
            </a:pPr>
            <a:r>
              <a:rPr lang="en-US" sz="1200" dirty="0">
                <a:solidFill>
                  <a:srgbClr val="64748B"/>
                </a:solidFill>
                <a:latin typeface="Inter" pitchFamily="34" charset="0"/>
                <a:ea typeface="Inter" pitchFamily="34" charset="-122"/>
                <a:cs typeface="Inter" pitchFamily="34" charset="-120"/>
              </a:rPr>
              <a:t>↓</a:t>
            </a:r>
            <a:endParaRPr lang="en-US" sz="1200" dirty="0"/>
          </a:p>
        </p:txBody>
      </p:sp>
      <p:sp>
        <p:nvSpPr>
          <p:cNvPr id="9" name="Shape 7"/>
          <p:cNvSpPr/>
          <p:nvPr/>
        </p:nvSpPr>
        <p:spPr>
          <a:xfrm>
            <a:off x="723900" y="2909888"/>
            <a:ext cx="5143500" cy="726381"/>
          </a:xfrm>
          <a:prstGeom prst="rect">
            <a:avLst/>
          </a:prstGeom>
          <a:ln w="12700">
            <a:solidFill>
              <a:srgbClr val="1E293B"/>
            </a:solidFill>
            <a:prstDash val="solid"/>
          </a:ln>
        </p:spPr>
      </p:sp>
      <p:sp>
        <p:nvSpPr>
          <p:cNvPr id="10" name="Text 8"/>
          <p:cNvSpPr/>
          <p:nvPr/>
        </p:nvSpPr>
        <p:spPr>
          <a:xfrm>
            <a:off x="946150" y="3146028"/>
            <a:ext cx="361950"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1E3A5F"/>
                </a:solidFill>
                <a:latin typeface="Inter" pitchFamily="34" charset="0"/>
                <a:ea typeface="Inter" pitchFamily="34" charset="-122"/>
                <a:cs typeface="Inter" pitchFamily="34" charset="-120"/>
              </a:rPr>
              <a:t>2</a:t>
            </a:r>
            <a:endParaRPr lang="en-US" sz="1650" dirty="0"/>
          </a:p>
        </p:txBody>
      </p:sp>
      <p:sp>
        <p:nvSpPr>
          <p:cNvPr id="11" name="Text 9"/>
          <p:cNvSpPr/>
          <p:nvPr/>
        </p:nvSpPr>
        <p:spPr>
          <a:xfrm>
            <a:off x="1384300" y="3074988"/>
            <a:ext cx="1156791" cy="232370"/>
          </a:xfrm>
          <a:prstGeom prst="rect">
            <a:avLst/>
          </a:prstGeom>
          <a:noFill/>
          <a:ln/>
        </p:spPr>
        <p:txBody>
          <a:bodyPr wrap="square" lIns="25400" tIns="25400" rIns="25400" bIns="25400" rtlCol="0" anchor="t">
            <a:normAutofit/>
          </a:bodyPr>
          <a:lstStyle/>
          <a:p>
            <a:pPr algn="l" indent="0" marL="0">
              <a:lnSpc>
                <a:spcPct val="120000"/>
              </a:lnSpc>
              <a:buNone/>
            </a:pPr>
            <a:r>
              <a:rPr lang="en-US" sz="1275" b="1" spc="-6" kern="0" dirty="0">
                <a:solidFill>
                  <a:srgbClr val="1E293B"/>
                </a:solidFill>
                <a:latin typeface="Inter" pitchFamily="34" charset="0"/>
                <a:ea typeface="Inter" pitchFamily="34" charset="-122"/>
                <a:cs typeface="Inter" pitchFamily="34" charset="-120"/>
              </a:rPr>
              <a:t>데이터 유형 판별</a:t>
            </a:r>
            <a:endParaRPr lang="en-US" sz="1275" dirty="0"/>
          </a:p>
        </p:txBody>
      </p:sp>
      <p:sp>
        <p:nvSpPr>
          <p:cNvPr id="12" name="Text 10"/>
          <p:cNvSpPr/>
          <p:nvPr/>
        </p:nvSpPr>
        <p:spPr>
          <a:xfrm>
            <a:off x="1384300" y="3297833"/>
            <a:ext cx="1156791" cy="211435"/>
          </a:xfrm>
          <a:prstGeom prst="rect">
            <a:avLst/>
          </a:prstGeom>
          <a:noFill/>
          <a:ln/>
        </p:spPr>
        <p:txBody>
          <a:bodyPr wrap="square" lIns="25400" tIns="25400" rIns="25400" bIns="25400" rtlCol="0" anchor="t">
            <a:normAutofit/>
          </a:bodyPr>
          <a:lstStyle/>
          <a:p>
            <a:pPr algn="l" indent="0" marL="0">
              <a:lnSpc>
                <a:spcPct val="140000"/>
              </a:lnSpc>
              <a:buNone/>
            </a:pPr>
            <a:r>
              <a:rPr lang="en-US" sz="975" dirty="0">
                <a:solidFill>
                  <a:srgbClr val="475569"/>
                </a:solidFill>
                <a:latin typeface="Inter" pitchFamily="34" charset="0"/>
                <a:ea typeface="Inter" pitchFamily="34" charset="-122"/>
                <a:cs typeface="Inter" pitchFamily="34" charset="-120"/>
              </a:rPr>
              <a:t>크기 · 구조 · 차원</a:t>
            </a:r>
            <a:endParaRPr lang="en-US" sz="975" dirty="0"/>
          </a:p>
        </p:txBody>
      </p:sp>
      <p:sp>
        <p:nvSpPr>
          <p:cNvPr id="13" name="Text 11"/>
          <p:cNvSpPr/>
          <p:nvPr/>
        </p:nvSpPr>
        <p:spPr>
          <a:xfrm>
            <a:off x="646748" y="3750568"/>
            <a:ext cx="5297805" cy="222250"/>
          </a:xfrm>
          <a:prstGeom prst="rect">
            <a:avLst/>
          </a:prstGeom>
          <a:noFill/>
          <a:ln/>
        </p:spPr>
        <p:txBody>
          <a:bodyPr wrap="square" lIns="25400" tIns="25400" rIns="25400" bIns="25400" rtlCol="0" anchor="t">
            <a:normAutofit/>
          </a:bodyPr>
          <a:lstStyle/>
          <a:p>
            <a:pPr algn="ctr" indent="0" marL="0">
              <a:buNone/>
            </a:pPr>
            <a:r>
              <a:rPr lang="en-US" sz="1200" dirty="0">
                <a:solidFill>
                  <a:srgbClr val="64748B"/>
                </a:solidFill>
                <a:latin typeface="Inter" pitchFamily="34" charset="0"/>
                <a:ea typeface="Inter" pitchFamily="34" charset="-122"/>
                <a:cs typeface="Inter" pitchFamily="34" charset="-120"/>
              </a:rPr>
              <a:t>↓</a:t>
            </a:r>
            <a:endParaRPr lang="en-US" sz="1200" dirty="0"/>
          </a:p>
        </p:txBody>
      </p:sp>
      <p:sp>
        <p:nvSpPr>
          <p:cNvPr id="14" name="Shape 12"/>
          <p:cNvSpPr/>
          <p:nvPr/>
        </p:nvSpPr>
        <p:spPr>
          <a:xfrm>
            <a:off x="723900" y="4049018"/>
            <a:ext cx="5143500" cy="704850"/>
          </a:xfrm>
          <a:prstGeom prst="rect">
            <a:avLst/>
          </a:prstGeom>
          <a:solidFill>
            <a:srgbClr val="FFF1E6"/>
          </a:solidFill>
          <a:ln w="19050">
            <a:solidFill>
              <a:srgbClr val="F97316"/>
            </a:solidFill>
            <a:prstDash val="solid"/>
          </a:ln>
        </p:spPr>
      </p:sp>
      <p:sp>
        <p:nvSpPr>
          <p:cNvPr id="15" name="Text 13"/>
          <p:cNvSpPr/>
          <p:nvPr/>
        </p:nvSpPr>
        <p:spPr>
          <a:xfrm>
            <a:off x="952500" y="4274443"/>
            <a:ext cx="361950"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1E3A5F"/>
                </a:solidFill>
                <a:latin typeface="Inter" pitchFamily="34" charset="0"/>
                <a:ea typeface="Inter" pitchFamily="34" charset="-122"/>
                <a:cs typeface="Inter" pitchFamily="34" charset="-120"/>
              </a:rPr>
              <a:t>3</a:t>
            </a:r>
            <a:endParaRPr lang="en-US" sz="1650" dirty="0"/>
          </a:p>
        </p:txBody>
      </p:sp>
      <p:sp>
        <p:nvSpPr>
          <p:cNvPr id="16" name="Text 14"/>
          <p:cNvSpPr/>
          <p:nvPr/>
        </p:nvSpPr>
        <p:spPr>
          <a:xfrm>
            <a:off x="1390650" y="4277618"/>
            <a:ext cx="2456061" cy="285750"/>
          </a:xfrm>
          <a:prstGeom prst="rect">
            <a:avLst/>
          </a:prstGeom>
          <a:noFill/>
          <a:ln/>
        </p:spPr>
        <p:txBody>
          <a:bodyPr wrap="square" lIns="25400" tIns="25400" rIns="25400" bIns="25400" rtlCol="0" anchor="t">
            <a:normAutofit/>
          </a:bodyPr>
          <a:lstStyle/>
          <a:p>
            <a:pPr algn="l" indent="0" marL="0">
              <a:buNone/>
            </a:pPr>
            <a:r>
              <a:rPr lang="en-US" sz="1275" b="1" spc="-6" kern="0" dirty="0">
                <a:solidFill>
                  <a:srgbClr val="F97316"/>
                </a:solidFill>
                <a:latin typeface="Inter" pitchFamily="34" charset="0"/>
                <a:ea typeface="Inter" pitchFamily="34" charset="-122"/>
                <a:cs typeface="Inter" pitchFamily="34" charset="-120"/>
              </a:rPr>
              <a:t>유형에 맞는 표본 선택 방법 자동 선택</a:t>
            </a:r>
            <a:endParaRPr lang="en-US" sz="1275" dirty="0"/>
          </a:p>
        </p:txBody>
      </p:sp>
      <p:sp>
        <p:nvSpPr>
          <p:cNvPr id="17" name="Text 15"/>
          <p:cNvSpPr/>
          <p:nvPr/>
        </p:nvSpPr>
        <p:spPr>
          <a:xfrm>
            <a:off x="646748" y="4868168"/>
            <a:ext cx="5297805" cy="222250"/>
          </a:xfrm>
          <a:prstGeom prst="rect">
            <a:avLst/>
          </a:prstGeom>
          <a:noFill/>
          <a:ln/>
        </p:spPr>
        <p:txBody>
          <a:bodyPr wrap="square" lIns="25400" tIns="25400" rIns="25400" bIns="25400" rtlCol="0" anchor="t">
            <a:normAutofit/>
          </a:bodyPr>
          <a:lstStyle/>
          <a:p>
            <a:pPr algn="ctr" indent="0" marL="0">
              <a:buNone/>
            </a:pPr>
            <a:r>
              <a:rPr lang="en-US" sz="1200" dirty="0">
                <a:solidFill>
                  <a:srgbClr val="64748B"/>
                </a:solidFill>
                <a:latin typeface="Inter" pitchFamily="34" charset="0"/>
                <a:ea typeface="Inter" pitchFamily="34" charset="-122"/>
                <a:cs typeface="Inter" pitchFamily="34" charset="-120"/>
              </a:rPr>
              <a:t>↓</a:t>
            </a:r>
            <a:endParaRPr lang="en-US" sz="1200" dirty="0"/>
          </a:p>
        </p:txBody>
      </p:sp>
      <p:sp>
        <p:nvSpPr>
          <p:cNvPr id="18" name="Shape 16"/>
          <p:cNvSpPr/>
          <p:nvPr/>
        </p:nvSpPr>
        <p:spPr>
          <a:xfrm>
            <a:off x="723900" y="5166618"/>
            <a:ext cx="5143500" cy="704850"/>
          </a:xfrm>
          <a:prstGeom prst="rect">
            <a:avLst/>
          </a:prstGeom>
          <a:ln w="12700">
            <a:solidFill>
              <a:srgbClr val="1E293B"/>
            </a:solidFill>
            <a:prstDash val="solid"/>
          </a:ln>
        </p:spPr>
      </p:sp>
      <p:sp>
        <p:nvSpPr>
          <p:cNvPr id="19" name="Text 17"/>
          <p:cNvSpPr/>
          <p:nvPr/>
        </p:nvSpPr>
        <p:spPr>
          <a:xfrm>
            <a:off x="946150" y="5392043"/>
            <a:ext cx="361950"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1E3A5F"/>
                </a:solidFill>
                <a:latin typeface="Inter" pitchFamily="34" charset="0"/>
                <a:ea typeface="Inter" pitchFamily="34" charset="-122"/>
                <a:cs typeface="Inter" pitchFamily="34" charset="-120"/>
              </a:rPr>
              <a:t>4</a:t>
            </a:r>
            <a:endParaRPr lang="en-US" sz="1650" dirty="0"/>
          </a:p>
        </p:txBody>
      </p:sp>
      <p:sp>
        <p:nvSpPr>
          <p:cNvPr id="20" name="Text 18"/>
          <p:cNvSpPr/>
          <p:nvPr/>
        </p:nvSpPr>
        <p:spPr>
          <a:xfrm>
            <a:off x="1384300" y="5395218"/>
            <a:ext cx="2056110" cy="285750"/>
          </a:xfrm>
          <a:prstGeom prst="rect">
            <a:avLst/>
          </a:prstGeom>
          <a:noFill/>
          <a:ln/>
        </p:spPr>
        <p:txBody>
          <a:bodyPr wrap="square" lIns="25400" tIns="25400" rIns="25400" bIns="25400" rtlCol="0" anchor="t">
            <a:normAutofit/>
          </a:bodyPr>
          <a:lstStyle/>
          <a:p>
            <a:pPr algn="l" indent="0" marL="0">
              <a:buNone/>
            </a:pPr>
            <a:r>
              <a:rPr lang="en-US" sz="1275" b="1" spc="-6" kern="0" dirty="0">
                <a:solidFill>
                  <a:srgbClr val="1E293B"/>
                </a:solidFill>
                <a:latin typeface="Inter" pitchFamily="34" charset="0"/>
                <a:ea typeface="Inter" pitchFamily="34" charset="-122"/>
                <a:cs typeface="Inter" pitchFamily="34" charset="-120"/>
              </a:rPr>
              <a:t>결합 방식으로 카디널리티 추정</a:t>
            </a:r>
            <a:endParaRPr lang="en-US" sz="1275" dirty="0"/>
          </a:p>
        </p:txBody>
      </p:sp>
      <p:sp>
        <p:nvSpPr>
          <p:cNvPr id="21" name="Text 19"/>
          <p:cNvSpPr/>
          <p:nvPr/>
        </p:nvSpPr>
        <p:spPr>
          <a:xfrm>
            <a:off x="6591300" y="2670473"/>
            <a:ext cx="5023104" cy="1466850"/>
          </a:xfrm>
          <a:prstGeom prst="rect">
            <a:avLst/>
          </a:prstGeom>
          <a:noFill/>
          <a:ln/>
        </p:spPr>
        <p:txBody>
          <a:bodyPr wrap="square" lIns="25400" tIns="25400" rIns="25400" bIns="25400" rtlCol="0" anchor="t">
            <a:normAutofit/>
          </a:bodyPr>
          <a:lstStyle/>
          <a:p>
            <a:pPr algn="l" indent="0" marL="0">
              <a:lnSpc>
                <a:spcPct val="125000"/>
              </a:lnSpc>
              <a:buNone/>
            </a:pPr>
            <a:r>
              <a:rPr lang="en-US" sz="2250" b="1" spc="-45" kern="0" dirty="0">
                <a:solidFill>
                  <a:srgbClr val="1E293B"/>
                </a:solidFill>
                <a:latin typeface="Inter" pitchFamily="34" charset="0"/>
                <a:ea typeface="Inter" pitchFamily="34" charset="-122"/>
                <a:cs typeface="Inter" pitchFamily="34" charset="-120"/>
              </a:rPr>
              <a:t>사람이 매번 방법을 고르지 않고, </a:t>
            </a:r>
            <a:pPr algn="l" indent="0" marL="0">
              <a:lnSpc>
                <a:spcPct val="125000"/>
              </a:lnSpc>
              <a:buNone/>
            </a:pPr>
            <a:r>
              <a:rPr lang="en-US" sz="2250" b="1" spc="-45" kern="0" dirty="0">
                <a:solidFill>
                  <a:srgbClr val="F97316"/>
                </a:solidFill>
                <a:latin typeface="Inter" pitchFamily="34" charset="0"/>
                <a:ea typeface="Inter" pitchFamily="34" charset="-122"/>
                <a:cs typeface="Inter" pitchFamily="34" charset="-120"/>
              </a:rPr>
              <a:t>데이터 유형에 따라 자동으로</a:t>
            </a:r>
            <a:endParaRPr lang="en-US" sz="2250" dirty="0"/>
          </a:p>
        </p:txBody>
      </p:sp>
      <p:sp>
        <p:nvSpPr>
          <p:cNvPr id="22" name="Shape 20"/>
          <p:cNvSpPr/>
          <p:nvPr/>
        </p:nvSpPr>
        <p:spPr>
          <a:xfrm>
            <a:off x="6591300" y="4327823"/>
            <a:ext cx="4876800" cy="9525"/>
          </a:xfrm>
          <a:prstGeom prst="rect">
            <a:avLst/>
          </a:prstGeom>
          <a:solidFill>
            <a:srgbClr val="E5E7EB"/>
          </a:solidFill>
          <a:ln/>
        </p:spPr>
      </p:sp>
      <p:sp>
        <p:nvSpPr>
          <p:cNvPr id="23" name="Text 21"/>
          <p:cNvSpPr/>
          <p:nvPr/>
        </p:nvSpPr>
        <p:spPr>
          <a:xfrm>
            <a:off x="6591300" y="4505623"/>
            <a:ext cx="5023104" cy="525661"/>
          </a:xfrm>
          <a:prstGeom prst="rect">
            <a:avLst/>
          </a:prstGeom>
          <a:noFill/>
          <a:ln/>
        </p:spPr>
        <p:txBody>
          <a:bodyPr wrap="square" lIns="25400" tIns="25400" rIns="25400" bIns="25400" rtlCol="0" anchor="t">
            <a:normAutofit/>
          </a:bodyPr>
          <a:lstStyle/>
          <a:p>
            <a:pPr algn="l" indent="0" marL="0">
              <a:lnSpc>
                <a:spcPct val="160000"/>
              </a:lnSpc>
              <a:buNone/>
            </a:pPr>
            <a:r>
              <a:rPr lang="en-US" sz="1200" spc="-6" kern="0" dirty="0">
                <a:solidFill>
                  <a:srgbClr val="475569"/>
                </a:solidFill>
                <a:latin typeface="Inter" pitchFamily="34" charset="0"/>
                <a:ea typeface="Inter" pitchFamily="34" charset="-122"/>
                <a:cs typeface="Inter" pitchFamily="34" charset="-120"/>
              </a:rPr>
              <a:t>측정 결과를 종합해 만든 우리의 제안 — 추정 알고리즘은 그대로 두고, </a:t>
            </a:r>
            <a:pPr algn="l" indent="0" marL="0">
              <a:lnSpc>
                <a:spcPct val="160000"/>
              </a:lnSpc>
              <a:buNone/>
            </a:pPr>
            <a:r>
              <a:rPr lang="en-US" sz="1200" b="1" spc="-6" kern="0" dirty="0">
                <a:solidFill>
                  <a:srgbClr val="1E3A5F"/>
                </a:solidFill>
                <a:latin typeface="Inter" pitchFamily="34" charset="0"/>
                <a:ea typeface="Inter" pitchFamily="34" charset="-122"/>
                <a:cs typeface="Inter" pitchFamily="34" charset="-120"/>
              </a:rPr>
              <a:t>표본 선택 방법만 </a:t>
            </a:r>
            <a:pPr algn="l" indent="0" marL="0">
              <a:lnSpc>
                <a:spcPct val="160000"/>
              </a:lnSpc>
              <a:buNone/>
            </a:pPr>
            <a:r>
              <a:rPr lang="en-US" sz="1200" spc="-6" kern="0" dirty="0">
                <a:solidFill>
                  <a:srgbClr val="475569"/>
                </a:solidFill>
                <a:latin typeface="Inter" pitchFamily="34" charset="0"/>
                <a:ea typeface="Inter" pitchFamily="34" charset="-122"/>
                <a:cs typeface="Inter" pitchFamily="34" charset="-120"/>
              </a:rPr>
              <a:t>데이터에 맞춰 바꾼다</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285750"/>
            <a:ext cx="497979" cy="222250"/>
          </a:xfrm>
          <a:prstGeom prst="rect">
            <a:avLst/>
          </a:prstGeom>
          <a:noFill/>
          <a:ln/>
        </p:spPr>
        <p:txBody>
          <a:bodyPr wrap="square" lIns="25400" tIns="25400" rIns="25400" bIns="25400" rtlCol="0" anchor="ctr">
            <a:normAutofit/>
          </a:bodyPr>
          <a:lstStyle/>
          <a:p>
            <a:pPr algn="l" indent="0" marL="0">
              <a:buNone/>
            </a:pPr>
            <a:r>
              <a:rPr lang="en-US" sz="975" b="1" spc="116" kern="0" dirty="0">
                <a:solidFill>
                  <a:srgbClr val="10B981"/>
                </a:solidFill>
                <a:latin typeface="Inter" pitchFamily="34" charset="0"/>
                <a:ea typeface="Inter" pitchFamily="34" charset="-122"/>
                <a:cs typeface="Inter" pitchFamily="34" charset="-120"/>
              </a:rPr>
              <a:t>결과</a:t>
            </a:r>
            <a:endParaRPr lang="en-US" sz="975" dirty="0"/>
          </a:p>
        </p:txBody>
      </p:sp>
      <p:sp>
        <p:nvSpPr>
          <p:cNvPr id="3" name="Text 1"/>
          <p:cNvSpPr/>
          <p:nvPr/>
        </p:nvSpPr>
        <p:spPr>
          <a:xfrm>
            <a:off x="723900" y="533400"/>
            <a:ext cx="10791825" cy="520005"/>
          </a:xfrm>
          <a:prstGeom prst="rect">
            <a:avLst/>
          </a:prstGeom>
          <a:noFill/>
          <a:ln/>
        </p:spPr>
        <p:txBody>
          <a:bodyPr wrap="square" lIns="25400" tIns="25400" rIns="25400" bIns="25400" rtlCol="0" anchor="t">
            <a:normAutofit/>
          </a:bodyPr>
          <a:lstStyle/>
          <a:p>
            <a:pPr algn="l" indent="0" marL="0">
              <a:lnSpc>
                <a:spcPct val="115000"/>
              </a:lnSpc>
              <a:buNone/>
            </a:pPr>
            <a:r>
              <a:rPr lang="en-US" sz="3300" b="1" spc="-82" kern="0" dirty="0">
                <a:solidFill>
                  <a:srgbClr val="1E3A5F"/>
                </a:solidFill>
                <a:latin typeface="Inter" pitchFamily="34" charset="0"/>
                <a:ea typeface="Inter" pitchFamily="34" charset="-122"/>
                <a:cs typeface="Inter" pitchFamily="34" charset="-120"/>
              </a:rPr>
              <a:t>결론</a:t>
            </a:r>
            <a:endParaRPr lang="en-US" sz="3300" dirty="0"/>
          </a:p>
        </p:txBody>
      </p:sp>
      <p:sp>
        <p:nvSpPr>
          <p:cNvPr id="4" name="Shape 2"/>
          <p:cNvSpPr/>
          <p:nvPr/>
        </p:nvSpPr>
        <p:spPr>
          <a:xfrm>
            <a:off x="723900" y="1148655"/>
            <a:ext cx="381000" cy="28575"/>
          </a:xfrm>
          <a:prstGeom prst="rect">
            <a:avLst/>
          </a:prstGeom>
          <a:solidFill>
            <a:srgbClr val="10B981"/>
          </a:solidFill>
          <a:ln/>
        </p:spPr>
      </p:sp>
      <p:sp>
        <p:nvSpPr>
          <p:cNvPr id="5" name="Shape 3"/>
          <p:cNvSpPr/>
          <p:nvPr/>
        </p:nvSpPr>
        <p:spPr>
          <a:xfrm>
            <a:off x="723900" y="1301055"/>
            <a:ext cx="5305425" cy="2187873"/>
          </a:xfrm>
          <a:prstGeom prst="rect">
            <a:avLst/>
          </a:prstGeom>
          <a:solidFill>
            <a:srgbClr val="FFFFFF"/>
          </a:solidFill>
          <a:ln w="6350">
            <a:solidFill>
              <a:srgbClr val="E5E7EB"/>
            </a:solidFill>
            <a:prstDash val="solid"/>
          </a:ln>
        </p:spPr>
      </p:sp>
      <p:sp>
        <p:nvSpPr>
          <p:cNvPr id="6" name="Text 4"/>
          <p:cNvSpPr/>
          <p:nvPr/>
        </p:nvSpPr>
        <p:spPr>
          <a:xfrm>
            <a:off x="939800" y="1497906"/>
            <a:ext cx="5019834" cy="361950"/>
          </a:xfrm>
          <a:prstGeom prst="rect">
            <a:avLst/>
          </a:prstGeom>
          <a:noFill/>
          <a:ln/>
        </p:spPr>
        <p:txBody>
          <a:bodyPr wrap="square" lIns="25400" tIns="25400" rIns="25400" bIns="25400" rtlCol="0" anchor="t">
            <a:normAutofit/>
          </a:bodyPr>
          <a:lstStyle/>
          <a:p>
            <a:pPr algn="l" indent="0" marL="0">
              <a:lnSpc>
                <a:spcPct val="100000"/>
              </a:lnSpc>
              <a:buNone/>
            </a:pPr>
            <a:r>
              <a:rPr lang="en-US" sz="2550" b="1" spc="-76" kern="0" dirty="0">
                <a:solidFill>
                  <a:srgbClr val="10B981"/>
                </a:solidFill>
                <a:latin typeface="Inter" pitchFamily="34" charset="0"/>
                <a:ea typeface="Inter" pitchFamily="34" charset="-122"/>
                <a:cs typeface="Inter" pitchFamily="34" charset="-120"/>
              </a:rPr>
              <a:t>1</a:t>
            </a:r>
            <a:endParaRPr lang="en-US" sz="2550" dirty="0"/>
          </a:p>
        </p:txBody>
      </p:sp>
      <p:sp>
        <p:nvSpPr>
          <p:cNvPr id="7" name="Text 5"/>
          <p:cNvSpPr/>
          <p:nvPr/>
        </p:nvSpPr>
        <p:spPr>
          <a:xfrm>
            <a:off x="939800" y="1917006"/>
            <a:ext cx="5019834" cy="491331"/>
          </a:xfrm>
          <a:prstGeom prst="rect">
            <a:avLst/>
          </a:prstGeom>
          <a:noFill/>
          <a:ln/>
        </p:spPr>
        <p:txBody>
          <a:bodyPr wrap="square" lIns="25400" tIns="25400" rIns="25400" bIns="25400" rtlCol="0" anchor="t">
            <a:normAutofit/>
          </a:bodyPr>
          <a:lstStyle/>
          <a:p>
            <a:pPr algn="l" indent="0" marL="0">
              <a:lnSpc>
                <a:spcPct val="140000"/>
              </a:lnSpc>
              <a:buNone/>
            </a:pPr>
            <a:r>
              <a:rPr lang="en-US" sz="1275" b="1" spc="-6" kern="0" dirty="0">
                <a:solidFill>
                  <a:srgbClr val="1E293B"/>
                </a:solidFill>
                <a:latin typeface="Inter" pitchFamily="34" charset="0"/>
                <a:ea typeface="Inter" pitchFamily="34" charset="-122"/>
                <a:cs typeface="Inter" pitchFamily="34" charset="-120"/>
              </a:rPr>
              <a:t>분포를 반영한 표본 선택이 추정 오차를 </a:t>
            </a:r>
            <a:pPr algn="l" indent="0" marL="0">
              <a:lnSpc>
                <a:spcPct val="140000"/>
              </a:lnSpc>
              <a:buNone/>
            </a:pPr>
            <a:r>
              <a:rPr lang="en-US" sz="1275" b="1" spc="-6" kern="0" dirty="0">
                <a:solidFill>
                  <a:srgbClr val="1E3A5F"/>
                </a:solidFill>
                <a:latin typeface="Inter" pitchFamily="34" charset="0"/>
                <a:ea typeface="Inter" pitchFamily="34" charset="-122"/>
                <a:cs typeface="Inter" pitchFamily="34" charset="-120"/>
              </a:rPr>
              <a:t>89.1%에서 </a:t>
            </a:r>
            <a:pPr algn="l" indent="0" marL="0">
              <a:lnSpc>
                <a:spcPct val="140000"/>
              </a:lnSpc>
              <a:buNone/>
            </a:pPr>
            <a:r>
              <a:rPr lang="en-US" sz="1275" b="1" spc="-6" kern="0" dirty="0">
                <a:solidFill>
                  <a:srgbClr val="1E293B"/>
                </a:solidFill>
                <a:latin typeface="Inter" pitchFamily="34" charset="0"/>
                <a:ea typeface="Inter" pitchFamily="34" charset="-122"/>
                <a:cs typeface="Inter" pitchFamily="34" charset="-120"/>
              </a:rPr>
              <a:t>줄였다</a:t>
            </a:r>
            <a:endParaRPr lang="en-US" sz="1275" dirty="0"/>
          </a:p>
        </p:txBody>
      </p:sp>
      <p:sp>
        <p:nvSpPr>
          <p:cNvPr id="8" name="Shape 6"/>
          <p:cNvSpPr/>
          <p:nvPr/>
        </p:nvSpPr>
        <p:spPr>
          <a:xfrm>
            <a:off x="939800" y="3196828"/>
            <a:ext cx="4873625" cy="95250"/>
          </a:xfrm>
          <a:prstGeom prst="rect">
            <a:avLst/>
          </a:prstGeom>
          <a:solidFill>
            <a:srgbClr val="F1F5F9"/>
          </a:solidFill>
          <a:ln/>
        </p:spPr>
      </p:sp>
      <p:sp>
        <p:nvSpPr>
          <p:cNvPr id="9" name="Shape 7"/>
          <p:cNvSpPr/>
          <p:nvPr/>
        </p:nvSpPr>
        <p:spPr>
          <a:xfrm>
            <a:off x="939800" y="3196828"/>
            <a:ext cx="4342309" cy="95250"/>
          </a:xfrm>
          <a:prstGeom prst="rect">
            <a:avLst/>
          </a:prstGeom>
          <a:solidFill>
            <a:srgbClr val="1E3A5F"/>
          </a:solidFill>
          <a:ln/>
        </p:spPr>
      </p:sp>
      <p:sp>
        <p:nvSpPr>
          <p:cNvPr id="10" name="Shape 8"/>
          <p:cNvSpPr/>
          <p:nvPr/>
        </p:nvSpPr>
        <p:spPr>
          <a:xfrm>
            <a:off x="6162675" y="1301055"/>
            <a:ext cx="5305425" cy="2187873"/>
          </a:xfrm>
          <a:prstGeom prst="rect">
            <a:avLst/>
          </a:prstGeom>
          <a:solidFill>
            <a:srgbClr val="FFFFFF"/>
          </a:solidFill>
          <a:ln w="6350">
            <a:solidFill>
              <a:srgbClr val="E5E7EB"/>
            </a:solidFill>
            <a:prstDash val="solid"/>
          </a:ln>
        </p:spPr>
      </p:sp>
      <p:sp>
        <p:nvSpPr>
          <p:cNvPr id="11" name="Text 9"/>
          <p:cNvSpPr/>
          <p:nvPr/>
        </p:nvSpPr>
        <p:spPr>
          <a:xfrm>
            <a:off x="6378575" y="1497906"/>
            <a:ext cx="5019834" cy="361950"/>
          </a:xfrm>
          <a:prstGeom prst="rect">
            <a:avLst/>
          </a:prstGeom>
          <a:noFill/>
          <a:ln/>
        </p:spPr>
        <p:txBody>
          <a:bodyPr wrap="square" lIns="25400" tIns="25400" rIns="25400" bIns="25400" rtlCol="0" anchor="t">
            <a:normAutofit/>
          </a:bodyPr>
          <a:lstStyle/>
          <a:p>
            <a:pPr algn="l" indent="0" marL="0">
              <a:lnSpc>
                <a:spcPct val="100000"/>
              </a:lnSpc>
              <a:buNone/>
            </a:pPr>
            <a:r>
              <a:rPr lang="en-US" sz="2550" b="1" spc="-76" kern="0" dirty="0">
                <a:solidFill>
                  <a:srgbClr val="10B981"/>
                </a:solidFill>
                <a:latin typeface="Inter" pitchFamily="34" charset="0"/>
                <a:ea typeface="Inter" pitchFamily="34" charset="-122"/>
                <a:cs typeface="Inter" pitchFamily="34" charset="-120"/>
              </a:rPr>
              <a:t>2</a:t>
            </a:r>
            <a:endParaRPr lang="en-US" sz="2550" dirty="0"/>
          </a:p>
        </p:txBody>
      </p:sp>
      <p:sp>
        <p:nvSpPr>
          <p:cNvPr id="12" name="Text 10"/>
          <p:cNvSpPr/>
          <p:nvPr/>
        </p:nvSpPr>
        <p:spPr>
          <a:xfrm>
            <a:off x="6378575" y="1917006"/>
            <a:ext cx="5019834" cy="491331"/>
          </a:xfrm>
          <a:prstGeom prst="rect">
            <a:avLst/>
          </a:prstGeom>
          <a:noFill/>
          <a:ln/>
        </p:spPr>
        <p:txBody>
          <a:bodyPr wrap="square" lIns="25400" tIns="25400" rIns="25400" bIns="25400" rtlCol="0" anchor="t">
            <a:normAutofit/>
          </a:bodyPr>
          <a:lstStyle/>
          <a:p>
            <a:pPr algn="l" indent="0" marL="0">
              <a:lnSpc>
                <a:spcPct val="140000"/>
              </a:lnSpc>
              <a:buNone/>
            </a:pPr>
            <a:r>
              <a:rPr lang="en-US" sz="1275" b="1" spc="-6" kern="0" dirty="0">
                <a:solidFill>
                  <a:srgbClr val="1E293B"/>
                </a:solidFill>
                <a:latin typeface="Inter" pitchFamily="34" charset="0"/>
                <a:ea typeface="Inter" pitchFamily="34" charset="-122"/>
                <a:cs typeface="Inter" pitchFamily="34" charset="-120"/>
              </a:rPr>
              <a:t>통째 교체는 불안정 — </a:t>
            </a:r>
            <a:pPr algn="l" indent="0" marL="0">
              <a:lnSpc>
                <a:spcPct val="140000"/>
              </a:lnSpc>
              <a:buNone/>
            </a:pPr>
            <a:r>
              <a:rPr lang="en-US" sz="1275" b="1" spc="-6" kern="0" dirty="0">
                <a:solidFill>
                  <a:srgbClr val="0EA5E9"/>
                </a:solidFill>
                <a:latin typeface="Inter" pitchFamily="34" charset="0"/>
                <a:ea typeface="Inter" pitchFamily="34" charset="-122"/>
                <a:cs typeface="Inter" pitchFamily="34" charset="-120"/>
              </a:rPr>
              <a:t>두 추정값의 결합</a:t>
            </a:r>
            <a:pPr algn="l" indent="0" marL="0">
              <a:lnSpc>
                <a:spcPct val="140000"/>
              </a:lnSpc>
              <a:buNone/>
            </a:pPr>
            <a:r>
              <a:rPr lang="en-US" sz="1275" b="1" spc="-6" kern="0" dirty="0">
                <a:solidFill>
                  <a:srgbClr val="1E293B"/>
                </a:solidFill>
                <a:latin typeface="Inter" pitchFamily="34" charset="0"/>
                <a:ea typeface="Inter" pitchFamily="34" charset="-122"/>
                <a:cs typeface="Inter" pitchFamily="34" charset="-120"/>
              </a:rPr>
              <a:t>이 답이다</a:t>
            </a:r>
            <a:endParaRPr lang="en-US" sz="1275" dirty="0"/>
          </a:p>
        </p:txBody>
      </p:sp>
      <p:sp>
        <p:nvSpPr>
          <p:cNvPr id="13" name="Shape 11"/>
          <p:cNvSpPr/>
          <p:nvPr/>
        </p:nvSpPr>
        <p:spPr>
          <a:xfrm>
            <a:off x="7853362" y="3138785"/>
            <a:ext cx="495300" cy="153293"/>
          </a:xfrm>
          <a:prstGeom prst="rect">
            <a:avLst/>
          </a:prstGeom>
          <a:solidFill>
            <a:srgbClr val="F97316"/>
          </a:solidFill>
          <a:ln/>
        </p:spPr>
      </p:sp>
      <p:sp>
        <p:nvSpPr>
          <p:cNvPr id="14" name="Text 12"/>
          <p:cNvSpPr/>
          <p:nvPr/>
        </p:nvSpPr>
        <p:spPr>
          <a:xfrm>
            <a:off x="8405813" y="3139678"/>
            <a:ext cx="381000" cy="190500"/>
          </a:xfrm>
          <a:prstGeom prst="rect">
            <a:avLst/>
          </a:prstGeom>
          <a:noFill/>
          <a:ln/>
        </p:spPr>
        <p:txBody>
          <a:bodyPr wrap="square" lIns="25400" tIns="25400" rIns="25400" bIns="25400" rtlCol="0" anchor="t">
            <a:normAutofit/>
          </a:bodyPr>
          <a:lstStyle/>
          <a:p>
            <a:pPr algn="l" indent="0" marL="0">
              <a:buNone/>
            </a:pPr>
            <a:r>
              <a:rPr lang="en-US" sz="975" b="1" dirty="0">
                <a:solidFill>
                  <a:srgbClr val="F97316"/>
                </a:solidFill>
                <a:latin typeface="Inter" pitchFamily="34" charset="0"/>
                <a:ea typeface="Inter" pitchFamily="34" charset="-122"/>
                <a:cs typeface="Inter" pitchFamily="34" charset="-120"/>
              </a:rPr>
              <a:t>35%</a:t>
            </a:r>
            <a:endParaRPr lang="en-US" sz="975" dirty="0"/>
          </a:p>
        </p:txBody>
      </p:sp>
      <p:sp>
        <p:nvSpPr>
          <p:cNvPr id="15" name="Shape 13"/>
          <p:cNvSpPr/>
          <p:nvPr/>
        </p:nvSpPr>
        <p:spPr>
          <a:xfrm>
            <a:off x="8920163" y="2902148"/>
            <a:ext cx="495300" cy="389930"/>
          </a:xfrm>
          <a:prstGeom prst="rect">
            <a:avLst/>
          </a:prstGeom>
          <a:solidFill>
            <a:srgbClr val="0EA5E9"/>
          </a:solidFill>
          <a:ln/>
        </p:spPr>
      </p:sp>
      <p:sp>
        <p:nvSpPr>
          <p:cNvPr id="16" name="Text 14"/>
          <p:cNvSpPr/>
          <p:nvPr/>
        </p:nvSpPr>
        <p:spPr>
          <a:xfrm>
            <a:off x="9472613" y="3139678"/>
            <a:ext cx="381000" cy="190500"/>
          </a:xfrm>
          <a:prstGeom prst="rect">
            <a:avLst/>
          </a:prstGeom>
          <a:noFill/>
          <a:ln/>
        </p:spPr>
        <p:txBody>
          <a:bodyPr wrap="square" lIns="25400" tIns="25400" rIns="25400" bIns="25400" rtlCol="0" anchor="t">
            <a:normAutofit/>
          </a:bodyPr>
          <a:lstStyle/>
          <a:p>
            <a:pPr algn="l" indent="0" marL="0">
              <a:buNone/>
            </a:pPr>
            <a:r>
              <a:rPr lang="en-US" sz="975" b="1" dirty="0">
                <a:solidFill>
                  <a:srgbClr val="0EA5E9"/>
                </a:solidFill>
                <a:latin typeface="Inter" pitchFamily="34" charset="0"/>
                <a:ea typeface="Inter" pitchFamily="34" charset="-122"/>
                <a:cs typeface="Inter" pitchFamily="34" charset="-120"/>
              </a:rPr>
              <a:t>89%</a:t>
            </a:r>
            <a:endParaRPr lang="en-US" sz="975" dirty="0"/>
          </a:p>
        </p:txBody>
      </p:sp>
      <p:sp>
        <p:nvSpPr>
          <p:cNvPr id="17" name="Shape 15"/>
          <p:cNvSpPr/>
          <p:nvPr/>
        </p:nvSpPr>
        <p:spPr>
          <a:xfrm>
            <a:off x="723900" y="3622278"/>
            <a:ext cx="5305425" cy="2187972"/>
          </a:xfrm>
          <a:prstGeom prst="rect">
            <a:avLst/>
          </a:prstGeom>
          <a:solidFill>
            <a:srgbClr val="FFFFFF"/>
          </a:solidFill>
          <a:ln w="6350">
            <a:solidFill>
              <a:srgbClr val="E5E7EB"/>
            </a:solidFill>
            <a:prstDash val="solid"/>
          </a:ln>
        </p:spPr>
      </p:sp>
      <p:sp>
        <p:nvSpPr>
          <p:cNvPr id="18" name="Text 16"/>
          <p:cNvSpPr/>
          <p:nvPr/>
        </p:nvSpPr>
        <p:spPr>
          <a:xfrm>
            <a:off x="939800" y="3819128"/>
            <a:ext cx="5019834" cy="361950"/>
          </a:xfrm>
          <a:prstGeom prst="rect">
            <a:avLst/>
          </a:prstGeom>
          <a:noFill/>
          <a:ln/>
        </p:spPr>
        <p:txBody>
          <a:bodyPr wrap="square" lIns="25400" tIns="25400" rIns="25400" bIns="25400" rtlCol="0" anchor="t">
            <a:normAutofit/>
          </a:bodyPr>
          <a:lstStyle/>
          <a:p>
            <a:pPr algn="l" indent="0" marL="0">
              <a:lnSpc>
                <a:spcPct val="100000"/>
              </a:lnSpc>
              <a:buNone/>
            </a:pPr>
            <a:r>
              <a:rPr lang="en-US" sz="2550" b="1" spc="-76" kern="0" dirty="0">
                <a:solidFill>
                  <a:srgbClr val="10B981"/>
                </a:solidFill>
                <a:latin typeface="Inter" pitchFamily="34" charset="0"/>
                <a:ea typeface="Inter" pitchFamily="34" charset="-122"/>
                <a:cs typeface="Inter" pitchFamily="34" charset="-120"/>
              </a:rPr>
              <a:t>3</a:t>
            </a:r>
            <a:endParaRPr lang="en-US" sz="2550" dirty="0"/>
          </a:p>
        </p:txBody>
      </p:sp>
      <p:sp>
        <p:nvSpPr>
          <p:cNvPr id="19" name="Text 17"/>
          <p:cNvSpPr/>
          <p:nvPr/>
        </p:nvSpPr>
        <p:spPr>
          <a:xfrm>
            <a:off x="939800" y="4238228"/>
            <a:ext cx="5019834" cy="491331"/>
          </a:xfrm>
          <a:prstGeom prst="rect">
            <a:avLst/>
          </a:prstGeom>
          <a:noFill/>
          <a:ln/>
        </p:spPr>
        <p:txBody>
          <a:bodyPr wrap="square" lIns="25400" tIns="25400" rIns="25400" bIns="25400" rtlCol="0" anchor="t">
            <a:normAutofit/>
          </a:bodyPr>
          <a:lstStyle/>
          <a:p>
            <a:pPr algn="l" indent="0" marL="0">
              <a:lnSpc>
                <a:spcPct val="140000"/>
              </a:lnSpc>
              <a:buNone/>
            </a:pPr>
            <a:r>
              <a:rPr lang="en-US" sz="1275" b="1" spc="-6" kern="0" dirty="0">
                <a:solidFill>
                  <a:srgbClr val="1E293B"/>
                </a:solidFill>
                <a:latin typeface="Inter" pitchFamily="34" charset="0"/>
                <a:ea typeface="Inter" pitchFamily="34" charset="-122"/>
                <a:cs typeface="Inter" pitchFamily="34" charset="-120"/>
              </a:rPr>
              <a:t>선택도·데이터 구조·계층 수 </a:t>
            </a:r>
            <a:pPr algn="l" indent="0" marL="0">
              <a:lnSpc>
                <a:spcPct val="140000"/>
              </a:lnSpc>
              <a:buNone/>
            </a:pPr>
            <a:r>
              <a:rPr lang="en-US" sz="1275" b="1" spc="-6" kern="0" dirty="0">
                <a:solidFill>
                  <a:srgbClr val="1E3A5F"/>
                </a:solidFill>
                <a:latin typeface="Inter" pitchFamily="34" charset="0"/>
                <a:ea typeface="Inter" pitchFamily="34" charset="-122"/>
                <a:cs typeface="Inter" pitchFamily="34" charset="-120"/>
              </a:rPr>
              <a:t>모든 조건</a:t>
            </a:r>
            <a:pPr algn="l" indent="0" marL="0">
              <a:lnSpc>
                <a:spcPct val="140000"/>
              </a:lnSpc>
              <a:buNone/>
            </a:pPr>
            <a:r>
              <a:rPr lang="en-US" sz="1275" b="1" spc="-6" kern="0" dirty="0">
                <a:solidFill>
                  <a:srgbClr val="1E293B"/>
                </a:solidFill>
                <a:latin typeface="Inter" pitchFamily="34" charset="0"/>
                <a:ea typeface="Inter" pitchFamily="34" charset="-122"/>
                <a:cs typeface="Inter" pitchFamily="34" charset="-120"/>
              </a:rPr>
              <a:t>에서 일관되게 우월</a:t>
            </a:r>
            <a:endParaRPr lang="en-US" sz="1275" dirty="0"/>
          </a:p>
        </p:txBody>
      </p:sp>
      <p:sp>
        <p:nvSpPr>
          <p:cNvPr id="20" name="Shape 18"/>
          <p:cNvSpPr/>
          <p:nvPr/>
        </p:nvSpPr>
        <p:spPr>
          <a:xfrm>
            <a:off x="939800" y="5302250"/>
            <a:ext cx="1586409" cy="311150"/>
          </a:xfrm>
          <a:prstGeom prst="rect">
            <a:avLst/>
          </a:prstGeom>
          <a:solidFill>
            <a:srgbClr val="E8EEF6"/>
          </a:solidFill>
          <a:ln w="6350">
            <a:solidFill>
              <a:srgbClr val="1E3A5F"/>
            </a:solidFill>
            <a:prstDash val="solid"/>
          </a:ln>
        </p:spPr>
      </p:sp>
      <p:sp>
        <p:nvSpPr>
          <p:cNvPr id="21" name="Text 19"/>
          <p:cNvSpPr/>
          <p:nvPr/>
        </p:nvSpPr>
        <p:spPr>
          <a:xfrm>
            <a:off x="946150" y="5365750"/>
            <a:ext cx="1573709" cy="222250"/>
          </a:xfrm>
          <a:prstGeom prst="rect">
            <a:avLst/>
          </a:prstGeom>
          <a:noFill/>
          <a:ln/>
        </p:spPr>
        <p:txBody>
          <a:bodyPr wrap="square" lIns="25400" tIns="25400" rIns="25400" bIns="25400" rtlCol="0" anchor="t">
            <a:normAutofit/>
          </a:bodyPr>
          <a:lstStyle/>
          <a:p>
            <a:pPr algn="ctr" indent="0" marL="0">
              <a:buNone/>
            </a:pPr>
            <a:r>
              <a:rPr lang="en-US" sz="975" b="1" spc="-4" kern="0" dirty="0">
                <a:solidFill>
                  <a:srgbClr val="1E3A5F"/>
                </a:solidFill>
                <a:latin typeface="Inter" pitchFamily="34" charset="0"/>
                <a:ea typeface="Inter" pitchFamily="34" charset="-122"/>
                <a:cs typeface="Inter" pitchFamily="34" charset="-120"/>
              </a:rPr>
              <a:t>선택도</a:t>
            </a:r>
            <a:endParaRPr lang="en-US" sz="975" dirty="0"/>
          </a:p>
        </p:txBody>
      </p:sp>
      <p:sp>
        <p:nvSpPr>
          <p:cNvPr id="22" name="Shape 20"/>
          <p:cNvSpPr/>
          <p:nvPr/>
        </p:nvSpPr>
        <p:spPr>
          <a:xfrm>
            <a:off x="2583359" y="5302250"/>
            <a:ext cx="1586409" cy="311150"/>
          </a:xfrm>
          <a:prstGeom prst="rect">
            <a:avLst/>
          </a:prstGeom>
          <a:solidFill>
            <a:srgbClr val="E8EEF6"/>
          </a:solidFill>
          <a:ln w="6350">
            <a:solidFill>
              <a:srgbClr val="1E3A5F"/>
            </a:solidFill>
            <a:prstDash val="solid"/>
          </a:ln>
        </p:spPr>
      </p:sp>
      <p:sp>
        <p:nvSpPr>
          <p:cNvPr id="23" name="Text 21"/>
          <p:cNvSpPr/>
          <p:nvPr/>
        </p:nvSpPr>
        <p:spPr>
          <a:xfrm>
            <a:off x="2589709" y="5365750"/>
            <a:ext cx="1573709" cy="222250"/>
          </a:xfrm>
          <a:prstGeom prst="rect">
            <a:avLst/>
          </a:prstGeom>
          <a:noFill/>
          <a:ln/>
        </p:spPr>
        <p:txBody>
          <a:bodyPr wrap="square" lIns="25400" tIns="25400" rIns="25400" bIns="25400" rtlCol="0" anchor="t">
            <a:normAutofit/>
          </a:bodyPr>
          <a:lstStyle/>
          <a:p>
            <a:pPr algn="ctr" indent="0" marL="0">
              <a:buNone/>
            </a:pPr>
            <a:r>
              <a:rPr lang="en-US" sz="975" b="1" spc="-4" kern="0" dirty="0">
                <a:solidFill>
                  <a:srgbClr val="1E3A5F"/>
                </a:solidFill>
                <a:latin typeface="Inter" pitchFamily="34" charset="0"/>
                <a:ea typeface="Inter" pitchFamily="34" charset="-122"/>
                <a:cs typeface="Inter" pitchFamily="34" charset="-120"/>
              </a:rPr>
              <a:t>데이터 구조</a:t>
            </a:r>
            <a:endParaRPr lang="en-US" sz="975" dirty="0"/>
          </a:p>
        </p:txBody>
      </p:sp>
      <p:sp>
        <p:nvSpPr>
          <p:cNvPr id="24" name="Shape 22"/>
          <p:cNvSpPr/>
          <p:nvPr/>
        </p:nvSpPr>
        <p:spPr>
          <a:xfrm>
            <a:off x="4226917" y="5302250"/>
            <a:ext cx="1586409" cy="311150"/>
          </a:xfrm>
          <a:prstGeom prst="rect">
            <a:avLst/>
          </a:prstGeom>
          <a:solidFill>
            <a:srgbClr val="E8EEF6"/>
          </a:solidFill>
          <a:ln w="6350">
            <a:solidFill>
              <a:srgbClr val="1E3A5F"/>
            </a:solidFill>
            <a:prstDash val="solid"/>
          </a:ln>
        </p:spPr>
      </p:sp>
      <p:sp>
        <p:nvSpPr>
          <p:cNvPr id="25" name="Text 23"/>
          <p:cNvSpPr/>
          <p:nvPr/>
        </p:nvSpPr>
        <p:spPr>
          <a:xfrm>
            <a:off x="4233267" y="5365750"/>
            <a:ext cx="1573709" cy="222250"/>
          </a:xfrm>
          <a:prstGeom prst="rect">
            <a:avLst/>
          </a:prstGeom>
          <a:noFill/>
          <a:ln/>
        </p:spPr>
        <p:txBody>
          <a:bodyPr wrap="square" lIns="25400" tIns="25400" rIns="25400" bIns="25400" rtlCol="0" anchor="t">
            <a:normAutofit/>
          </a:bodyPr>
          <a:lstStyle/>
          <a:p>
            <a:pPr algn="ctr" indent="0" marL="0">
              <a:buNone/>
            </a:pPr>
            <a:r>
              <a:rPr lang="en-US" sz="975" b="1" spc="-4" kern="0" dirty="0">
                <a:solidFill>
                  <a:srgbClr val="1E3A5F"/>
                </a:solidFill>
                <a:latin typeface="Inter" pitchFamily="34" charset="0"/>
                <a:ea typeface="Inter" pitchFamily="34" charset="-122"/>
                <a:cs typeface="Inter" pitchFamily="34" charset="-120"/>
              </a:rPr>
              <a:t>계층 수</a:t>
            </a:r>
            <a:endParaRPr lang="en-US" sz="975" dirty="0"/>
          </a:p>
        </p:txBody>
      </p:sp>
      <p:sp>
        <p:nvSpPr>
          <p:cNvPr id="26" name="Shape 24"/>
          <p:cNvSpPr/>
          <p:nvPr/>
        </p:nvSpPr>
        <p:spPr>
          <a:xfrm>
            <a:off x="6162675" y="3622278"/>
            <a:ext cx="5305425" cy="2187972"/>
          </a:xfrm>
          <a:prstGeom prst="rect">
            <a:avLst/>
          </a:prstGeom>
          <a:solidFill>
            <a:srgbClr val="FFFFFF"/>
          </a:solidFill>
          <a:ln w="6350">
            <a:solidFill>
              <a:srgbClr val="E5E7EB"/>
            </a:solidFill>
            <a:prstDash val="solid"/>
          </a:ln>
        </p:spPr>
      </p:sp>
      <p:sp>
        <p:nvSpPr>
          <p:cNvPr id="27" name="Text 25"/>
          <p:cNvSpPr/>
          <p:nvPr/>
        </p:nvSpPr>
        <p:spPr>
          <a:xfrm>
            <a:off x="6378575" y="3819128"/>
            <a:ext cx="5019834" cy="361950"/>
          </a:xfrm>
          <a:prstGeom prst="rect">
            <a:avLst/>
          </a:prstGeom>
          <a:noFill/>
          <a:ln/>
        </p:spPr>
        <p:txBody>
          <a:bodyPr wrap="square" lIns="25400" tIns="25400" rIns="25400" bIns="25400" rtlCol="0" anchor="t">
            <a:normAutofit/>
          </a:bodyPr>
          <a:lstStyle/>
          <a:p>
            <a:pPr algn="l" indent="0" marL="0">
              <a:lnSpc>
                <a:spcPct val="100000"/>
              </a:lnSpc>
              <a:buNone/>
            </a:pPr>
            <a:r>
              <a:rPr lang="en-US" sz="2550" b="1" spc="-76" kern="0" dirty="0">
                <a:solidFill>
                  <a:srgbClr val="10B981"/>
                </a:solidFill>
                <a:latin typeface="Inter" pitchFamily="34" charset="0"/>
                <a:ea typeface="Inter" pitchFamily="34" charset="-122"/>
                <a:cs typeface="Inter" pitchFamily="34" charset="-120"/>
              </a:rPr>
              <a:t>4</a:t>
            </a:r>
            <a:endParaRPr lang="en-US" sz="2550" dirty="0"/>
          </a:p>
        </p:txBody>
      </p:sp>
      <p:sp>
        <p:nvSpPr>
          <p:cNvPr id="28" name="Text 26"/>
          <p:cNvSpPr/>
          <p:nvPr/>
        </p:nvSpPr>
        <p:spPr>
          <a:xfrm>
            <a:off x="6378575" y="4238228"/>
            <a:ext cx="5019834" cy="491331"/>
          </a:xfrm>
          <a:prstGeom prst="rect">
            <a:avLst/>
          </a:prstGeom>
          <a:noFill/>
          <a:ln/>
        </p:spPr>
        <p:txBody>
          <a:bodyPr wrap="square" lIns="25400" tIns="25400" rIns="25400" bIns="25400" rtlCol="0" anchor="t">
            <a:normAutofit/>
          </a:bodyPr>
          <a:lstStyle/>
          <a:p>
            <a:pPr algn="l" indent="0" marL="0">
              <a:lnSpc>
                <a:spcPct val="140000"/>
              </a:lnSpc>
              <a:buNone/>
            </a:pPr>
            <a:r>
              <a:rPr lang="en-US" sz="1275" b="1" spc="-6" kern="0" dirty="0">
                <a:solidFill>
                  <a:srgbClr val="1E293B"/>
                </a:solidFill>
                <a:latin typeface="Inter" pitchFamily="34" charset="0"/>
                <a:ea typeface="Inter" pitchFamily="34" charset="-122"/>
                <a:cs typeface="Inter" pitchFamily="34" charset="-120"/>
              </a:rPr>
              <a:t>데이터 유형에 따라 </a:t>
            </a:r>
            <a:pPr algn="l" indent="0" marL="0">
              <a:lnSpc>
                <a:spcPct val="140000"/>
              </a:lnSpc>
              <a:buNone/>
            </a:pPr>
            <a:r>
              <a:rPr lang="en-US" sz="1275" b="1" spc="-6" kern="0" dirty="0">
                <a:solidFill>
                  <a:srgbClr val="1E3A5F"/>
                </a:solidFill>
                <a:latin typeface="Inter" pitchFamily="34" charset="0"/>
                <a:ea typeface="Inter" pitchFamily="34" charset="-122"/>
                <a:cs typeface="Inter" pitchFamily="34" charset="-120"/>
              </a:rPr>
              <a:t>방법을 자동으로 </a:t>
            </a:r>
            <a:pPr algn="l" indent="0" marL="0">
              <a:lnSpc>
                <a:spcPct val="140000"/>
              </a:lnSpc>
              <a:buNone/>
            </a:pPr>
            <a:r>
              <a:rPr lang="en-US" sz="1275" b="1" spc="-6" kern="0" dirty="0">
                <a:solidFill>
                  <a:srgbClr val="1E293B"/>
                </a:solidFill>
                <a:latin typeface="Inter" pitchFamily="34" charset="0"/>
                <a:ea typeface="Inter" pitchFamily="34" charset="-122"/>
                <a:cs typeface="Inter" pitchFamily="34" charset="-120"/>
              </a:rPr>
              <a:t>고르는 방식을 제안</a:t>
            </a:r>
            <a:endParaRPr lang="en-US" sz="1275" dirty="0"/>
          </a:p>
        </p:txBody>
      </p:sp>
      <p:sp>
        <p:nvSpPr>
          <p:cNvPr id="29" name="Shape 27"/>
          <p:cNvSpPr/>
          <p:nvPr/>
        </p:nvSpPr>
        <p:spPr>
          <a:xfrm>
            <a:off x="7901087" y="5340350"/>
            <a:ext cx="534591" cy="273050"/>
          </a:xfrm>
          <a:prstGeom prst="rect">
            <a:avLst/>
          </a:prstGeom>
          <a:solidFill>
            <a:srgbClr val="E8EEF6"/>
          </a:solidFill>
          <a:ln w="6350">
            <a:solidFill>
              <a:srgbClr val="1E3A5F"/>
            </a:solidFill>
            <a:prstDash val="solid"/>
          </a:ln>
        </p:spPr>
      </p:sp>
      <p:sp>
        <p:nvSpPr>
          <p:cNvPr id="30" name="Text 28"/>
          <p:cNvSpPr/>
          <p:nvPr/>
        </p:nvSpPr>
        <p:spPr>
          <a:xfrm>
            <a:off x="8002687" y="5384800"/>
            <a:ext cx="407591" cy="222250"/>
          </a:xfrm>
          <a:prstGeom prst="rect">
            <a:avLst/>
          </a:prstGeom>
          <a:noFill/>
          <a:ln/>
        </p:spPr>
        <p:txBody>
          <a:bodyPr wrap="square" lIns="25400" tIns="25400" rIns="25400" bIns="25400" rtlCol="0" anchor="t">
            <a:normAutofit/>
          </a:bodyPr>
          <a:lstStyle/>
          <a:p>
            <a:pPr algn="l" indent="0" marL="0">
              <a:buNone/>
            </a:pPr>
            <a:r>
              <a:rPr lang="en-US" sz="975" b="1" dirty="0">
                <a:solidFill>
                  <a:srgbClr val="475569"/>
                </a:solidFill>
                <a:latin typeface="Inter" pitchFamily="34" charset="0"/>
                <a:ea typeface="Inter" pitchFamily="34" charset="-122"/>
                <a:cs typeface="Inter" pitchFamily="34" charset="-120"/>
              </a:rPr>
              <a:t>데이터</a:t>
            </a:r>
            <a:endParaRPr lang="en-US" sz="975" dirty="0"/>
          </a:p>
        </p:txBody>
      </p:sp>
      <p:sp>
        <p:nvSpPr>
          <p:cNvPr id="31" name="Text 29"/>
          <p:cNvSpPr/>
          <p:nvPr/>
        </p:nvSpPr>
        <p:spPr>
          <a:xfrm>
            <a:off x="8492828" y="5384800"/>
            <a:ext cx="184745" cy="222250"/>
          </a:xfrm>
          <a:prstGeom prst="rect">
            <a:avLst/>
          </a:prstGeom>
          <a:noFill/>
          <a:ln/>
        </p:spPr>
        <p:txBody>
          <a:bodyPr wrap="square" lIns="25400" tIns="25400" rIns="25400" bIns="25400" rtlCol="0" anchor="t">
            <a:normAutofit/>
          </a:bodyPr>
          <a:lstStyle/>
          <a:p>
            <a:pPr algn="l" indent="0" marL="0">
              <a:buNone/>
            </a:pPr>
            <a:r>
              <a:rPr lang="en-US" sz="975" b="1" dirty="0">
                <a:solidFill>
                  <a:srgbClr val="64748B"/>
                </a:solidFill>
                <a:latin typeface="Inter" pitchFamily="34" charset="0"/>
                <a:ea typeface="Inter" pitchFamily="34" charset="-122"/>
                <a:cs typeface="Inter" pitchFamily="34" charset="-120"/>
              </a:rPr>
              <a:t>→</a:t>
            </a:r>
            <a:endParaRPr lang="en-US" sz="975" dirty="0"/>
          </a:p>
        </p:txBody>
      </p:sp>
      <p:sp>
        <p:nvSpPr>
          <p:cNvPr id="32" name="Shape 30"/>
          <p:cNvSpPr/>
          <p:nvPr/>
        </p:nvSpPr>
        <p:spPr>
          <a:xfrm>
            <a:off x="8658523" y="5340350"/>
            <a:ext cx="424160" cy="273050"/>
          </a:xfrm>
          <a:prstGeom prst="rect">
            <a:avLst/>
          </a:prstGeom>
          <a:solidFill>
            <a:srgbClr val="E8EEF6"/>
          </a:solidFill>
          <a:ln w="6350">
            <a:solidFill>
              <a:srgbClr val="1E3A5F"/>
            </a:solidFill>
            <a:prstDash val="solid"/>
          </a:ln>
        </p:spPr>
      </p:sp>
      <p:sp>
        <p:nvSpPr>
          <p:cNvPr id="33" name="Text 31"/>
          <p:cNvSpPr/>
          <p:nvPr/>
        </p:nvSpPr>
        <p:spPr>
          <a:xfrm>
            <a:off x="8760123" y="5384800"/>
            <a:ext cx="297160" cy="222250"/>
          </a:xfrm>
          <a:prstGeom prst="rect">
            <a:avLst/>
          </a:prstGeom>
          <a:noFill/>
          <a:ln/>
        </p:spPr>
        <p:txBody>
          <a:bodyPr wrap="square" lIns="25400" tIns="25400" rIns="25400" bIns="25400" rtlCol="0" anchor="t">
            <a:normAutofit/>
          </a:bodyPr>
          <a:lstStyle/>
          <a:p>
            <a:pPr algn="l" indent="0" marL="0">
              <a:buNone/>
            </a:pPr>
            <a:r>
              <a:rPr lang="en-US" sz="975" b="1" dirty="0">
                <a:solidFill>
                  <a:srgbClr val="475569"/>
                </a:solidFill>
                <a:latin typeface="Inter" pitchFamily="34" charset="0"/>
                <a:ea typeface="Inter" pitchFamily="34" charset="-122"/>
                <a:cs typeface="Inter" pitchFamily="34" charset="-120"/>
              </a:rPr>
              <a:t>유형</a:t>
            </a:r>
            <a:endParaRPr lang="en-US" sz="975" dirty="0"/>
          </a:p>
        </p:txBody>
      </p:sp>
      <p:sp>
        <p:nvSpPr>
          <p:cNvPr id="34" name="Text 32"/>
          <p:cNvSpPr/>
          <p:nvPr/>
        </p:nvSpPr>
        <p:spPr>
          <a:xfrm>
            <a:off x="9139833" y="5384800"/>
            <a:ext cx="184745" cy="222250"/>
          </a:xfrm>
          <a:prstGeom prst="rect">
            <a:avLst/>
          </a:prstGeom>
          <a:noFill/>
          <a:ln/>
        </p:spPr>
        <p:txBody>
          <a:bodyPr wrap="square" lIns="25400" tIns="25400" rIns="25400" bIns="25400" rtlCol="0" anchor="t">
            <a:normAutofit/>
          </a:bodyPr>
          <a:lstStyle/>
          <a:p>
            <a:pPr algn="l" indent="0" marL="0">
              <a:buNone/>
            </a:pPr>
            <a:r>
              <a:rPr lang="en-US" sz="975" b="1" dirty="0">
                <a:solidFill>
                  <a:srgbClr val="64748B"/>
                </a:solidFill>
                <a:latin typeface="Inter" pitchFamily="34" charset="0"/>
                <a:ea typeface="Inter" pitchFamily="34" charset="-122"/>
                <a:cs typeface="Inter" pitchFamily="34" charset="-120"/>
              </a:rPr>
              <a:t>→</a:t>
            </a:r>
            <a:endParaRPr lang="en-US" sz="975" dirty="0"/>
          </a:p>
        </p:txBody>
      </p:sp>
      <p:sp>
        <p:nvSpPr>
          <p:cNvPr id="35" name="Shape 33"/>
          <p:cNvSpPr/>
          <p:nvPr/>
        </p:nvSpPr>
        <p:spPr>
          <a:xfrm>
            <a:off x="9305529" y="5340350"/>
            <a:ext cx="424160" cy="273050"/>
          </a:xfrm>
          <a:prstGeom prst="rect">
            <a:avLst/>
          </a:prstGeom>
          <a:solidFill>
            <a:srgbClr val="1E3A5F"/>
          </a:solidFill>
          <a:ln w="6350">
            <a:solidFill>
              <a:srgbClr val="1E3A5F"/>
            </a:solidFill>
            <a:prstDash val="solid"/>
          </a:ln>
        </p:spPr>
      </p:sp>
      <p:sp>
        <p:nvSpPr>
          <p:cNvPr id="36" name="Text 34"/>
          <p:cNvSpPr/>
          <p:nvPr/>
        </p:nvSpPr>
        <p:spPr>
          <a:xfrm>
            <a:off x="9407129" y="5384800"/>
            <a:ext cx="297160" cy="222250"/>
          </a:xfrm>
          <a:prstGeom prst="rect">
            <a:avLst/>
          </a:prstGeom>
          <a:noFill/>
          <a:ln/>
        </p:spPr>
        <p:txBody>
          <a:bodyPr wrap="square" lIns="25400" tIns="25400" rIns="25400" bIns="25400" rtlCol="0" anchor="t">
            <a:normAutofit/>
          </a:bodyPr>
          <a:lstStyle/>
          <a:p>
            <a:pPr algn="l" indent="0" marL="0">
              <a:buNone/>
            </a:pPr>
            <a:r>
              <a:rPr lang="en-US" sz="975" b="1" dirty="0">
                <a:solidFill>
                  <a:srgbClr val="FFFFFF"/>
                </a:solidFill>
                <a:latin typeface="Inter" pitchFamily="34" charset="0"/>
                <a:ea typeface="Inter" pitchFamily="34" charset="-122"/>
                <a:cs typeface="Inter" pitchFamily="34" charset="-120"/>
              </a:rPr>
              <a:t>방법</a:t>
            </a:r>
            <a:endParaRPr lang="en-US" sz="975" dirty="0"/>
          </a:p>
        </p:txBody>
      </p:sp>
      <p:sp>
        <p:nvSpPr>
          <p:cNvPr id="37" name="Shape 35"/>
          <p:cNvSpPr/>
          <p:nvPr/>
        </p:nvSpPr>
        <p:spPr>
          <a:xfrm>
            <a:off x="723900" y="5905500"/>
            <a:ext cx="10744200" cy="457200"/>
          </a:xfrm>
          <a:prstGeom prst="rect">
            <a:avLst/>
          </a:prstGeom>
          <a:solidFill>
            <a:srgbClr val="FAFAFA"/>
          </a:solidFill>
          <a:ln/>
        </p:spPr>
      </p:sp>
      <p:sp>
        <p:nvSpPr>
          <p:cNvPr id="38" name="Shape 36"/>
          <p:cNvSpPr/>
          <p:nvPr/>
        </p:nvSpPr>
        <p:spPr>
          <a:xfrm>
            <a:off x="723900" y="5905500"/>
            <a:ext cx="25400" cy="457200"/>
          </a:xfrm>
          <a:prstGeom prst="rect">
            <a:avLst/>
          </a:prstGeom>
          <a:solidFill>
            <a:srgbClr val="1E3A5F"/>
          </a:solidFill>
          <a:ln/>
        </p:spPr>
      </p:sp>
      <p:sp>
        <p:nvSpPr>
          <p:cNvPr id="39" name="Text 37"/>
          <p:cNvSpPr/>
          <p:nvPr/>
        </p:nvSpPr>
        <p:spPr>
          <a:xfrm>
            <a:off x="958850" y="6019800"/>
            <a:ext cx="10622026" cy="266700"/>
          </a:xfrm>
          <a:prstGeom prst="rect">
            <a:avLst/>
          </a:prstGeom>
          <a:noFill/>
          <a:ln/>
        </p:spPr>
        <p:txBody>
          <a:bodyPr wrap="square" lIns="25400" tIns="25400" rIns="25400" bIns="25400" rtlCol="0" anchor="t">
            <a:normAutofit/>
          </a:bodyPr>
          <a:lstStyle/>
          <a:p>
            <a:pPr algn="l" indent="0" marL="0">
              <a:lnSpc>
                <a:spcPct val="150000"/>
              </a:lnSpc>
              <a:buNone/>
            </a:pPr>
            <a:r>
              <a:rPr lang="en-US" sz="1200" spc="-6" kern="0" dirty="0">
                <a:solidFill>
                  <a:srgbClr val="1E293B"/>
                </a:solidFill>
                <a:highlight>
                  <a:srgbClr val="FAFAFA"/>
                </a:highlight>
                <a:latin typeface="Inter" pitchFamily="34" charset="0"/>
                <a:ea typeface="Inter" pitchFamily="34" charset="-122"/>
                <a:cs typeface="Inter" pitchFamily="34" charset="-120"/>
              </a:rPr>
              <a:t>추정 알고리즘은 그대로 두고, </a:t>
            </a:r>
            <a:pPr algn="l" indent="0" marL="0">
              <a:lnSpc>
                <a:spcPct val="150000"/>
              </a:lnSpc>
              <a:buNone/>
            </a:pPr>
            <a:r>
              <a:rPr lang="en-US" sz="1200" b="1" spc="-6" kern="0" dirty="0">
                <a:solidFill>
                  <a:srgbClr val="1E293B"/>
                </a:solidFill>
                <a:latin typeface="Inter" pitchFamily="34" charset="0"/>
                <a:ea typeface="Inter" pitchFamily="34" charset="-122"/>
                <a:cs typeface="Inter" pitchFamily="34" charset="-120"/>
              </a:rPr>
              <a:t>표본을 뽑는 방식만 바꾸는 것</a:t>
            </a:r>
            <a:pPr algn="l" indent="0" marL="0">
              <a:lnSpc>
                <a:spcPct val="150000"/>
              </a:lnSpc>
              <a:buNone/>
            </a:pPr>
            <a:r>
              <a:rPr lang="en-US" sz="1200" spc="-6" kern="0" dirty="0">
                <a:solidFill>
                  <a:srgbClr val="1E293B"/>
                </a:solidFill>
                <a:highlight>
                  <a:srgbClr val="FAFAFA"/>
                </a:highlight>
                <a:latin typeface="Inter" pitchFamily="34" charset="0"/>
                <a:ea typeface="Inter" pitchFamily="34" charset="-122"/>
                <a:cs typeface="Inter" pitchFamily="34" charset="-120"/>
              </a:rPr>
              <a:t>만으로 추정이 더 정확해진다</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285750"/>
            <a:ext cx="497979" cy="222250"/>
          </a:xfrm>
          <a:prstGeom prst="rect">
            <a:avLst/>
          </a:prstGeom>
          <a:noFill/>
          <a:ln/>
        </p:spPr>
        <p:txBody>
          <a:bodyPr wrap="square" lIns="25400" tIns="25400" rIns="25400" bIns="25400" rtlCol="0" anchor="ctr">
            <a:normAutofit/>
          </a:bodyPr>
          <a:lstStyle/>
          <a:p>
            <a:pPr algn="l" indent="0" marL="0">
              <a:buNone/>
            </a:pPr>
            <a:r>
              <a:rPr lang="en-US" sz="975" b="1" spc="116" kern="0" dirty="0">
                <a:solidFill>
                  <a:srgbClr val="F97316"/>
                </a:solidFill>
                <a:latin typeface="Inter" pitchFamily="34" charset="0"/>
                <a:ea typeface="Inter" pitchFamily="34" charset="-122"/>
                <a:cs typeface="Inter" pitchFamily="34" charset="-120"/>
              </a:rPr>
              <a:t>적용</a:t>
            </a:r>
            <a:endParaRPr lang="en-US" sz="975" dirty="0"/>
          </a:p>
        </p:txBody>
      </p:sp>
      <p:sp>
        <p:nvSpPr>
          <p:cNvPr id="3" name="Text 1"/>
          <p:cNvSpPr/>
          <p:nvPr/>
        </p:nvSpPr>
        <p:spPr>
          <a:xfrm>
            <a:off x="723900" y="533400"/>
            <a:ext cx="10791825" cy="520005"/>
          </a:xfrm>
          <a:prstGeom prst="rect">
            <a:avLst/>
          </a:prstGeom>
          <a:noFill/>
          <a:ln/>
        </p:spPr>
        <p:txBody>
          <a:bodyPr wrap="square" lIns="25400" tIns="25400" rIns="25400" bIns="25400" rtlCol="0" anchor="t">
            <a:normAutofit/>
          </a:bodyPr>
          <a:lstStyle/>
          <a:p>
            <a:pPr algn="l" indent="0" marL="0">
              <a:lnSpc>
                <a:spcPct val="115000"/>
              </a:lnSpc>
              <a:buNone/>
            </a:pPr>
            <a:r>
              <a:rPr lang="en-US" sz="3300" b="1" spc="-82" kern="0" dirty="0">
                <a:solidFill>
                  <a:srgbClr val="1E3A5F"/>
                </a:solidFill>
                <a:latin typeface="Inter" pitchFamily="34" charset="0"/>
                <a:ea typeface="Inter" pitchFamily="34" charset="-122"/>
                <a:cs typeface="Inter" pitchFamily="34" charset="-120"/>
              </a:rPr>
              <a:t>한계와 다음 단계</a:t>
            </a:r>
            <a:endParaRPr lang="en-US" sz="3300" dirty="0"/>
          </a:p>
        </p:txBody>
      </p:sp>
      <p:sp>
        <p:nvSpPr>
          <p:cNvPr id="4" name="Shape 2"/>
          <p:cNvSpPr/>
          <p:nvPr/>
        </p:nvSpPr>
        <p:spPr>
          <a:xfrm>
            <a:off x="723900" y="1148655"/>
            <a:ext cx="381000" cy="28575"/>
          </a:xfrm>
          <a:prstGeom prst="rect">
            <a:avLst/>
          </a:prstGeom>
          <a:solidFill>
            <a:srgbClr val="F97316"/>
          </a:solidFill>
          <a:ln/>
        </p:spPr>
      </p:sp>
      <p:sp>
        <p:nvSpPr>
          <p:cNvPr id="5" name="Shape 3"/>
          <p:cNvSpPr/>
          <p:nvPr/>
        </p:nvSpPr>
        <p:spPr>
          <a:xfrm>
            <a:off x="723900" y="1301055"/>
            <a:ext cx="4994871" cy="4492526"/>
          </a:xfrm>
          <a:prstGeom prst="rect">
            <a:avLst/>
          </a:prstGeom>
          <a:solidFill>
            <a:srgbClr val="FFF1E6"/>
          </a:solidFill>
          <a:ln w="12700">
            <a:solidFill>
              <a:srgbClr val="F97316"/>
            </a:solidFill>
            <a:prstDash val="solid"/>
          </a:ln>
        </p:spPr>
      </p:sp>
      <p:pic>
        <p:nvPicPr>
          <p:cNvPr id="6" name="Image 0" descr="preencoded.png">    </p:cNvPr>
          <p:cNvPicPr>
            <a:picLocks noChangeAspect="1"/>
          </p:cNvPicPr>
          <p:nvPr/>
        </p:nvPicPr>
        <p:blipFill>
          <a:blip r:embed="rId1"/>
          <a:stretch>
            <a:fillRect/>
          </a:stretch>
        </p:blipFill>
        <p:spPr>
          <a:xfrm>
            <a:off x="984250" y="2058392"/>
            <a:ext cx="266700" cy="266700"/>
          </a:xfrm>
          <a:prstGeom prst="rect">
            <a:avLst/>
          </a:prstGeom>
        </p:spPr>
      </p:pic>
      <p:sp>
        <p:nvSpPr>
          <p:cNvPr id="7" name="Text 4"/>
          <p:cNvSpPr/>
          <p:nvPr/>
        </p:nvSpPr>
        <p:spPr>
          <a:xfrm>
            <a:off x="1365250" y="2067917"/>
            <a:ext cx="1300361" cy="285750"/>
          </a:xfrm>
          <a:prstGeom prst="rect">
            <a:avLst/>
          </a:prstGeom>
          <a:noFill/>
          <a:ln/>
        </p:spPr>
        <p:txBody>
          <a:bodyPr wrap="square" lIns="25400" tIns="25400" rIns="25400" bIns="25400" rtlCol="0" anchor="t">
            <a:normAutofit/>
          </a:bodyPr>
          <a:lstStyle/>
          <a:p>
            <a:pPr algn="l" indent="0" marL="0">
              <a:buNone/>
            </a:pPr>
            <a:r>
              <a:rPr lang="en-US" sz="1275" b="1" spc="-6" kern="0" dirty="0">
                <a:solidFill>
                  <a:srgbClr val="F97316"/>
                </a:solidFill>
                <a:latin typeface="Inter" pitchFamily="34" charset="0"/>
                <a:ea typeface="Inter" pitchFamily="34" charset="-122"/>
                <a:cs typeface="Inter" pitchFamily="34" charset="-120"/>
              </a:rPr>
              <a:t>정직하게 남기는 점</a:t>
            </a:r>
            <a:endParaRPr lang="en-US" sz="1275" dirty="0"/>
          </a:p>
        </p:txBody>
      </p:sp>
      <p:sp>
        <p:nvSpPr>
          <p:cNvPr id="8" name="Text 5"/>
          <p:cNvSpPr/>
          <p:nvPr/>
        </p:nvSpPr>
        <p:spPr>
          <a:xfrm>
            <a:off x="984250" y="2458442"/>
            <a:ext cx="4608396" cy="558006"/>
          </a:xfrm>
          <a:prstGeom prst="rect">
            <a:avLst/>
          </a:prstGeom>
          <a:noFill/>
          <a:ln/>
        </p:spPr>
        <p:txBody>
          <a:bodyPr wrap="square" lIns="25400" tIns="25400" rIns="25400" bIns="25400" rtlCol="0" anchor="t">
            <a:normAutofit/>
          </a:bodyPr>
          <a:lstStyle/>
          <a:p>
            <a:pPr algn="l" indent="0" marL="0">
              <a:lnSpc>
                <a:spcPct val="130000"/>
              </a:lnSpc>
              <a:buNone/>
            </a:pPr>
            <a:r>
              <a:rPr lang="en-US" sz="1575" b="1" spc="-24" kern="0" dirty="0">
                <a:solidFill>
                  <a:srgbClr val="1E293B"/>
                </a:solidFill>
                <a:latin typeface="Inter" pitchFamily="34" charset="0"/>
                <a:ea typeface="Inter" pitchFamily="34" charset="-122"/>
                <a:cs typeface="Inter" pitchFamily="34" charset="-120"/>
              </a:rPr>
              <a:t>검증 과정에서 마주한 두 가지 한계</a:t>
            </a:r>
            <a:endParaRPr lang="en-US" sz="1575" dirty="0"/>
          </a:p>
        </p:txBody>
      </p:sp>
      <p:sp>
        <p:nvSpPr>
          <p:cNvPr id="9" name="Shape 6"/>
          <p:cNvSpPr/>
          <p:nvPr/>
        </p:nvSpPr>
        <p:spPr>
          <a:xfrm>
            <a:off x="984250" y="3149798"/>
            <a:ext cx="4474171" cy="876498"/>
          </a:xfrm>
          <a:prstGeom prst="rect">
            <a:avLst/>
          </a:prstGeom>
          <a:solidFill>
            <a:srgbClr val="FFFFFF"/>
          </a:solidFill>
          <a:ln/>
        </p:spPr>
      </p:sp>
      <p:sp>
        <p:nvSpPr>
          <p:cNvPr id="10" name="Shape 7"/>
          <p:cNvSpPr/>
          <p:nvPr/>
        </p:nvSpPr>
        <p:spPr>
          <a:xfrm>
            <a:off x="984250" y="3149798"/>
            <a:ext cx="25400" cy="876498"/>
          </a:xfrm>
          <a:prstGeom prst="rect">
            <a:avLst/>
          </a:prstGeom>
          <a:solidFill>
            <a:srgbClr val="F97316"/>
          </a:solidFill>
          <a:ln/>
        </p:spPr>
      </p:sp>
      <p:sp>
        <p:nvSpPr>
          <p:cNvPr id="11" name="Text 8"/>
          <p:cNvSpPr/>
          <p:nvPr/>
        </p:nvSpPr>
        <p:spPr>
          <a:xfrm>
            <a:off x="1181100" y="3283148"/>
            <a:ext cx="4229046" cy="238323"/>
          </a:xfrm>
          <a:prstGeom prst="rect">
            <a:avLst/>
          </a:prstGeom>
          <a:noFill/>
          <a:ln/>
        </p:spPr>
        <p:txBody>
          <a:bodyPr wrap="square" lIns="25400" tIns="25400" rIns="25400" bIns="25400" rtlCol="0" anchor="t">
            <a:normAutofit/>
          </a:bodyPr>
          <a:lstStyle/>
          <a:p>
            <a:pPr algn="l" indent="0" marL="0">
              <a:lnSpc>
                <a:spcPct val="145000"/>
              </a:lnSpc>
              <a:buNone/>
            </a:pPr>
            <a:r>
              <a:rPr lang="en-US" sz="1088" b="1" spc="-5" kern="0" dirty="0">
                <a:solidFill>
                  <a:srgbClr val="1E293B"/>
                </a:solidFill>
                <a:latin typeface="Inter" pitchFamily="34" charset="0"/>
                <a:ea typeface="Inter" pitchFamily="34" charset="-122"/>
                <a:cs typeface="Inter" pitchFamily="34" charset="-120"/>
              </a:rPr>
              <a:t>비교 기준의 결함을 발견해 바로잡았다</a:t>
            </a:r>
            <a:endParaRPr lang="en-US" sz="1088" dirty="0"/>
          </a:p>
        </p:txBody>
      </p:sp>
      <p:sp>
        <p:nvSpPr>
          <p:cNvPr id="12" name="Text 9"/>
          <p:cNvSpPr/>
          <p:nvPr/>
        </p:nvSpPr>
        <p:spPr>
          <a:xfrm>
            <a:off x="1181100" y="3521472"/>
            <a:ext cx="4229046" cy="409575"/>
          </a:xfrm>
          <a:prstGeom prst="rect">
            <a:avLst/>
          </a:prstGeom>
          <a:noFill/>
          <a:ln/>
        </p:spPr>
        <p:txBody>
          <a:bodyPr wrap="square" lIns="25400" tIns="25400" rIns="25400" bIns="25400" rtlCol="0" anchor="t">
            <a:normAutofit/>
          </a:bodyPr>
          <a:lstStyle/>
          <a:p>
            <a:pPr algn="l" indent="0" marL="0">
              <a:lnSpc>
                <a:spcPct val="150000"/>
              </a:lnSpc>
              <a:buNone/>
            </a:pPr>
            <a:r>
              <a:rPr lang="en-US" sz="975" spc="-5" kern="0" dirty="0">
                <a:solidFill>
                  <a:srgbClr val="475569"/>
                </a:solidFill>
                <a:latin typeface="Inter" pitchFamily="34" charset="0"/>
                <a:ea typeface="Inter" pitchFamily="34" charset="-122"/>
                <a:cs typeface="Inter" pitchFamily="34" charset="-120"/>
              </a:rPr>
              <a:t>검증 중 비교 기준(기존 방식)의 측정에서 작은 결함을 발견해 바로잡았다 — 개선 수치는 더 보수적이지만 더 엄정한 기준 위의 값</a:t>
            </a:r>
            <a:endParaRPr lang="en-US" sz="975" dirty="0"/>
          </a:p>
        </p:txBody>
      </p:sp>
      <p:sp>
        <p:nvSpPr>
          <p:cNvPr id="13" name="Shape 10"/>
          <p:cNvSpPr/>
          <p:nvPr/>
        </p:nvSpPr>
        <p:spPr>
          <a:xfrm>
            <a:off x="984250" y="4159647"/>
            <a:ext cx="4474171" cy="876498"/>
          </a:xfrm>
          <a:prstGeom prst="rect">
            <a:avLst/>
          </a:prstGeom>
          <a:solidFill>
            <a:srgbClr val="FFFFFF"/>
          </a:solidFill>
          <a:ln/>
        </p:spPr>
      </p:sp>
      <p:sp>
        <p:nvSpPr>
          <p:cNvPr id="14" name="Shape 11"/>
          <p:cNvSpPr/>
          <p:nvPr/>
        </p:nvSpPr>
        <p:spPr>
          <a:xfrm>
            <a:off x="984250" y="4159647"/>
            <a:ext cx="25400" cy="876498"/>
          </a:xfrm>
          <a:prstGeom prst="rect">
            <a:avLst/>
          </a:prstGeom>
          <a:solidFill>
            <a:srgbClr val="F97316"/>
          </a:solidFill>
          <a:ln/>
        </p:spPr>
      </p:sp>
      <p:sp>
        <p:nvSpPr>
          <p:cNvPr id="15" name="Text 12"/>
          <p:cNvSpPr/>
          <p:nvPr/>
        </p:nvSpPr>
        <p:spPr>
          <a:xfrm>
            <a:off x="1181100" y="4292997"/>
            <a:ext cx="4229046" cy="238323"/>
          </a:xfrm>
          <a:prstGeom prst="rect">
            <a:avLst/>
          </a:prstGeom>
          <a:noFill/>
          <a:ln/>
        </p:spPr>
        <p:txBody>
          <a:bodyPr wrap="square" lIns="25400" tIns="25400" rIns="25400" bIns="25400" rtlCol="0" anchor="t">
            <a:normAutofit/>
          </a:bodyPr>
          <a:lstStyle/>
          <a:p>
            <a:pPr algn="l" indent="0" marL="0">
              <a:lnSpc>
                <a:spcPct val="145000"/>
              </a:lnSpc>
              <a:buNone/>
            </a:pPr>
            <a:r>
              <a:rPr lang="en-US" sz="1088" b="1" spc="-5" kern="0" dirty="0">
                <a:solidFill>
                  <a:srgbClr val="1E293B"/>
                </a:solidFill>
                <a:latin typeface="Inter" pitchFamily="34" charset="0"/>
                <a:ea typeface="Inter" pitchFamily="34" charset="-122"/>
                <a:cs typeface="Inter" pitchFamily="34" charset="-120"/>
              </a:rPr>
              <a:t>가장 큰 규모 다중 벡터는 일부만 측정</a:t>
            </a:r>
            <a:endParaRPr lang="en-US" sz="1088" dirty="0"/>
          </a:p>
        </p:txBody>
      </p:sp>
      <p:sp>
        <p:nvSpPr>
          <p:cNvPr id="16" name="Text 13"/>
          <p:cNvSpPr/>
          <p:nvPr/>
        </p:nvSpPr>
        <p:spPr>
          <a:xfrm>
            <a:off x="1181100" y="4531321"/>
            <a:ext cx="4229046" cy="409575"/>
          </a:xfrm>
          <a:prstGeom prst="rect">
            <a:avLst/>
          </a:prstGeom>
          <a:noFill/>
          <a:ln/>
        </p:spPr>
        <p:txBody>
          <a:bodyPr wrap="square" lIns="25400" tIns="25400" rIns="25400" bIns="25400" rtlCol="0" anchor="t">
            <a:normAutofit/>
          </a:bodyPr>
          <a:lstStyle/>
          <a:p>
            <a:pPr algn="l" indent="0" marL="0">
              <a:lnSpc>
                <a:spcPct val="150000"/>
              </a:lnSpc>
              <a:buNone/>
            </a:pPr>
            <a:r>
              <a:rPr lang="en-US" sz="975" spc="-5" kern="0" dirty="0">
                <a:solidFill>
                  <a:srgbClr val="475569"/>
                </a:solidFill>
                <a:latin typeface="Inter" pitchFamily="34" charset="0"/>
                <a:ea typeface="Inter" pitchFamily="34" charset="-122"/>
                <a:cs typeface="Inter" pitchFamily="34" charset="-120"/>
              </a:rPr>
              <a:t>가장 큰 규모의 다중 벡터 데이터는 일부 조합만 측정 — 전수 조합은 보고서에서 보강</a:t>
            </a:r>
            <a:endParaRPr lang="en-US" sz="975" dirty="0"/>
          </a:p>
        </p:txBody>
      </p:sp>
      <p:sp>
        <p:nvSpPr>
          <p:cNvPr id="17" name="Shape 14"/>
          <p:cNvSpPr/>
          <p:nvPr/>
        </p:nvSpPr>
        <p:spPr>
          <a:xfrm>
            <a:off x="5947371" y="1301055"/>
            <a:ext cx="5520630" cy="2179538"/>
          </a:xfrm>
          <a:prstGeom prst="rect">
            <a:avLst/>
          </a:prstGeom>
          <a:solidFill>
            <a:srgbClr val="FFFFFF"/>
          </a:solidFill>
          <a:ln w="12700">
            <a:solidFill>
              <a:srgbClr val="1E3A5F"/>
            </a:solidFill>
            <a:prstDash val="solid"/>
          </a:ln>
        </p:spPr>
      </p:sp>
      <p:pic>
        <p:nvPicPr>
          <p:cNvPr id="18" name="Image 1" descr="preencoded.png">    </p:cNvPr>
          <p:cNvPicPr>
            <a:picLocks noChangeAspect="1"/>
          </p:cNvPicPr>
          <p:nvPr/>
        </p:nvPicPr>
        <p:blipFill>
          <a:blip r:embed="rId2"/>
          <a:stretch>
            <a:fillRect/>
          </a:stretch>
        </p:blipFill>
        <p:spPr>
          <a:xfrm>
            <a:off x="6169621" y="1900337"/>
            <a:ext cx="209550" cy="209550"/>
          </a:xfrm>
          <a:prstGeom prst="rect">
            <a:avLst/>
          </a:prstGeom>
        </p:spPr>
      </p:pic>
      <p:sp>
        <p:nvSpPr>
          <p:cNvPr id="19" name="Text 15"/>
          <p:cNvSpPr/>
          <p:nvPr/>
        </p:nvSpPr>
        <p:spPr>
          <a:xfrm>
            <a:off x="6493471" y="1913037"/>
            <a:ext cx="572195" cy="222250"/>
          </a:xfrm>
          <a:prstGeom prst="rect">
            <a:avLst/>
          </a:prstGeom>
          <a:noFill/>
          <a:ln/>
        </p:spPr>
        <p:txBody>
          <a:bodyPr wrap="square" lIns="25400" tIns="25400" rIns="25400" bIns="25400" rtlCol="0" anchor="t">
            <a:normAutofit/>
          </a:bodyPr>
          <a:lstStyle/>
          <a:p>
            <a:pPr algn="l" indent="0" marL="0">
              <a:buNone/>
            </a:pPr>
            <a:r>
              <a:rPr lang="en-US" sz="975" b="1" spc="39" kern="0" dirty="0">
                <a:solidFill>
                  <a:srgbClr val="1E3A5F"/>
                </a:solidFill>
                <a:latin typeface="Inter" pitchFamily="34" charset="0"/>
                <a:ea typeface="Inter" pitchFamily="34" charset="-122"/>
                <a:cs typeface="Inter" pitchFamily="34" charset="-120"/>
              </a:rPr>
              <a:t>산업 적용</a:t>
            </a:r>
            <a:endParaRPr lang="en-US" sz="975" dirty="0"/>
          </a:p>
        </p:txBody>
      </p:sp>
      <p:sp>
        <p:nvSpPr>
          <p:cNvPr id="20" name="Text 16"/>
          <p:cNvSpPr/>
          <p:nvPr/>
        </p:nvSpPr>
        <p:spPr>
          <a:xfrm>
            <a:off x="6169621" y="2186087"/>
            <a:ext cx="5228415" cy="273348"/>
          </a:xfrm>
          <a:prstGeom prst="rect">
            <a:avLst/>
          </a:prstGeom>
          <a:noFill/>
          <a:ln/>
        </p:spPr>
        <p:txBody>
          <a:bodyPr wrap="square" lIns="25400" tIns="25400" rIns="25400" bIns="25400" rtlCol="0" anchor="t">
            <a:normAutofit/>
          </a:bodyPr>
          <a:lstStyle/>
          <a:p>
            <a:pPr algn="l" indent="0" marL="0">
              <a:lnSpc>
                <a:spcPct val="130000"/>
              </a:lnSpc>
              <a:buNone/>
            </a:pPr>
            <a:r>
              <a:rPr lang="en-US" sz="1425" b="1" spc="-14" kern="0" dirty="0">
                <a:solidFill>
                  <a:srgbClr val="1E3A5F"/>
                </a:solidFill>
                <a:latin typeface="Inter" pitchFamily="34" charset="0"/>
                <a:ea typeface="Inter" pitchFamily="34" charset="-122"/>
                <a:cs typeface="Inter" pitchFamily="34" charset="-120"/>
              </a:rPr>
              <a:t>다른 데이터베이스 엔진으로 확장</a:t>
            </a:r>
            <a:endParaRPr lang="en-US" sz="1425" dirty="0"/>
          </a:p>
        </p:txBody>
      </p:sp>
      <p:sp>
        <p:nvSpPr>
          <p:cNvPr id="21" name="Text 17"/>
          <p:cNvSpPr/>
          <p:nvPr/>
        </p:nvSpPr>
        <p:spPr>
          <a:xfrm>
            <a:off x="6169621" y="2497534"/>
            <a:ext cx="5228415" cy="421878"/>
          </a:xfrm>
          <a:prstGeom prst="rect">
            <a:avLst/>
          </a:prstGeom>
          <a:noFill/>
          <a:ln/>
        </p:spPr>
        <p:txBody>
          <a:bodyPr wrap="square" lIns="25400" tIns="25400" rIns="25400" bIns="25400" rtlCol="0" anchor="t">
            <a:normAutofit/>
          </a:bodyPr>
          <a:lstStyle/>
          <a:p>
            <a:pPr algn="l" indent="0" marL="0">
              <a:lnSpc>
                <a:spcPct val="155000"/>
              </a:lnSpc>
              <a:buNone/>
            </a:pPr>
            <a:r>
              <a:rPr lang="en-US" sz="975" spc="-5" kern="0" dirty="0">
                <a:solidFill>
                  <a:srgbClr val="475569"/>
                </a:solidFill>
                <a:latin typeface="Inter" pitchFamily="34" charset="0"/>
                <a:ea typeface="Inter" pitchFamily="34" charset="-122"/>
                <a:cs typeface="Inter" pitchFamily="34" charset="-120"/>
              </a:rPr>
              <a:t>pgvector·DuckDB·PostgreSQL의 데이터와 무관한 33%·100% 고정값 → 데이터 분포 기반 추정으로</a:t>
            </a:r>
            <a:endParaRPr lang="en-US" sz="975" dirty="0"/>
          </a:p>
        </p:txBody>
      </p:sp>
      <p:sp>
        <p:nvSpPr>
          <p:cNvPr id="22" name="Shape 18"/>
          <p:cNvSpPr/>
          <p:nvPr/>
        </p:nvSpPr>
        <p:spPr>
          <a:xfrm>
            <a:off x="5947371" y="3613944"/>
            <a:ext cx="5520630" cy="2179638"/>
          </a:xfrm>
          <a:prstGeom prst="rect">
            <a:avLst/>
          </a:prstGeom>
          <a:solidFill>
            <a:srgbClr val="FFFFFF"/>
          </a:solidFill>
          <a:ln w="12700">
            <a:solidFill>
              <a:srgbClr val="1E3A5F"/>
            </a:solidFill>
            <a:prstDash val="solid"/>
          </a:ln>
        </p:spPr>
      </p:sp>
      <p:sp>
        <p:nvSpPr>
          <p:cNvPr id="23" name="Shape 19"/>
          <p:cNvSpPr/>
          <p:nvPr/>
        </p:nvSpPr>
        <p:spPr>
          <a:xfrm>
            <a:off x="5960071" y="3626644"/>
            <a:ext cx="38100" cy="2154238"/>
          </a:xfrm>
          <a:prstGeom prst="rect">
            <a:avLst/>
          </a:prstGeom>
          <a:solidFill>
            <a:srgbClr val="1E3A5F"/>
          </a:solidFill>
          <a:ln/>
        </p:spPr>
      </p:sp>
      <p:pic>
        <p:nvPicPr>
          <p:cNvPr id="24" name="Image 2" descr="preencoded.png">    </p:cNvPr>
          <p:cNvPicPr>
            <a:picLocks noChangeAspect="1"/>
          </p:cNvPicPr>
          <p:nvPr/>
        </p:nvPicPr>
        <p:blipFill>
          <a:blip r:embed="rId3"/>
          <a:stretch>
            <a:fillRect/>
          </a:stretch>
        </p:blipFill>
        <p:spPr>
          <a:xfrm>
            <a:off x="6169621" y="4309170"/>
            <a:ext cx="209550" cy="209550"/>
          </a:xfrm>
          <a:prstGeom prst="rect">
            <a:avLst/>
          </a:prstGeom>
        </p:spPr>
      </p:pic>
      <p:sp>
        <p:nvSpPr>
          <p:cNvPr id="25" name="Text 20"/>
          <p:cNvSpPr/>
          <p:nvPr/>
        </p:nvSpPr>
        <p:spPr>
          <a:xfrm>
            <a:off x="6493471" y="4321870"/>
            <a:ext cx="572195" cy="222250"/>
          </a:xfrm>
          <a:prstGeom prst="rect">
            <a:avLst/>
          </a:prstGeom>
          <a:noFill/>
          <a:ln/>
        </p:spPr>
        <p:txBody>
          <a:bodyPr wrap="square" lIns="25400" tIns="25400" rIns="25400" bIns="25400" rtlCol="0" anchor="t">
            <a:normAutofit/>
          </a:bodyPr>
          <a:lstStyle/>
          <a:p>
            <a:pPr algn="l" indent="0" marL="0">
              <a:buNone/>
            </a:pPr>
            <a:r>
              <a:rPr lang="en-US" sz="975" b="1" spc="39" kern="0" dirty="0">
                <a:solidFill>
                  <a:srgbClr val="1E3A5F"/>
                </a:solidFill>
                <a:latin typeface="Inter" pitchFamily="34" charset="0"/>
                <a:ea typeface="Inter" pitchFamily="34" charset="-122"/>
                <a:cs typeface="Inter" pitchFamily="34" charset="-120"/>
              </a:rPr>
              <a:t>논문 적용</a:t>
            </a:r>
            <a:endParaRPr lang="en-US" sz="975" dirty="0"/>
          </a:p>
        </p:txBody>
      </p:sp>
      <p:sp>
        <p:nvSpPr>
          <p:cNvPr id="26" name="Text 21"/>
          <p:cNvSpPr/>
          <p:nvPr/>
        </p:nvSpPr>
        <p:spPr>
          <a:xfrm>
            <a:off x="6169621" y="4594920"/>
            <a:ext cx="5228415" cy="273348"/>
          </a:xfrm>
          <a:prstGeom prst="rect">
            <a:avLst/>
          </a:prstGeom>
          <a:noFill/>
          <a:ln/>
        </p:spPr>
        <p:txBody>
          <a:bodyPr wrap="square" lIns="25400" tIns="25400" rIns="25400" bIns="25400" rtlCol="0" anchor="t">
            <a:normAutofit/>
          </a:bodyPr>
          <a:lstStyle/>
          <a:p>
            <a:pPr algn="l" indent="0" marL="0">
              <a:lnSpc>
                <a:spcPct val="130000"/>
              </a:lnSpc>
              <a:buNone/>
            </a:pPr>
            <a:r>
              <a:rPr lang="en-US" sz="1425" b="1" spc="-14" kern="0" dirty="0">
                <a:solidFill>
                  <a:srgbClr val="1E3A5F"/>
                </a:solidFill>
                <a:latin typeface="Inter" pitchFamily="34" charset="0"/>
                <a:ea typeface="Inter" pitchFamily="34" charset="-122"/>
                <a:cs typeface="Inter" pitchFamily="34" charset="-120"/>
              </a:rPr>
              <a:t>Exqutor 논문 프레임워크에 통합</a:t>
            </a:r>
            <a:endParaRPr lang="en-US" sz="1425" dirty="0"/>
          </a:p>
        </p:txBody>
      </p:sp>
      <p:sp>
        <p:nvSpPr>
          <p:cNvPr id="27" name="Text 22"/>
          <p:cNvSpPr/>
          <p:nvPr/>
        </p:nvSpPr>
        <p:spPr>
          <a:xfrm>
            <a:off x="6169621" y="4906367"/>
            <a:ext cx="5228415" cy="229989"/>
          </a:xfrm>
          <a:prstGeom prst="rect">
            <a:avLst/>
          </a:prstGeom>
          <a:noFill/>
          <a:ln/>
        </p:spPr>
        <p:txBody>
          <a:bodyPr wrap="square" lIns="25400" tIns="25400" rIns="25400" bIns="25400" rtlCol="0" anchor="t">
            <a:normAutofit/>
          </a:bodyPr>
          <a:lstStyle/>
          <a:p>
            <a:pPr algn="l" indent="0" marL="0">
              <a:lnSpc>
                <a:spcPct val="155000"/>
              </a:lnSpc>
              <a:buNone/>
            </a:pPr>
            <a:r>
              <a:rPr lang="en-US" sz="975" spc="-5" kern="0" dirty="0">
                <a:solidFill>
                  <a:srgbClr val="475569"/>
                </a:solidFill>
                <a:latin typeface="Inter" pitchFamily="34" charset="0"/>
                <a:ea typeface="Inter" pitchFamily="34" charset="-122"/>
                <a:cs typeface="Inter" pitchFamily="34" charset="-120"/>
              </a:rPr>
              <a:t>논문의 추정 알고리즘 + 우리의 표본 선택 — 별도 논문이 아닌 자연스러운 확장으로</a:t>
            </a:r>
            <a:endParaRPr lang="en-US" sz="975" dirty="0"/>
          </a:p>
        </p:txBody>
      </p:sp>
      <p:sp>
        <p:nvSpPr>
          <p:cNvPr id="28" name="Shape 23"/>
          <p:cNvSpPr/>
          <p:nvPr/>
        </p:nvSpPr>
        <p:spPr>
          <a:xfrm>
            <a:off x="723900" y="5926931"/>
            <a:ext cx="10744200" cy="435769"/>
          </a:xfrm>
          <a:prstGeom prst="rect">
            <a:avLst/>
          </a:prstGeom>
          <a:solidFill>
            <a:srgbClr val="FAFAFA"/>
          </a:solidFill>
          <a:ln/>
        </p:spPr>
      </p:sp>
      <p:sp>
        <p:nvSpPr>
          <p:cNvPr id="29" name="Shape 24"/>
          <p:cNvSpPr/>
          <p:nvPr/>
        </p:nvSpPr>
        <p:spPr>
          <a:xfrm>
            <a:off x="723900" y="5926931"/>
            <a:ext cx="25400" cy="435769"/>
          </a:xfrm>
          <a:prstGeom prst="rect">
            <a:avLst/>
          </a:prstGeom>
          <a:solidFill>
            <a:srgbClr val="1E3A5F"/>
          </a:solidFill>
          <a:ln/>
        </p:spPr>
      </p:sp>
      <p:sp>
        <p:nvSpPr>
          <p:cNvPr id="30" name="Text 25"/>
          <p:cNvSpPr/>
          <p:nvPr/>
        </p:nvSpPr>
        <p:spPr>
          <a:xfrm>
            <a:off x="958850" y="6041231"/>
            <a:ext cx="10622026" cy="245269"/>
          </a:xfrm>
          <a:prstGeom prst="rect">
            <a:avLst/>
          </a:prstGeom>
          <a:noFill/>
          <a:ln/>
        </p:spPr>
        <p:txBody>
          <a:bodyPr wrap="square" lIns="25400" tIns="25400" rIns="25400" bIns="25400" rtlCol="0" anchor="t">
            <a:normAutofit/>
          </a:bodyPr>
          <a:lstStyle/>
          <a:p>
            <a:pPr algn="l" indent="0" marL="0">
              <a:lnSpc>
                <a:spcPct val="150000"/>
              </a:lnSpc>
              <a:buNone/>
            </a:pPr>
            <a:r>
              <a:rPr lang="en-US" sz="1088" spc="-5" kern="0" dirty="0">
                <a:solidFill>
                  <a:srgbClr val="1E293B"/>
                </a:solidFill>
                <a:highlight>
                  <a:srgbClr val="FAFAFA"/>
                </a:highlight>
                <a:latin typeface="Inter" pitchFamily="34" charset="0"/>
                <a:ea typeface="Inter" pitchFamily="34" charset="-122"/>
                <a:cs typeface="Inter" pitchFamily="34" charset="-120"/>
              </a:rPr>
              <a:t>추정 알고리즘은 그대로 두고 표본 선택 단계만 바꾸는 방식이므로, </a:t>
            </a:r>
            <a:pPr algn="l" indent="0" marL="0">
              <a:lnSpc>
                <a:spcPct val="150000"/>
              </a:lnSpc>
              <a:buNone/>
            </a:pPr>
            <a:r>
              <a:rPr lang="en-US" sz="1088" b="1" spc="-5" kern="0" dirty="0">
                <a:solidFill>
                  <a:srgbClr val="1E293B"/>
                </a:solidFill>
                <a:latin typeface="Inter" pitchFamily="34" charset="0"/>
                <a:ea typeface="Inter" pitchFamily="34" charset="-122"/>
                <a:cs typeface="Inter" pitchFamily="34" charset="-120"/>
              </a:rPr>
              <a:t>기존 엔진·기존 논문에 최소 수정으로 적용</a:t>
            </a:r>
            <a:pPr algn="l" indent="0" marL="0">
              <a:lnSpc>
                <a:spcPct val="150000"/>
              </a:lnSpc>
              <a:buNone/>
            </a:pPr>
            <a:r>
              <a:rPr lang="en-US" sz="1088" spc="-5" kern="0" dirty="0">
                <a:solidFill>
                  <a:srgbClr val="1E293B"/>
                </a:solidFill>
                <a:highlight>
                  <a:srgbClr val="FAFAFA"/>
                </a:highlight>
                <a:latin typeface="Inter" pitchFamily="34" charset="0"/>
                <a:ea typeface="Inter" pitchFamily="34" charset="-122"/>
                <a:cs typeface="Inter" pitchFamily="34" charset="-120"/>
              </a:rPr>
              <a:t>할 수 있다</a:t>
            </a:r>
            <a:endParaRPr lang="en-US" sz="1088"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1659930"/>
            <a:ext cx="2286000" cy="38100"/>
          </a:xfrm>
          <a:prstGeom prst="rect">
            <a:avLst/>
          </a:prstGeom>
          <a:solidFill>
            <a:srgbClr val="1E3A5F"/>
          </a:solidFill>
          <a:ln/>
        </p:spPr>
      </p:sp>
      <p:sp>
        <p:nvSpPr>
          <p:cNvPr id="3" name="Text 1"/>
          <p:cNvSpPr/>
          <p:nvPr/>
        </p:nvSpPr>
        <p:spPr>
          <a:xfrm>
            <a:off x="914400" y="2040930"/>
            <a:ext cx="10674096" cy="2141141"/>
          </a:xfrm>
          <a:prstGeom prst="rect">
            <a:avLst/>
          </a:prstGeom>
          <a:noFill/>
          <a:ln/>
        </p:spPr>
        <p:txBody>
          <a:bodyPr wrap="square" lIns="25400" tIns="25400" rIns="25400" bIns="25400" rtlCol="0" anchor="t">
            <a:normAutofit/>
          </a:bodyPr>
          <a:lstStyle/>
          <a:p>
            <a:pPr algn="l" indent="0" marL="0">
              <a:lnSpc>
                <a:spcPct val="92000"/>
              </a:lnSpc>
              <a:buNone/>
            </a:pPr>
            <a:r>
              <a:rPr lang="en-US" sz="18000" b="1" spc="-900" kern="0" dirty="0">
                <a:solidFill>
                  <a:srgbClr val="1E3A5F"/>
                </a:solidFill>
                <a:latin typeface="Inter" pitchFamily="34" charset="0"/>
                <a:ea typeface="Inter" pitchFamily="34" charset="-122"/>
                <a:cs typeface="Inter" pitchFamily="34" charset="-120"/>
              </a:rPr>
              <a:t>감사합니다</a:t>
            </a:r>
            <a:endParaRPr lang="en-US" sz="18000" dirty="0"/>
          </a:p>
        </p:txBody>
      </p:sp>
      <p:sp>
        <p:nvSpPr>
          <p:cNvPr id="4" name="Text 2"/>
          <p:cNvSpPr/>
          <p:nvPr/>
        </p:nvSpPr>
        <p:spPr>
          <a:xfrm>
            <a:off x="914400" y="4601170"/>
            <a:ext cx="10674096" cy="635000"/>
          </a:xfrm>
          <a:prstGeom prst="rect">
            <a:avLst/>
          </a:prstGeom>
          <a:noFill/>
          <a:ln/>
        </p:spPr>
        <p:txBody>
          <a:bodyPr wrap="square" lIns="25400" tIns="25400" rIns="25400" bIns="25400" rtlCol="0" anchor="t">
            <a:normAutofit/>
          </a:bodyPr>
          <a:lstStyle/>
          <a:p>
            <a:pPr algn="l" indent="0" marL="0">
              <a:buNone/>
            </a:pPr>
            <a:r>
              <a:rPr lang="en-US" sz="3150" spc="-63" kern="0" dirty="0">
                <a:solidFill>
                  <a:srgbClr val="475569"/>
                </a:solidFill>
                <a:latin typeface="Inter" pitchFamily="34" charset="0"/>
                <a:ea typeface="Inter" pitchFamily="34" charset="-122"/>
                <a:cs typeface="Inter" pitchFamily="34" charset="-120"/>
              </a:rPr>
              <a:t>질의응답</a:t>
            </a:r>
            <a:endParaRPr lang="en-US" sz="3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2026-05-20T04:00:06Z</dcterms:created>
  <dcterms:modified xsi:type="dcterms:W3CDTF">2026-05-20T04:00:06Z</dcterms:modified>
</cp:coreProperties>
</file>
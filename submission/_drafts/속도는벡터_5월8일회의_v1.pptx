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 spc="162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169164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 spc="-132">
                <a:solidFill>
                  <a:srgbClr val="0B0F1C"/>
                </a:solidFill>
                <a:latin typeface="Pretendard"/>
                <a:ea typeface="Pretendard"/>
              </a:rPr>
              <a:t>Skew-Aware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24688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 spc="-132">
                <a:solidFill>
                  <a:srgbClr val="0B0F1C"/>
                </a:solidFill>
                <a:latin typeface="Pretendard"/>
                <a:ea typeface="Pretendard"/>
              </a:rPr>
              <a:t>Stratified Sampling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324612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 spc="-132">
                <a:solidFill>
                  <a:srgbClr val="1B3DAD"/>
                </a:solidFill>
                <a:latin typeface="Pretendard"/>
                <a:ea typeface="Pretendard"/>
              </a:rPr>
              <a:t>Vector-Augmented</a:t>
            </a:r>
            <a:r>
              <a:rPr sz="4400" b="1" i="0" spc="-132">
                <a:solidFill>
                  <a:srgbClr val="0B0F1C"/>
                </a:solidFill>
                <a:latin typeface="Pretendard"/>
                <a:ea typeface="Pretendard"/>
              </a:rPr>
              <a:t> Analytical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41605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4B5470"/>
                </a:solidFill>
                <a:latin typeface="Pretendard"/>
                <a:ea typeface="Pretendard"/>
              </a:rPr>
              <a:t>중간 측정 결과 종합 — </a:t>
            </a:r>
            <a:r>
              <a:rPr sz="1300" b="1" i="0">
                <a:solidFill>
                  <a:srgbClr val="1B3DAD"/>
                </a:solidFill>
                <a:latin typeface="Pretendard"/>
                <a:ea typeface="Pretendard"/>
              </a:rPr>
              <a:t>15 cell partial measurement</a:t>
            </a:r>
            <a:r>
              <a:rPr sz="1300" b="0" i="0">
                <a:solidFill>
                  <a:srgbClr val="4B5470"/>
                </a:solidFill>
                <a:latin typeface="Pretendard"/>
                <a:ea typeface="Pretendard"/>
              </a:rPr>
              <a:t> · 5/8 비대면 회의 자료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1695" y="5184648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1695" y="5349240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" y="55869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B0F1C"/>
                </a:solidFill>
                <a:latin typeface="Pretendard"/>
                <a:ea typeface="Pretendard"/>
              </a:rPr>
              <a:t>속도는벡터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586130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4B5470"/>
                </a:solidFill>
                <a:latin typeface="JetBrains Mono"/>
                <a:ea typeface="JetBrains Mono"/>
              </a:rPr>
              <a:t>박세은 · 강재현 · 조현빈 · 이동욱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4895" y="5349240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4895" y="55869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B0F1C"/>
                </a:solidFill>
                <a:latin typeface="Pretendard"/>
                <a:ea typeface="Pretendard"/>
              </a:rPr>
              <a:t>박광현 교수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4895" y="586130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4B5470"/>
                </a:solidFill>
                <a:latin typeface="JetBrains Mono"/>
                <a:ea typeface="JetBrains Mono"/>
              </a:rPr>
              <a:t>BDAI Research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095" y="5349240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095" y="55869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B0F1C"/>
                </a:solidFill>
                <a:latin typeface="JetBrains Mono"/>
                <a:ea typeface="JetBrains Mono"/>
              </a:rPr>
              <a:t>arXiv:2512.09695v2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095" y="586130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4B5470"/>
                </a:solidFill>
                <a:latin typeface="JetBrains Mono"/>
                <a:ea typeface="JetBrains Mono"/>
              </a:rPr>
              <a:t>Exqutor (BDAI)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295" y="5349240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55869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B0F1C"/>
                </a:solidFill>
                <a:latin typeface="Inter"/>
                <a:ea typeface="Inter"/>
              </a:rPr>
              <a:t>2026.05.08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1295" y="586130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4B5470"/>
                </a:solidFill>
                <a:latin typeface="JetBrains Mono"/>
                <a:ea typeface="JetBrains Mono"/>
              </a:rPr>
              <a:t>회의 자료 (중간 측정)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832104"/>
            <a:ext cx="8458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오늘의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1289304"/>
            <a:ext cx="8458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TABLE OF CONTENTS · 10 SECTIONS · 14 SLIDES · 회의 자료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1695" y="164592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1695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3719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3719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719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Exqutor 위치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37967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29991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9991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Prior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9991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ECQO + Adaptive Sampling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4239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6263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6263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263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분포 인지 stratification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511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82535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2535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RQ1 · Diagnostic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2535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selectivity gradient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6783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58807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8807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RQ2 ·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807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KM20 oracle + Anti-Neyman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1695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719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RQ3 · Agnostic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19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25 method tier elim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37967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29991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9991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측정 매트릭스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29991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10 cell heatmap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14239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06263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6263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Sweet Spot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6263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SIFT skew → −32%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0511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82535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2535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Multi-relation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82535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multi-vector + natural join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6783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58807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58807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Future 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58807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sf100 + 자문 메일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본 연구의 위치 — Exqutor 가 미해결한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PROBLEM · ADAPTIVE SAMPLING 의 전 단계 분배 전략 정량화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3200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" y="1911096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EXQUTOR 매트릭스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26287" y="2286000"/>
          <a:ext cx="48463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9164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/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인덱스 ✓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인덱스 ✗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multi-table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ECQO · range query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Adaptive Sampling 영역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single-table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ECQO 부분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Adaptive Sampling · momentum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26287" y="4160520"/>
            <a:ext cx="48828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Exqutor 본 논문 (BDAI-Research) 의 핵심 contribution 영역 — multi-table + indexed 영역에 집중.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1783080"/>
            <a:ext cx="52120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본 연구의 공략점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단일 + 비인덱스 영역의
분배 전략 (KM20 vs BERN) 가치 정량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Exqutor Adaptive Sampling 의 </a:t>
            </a:r>
            <a:r>
              <a:rPr sz="1000" b="1" i="0">
                <a:solidFill>
                  <a:srgbClr val="1A2238"/>
                </a:solidFill>
                <a:latin typeface="Pretendard"/>
                <a:ea typeface="Pretendard"/>
              </a:rPr>
              <a:t>전 단계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sample 분배 전략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proportional vs Neyman vs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distribution-aware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분포 모를 때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production-ready 4강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도출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중간 측정 결과 = 단일 정확성의 필요조건 입증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2375" y="3749040"/>
            <a:ext cx="2537460" cy="1234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DATASET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5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DEEP·SIFT·SSN++·WIKI·YFCC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6995" y="3749040"/>
            <a:ext cx="2537460" cy="1234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CELL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13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10 단일 100% + 3 multi 부록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선행 연구 — Exqutor: ECQO + Adaptive 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PRIOR WORK · arXiv:2512.09695v2 · BDAI Research Lab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ECQO — INDEXED RANGE QUERY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HNSW range query 1~2 ms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인덱스 + multi-table 영역 정량 처리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pgvector 33.3% / VBASE 50% / DuckDB 100% 의 고정 비율 한계 극복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본 논문 contribution 의 정량 핵심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ADAPTIVE SAMPLING — UNINDEXED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momentum 기반 동적 sample size 1.2~3.2× speedup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인덱스 없는 단일 테이블 영역 처리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sample 분배 전략은 </a:t>
            </a:r>
            <a:r>
              <a:rPr sz="1000" b="1" i="0">
                <a:solidFill>
                  <a:srgbClr val="E03A3A"/>
                </a:solidFill>
                <a:latin typeface="Pretendard"/>
                <a:ea typeface="Pretendard"/>
              </a:rPr>
              <a:t>정량 분석 대상이 아님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본 연구가 </a:t>
            </a:r>
            <a:r>
              <a:rPr sz="1000" b="1" i="0">
                <a:solidFill>
                  <a:srgbClr val="1A2238"/>
                </a:solidFill>
                <a:latin typeface="Pretendard"/>
                <a:ea typeface="Pretendard"/>
              </a:rPr>
              <a:t>이 단계의 가치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를 정량화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695" y="4160520"/>
            <a:ext cx="10668305" cy="1691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본 연구의 보완 위치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Exqutor 의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Adaptive Sampling 모듈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이 momentum 으로 sample size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크기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를 조정하는 단계의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전 단계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, 즉 sample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분배 전략 (proportional vs Neyman vs distribution-aware)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의 가치를 정량 입증한다. 중간 측정 결과 = 5 dataset × 2 scale = 10 단일 cell + 3 multi cell 의 </a:t>
            </a:r>
            <a:r>
              <a:rPr sz="1100" b="1" i="0">
                <a:solidFill>
                  <a:srgbClr val="1B3DAD"/>
                </a:solidFill>
                <a:latin typeface="Pretendard"/>
                <a:ea typeface="Pretendard"/>
              </a:rPr>
              <a:t>15 cell partial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측정으로, sf100 (80M) 은 5/8 회의 후 자문 합의 결과 반영하여 별도 측정.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Approach — 분포 인지 stratification + 4강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APPROACH · KM20 ORACLE + DISTRIBUTION-AGNOSTIC 4 WINNERS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743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RQ2 · DISTRIBUTION-AWARE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KM20 oracle stratification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full K-means K=20 학습 → cluster ID 로 stratum 분배.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sample size 100/385/1000/3000 모두 BERN 우월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Proportional (default) vs Neyman vs Anti-Neyman ablation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K-aware: K∈{10,20,50,100,200} sweep · K_optimal per dataset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σ_i 신호 약함 honest 입증 (Wilcoxon p&gt;0.5, d&lt;0.1)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1783080"/>
            <a:ext cx="5212080" cy="2743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RQ3 · DISTRIBUTION-AGNOSTIC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30 method → 4강 (Tier 1 = 17, Tier 2 = 2)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30 method × 10 cell × 5 sel = 1500 measurement, 단일 100% finalize.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Tier 1 = 17 (-8.04~-6.78), Wave 0 = 3, Pruned = 7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Hilbert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— learning-free + 결정론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MiniBatch_partial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— OLTP partial_fit, ARI 1.000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Hybrid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— KMeans + Hilbert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HDBSCAN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— density-based skew 가치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695" y="4709160"/>
            <a:ext cx="3434181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METHOD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33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17 base + 11 NEW + 5 Wave1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8756" y="4709160"/>
            <a:ext cx="3434181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TIER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33→4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33 → 28 → 12 →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5818" y="4709160"/>
            <a:ext cx="3434181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FINAL WINNER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4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Hilbert·Hybrid·MiniBatch_partial·HDBSCAN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RQ1 · Diagnostic — Selectivity Gradient 단조성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PER-SEED SPEARMAN ρ + PAIRED BOOTSTRAP 95% CI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CLAIM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BERN 부정확성은
selectivity 가 작을수록 단조 증가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per-seed Spearman ρ + 95% CI (paired bootstrap, B=2000). 5 dataset × sf1/sf10 = 10 cell 부호 일관성 입증.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1695" y="3337560"/>
          <a:ext cx="52120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60"/>
                <a:gridCol w="1280160"/>
                <a:gridCol w="10972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Dataset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sf1 ρ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sf10 ρ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일관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DEEP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−0.584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−0.596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−0.366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−0.471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−0.599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−0.609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−0.440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−0.576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−0.527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−0.589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1695" y="5303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10 cell 100% 부호 일관 (ρ &lt; 0) · ρ ∈ [−0.609, −0.366] · 단일 100% 측정 완료</a:t>
            </a:r>
          </a:p>
        </p:txBody>
      </p:sp>
      <p:pic>
        <p:nvPicPr>
          <p:cNvPr id="14" name="Picture 13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5623560"/>
            <a:ext cx="521208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61695" y="5623560"/>
            <a:ext cx="5212080" cy="141732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" y="533095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FOREST PLOT — Spearman ρ + 95% 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2375" y="1783080"/>
            <a:ext cx="5212080" cy="1188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METRIC DEFINITION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Selectivity Gradient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g(s) = relative error 의 selectivity 도함수 부호. 단조 감소 (ρ &lt; 0) 시 BERN 은 좁은 sel 에서 점점 더 부정확.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2375" y="3108960"/>
            <a:ext cx="5212080" cy="1371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중간 측정 결과 (5/8 AM)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5/5 부호 일관 → "BERN 부정확성 단조성" 일반화 입증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4/5 부호 일관 → honest 별도 보고 + dataset 별 caveat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numpy estimator (Phase 7) 빠른 반복 환경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2375" y="4617720"/>
            <a:ext cx="5212080" cy="1188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2-LEVEL DECOMPOSITION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상위: cell-level error (block vs row). 하위: stratum-level variance contribution. 단조성은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상위 수준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의 BERN 한계 진단.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RQ2 · Aware — KM20 oracle + Anti-Neyman + K-aware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SAMPLE-SIZE ROBUSTNESS · σ_i SIGNAL HONESTY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" y="189280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KM20 ORACLE — SAMPLE-SIZE ROBUSTNESS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44575" y="2286000"/>
          <a:ext cx="4572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155448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Sample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DEEP sf10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SIFT sf10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n=100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−1.42%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−9.22%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n=385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−1.76%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−10.47%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n=1000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−1.81%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−10.20%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n=3000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−1.79%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−10.18%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61695" y="3931920"/>
            <a:ext cx="521208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" y="404164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ANTI-NEYMAN ABLATION (s=0.01)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44575" y="4434840"/>
          <a:ext cx="45720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Dataset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Anti-Neyman effect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DEEP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+10.85%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+8.95%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+16.45%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+19.47%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+9.69%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02375" y="1783080"/>
            <a:ext cx="5212080" cy="2331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3543" y="18928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K-AWARE — K_OPTIMAL PER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3543" y="214884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K∈{10, 20, 50, 100, 200} sweep · 저차원 → K=20, 고차원 (256~768d) → K=50/100. K=20 default robustness 정량.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3543" y="2697480"/>
          <a:ext cx="48463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237744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Dataset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dim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K_opt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DEEP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96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K=20 default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128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K=20 default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192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K=20 default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256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K=50 (보강)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768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K=50 (보강)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202375" y="4251960"/>
            <a:ext cx="5212080" cy="1691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σ_i SIGNAL HONESTY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paired Wilcoxon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p &gt; 0.5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, Cohen's d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&lt; 0.1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. σ_i 신호의 </a:t>
            </a:r>
            <a:r>
              <a:rPr sz="1100" b="1" i="0">
                <a:solidFill>
                  <a:srgbClr val="1B3DAD"/>
                </a:solidFill>
                <a:latin typeface="Pretendard"/>
                <a:ea typeface="Pretendard"/>
              </a:rPr>
              <a:t>비결정적 가치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명시. Anti-Neyman 은 negative control narrative 으로 사용.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RQ3 · Agnostic — 33 → 16 살아남기 → 4강 → production-friendly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Tier 1 spread 1.24%p · METHOD CHOICE 보다 분포 인지가 결정적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1691640"/>
            <a:ext cx="10668305" cy="1325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1695" y="1691640"/>
            <a:ext cx="10668305" cy="132588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" y="1399032"/>
            <a:ext cx="1066830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TIER ELIMINATION FUNNEL · 33 → 16 살아남기 → 4강 → production-friendly 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1695" y="3154680"/>
          <a:ext cx="9784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91840"/>
                <a:gridCol w="4937760"/>
                <a:gridCol w="6400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Tier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기준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잔존 method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N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Wave 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variance explosion outlier (paired Δ% &gt;100%)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dbscan · lsh · random_proj (즉시 제외)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Tier 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avg_Δ% ≥ -5.6 · neg ≥ 7/9 · CI excludes 0 ≥ 7/9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hdbscan·pca_kmeans·coresets·zorder·kmeans_pp·minibatch·minibatch_partial·gmm·hilbert·pca1d·agglomerative·hybrid·hierarchical_kmeans·sparse_rp·kdtree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Tier 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boundary (Tier 1 미달, neg 6/9)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birch (avg -5.51)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Tier 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Wave 1 partial 5 cell SURVIVE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reservoir (WIKI sf1 -8.30% partial)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Pruned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magnitude&lt;3% OR sign 불일관 OR CI 약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pq · halton · hammersley · spectral · sobol · optics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★ 4강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production criteria (1위×cost×interpretability)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★1 hdbscan · ★2 hilbert · ★3 minibatch_partial · ★4 hybrid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61695" y="5120640"/>
            <a:ext cx="2564206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★1 HDBSCAN</a:t>
            </a:r>
          </a:p>
          <a:p>
            <a:pPr>
              <a:spcBef>
                <a:spcPts val="500"/>
              </a:spcBef>
            </a:pPr>
            <a:r>
              <a:rPr sz="1200" b="1" i="0" spc="-36">
                <a:solidFill>
                  <a:srgbClr val="0B0F1C"/>
                </a:solidFill>
                <a:latin typeface="Pretendard"/>
                <a:ea typeface="Pretendard"/>
              </a:rPr>
              <a:t>Strongest narrative</a:t>
            </a:r>
          </a:p>
          <a:p>
            <a:pPr>
              <a:spcBef>
                <a:spcPts val="500"/>
              </a:spcBef>
            </a:pPr>
            <a:r>
              <a:rPr sz="900" b="0" i="0">
                <a:solidFill>
                  <a:srgbClr val="1A2238"/>
                </a:solidFill>
                <a:latin typeface="Pretendard"/>
                <a:ea typeface="Pretendard"/>
              </a:rPr>
              <a:t>avg -8.04 · SIFT 1위 -34.17% · oracle 영역 (4313s, prod 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3061" y="5120640"/>
            <a:ext cx="2564206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★2 MINIBATCH_PARTIAL</a:t>
            </a:r>
          </a:p>
          <a:p>
            <a:pPr>
              <a:spcBef>
                <a:spcPts val="500"/>
              </a:spcBef>
            </a:pPr>
            <a:r>
              <a:rPr sz="1200" b="1" i="0" spc="-36">
                <a:solidFill>
                  <a:srgbClr val="0B0F1C"/>
                </a:solidFill>
                <a:latin typeface="Pretendard"/>
                <a:ea typeface="Pretendard"/>
              </a:rPr>
              <a:t>OLTP narrative 유일</a:t>
            </a:r>
          </a:p>
          <a:p>
            <a:pPr>
              <a:spcBef>
                <a:spcPts val="500"/>
              </a:spcBef>
            </a:pPr>
            <a:r>
              <a:rPr sz="900" b="0" i="0">
                <a:solidFill>
                  <a:srgbClr val="1A2238"/>
                </a:solidFill>
                <a:latin typeface="Pretendard"/>
                <a:ea typeface="Pretendard"/>
              </a:rPr>
              <a:t>avg -7.63 · CI 9/10 강력 · online partial_fit · stream 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5120640"/>
            <a:ext cx="2564206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★3 HILBERT</a:t>
            </a:r>
          </a:p>
          <a:p>
            <a:pPr>
              <a:spcBef>
                <a:spcPts val="500"/>
              </a:spcBef>
            </a:pPr>
            <a:r>
              <a:rPr sz="1200" b="1" i="0" spc="-36">
                <a:solidFill>
                  <a:srgbClr val="0B0F1C"/>
                </a:solidFill>
                <a:latin typeface="Pretendard"/>
                <a:ea typeface="Pretendard"/>
              </a:rPr>
              <a:t>Production sweet spot</a:t>
            </a:r>
          </a:p>
          <a:p>
            <a:pPr>
              <a:spcBef>
                <a:spcPts val="500"/>
              </a:spcBef>
            </a:pPr>
            <a:r>
              <a:rPr sz="900" b="0" i="0">
                <a:solidFill>
                  <a:srgbClr val="1A2238"/>
                </a:solidFill>
                <a:latin typeface="Pretendard"/>
                <a:ea typeface="Pretendard"/>
              </a:rPr>
              <a:t>avg -7.54 · 수 초 fit · SIFT -33.53% · CI 9/10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5793" y="5120640"/>
            <a:ext cx="2564206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★4 HYBRID (MB+Hilbert)</a:t>
            </a:r>
          </a:p>
          <a:p>
            <a:pPr>
              <a:spcBef>
                <a:spcPts val="500"/>
              </a:spcBef>
            </a:pPr>
            <a:r>
              <a:rPr sz="1200" b="1" i="0" spc="-36">
                <a:solidFill>
                  <a:srgbClr val="0B0F1C"/>
                </a:solidFill>
                <a:latin typeface="Pretendard"/>
                <a:ea typeface="Pretendard"/>
              </a:rPr>
              <a:t>Mechanism ablation</a:t>
            </a:r>
          </a:p>
          <a:p>
            <a:pPr>
              <a:spcBef>
                <a:spcPts val="500"/>
              </a:spcBef>
            </a:pPr>
            <a:r>
              <a:rPr sz="900" b="0" i="0">
                <a:solidFill>
                  <a:srgbClr val="1A2238"/>
                </a:solidFill>
                <a:latin typeface="Pretendard"/>
                <a:ea typeface="Pretendard"/>
              </a:rPr>
              <a:t>avg -7.13 · clustering vs ordering driver 분리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W4 Matrix — ★1 hdbscan · ★2 mb_partial · ★3 hilbert · ★4 hybrid × 10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PAIRED Δ% vs BERN @ sel=0.10 · 단일 100% finalize 5/8 14:13 · 4강 production criteria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1695" y="178308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25880"/>
                <a:gridCol w="1325880"/>
                <a:gridCol w="1325880"/>
                <a:gridCol w="13258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Cell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Hilbert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Hybrid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MiniBatch_p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HDBSCAN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DEEP_sf1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−1.07%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−1.71%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−1.99%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−2.48%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DEEP_sf10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−1.98%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−2.73%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−2.87%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−2.51%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SIFT_sf1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−33.53%</a:t>
                      </a:r>
                    </a:p>
                  </a:txBody>
                  <a:tcPr marL="54864" marR="54864" marT="36576" marB="36576">
                    <a:solidFill>
                      <a:srgbClr val="1F5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−30.46%</a:t>
                      </a:r>
                    </a:p>
                  </a:txBody>
                  <a:tcPr marL="54864" marR="54864" marT="36576" marB="36576">
                    <a:solidFill>
                      <a:srgbClr val="1F5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−33.13%</a:t>
                      </a:r>
                    </a:p>
                  </a:txBody>
                  <a:tcPr marL="54864" marR="54864" marT="36576" marB="36576">
                    <a:solidFill>
                      <a:srgbClr val="1F5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−34.17%</a:t>
                      </a:r>
                    </a:p>
                  </a:txBody>
                  <a:tcPr marL="54864" marR="54864" marT="36576" marB="36576">
                    <a:solidFill>
                      <a:srgbClr val="1F5B3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SIFT_sf10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−12.02%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−11.48%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−11.63%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−11.79%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SSN_sf1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+1.69%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+0.64%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+1.02%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+0.84%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SSN_sf10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+1.38%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+0.56%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+1.35%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+0.67%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WIKI_sf1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−10.92%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−8.99%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−11.30%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−11.29%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WIKI_sf10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−5.70%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−5.43%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−3.77%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−5.54%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YFCC_sf1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−8.07%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−6.98%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−8.37%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−8.40%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YFCC_sf10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−5.21%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−4.78%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−5.62%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−5.77%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1695" y="523951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MAIN 10 cell (5 dataset × sf1/sf10) · 단일 100% 측정 완료 5/8 14:13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783080"/>
            <a:ext cx="3657600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892808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HEATMAP LEGEND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2286000"/>
            <a:ext cx="1097280" cy="292608"/>
          </a:xfrm>
          <a:prstGeom prst="rect">
            <a:avLst/>
          </a:prstGeom>
          <a:solidFill>
            <a:srgbClr val="1F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JetBrains Mono"/>
                <a:ea typeface="JetBrains Mono"/>
              </a:rPr>
              <a:t>≤ −25%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25712" y="2286000"/>
            <a:ext cx="1097280" cy="292608"/>
          </a:xfrm>
          <a:prstGeom prst="rect">
            <a:avLst/>
          </a:prstGeom>
          <a:solidFill>
            <a:srgbClr val="2F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JetBrains Mono"/>
                <a:ea typeface="JetBrains Mono"/>
              </a:rPr>
              <a:t>−8 ~ −25%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68712" y="2286000"/>
            <a:ext cx="1097280" cy="292608"/>
          </a:xfrm>
          <a:prstGeom prst="rect">
            <a:avLst/>
          </a:prstGeom>
          <a:solidFill>
            <a:srgbClr val="F7D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5E4500"/>
                </a:solidFill>
                <a:latin typeface="JetBrains Mono"/>
                <a:ea typeface="JetBrains Mono"/>
              </a:rPr>
              <a:t>−3 ~ −8%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2712" y="2651760"/>
            <a:ext cx="1097280" cy="292608"/>
          </a:xfrm>
          <a:prstGeom prst="rect">
            <a:avLst/>
          </a:prstGeom>
          <a:solidFill>
            <a:srgbClr val="FFE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6E4D00"/>
                </a:solidFill>
                <a:latin typeface="JetBrains Mono"/>
                <a:ea typeface="JetBrains Mono"/>
              </a:rPr>
              <a:t>0 ~ −3%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2651760"/>
            <a:ext cx="1097280" cy="292608"/>
          </a:xfrm>
          <a:prstGeom prst="rect">
            <a:avLst/>
          </a:prstGeom>
          <a:solidFill>
            <a:srgbClr val="F4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5C1F0E"/>
                </a:solidFill>
                <a:latin typeface="JetBrains Mono"/>
                <a:ea typeface="JetBrains Mono"/>
              </a:rPr>
              <a:t>0 ~ +5%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68712" y="2651760"/>
            <a:ext cx="1097280" cy="292608"/>
          </a:xfrm>
          <a:prstGeom prst="rect">
            <a:avLst/>
          </a:prstGeom>
          <a:solidFill>
            <a:srgbClr val="D96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JetBrains Mono"/>
                <a:ea typeface="JetBrains Mono"/>
              </a:rPr>
              <a:t>&gt; +5%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200400"/>
            <a:ext cx="365760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4강 결정 + CROSS-SCALE 일관성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★1 hdbscan -8.04 · SIFT 1위 -34.17% (oracle)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★2 mb_partial -7.63 · CI 9/10 · OLTP 유일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★3 hilbert -7.54 · 수 초 fit · CI 9/10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★4 hybrid -7.13 · MB+Hilbert ablation 분리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Tier 1 spread 1.21%p · 분포 인지 boundary 결정적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5/5 dataset sf1 ↔ sf10 부호 동일 · 단일 100% finalize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3200400"/>
            <a:ext cx="365760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Distribution Sweet Spot — Skew → 큰 효과, Balanced → 미세 hurt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CLUSTER RATIO ↑ → EFFECT MAGNITUDE ↑ · HONEST REPORT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1695" y="178308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554480"/>
                <a:gridCol w="1920240"/>
                <a:gridCol w="12344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Cell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Cluster ratio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Effect (Hilbert)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분류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SIFT_sf1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9.41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−32.08%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SKEW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SIFT_sf10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−10.72%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SKEW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WIKI_sf1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~3.5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−9.61%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SKEW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WIKI_sf10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~3.5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−4.48%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SKEW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YFCC_sf1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~2.4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−6.88%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MID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DEEP_sf1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−0.43%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MILD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SSN_sf1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1.29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+2.34%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BALANCED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SSN_sf10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~1.3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+2.06%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BALANCED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60920" y="1783080"/>
            <a:ext cx="4114800" cy="187451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SWEET SPOT NARRATIVE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SIFT skew (ratio 9.41)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→ −28~−32% LARGE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WIKI/YFCC mid-skew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→ −5~−10% consistent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SSN++ balanced (ratio 1.29)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→ +1~+2% mild hurt —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honest 별도 보고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Sweet spot boundary: ratio &gt; 1.3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783080"/>
            <a:ext cx="411480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794760"/>
            <a:ext cx="4114800" cy="14173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60920" y="3794760"/>
            <a:ext cx="4114800" cy="141732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350215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SCATTER · CLUSTER RATIO vs Δ%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08776"/>
            <a:ext cx="12191695" cy="649224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1695" rIns="685800" tIns="155448" bIns="155448" wrap="square"/>
          <a:lstStyle/>
          <a:p>
            <a:pPr algn="l"/>
            <a:r>
              <a:rPr sz="1100" b="1" i="0">
                <a:solidFill>
                  <a:srgbClr val="E4ECF8"/>
                </a:solidFill>
                <a:latin typeface="JetBrains Mono"/>
                <a:ea typeface="JetBrains Mono"/>
              </a:rPr>
              <a:t>→  </a:t>
            </a:r>
            <a:r>
              <a:rPr sz="1200" b="0" i="0">
                <a:solidFill>
                  <a:srgbClr val="FFFFFF"/>
                </a:solidFill>
                <a:latin typeface="Pretendard"/>
                <a:ea typeface="Pretendard"/>
              </a:rPr>
              <a:t>SSN++ ceiling = balanced + low intrinsic dim + KM20-to-BERN headroom 0.5% (vs SIFT 34.5%)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Multi-vector + Multi-table natural join — Exqutor 직접 매칭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3 MULTI CELL · DIRECT EXQUTOR MULTI-TABLE 영역 매칭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" y="189280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MULTI-VECTOR (한 행 두 임베딩)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44575" y="2286000"/>
          <a:ext cx="466344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60120"/>
                <a:gridCol w="9601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Cell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dim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concat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product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partsupp_deep_sift_10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96+128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−0.35%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−1.15%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partsupp_deep_wiki_10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96+768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−0.30%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+0.53%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44575" y="3474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measure_multi_vector.py · concat 또는 separate column 두 시나리오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695" y="3977640"/>
            <a:ext cx="5212080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" y="408736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MULTI-TABLE NATURAL JOIN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44575" y="4480560"/>
          <a:ext cx="466344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1440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Cell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type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best mode Δ%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partsupp_deep_10 ⨝ part_wiki_10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TPC-H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+1.51%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44575" y="48920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ps_partkey = p_partkey 자연 외래키 · DEEP 96 ↔ WIKI 768 dim 격차</a:t>
            </a:r>
          </a:p>
        </p:txBody>
      </p:sp>
      <p:pic>
        <p:nvPicPr>
          <p:cNvPr id="18" name="Picture 17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5394960"/>
            <a:ext cx="10668305" cy="8686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61695" y="5394960"/>
            <a:ext cx="10668305" cy="86868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" y="5102352"/>
            <a:ext cx="1066830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MULTI-CELL · 4강 method paired Δ%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2375" y="1783080"/>
            <a:ext cx="521208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EXQUTOR 매칭 LOGIC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Exqutor 본 논문의 ECQO 핵심 contribution 영역 =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multi-table query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. 본 연구는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단일 정확성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으로 multi 정확성의 </a:t>
            </a:r>
            <a:r>
              <a:rPr sz="1100" b="1" i="0">
                <a:solidFill>
                  <a:srgbClr val="1B3DAD"/>
                </a:solidFill>
                <a:latin typeface="Pretendard"/>
                <a:ea typeface="Pretendard"/>
              </a:rPr>
              <a:t>필요조건만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입증 — 충분조건 일반화는 future work.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Multi-vector: 한 row 두 임베딩 → concat·separate 두 ablation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Multi-table: TPC-H natural join 직접 매칭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4강 method 의 multi-relation 일관성 입증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2375" y="4251960"/>
            <a:ext cx="5212080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MULTI-RELATION TAKEAWAY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Exqutor 본래 contribution 영역 =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multi-relation query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. 본 연구의 4강 method (Hilbert · MiniBatch_partial · Hybrid · HDBSCAN) 가 multi-vector + natural join 영역에서 부호·크기 일관성을 유지하는지 정량 검증.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Cross-Scale — sf1 (800K) ↔ sf10 (8M) 일관성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SIGN CONSISTENCY · MAGNITUDE ATTENUATION · NECESSARY COND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1695" y="1783080"/>
          <a:ext cx="52120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1463040"/>
                <a:gridCol w="10058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Dataset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sf1 (Hilbert)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sf10 (Hilbert)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부호 일관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DEEP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−1.07%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−1.98%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−33.53%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−12.02%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+1.69%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+1.38%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 (hurt)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−10.92%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−5.70%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−8.07%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−5.21%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1695" y="42062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단일 10 cell 100% 측정 완료 (5/5 dataset 부호 일관) · 5/8 14:13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CROSS-SCALE TAKEAWAY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SIFT: sf1 −33.5% → sf10 −12.0% · effect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1/3 attenuation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YFCC: sf1 −8.07% → sf10 −5.21% · 부호 일관 (단일 100%)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SSN++ hurt: sf1↔sf10 ceiling effect honest reporting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sf100 (80M) 추가 시 cross-scale 3-point validation 완성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2375" y="4114800"/>
            <a:ext cx="5212080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EFFECT HONESTY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본 연구는 단일 정확성을 multi 정확성의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필요조건만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입증. 충분조건 일반화 + sf100 cross-scale 3-point 검증은 future work. 5/8 회의 후 자문 합의 결과 반영하여 sf100 launch.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Honest Limitations — 중간 측정 결과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8 LIMITATION · MAPPED TO FUTURE 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1695" y="1783080"/>
          <a:ext cx="6583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#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Limitation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대응 / future work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단일 → multi-table generalization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partsupp_deep_sift / deep_10⨝part_wiki_10 부분 입증, multi-relation 일반화는 future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NPY-only mode 의 RQ2 dependency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적재본 부재 시 RQ2 skip · NPY 파이프라인 정비 future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 PCA basis 의존성 caveat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 distribution shape 는 PCA fit sample 의존 — sf100 launch 시 sample sweep 검증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σ_i 신호 약함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Anti-Neyman vs Proportional Wilcoxon p&gt;0.5, d&lt;0.1 honest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IS NaN sel=0.01 발산 (80~95%)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분할 X + weight only invalid → negative control narrative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K-sweep upper bound K=200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WIKI/SSN++ 고차원 K&gt;200 영역 차후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sf100 (80M) deferred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5/8 자문 합의 후 5/22 까지 launch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 balanced ceiling 가설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cluster ratio 1.29 미만 구조에서는 분배 효과 ceiling — 추가 검증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255" y="1783080"/>
            <a:ext cx="397764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28255" y="1783080"/>
            <a:ext cx="3977640" cy="411480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8255" y="1490472"/>
            <a:ext cx="3977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LIMITATION STATUS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Future Work — sf100 plan + 자문 메일 + 5/27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L1: SF100 · L2: 자문 · L3: 5/27 발표 · L4: 차후 학기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" y="189280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L1 · SF100 (80M) PLAN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44575" y="2286000"/>
          <a:ext cx="4663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097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Step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ETA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5/8 회의 자문 메일 초안 합의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5/8 19:00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채림 + 지도교수 메일 발송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~5/12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자문 회신 ETA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~5/15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sf100 launch (실험 파이프라인 확장)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5/15~5/21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측정 5 dataset × ~2-4h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~10-20h overnight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61695" y="4160520"/>
            <a:ext cx="52120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L4 · 차후 학기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Exqutor multi-table 영역 일반화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vector.c C-level integration (Phase 6 SQL D)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K&gt;200 K-sweep · WIKI 768d 고차원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Distribution shift online detection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DuckDB native fixed-rate baseline 직접 통합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3543" y="18928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L2 · 자문 메일 핵심 질문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3543" y="2286000"/>
          <a:ext cx="46634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474720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대상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핵심 질문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채림 석사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(1) 5 dataset 분포 진단 metric (skew score · cluster ratio) 신뢰도
(2) multi-table natural join 영역의 sampling rate dependency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지도교수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(1) sf100 (80M) 5 dataset 측정의 시간 자원 합의
(2) 중간 측정 narrative (4강 + 25 method tier) 발표 정합성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02375" y="4160520"/>
            <a:ext cx="52120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L3 · 5/27 발표 NARRATIVE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5/27 = 중간 측정 (10 cell main) + sf100 (5 cell) = </a:t>
            </a:r>
            <a:r>
              <a:rPr sz="1100" b="1" i="0">
                <a:solidFill>
                  <a:srgbClr val="1B3DAD"/>
                </a:solidFill>
                <a:latin typeface="Pretendard"/>
                <a:ea typeface="Pretendard"/>
              </a:rPr>
              <a:t>15 cell narrative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. 본 deck 의 ToC 흐름 (Problem → Prior → Approach → RQ1/2/3 → Multi → Honest → Future) 를 5/27 12 슬라이드로 압축 + sf100 추가 1 슬라이드.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
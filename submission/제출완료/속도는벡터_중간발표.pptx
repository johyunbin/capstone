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00"/>
    <p:restoredTop sz="94521"/>
  </p:normalViewPr>
  <p:slideViewPr>
    <p:cSldViewPr snapToGrid="0">
      <p:cViewPr varScale="1">
        <p:scale>
          <a:sx n="120" d="100"/>
          <a:sy n="120" d="100"/>
        </p:scale>
        <p:origin x="11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3323D7-3033-794E-A8A0-83CB6000422F}" type="datetimeFigureOut">
              <a:rPr kumimoji="1" lang="ko-KR" altLang="en-US" smtClean="0"/>
              <a:t>2026. 4. 28.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525A02-D04A-0646-A6C7-A1B77A95C04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02845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BFA1FC-240D-46F1-B02C-E549D962A89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1056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25A02-D04A-0646-A6C7-A1B77A95C044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6195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309E18-441D-32B4-20B4-086B7773D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13200A8-C038-F94F-F477-06BEC7BA51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67F591-3E8B-0709-7955-3D782658C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CEA9E-673C-2841-B2B0-DD80374C7DC2}" type="datetimeFigureOut">
              <a:rPr kumimoji="1" lang="ko-KR" altLang="en-US" smtClean="0"/>
              <a:t>2026. 4. 28.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152BEB-C5B9-035D-D518-6113A9F11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3200B4-7161-470E-1F24-7742A159F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6B985-32E9-BC4D-B8F1-B23E0D190B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30776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725C5A-4B2B-0288-72E8-94525CFEE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54A81B-8264-4302-B852-9027B2D0E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0ADB5E-71DF-8BA2-4601-1F36E6B04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CEA9E-673C-2841-B2B0-DD80374C7DC2}" type="datetimeFigureOut">
              <a:rPr kumimoji="1" lang="ko-KR" altLang="en-US" smtClean="0"/>
              <a:t>2026. 4. 28.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A76D6D-E597-204E-C16C-92CC85D91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368EC3-C44F-CA46-F5B0-B80267C78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6B985-32E9-BC4D-B8F1-B23E0D190B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21128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CBC556-5D29-6D8F-1135-3349FCB64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698993-825E-E90D-0D79-E6F03F533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377D51-9FD9-808B-F161-AB02D92CC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CEA9E-673C-2841-B2B0-DD80374C7DC2}" type="datetimeFigureOut">
              <a:rPr kumimoji="1" lang="ko-KR" altLang="en-US" smtClean="0"/>
              <a:t>2026. 4. 28.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7AD6C4-C350-A98C-34F6-B0FA8B630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145B86-952E-5E05-2FD9-0F0AE8275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6B985-32E9-BC4D-B8F1-B23E0D190B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81897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E2EF0C-D95A-4154-EEE7-26BDD5A8E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76788F-1288-751D-C1D4-06C0039EED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7A8464-E986-07F4-3C8D-F2F97460A0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5911A3-1A71-8766-D712-AD35059B0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CEA9E-673C-2841-B2B0-DD80374C7DC2}" type="datetimeFigureOut">
              <a:rPr kumimoji="1" lang="ko-KR" altLang="en-US" smtClean="0"/>
              <a:t>2026. 4. 28.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1B7F7C-DB63-674E-8C19-6F57556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4EE5C-C9DD-8A58-4047-EE6760AE1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6B985-32E9-BC4D-B8F1-B23E0D190B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54117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8E212E-1DD7-93EA-CED4-A338A54B8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85A18B-6470-86B8-AFCB-BF3141216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C55A4D-9BDF-C1A7-859B-BE6D1F3F81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D8B93C5-C809-791F-158D-D3E5870FE7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084DFE5-A600-D3A4-872D-DF2AC7EB6E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27340DA-F014-5B0E-FDC6-B0008FC4F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CEA9E-673C-2841-B2B0-DD80374C7DC2}" type="datetimeFigureOut">
              <a:rPr kumimoji="1" lang="ko-KR" altLang="en-US" smtClean="0"/>
              <a:t>2026. 4. 28.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2EF9537-1610-5111-C51B-B3A376B25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4AABEE6-ECD2-35F4-B5E0-A137B8145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6B985-32E9-BC4D-B8F1-B23E0D190B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34571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6178A3-0275-E7C8-0555-3E1CF987F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9174203-A77B-FC4A-A6E1-413DE7B43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CEA9E-673C-2841-B2B0-DD80374C7DC2}" type="datetimeFigureOut">
              <a:rPr kumimoji="1" lang="ko-KR" altLang="en-US" smtClean="0"/>
              <a:t>2026. 4. 28.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7427A99-A395-3901-3183-A7125DA0A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B62DB2-F83D-844A-63AA-7C1188D3E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6B985-32E9-BC4D-B8F1-B23E0D190B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36912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BA6743-5883-2B85-5E6E-B4C3A2E82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CEA9E-673C-2841-B2B0-DD80374C7DC2}" type="datetimeFigureOut">
              <a:rPr kumimoji="1" lang="ko-KR" altLang="en-US" smtClean="0"/>
              <a:t>2026. 4. 28.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E20E79A-A52F-99A0-428F-A34734F09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B3159-2B53-1388-D5AD-BBB1673A8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6B985-32E9-BC4D-B8F1-B23E0D190B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15345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985DA2-9489-70C9-F509-B28383058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BD56D0-80D5-8076-FED8-DFDFAF7EC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7FB2A5-3F42-7A5F-A5A3-EBD38F55A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FFFCC7-1575-A604-BC2F-DCFD4F938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CEA9E-673C-2841-B2B0-DD80374C7DC2}" type="datetimeFigureOut">
              <a:rPr kumimoji="1" lang="ko-KR" altLang="en-US" smtClean="0"/>
              <a:t>2026. 4. 28.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A403DA-753E-9A20-C061-19612ACEC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4A0373-EA51-56AB-618D-A9E2255A0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6B985-32E9-BC4D-B8F1-B23E0D190B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74171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9A0845-9C89-129A-72DD-B5186159E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435EBD2-8A54-818F-67DC-87657F4E0B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88EFF5-5B6A-F504-9063-928F9AEEEA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E55831-F459-973A-7F1A-62325282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CEA9E-673C-2841-B2B0-DD80374C7DC2}" type="datetimeFigureOut">
              <a:rPr kumimoji="1" lang="ko-KR" altLang="en-US" smtClean="0"/>
              <a:t>2026. 4. 28.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0C26E4-8DDA-204A-5034-9F7738ED7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5FBC9D-1896-5731-F323-5AC03AE9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6B985-32E9-BC4D-B8F1-B23E0D190B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36691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72997-9423-7FE9-2E56-9B98A3EC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637E9C-0F4A-EA3B-BAA9-197CC922AC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B2F92C-1654-8EEA-CCC1-104437E08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CEA9E-673C-2841-B2B0-DD80374C7DC2}" type="datetimeFigureOut">
              <a:rPr kumimoji="1" lang="ko-KR" altLang="en-US" smtClean="0"/>
              <a:t>2026. 4. 28.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348FE7-EF72-E922-D73B-CC4FF291F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375E7A-8047-54B5-6718-804E3FE7D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6B985-32E9-BC4D-B8F1-B23E0D190B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68211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3CC1F1A-5FB3-07AE-7E89-B09FFBC602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1CEE9D-3638-B2E6-B6D1-017F69A0D3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E8896C-0668-2869-1B9E-6A45FF6F1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CEA9E-673C-2841-B2B0-DD80374C7DC2}" type="datetimeFigureOut">
              <a:rPr kumimoji="1" lang="ko-KR" altLang="en-US" smtClean="0"/>
              <a:t>2026. 4. 28.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9287C6-03BE-067F-D452-6CBB85B78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82A139-AA66-D240-C625-081E67771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6B985-32E9-BC4D-B8F1-B23E0D190B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54439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5583AE6-EE92-7BA2-C59F-7ACCF92F1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390055-4D76-0408-8A11-F04A879E0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D7E1D5-7445-CF28-1578-77301CE98F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BCEA9E-673C-2841-B2B0-DD80374C7DC2}" type="datetimeFigureOut">
              <a:rPr kumimoji="1" lang="ko-KR" altLang="en-US" smtClean="0"/>
              <a:t>2026. 4. 28.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18326C-0E56-3DBF-35C3-5485EBC079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9784FA-176F-DE4C-224A-8B80024799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56B985-32E9-BC4D-B8F1-B23E0D190B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0402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2011680" cy="25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CAPSTONE 2026-1  /  MIDTERM PRESENTATION  /  </a:t>
            </a:r>
            <a:r>
              <a:rPr sz="1000" b="1" dirty="0" err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연세대학교</a:t>
            </a:r>
            <a:endParaRPr sz="10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139115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lang="en-US" altLang="ko-KR" sz="4400" b="1" dirty="0">
                <a:latin typeface="Apple SD Gothic Neo"/>
                <a:ea typeface="Apple SD Gothic Neo"/>
                <a:cs typeface="Apple SD Gothic Neo"/>
              </a:rPr>
              <a:t>Skew-Aware Stratified Sampling </a:t>
            </a:r>
            <a:r>
              <a:rPr lang="ko-KR" altLang="ko-KR" sz="4400" b="1" dirty="0">
                <a:latin typeface="Apple SD Gothic Neo"/>
                <a:ea typeface="Apple SD Gothic Neo"/>
                <a:cs typeface="Apple SD Gothic Neo"/>
              </a:rPr>
              <a:t>을 이용한</a:t>
            </a:r>
            <a:endParaRPr lang="ko-KR" altLang="ko-KR" sz="4400" dirty="0"/>
          </a:p>
          <a:p>
            <a:r>
              <a:rPr lang="en-US" altLang="ko-KR" sz="4400" b="1" dirty="0">
                <a:latin typeface="Apple SD Gothic Neo"/>
                <a:ea typeface="Apple SD Gothic Neo"/>
                <a:cs typeface="Apple SD Gothic Neo"/>
              </a:rPr>
              <a:t>Vector Cardinality </a:t>
            </a:r>
            <a:r>
              <a:rPr lang="ko-KR" altLang="ko-KR" sz="4400" b="1" dirty="0">
                <a:latin typeface="Apple SD Gothic Neo"/>
                <a:ea typeface="Apple SD Gothic Neo"/>
                <a:cs typeface="Apple SD Gothic Neo"/>
              </a:rPr>
              <a:t>추정 정확도 개선 연구</a:t>
            </a:r>
            <a:endParaRPr lang="ko-KR" altLang="ko-KR" sz="4400" dirty="0"/>
          </a:p>
        </p:txBody>
      </p:sp>
      <p:sp>
        <p:nvSpPr>
          <p:cNvPr id="6" name="Rectangle 5"/>
          <p:cNvSpPr/>
          <p:nvPr/>
        </p:nvSpPr>
        <p:spPr>
          <a:xfrm>
            <a:off x="731520" y="4297680"/>
            <a:ext cx="731520" cy="25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5486400"/>
            <a:ext cx="1051560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7315200" cy="41973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 err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  <a:endParaRPr sz="22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6080760"/>
            <a:ext cx="9144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박세은 (팀장)  ·  강재현  ·  조현빈  ·  이동욱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5669280"/>
            <a:ext cx="3931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2026-04-28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080760"/>
            <a:ext cx="393192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지도교수</a:t>
            </a: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박광현</a:t>
            </a: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연구원</a:t>
            </a: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임</a:t>
            </a:r>
            <a:r>
              <a:rPr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채림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97492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627632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27632"/>
            <a:ext cx="6858000" cy="33239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Vector Cardinality Estimation: Blind Spots</a:t>
            </a:r>
            <a:endParaRPr sz="16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557612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587752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587752"/>
            <a:ext cx="6858000" cy="33239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Exqutor</a:t>
            </a:r>
            <a:r>
              <a:rPr lang="en-US" sz="16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: Methods &amp; Limits</a:t>
            </a:r>
            <a:endParaRPr sz="16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517732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547872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Our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547872"/>
            <a:ext cx="6858000" cy="3073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Skew-Aware</a:t>
            </a:r>
            <a:r>
              <a:rPr lang="en-US" sz="16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/Unaware</a:t>
            </a:r>
            <a:r>
              <a:rPr sz="16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Sampling</a:t>
            </a:r>
            <a:endParaRPr sz="16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477852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507992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507992"/>
            <a:ext cx="6858000" cy="3073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RQ1·RQ2·RQ3</a:t>
            </a:r>
            <a:r>
              <a:rPr lang="en-US" sz="16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:</a:t>
            </a:r>
            <a:r>
              <a:rPr sz="16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16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Design / Results</a:t>
            </a:r>
            <a:endParaRPr sz="16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1520" y="534924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437972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468112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468112"/>
            <a:ext cx="6858000" cy="307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Current progress &amp; Future plans</a:t>
            </a:r>
            <a:endParaRPr sz="16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2481" y="1344669"/>
            <a:ext cx="11064240" cy="295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벡터</a:t>
            </a:r>
            <a:r>
              <a:rPr 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range</a:t>
            </a: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조건의</a:t>
            </a: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선택도</a:t>
            </a:r>
            <a:r>
              <a:rPr lang="ko-KR" alt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는 </a:t>
            </a: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query</a:t>
            </a:r>
            <a:r>
              <a:rPr lang="ko-KR" alt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마다 크게 달라지지만</a:t>
            </a: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lang="ko-KR" alt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기존 </a:t>
            </a: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optimizer</a:t>
            </a:r>
            <a:r>
              <a:rPr lang="ko-KR" alt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는 벡터 공간 분포를 반영하지 못한다</a:t>
            </a: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시스템</a:t>
            </a: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— </a:t>
            </a:r>
            <a:r>
              <a:rPr sz="1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고정</a:t>
            </a: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비율</a:t>
            </a: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추정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pgvector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81713"/>
            <a:ext cx="128016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33.3%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4572000" cy="20544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fixed estimator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29184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350393"/>
            <a:ext cx="128016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fixed estimator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79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160519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DuckDB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219072"/>
            <a:ext cx="128016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79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scan all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965960"/>
            <a:ext cx="576072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 err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실제</a:t>
            </a:r>
            <a:r>
              <a:rPr sz="1200" b="1" dirty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 —</a:t>
            </a:r>
            <a:r>
              <a:rPr lang="en-US" sz="1200" b="1" dirty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 Query</a:t>
            </a:r>
            <a:r>
              <a:rPr lang="ko-KR" altLang="en-US" sz="1200" b="1" dirty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마다 달라지는 </a:t>
            </a:r>
            <a:r>
              <a:rPr sz="1200" b="1" dirty="0" err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분포</a:t>
            </a:r>
            <a:endParaRPr sz="1200" b="1" dirty="0">
              <a:solidFill>
                <a:srgbClr val="EA580C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943600" y="2331720"/>
            <a:ext cx="576072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0" y="2468880"/>
            <a:ext cx="5486400" cy="1652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■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실제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선택도는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query에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따라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0.001% ~ </a:t>
            </a:r>
            <a:r>
              <a:rPr 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0%의 </a:t>
            </a:r>
            <a:r>
              <a:rPr lang="ko-KR" alt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광범위한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분포</a:t>
            </a:r>
            <a:endParaRPr lang="en-US" sz="14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50000"/>
              </a:lnSpc>
            </a:pPr>
            <a:endParaRPr lang="en-US" sz="14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■ 잘못된 cardinality 추정 → join, index 유무, scan 전략 선택 왜곡
(비효율적 실행 계획)</a:t>
            </a:r>
            <a:endParaRPr lang="en-US" sz="140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368793"/>
            <a:ext cx="10515600" cy="33855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lang="ko-KR" altLang="en-US" sz="18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고정 비율 추정으로는 </a:t>
            </a:r>
            <a:r>
              <a:rPr lang="en-US" altLang="ko-KR" sz="18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query-dependent vector selectivity</a:t>
            </a:r>
            <a:r>
              <a:rPr lang="ko-KR" altLang="en-US" sz="18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를 설명할 수 없다</a:t>
            </a:r>
            <a:r>
              <a:rPr lang="en-US" altLang="ko-KR" sz="18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400" b="1" dirty="0">
              <a:solidFill>
                <a:srgbClr val="FAFAF9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7EE6DD-53C6-C429-EB02-5DA13DFC9DF0}"/>
              </a:ext>
            </a:extLst>
          </p:cNvPr>
          <p:cNvSpPr txBox="1"/>
          <p:nvPr/>
        </p:nvSpPr>
        <p:spPr>
          <a:xfrm>
            <a:off x="731520" y="621792"/>
            <a:ext cx="10515600" cy="53245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ko-KR" sz="2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1.</a:t>
            </a:r>
            <a:r>
              <a:rPr lang="ko-KR" altLang="en-US" sz="2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altLang="ko-KR" sz="2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Problem</a:t>
            </a:r>
            <a:endParaRPr sz="28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40680" cy="41148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5194" y="1463040"/>
            <a:ext cx="5229617" cy="3323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ECQO</a:t>
            </a:r>
            <a:r>
              <a:rPr lang="en-US"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(Exact Cardinality Query Optimization)</a:t>
            </a:r>
            <a:endParaRPr sz="1600" b="1" dirty="0">
              <a:solidFill>
                <a:srgbClr val="FAFAF9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50292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HNSW </a:t>
            </a: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인덱스가</a:t>
            </a: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있을</a:t>
            </a: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5029200" cy="6457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실행 계획 단계에서 </a:t>
            </a: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HNSW range </a:t>
            </a: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query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를</a:t>
            </a:r>
            <a:r>
              <a:rPr 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직접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  <a:r>
              <a:rPr lang="ko-KR" alt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하여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endParaRPr lang="en-US" sz="14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50000"/>
              </a:lnSpc>
            </a:pP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정확</a:t>
            </a:r>
            <a:r>
              <a:rPr lang="ko-KR" alt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한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Cardinality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산출</a:t>
            </a:r>
            <a:endParaRPr sz="14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0977" y="4114800"/>
            <a:ext cx="4983480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1~2 </a:t>
            </a:r>
            <a:r>
              <a:rPr sz="30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ms</a:t>
            </a:r>
            <a:endParaRPr sz="30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4983480" cy="2400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2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단시간 내 </a:t>
            </a:r>
            <a:r>
              <a:rPr sz="12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정확</a:t>
            </a:r>
            <a:r>
              <a:rPr lang="ko-KR" altLang="en-US" sz="12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한</a:t>
            </a:r>
            <a:r>
              <a:rPr sz="12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12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Cardinality</a:t>
            </a:r>
            <a:r>
              <a:rPr lang="en-US" sz="12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2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획득</a:t>
            </a:r>
            <a:endParaRPr sz="12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78463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5440680" cy="41148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Adaptive Sampling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74102"/>
            <a:ext cx="5029200" cy="27430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HNSW </a:t>
            </a: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인덱스가</a:t>
            </a: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없을</a:t>
            </a: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12513"/>
            <a:ext cx="5029200" cy="6919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—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모멘텀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기반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동적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16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uniform sampling</a:t>
            </a:r>
            <a:endParaRPr lang="en-US" sz="140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</a:t>
            </a: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ample size</a:t>
            </a:r>
            <a:r>
              <a:rPr lang="ko-KR" altLang="en-US"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를</a:t>
            </a:r>
            <a:r>
              <a:rPr lang="ko-KR" alt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조금씩 늘려가며 </a:t>
            </a: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Cardinality</a:t>
            </a:r>
            <a:r>
              <a:rPr lang="ko-KR" alt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를 근사</a:t>
            </a:r>
            <a:endParaRPr sz="14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4983480" cy="5909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30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~3.2</a:t>
            </a:r>
            <a:r>
              <a:rPr sz="30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63440"/>
            <a:ext cx="4983480" cy="2400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2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No index VAQ </a:t>
            </a:r>
            <a:r>
              <a:rPr lang="ko-KR" altLang="en-US" sz="12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성능 개선</a:t>
            </a:r>
            <a:endParaRPr sz="12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731860"/>
            <a:ext cx="10515600" cy="29546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→  </a:t>
            </a:r>
            <a:r>
              <a:rPr lang="en-US" sz="1400" b="1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No-index sampling path</a:t>
            </a:r>
            <a:r>
              <a:rPr lang="ko-KR" altLang="en-US" sz="1400" b="1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에서 </a:t>
            </a:r>
            <a:r>
              <a:rPr lang="en-US" altLang="ko-KR" sz="1400" b="1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uniform sample</a:t>
            </a:r>
            <a:r>
              <a:rPr lang="ko-KR" altLang="en-US" sz="1400" b="1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이 </a:t>
            </a:r>
            <a:r>
              <a:rPr lang="en-US" altLang="ko-KR" sz="1400" b="1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skewed vector distribution</a:t>
            </a:r>
            <a:r>
              <a:rPr lang="ko-KR" altLang="en-US" sz="1400" b="1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을 대표할 수 있는가</a:t>
            </a:r>
            <a:r>
              <a:rPr lang="en-US" altLang="ko-KR" sz="1400" b="1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?</a:t>
            </a:r>
            <a:endParaRPr sz="1400" b="1" dirty="0">
              <a:solidFill>
                <a:schemeClr val="bg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6284934"/>
            <a:ext cx="10698480" cy="295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HNSW: 고차원 벡터 데이터에서 유사도가 가장 높은 이웃을 빠르게 찾는 그래프 기반의 최근접 이웃(ANN) 검색 알고리즘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7B313E-A4A9-86B2-0290-1A63E6536FD8}"/>
              </a:ext>
            </a:extLst>
          </p:cNvPr>
          <p:cNvSpPr txBox="1"/>
          <p:nvPr/>
        </p:nvSpPr>
        <p:spPr>
          <a:xfrm>
            <a:off x="731520" y="621792"/>
            <a:ext cx="10515600" cy="53245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" altLang="ko-KR" sz="2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2-1.Background — </a:t>
            </a:r>
            <a:r>
              <a:rPr lang="en" altLang="ko-KR" sz="28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Exqutor</a:t>
            </a:r>
            <a:r>
              <a:rPr lang="ko-KR" altLang="en-US" sz="2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의 방법론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ounded Rectangle 22"/>
          <p:cNvSpPr/>
          <p:nvPr/>
        </p:nvSpPr>
        <p:spPr>
          <a:xfrm>
            <a:off x="548639" y="5444427"/>
            <a:ext cx="11064241" cy="59436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23583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411480" cy="11430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411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483124"/>
            <a:ext cx="4572000" cy="307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Hook Trigger</a:t>
            </a:r>
            <a:r>
              <a:rPr lang="ko-KR" alt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 의한 </a:t>
            </a:r>
            <a:r>
              <a:rPr lang="en-US" altLang="ko-KR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AS</a:t>
            </a:r>
            <a:r>
              <a:rPr lang="ko-KR" alt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적용 범위 누락</a:t>
            </a:r>
            <a:endParaRPr sz="1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1560" y="1868425"/>
            <a:ext cx="4572000" cy="580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400" dirty="0" err="1">
                <a:latin typeface="Apple SD Gothic Neo"/>
                <a:ea typeface="Apple SD Gothic Neo" panose="020F0502020204030204" pitchFamily="34" charset="0"/>
                <a:cs typeface="Apple SD Gothic Neo" panose="020F0502020204030204" pitchFamily="34" charset="0"/>
              </a:rPr>
              <a:t>table_count</a:t>
            </a:r>
            <a:r>
              <a:rPr lang="en-US" sz="1400" dirty="0">
                <a:latin typeface="Apple SD Gothic Neo"/>
                <a:ea typeface="Apple SD Gothic Neo" panose="020F0502020204030204" pitchFamily="34" charset="0"/>
                <a:cs typeface="Apple SD Gothic Neo" panose="020F0502020204030204" pitchFamily="34" charset="0"/>
              </a:rPr>
              <a:t>&gt;2 </a:t>
            </a:r>
            <a:r>
              <a:rPr lang="en-US" sz="1400" dirty="0" err="1">
                <a:latin typeface="Apple SD Gothic Neo"/>
                <a:ea typeface="Apple SD Gothic Neo" panose="020F0502020204030204" pitchFamily="34" charset="0"/>
                <a:cs typeface="Apple SD Gothic Neo" panose="020F0502020204030204" pitchFamily="34" charset="0"/>
              </a:rPr>
              <a:t>조건으로</a:t>
            </a:r>
            <a:r>
              <a:rPr lang="en-US" sz="1400" dirty="0">
                <a:latin typeface="Apple SD Gothic Neo"/>
                <a:ea typeface="Apple SD Gothic Neo" panose="020F0502020204030204" pitchFamily="34" charset="0"/>
                <a:cs typeface="Apple SD Gothic Neo" panose="020F0502020204030204" pitchFamily="34" charset="0"/>
              </a:rPr>
              <a:t> single vector table range </a:t>
            </a:r>
            <a:r>
              <a:rPr lang="en-US" sz="1400" dirty="0" err="1">
                <a:latin typeface="Apple SD Gothic Neo"/>
                <a:ea typeface="Apple SD Gothic Neo" panose="020F0502020204030204" pitchFamily="34" charset="0"/>
                <a:cs typeface="Apple SD Gothic Neo" panose="020F0502020204030204" pitchFamily="34" charset="0"/>
              </a:rPr>
              <a:t>query는</a:t>
            </a:r>
            <a:endParaRPr lang="en-US" sz="1400" dirty="0">
              <a:latin typeface="Apple SD Gothic Neo"/>
              <a:ea typeface="Apple SD Gothic Neo" panose="020F0502020204030204" pitchFamily="34" charset="0"/>
              <a:cs typeface="Apple SD Gothic Neo" panose="020F0502020204030204" pitchFamily="34" charset="0"/>
            </a:endParaRPr>
          </a:p>
          <a:p>
            <a:pPr algn="l">
              <a:lnSpc>
                <a:spcPct val="130000"/>
              </a:lnSpc>
            </a:pPr>
            <a:r>
              <a:rPr lang="en-US" sz="1400" dirty="0">
                <a:latin typeface="Apple SD Gothic Neo"/>
                <a:ea typeface="Apple SD Gothic Neo" panose="020F0502020204030204" pitchFamily="34" charset="0"/>
                <a:cs typeface="Apple SD Gothic Neo" panose="020F0502020204030204" pitchFamily="34" charset="0"/>
              </a:rPr>
              <a:t>AS </a:t>
            </a:r>
            <a:r>
              <a:rPr lang="en-US" sz="1400" dirty="0" err="1">
                <a:latin typeface="Apple SD Gothic Neo"/>
                <a:ea typeface="Apple SD Gothic Neo" panose="020F0502020204030204" pitchFamily="34" charset="0"/>
                <a:cs typeface="Apple SD Gothic Neo" panose="020F0502020204030204" pitchFamily="34" charset="0"/>
              </a:rPr>
              <a:t>미진입</a:t>
            </a:r>
            <a:r>
              <a:rPr lang="en-US" sz="1400" dirty="0">
                <a:latin typeface="Apple SD Gothic Neo"/>
                <a:ea typeface="Apple SD Gothic Neo" panose="020F0502020204030204" pitchFamily="34" charset="0"/>
                <a:cs typeface="Apple SD Gothic Neo" panose="020F0502020204030204" pitchFamily="34" charset="0"/>
              </a:rPr>
              <a:t> → </a:t>
            </a:r>
            <a:r>
              <a:rPr lang="en-US" sz="1400" dirty="0" err="1">
                <a:latin typeface="Apple SD Gothic Neo"/>
                <a:ea typeface="Apple SD Gothic Neo" panose="020F0502020204030204" pitchFamily="34" charset="0"/>
                <a:cs typeface="Apple SD Gothic Neo" panose="020F0502020204030204" pitchFamily="34" charset="0"/>
              </a:rPr>
              <a:t>pgvector</a:t>
            </a:r>
            <a:r>
              <a:rPr lang="en-US" sz="1400" dirty="0">
                <a:latin typeface="Apple SD Gothic Neo"/>
                <a:ea typeface="Apple SD Gothic Neo" panose="020F0502020204030204" pitchFamily="34" charset="0"/>
                <a:cs typeface="Apple SD Gothic Neo" panose="020F0502020204030204" pitchFamily="34" charset="0"/>
              </a:rPr>
              <a:t> default selectivity 1/3 </a:t>
            </a:r>
            <a:r>
              <a:rPr lang="en-US" sz="1400" dirty="0" err="1">
                <a:latin typeface="Apple SD Gothic Neo"/>
                <a:ea typeface="Apple SD Gothic Neo" panose="020F0502020204030204" pitchFamily="34" charset="0"/>
                <a:cs typeface="Apple SD Gothic Neo" panose="020F0502020204030204" pitchFamily="34" charset="0"/>
              </a:rPr>
              <a:t>로</a:t>
            </a:r>
            <a:r>
              <a:rPr lang="en-US" sz="1400" dirty="0">
                <a:latin typeface="Apple SD Gothic Neo"/>
                <a:ea typeface="Apple SD Gothic Neo" panose="020F0502020204030204" pitchFamily="34" charset="0"/>
                <a:cs typeface="Apple SD Gothic Neo" panose="020F0502020204030204" pitchFamily="34" charset="0"/>
              </a:rPr>
              <a:t> fallback</a:t>
            </a:r>
            <a:endParaRPr sz="1000" b="0" dirty="0">
              <a:latin typeface="Apple SD Gothic Neo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269748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11480" cy="11430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063240"/>
            <a:ext cx="411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757021"/>
            <a:ext cx="4572000" cy="27430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단순 </a:t>
            </a: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Gate</a:t>
            </a:r>
            <a:r>
              <a:rPr lang="ko-KR" alt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Relaxation </a:t>
            </a:r>
            <a:r>
              <a:rPr lang="ko-KR" alt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불가</a:t>
            </a:r>
            <a:endParaRPr sz="1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1560" y="3049629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</a:t>
            </a: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ook</a:t>
            </a:r>
            <a:r>
              <a:rPr 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조건 완화 시 추정용 </a:t>
            </a:r>
            <a:r>
              <a:rPr lang="en-US" altLang="ko-KR"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Tablesample</a:t>
            </a:r>
            <a:r>
              <a:rPr lang="ko-KR" alt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이 실제 실행 </a:t>
            </a: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  <a:r>
              <a:rPr lang="ko-KR" alt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 반영 </a:t>
            </a:r>
            <a:endParaRPr sz="800" b="0" dirty="0">
              <a:solidFill>
                <a:srgbClr val="EA580C"/>
              </a:solidFill>
              <a:latin typeface="Apple SD Gothic Neo"/>
              <a:ea typeface="Menlo"/>
              <a:cs typeface="Menl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1560" y="3227697"/>
            <a:ext cx="4572000" cy="2169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 panose="020F0502020204030204" pitchFamily="34" charset="0"/>
              </a:rPr>
              <a:t>→ </a:t>
            </a: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 panose="020F0502020204030204" pitchFamily="34" charset="0"/>
                <a:cs typeface="Apple SD Gothic Neo" panose="020F0502020204030204" pitchFamily="34" charset="0"/>
              </a:rPr>
              <a:t>SELECT count(*)</a:t>
            </a: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 panose="020F0502020204030204" pitchFamily="34" charset="0"/>
              </a:rPr>
              <a:t>의</a:t>
            </a: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 panose="020F0502020204030204" pitchFamily="34" charset="0"/>
                <a:cs typeface="Apple SD Gothic Neo" panose="020F0502020204030204" pitchFamily="34" charset="0"/>
              </a:rPr>
              <a:t> </a:t>
            </a: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 panose="020F0502020204030204" pitchFamily="34" charset="0"/>
              </a:rPr>
              <a:t>결과가 전체 테이블 기준이 아니라 </a:t>
            </a: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 panose="020F0502020204030204" pitchFamily="34" charset="0"/>
                <a:cs typeface="Apple SD Gothic Neo" panose="020F0502020204030204" pitchFamily="34" charset="0"/>
              </a:rPr>
              <a:t>sample</a:t>
            </a: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 panose="020F0502020204030204" pitchFamily="34" charset="0"/>
              </a:rPr>
              <a:t>기준으로 계산</a:t>
            </a: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 panose="020F0502020204030204" pitchFamily="34" charset="0"/>
                <a:cs typeface="Apple SD Gothic Neo" panose="020F0502020204030204" pitchFamily="34" charset="0"/>
              </a:rPr>
              <a:t>.</a:t>
            </a:r>
            <a:endParaRPr sz="900" b="0" dirty="0">
              <a:solidFill>
                <a:srgbClr val="171717"/>
              </a:solidFill>
              <a:latin typeface="Apple SD Gothic Neo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39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3977639"/>
            <a:ext cx="411480" cy="11430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343399"/>
            <a:ext cx="411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#3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37180"/>
            <a:ext cx="4572000" cy="2736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Block-level sampling bias</a:t>
            </a:r>
            <a:endParaRPr sz="1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51560" y="4329788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System sampling</a:t>
            </a:r>
            <a:r>
              <a:rPr lang="ko-KR" alt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은 </a:t>
            </a: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page/block </a:t>
            </a:r>
            <a:r>
              <a:rPr lang="ko-KR" alt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단위 추출</a:t>
            </a:r>
            <a:endParaRPr sz="800" b="0" dirty="0">
              <a:solidFill>
                <a:srgbClr val="EA580C"/>
              </a:solidFill>
              <a:latin typeface="Apple SD Gothic Neo"/>
              <a:ea typeface="Menlo"/>
              <a:cs typeface="Menlo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51560" y="4507856"/>
            <a:ext cx="4572000" cy="397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Row-level uniform sample</a:t>
            </a:r>
            <a:r>
              <a:rPr lang="ko-KR" alt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을 보장하지 못해 </a:t>
            </a:r>
            <a:r>
              <a:rPr lang="en-US" altLang="ko-KR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skewed vector space</a:t>
            </a: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 대표성 저하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820261" y="1392866"/>
            <a:ext cx="5852160" cy="2492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vector.c</a:t>
            </a: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— Hook Trigger </a:t>
            </a:r>
            <a:r>
              <a:rPr sz="1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사각지대</a:t>
            </a: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(line 243)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6701" y="5586965"/>
            <a:ext cx="9096993" cy="28469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★</a:t>
            </a:r>
            <a:r>
              <a:rPr lang="en-US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단일 테이블 </a:t>
            </a:r>
            <a:r>
              <a:rPr lang="en-US" altLang="ko-KR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range query</a:t>
            </a:r>
            <a:r>
              <a:rPr lang="ko-KR" altLang="en-US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에 적용하려면</a:t>
            </a:r>
            <a:r>
              <a:rPr lang="en-US" altLang="ko-KR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lang="ko-KR" altLang="en-US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실행 </a:t>
            </a:r>
            <a:r>
              <a:rPr lang="en-US" altLang="ko-KR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  <a:r>
              <a:rPr lang="ko-KR" altLang="en-US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을 바꾸지 않는 </a:t>
            </a:r>
            <a:r>
              <a:rPr lang="en-US" altLang="ko-KR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estimation-only sampling </a:t>
            </a:r>
            <a:r>
              <a:rPr lang="ko-KR" altLang="en-US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경로가 필요하다</a:t>
            </a:r>
            <a:r>
              <a:rPr lang="en-US" altLang="ko-KR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400" b="1" dirty="0">
              <a:solidFill>
                <a:srgbClr val="FAFAF9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39CAA3-1AA9-C6BB-64F3-58C0822C18A1}"/>
              </a:ext>
            </a:extLst>
          </p:cNvPr>
          <p:cNvSpPr txBox="1"/>
          <p:nvPr/>
        </p:nvSpPr>
        <p:spPr>
          <a:xfrm>
            <a:off x="731520" y="621792"/>
            <a:ext cx="10515600" cy="53245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" altLang="ko-KR" sz="2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2-2.Background — Adaptive Sampling</a:t>
            </a:r>
            <a:r>
              <a:rPr lang="ko-KR" altLang="en-US" sz="2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의 한계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9251" y="1691640"/>
            <a:ext cx="5753629" cy="34324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325879"/>
            <a:ext cx="11064240" cy="45719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6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1" y="1755522"/>
            <a:ext cx="3591212" cy="1400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755522"/>
            <a:ext cx="157716" cy="140005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5141" y="1463040"/>
            <a:ext cx="21945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1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기존 연구</a:t>
            </a:r>
            <a:endParaRPr sz="11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2042" y="2149640"/>
            <a:ext cx="32004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Uniform Adaptive </a:t>
            </a:r>
            <a:r>
              <a:rPr lang="en-US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Sampling</a:t>
            </a:r>
            <a:endParaRPr sz="16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8640" y="3623779"/>
            <a:ext cx="11064240" cy="54864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3752488"/>
            <a:ext cx="10515600" cy="27193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✦</a:t>
            </a:r>
            <a:r>
              <a:rPr lang="en-US" sz="1400" b="1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400" b="1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본 연구는 </a:t>
            </a:r>
            <a:r>
              <a:rPr lang="en-US" altLang="ko-KR" sz="1400" b="1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block bias</a:t>
            </a:r>
            <a:r>
              <a:rPr lang="ko-KR" altLang="en-US" sz="1400" b="1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를 제거한 뒤 </a:t>
            </a:r>
            <a:r>
              <a:rPr lang="en-US" altLang="ko-KR" sz="1400" b="1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skewed vector space</a:t>
            </a:r>
            <a:r>
              <a:rPr lang="ko-KR" altLang="en-US" sz="1400" b="1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에서 </a:t>
            </a:r>
            <a:r>
              <a:rPr lang="en-US" altLang="ko-KR" sz="1400" b="1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sample allocation</a:t>
            </a:r>
            <a:r>
              <a:rPr lang="ko-KR" altLang="en-US" sz="1400" b="1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을 재설계한다</a:t>
            </a:r>
            <a:r>
              <a:rPr lang="en-US" altLang="ko-KR" sz="1400" b="1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400" b="1" dirty="0">
              <a:solidFill>
                <a:schemeClr val="bg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4397262"/>
            <a:ext cx="6400800" cy="34208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핵심</a:t>
            </a:r>
            <a:r>
              <a:rPr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기여</a:t>
            </a:r>
            <a:endParaRPr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40080" y="4970578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latin typeface="Apple SD Gothic Neo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68679" y="4844668"/>
            <a:ext cx="10656065" cy="3570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ko-KR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Target: </a:t>
            </a:r>
            <a:r>
              <a:rPr lang="ko-KR" altLang="en-US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단일 테이블 </a:t>
            </a:r>
            <a:r>
              <a:rPr lang="en-US" altLang="ko-KR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vector range query</a:t>
            </a:r>
            <a:r>
              <a:rPr lang="ko-KR" altLang="en-US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의 </a:t>
            </a:r>
            <a:r>
              <a:rPr lang="en-US" altLang="ko-KR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no-index sampling path</a:t>
            </a:r>
            <a:endParaRPr sz="16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633817" y="5374486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latin typeface="Apple SD Gothic Neo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68680" y="5254612"/>
            <a:ext cx="10656064" cy="3266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Decomposition &amp; Method: block-level sampling bias/spatial skew 문제 분리</a:t>
            </a:r>
            <a:endParaRPr sz="16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637637" y="5760315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latin typeface="Apple SD Gothic Neo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58661" y="6039783"/>
            <a:ext cx="10656064" cy="3570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Validation: RANDOM20 / Two-Level 분해로 spatial-aware 효과 정량화</a:t>
            </a:r>
            <a:endParaRPr sz="16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4" name="Rounded Rectangle 6"/>
          <p:cNvSpPr/>
          <p:nvPr/>
        </p:nvSpPr>
        <p:spPr>
          <a:xfrm>
            <a:off x="4285154" y="1755522"/>
            <a:ext cx="3591212" cy="1400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7"/>
          <p:cNvSpPr/>
          <p:nvPr/>
        </p:nvSpPr>
        <p:spPr>
          <a:xfrm>
            <a:off x="4285153" y="1755522"/>
            <a:ext cx="157716" cy="140005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55037" y="1463040"/>
            <a:ext cx="21945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1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차별성</a:t>
            </a:r>
            <a:endParaRPr sz="11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4" name="Rounded Rectangle 6"/>
          <p:cNvSpPr/>
          <p:nvPr/>
        </p:nvSpPr>
        <p:spPr>
          <a:xfrm>
            <a:off x="8021668" y="1759405"/>
            <a:ext cx="3591212" cy="1400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7"/>
          <p:cNvSpPr/>
          <p:nvPr/>
        </p:nvSpPr>
        <p:spPr>
          <a:xfrm>
            <a:off x="8021667" y="1759405"/>
            <a:ext cx="157716" cy="140005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19387" y="1463040"/>
            <a:ext cx="21945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1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제안</a:t>
            </a:r>
            <a:endParaRPr sz="11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829214" y="2149640"/>
            <a:ext cx="32004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원인 분리 및 독립 측정</a:t>
            </a:r>
            <a:endParaRPr sz="16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006094" y="2291939"/>
            <a:ext cx="3655694" cy="35548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Skew-aware </a:t>
            </a:r>
            <a:r>
              <a:rPr lang="en-US" sz="16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Stratified</a:t>
            </a:r>
            <a:r>
              <a:rPr lang="en-US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Sampling</a:t>
            </a:r>
            <a:endParaRPr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63" name="Oval 29"/>
          <p:cNvSpPr/>
          <p:nvPr/>
        </p:nvSpPr>
        <p:spPr>
          <a:xfrm>
            <a:off x="633761" y="6160978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latin typeface="Apple SD Gothic Neo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66714" y="5633161"/>
            <a:ext cx="10656064" cy="33823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SYSTEM → BERN → KM20</a:t>
            </a:r>
            <a:endParaRPr sz="16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45DBAF-15D4-3162-2F92-C12E2C7B7D72}"/>
              </a:ext>
            </a:extLst>
          </p:cNvPr>
          <p:cNvSpPr txBox="1"/>
          <p:nvPr/>
        </p:nvSpPr>
        <p:spPr>
          <a:xfrm>
            <a:off x="731520" y="621792"/>
            <a:ext cx="10515600" cy="53245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" altLang="ko-KR" sz="2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3. Our Approach — Skew-Aware Sampling</a:t>
            </a:r>
            <a:endParaRPr lang="en" altLang="ko-KR"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7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029200" cy="27430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실험</a:t>
            </a: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셋업</a:t>
            </a:r>
            <a:endParaRPr sz="1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673352"/>
            <a:ext cx="128016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  <a:endParaRPr sz="105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20240" y="1655064"/>
            <a:ext cx="3657600" cy="2308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DEEP 1M subset · 96d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1280160" cy="2308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쿼리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039112"/>
            <a:ext cx="3657600" cy="2308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100 query × 6 selectivity × 5-seed = 3000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41448"/>
            <a:ext cx="128016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지표 (글로벌)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423160"/>
            <a:ext cx="3657600" cy="2308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Fisher γ, tail ratio, P99/P50, skewness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25496"/>
            <a:ext cx="128016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지표 (로컬)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36524" y="2807208"/>
            <a:ext cx="3657600" cy="4247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k-NN entropy, PCA EVR1, KDE modality, NN clustering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4903" y="3510813"/>
            <a:ext cx="5029200" cy="27430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주요</a:t>
            </a: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발견</a:t>
            </a:r>
            <a:endParaRPr sz="1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48640" y="3898134"/>
            <a:ext cx="5074920" cy="149682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026566"/>
            <a:ext cx="4800600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①</a:t>
            </a:r>
            <a:r>
              <a:rPr lang="en-US"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글로벌</a:t>
            </a:r>
            <a:r>
              <a:rPr lang="en-US" altLang="ko-KR"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lang="ko-KR" altLang="en-US"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로컬 지표 모두 </a:t>
            </a:r>
            <a:r>
              <a:rPr lang="en-US" altLang="ko-KR"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Q-error</a:t>
            </a:r>
            <a:r>
              <a:rPr lang="ko-KR" altLang="en-US"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와 안정적인 상관을 보이지 않음</a:t>
            </a:r>
            <a:endParaRPr lang="en-US" altLang="ko-KR" sz="11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45000"/>
              </a:lnSpc>
            </a:pPr>
            <a:endParaRPr sz="11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spcAft>
                <a:spcPts val="600"/>
              </a:spcAft>
            </a:pPr>
            <a:r>
              <a:rPr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②</a:t>
            </a:r>
            <a:r>
              <a:rPr lang="en-US"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로컬 </a:t>
            </a:r>
            <a:r>
              <a:rPr lang="en-US" altLang="ko-KR"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 </a:t>
            </a:r>
            <a:r>
              <a:rPr lang="ko-KR" altLang="en-US"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지표 </a:t>
            </a:r>
            <a:r>
              <a:rPr lang="en-US" altLang="ko-KR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x 6 selectivity</a:t>
            </a:r>
            <a:r>
              <a:rPr lang="ko-KR" altLang="en-US"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 </a:t>
            </a:r>
            <a:r>
              <a:rPr lang="en-US" altLang="ko-KR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Spearman |</a:t>
            </a:r>
            <a:r>
              <a:rPr lang="el-GR" altLang="ko-KR" sz="1200" b="1" dirty="0">
                <a:latin typeface="Apple SD Gothic Neo"/>
                <a:ea typeface="Apple SD Gothic Neo"/>
                <a:cs typeface="Apple SD Gothic Neo"/>
              </a:rPr>
              <a:t>ρ</a:t>
            </a:r>
            <a:r>
              <a:rPr lang="en-US" altLang="ko-KR" sz="1200" b="1" dirty="0">
                <a:latin typeface="Apple SD Gothic Neo"/>
                <a:ea typeface="Apple SD Gothic Neo"/>
                <a:cs typeface="Apple SD Gothic Neo"/>
              </a:rPr>
              <a:t>| &lt;  0.2</a:t>
            </a:r>
            <a:endParaRPr lang="en-US" altLang="ko-KR" sz="1100" b="1" dirty="0">
              <a:latin typeface="Apple SD Gothic Neo"/>
            </a:endParaRPr>
          </a:p>
          <a:p>
            <a:pPr>
              <a:spcAft>
                <a:spcPts val="600"/>
              </a:spcAft>
            </a:pPr>
            <a:endParaRPr sz="11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③</a:t>
            </a:r>
            <a:r>
              <a:rPr lang="en-US"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query-side feature</a:t>
            </a:r>
            <a:r>
              <a:rPr lang="ko-KR" altLang="en-US"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만으로 어떤 영역을 더 </a:t>
            </a:r>
            <a:r>
              <a:rPr lang="ko-KR" altLang="en-US" sz="11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샘플링해야</a:t>
            </a:r>
            <a:r>
              <a:rPr lang="ko-KR" altLang="en-US"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할지 결정하기 어려움</a:t>
            </a:r>
            <a:endParaRPr sz="11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852160" y="1325880"/>
            <a:ext cx="5852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Phase 5 Local Skew × Selectivity Spearman 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4160520"/>
            <a:ext cx="5806440" cy="39857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Phase 5 — </a:t>
            </a:r>
            <a:r>
              <a:rPr sz="1000" b="1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로컬</a:t>
            </a: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4 </a:t>
            </a:r>
            <a:r>
              <a:rPr sz="1000" b="1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지표</a:t>
            </a: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× 6 selectivity = 24 </a:t>
            </a:r>
            <a:r>
              <a:rPr sz="1000" b="1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조합</a:t>
            </a: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모두</a:t>
            </a: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|ρ| &lt; 0.2</a:t>
            </a:r>
            <a:endParaRPr lang="en-US" sz="10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Local Skew </a:t>
            </a:r>
            <a:r>
              <a:rPr lang="ko-KR" altLang="en-US"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지표도 </a:t>
            </a:r>
            <a:r>
              <a:rPr lang="en-US" altLang="ko-KR"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Q-error</a:t>
            </a:r>
            <a:r>
              <a:rPr lang="ko-KR" altLang="en-US"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와 약한 상관만 보임</a:t>
            </a:r>
            <a:endParaRPr sz="10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4" name="Rounded Rectangle 22"/>
          <p:cNvSpPr/>
          <p:nvPr/>
        </p:nvSpPr>
        <p:spPr>
          <a:xfrm>
            <a:off x="548640" y="5606649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732762"/>
            <a:ext cx="10515600" cy="3170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→  </a:t>
            </a:r>
            <a:r>
              <a:rPr lang="en-US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Query-side feature</a:t>
            </a:r>
            <a:r>
              <a:rPr lang="ko-KR" altLang="en-US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만으로 </a:t>
            </a:r>
            <a:r>
              <a:rPr lang="en-US" altLang="ko-KR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sampling layer</a:t>
            </a:r>
            <a:r>
              <a:rPr lang="ko-KR" altLang="en-US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를 정하기 어렵다</a:t>
            </a:r>
            <a:r>
              <a:rPr lang="en-US" altLang="ko-KR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400" b="1" dirty="0">
              <a:solidFill>
                <a:srgbClr val="FAFAF9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0C0F9-35B0-B2AA-1EB8-C5BE1D833D05}"/>
              </a:ext>
            </a:extLst>
          </p:cNvPr>
          <p:cNvSpPr txBox="1"/>
          <p:nvPr/>
        </p:nvSpPr>
        <p:spPr>
          <a:xfrm>
            <a:off x="731520" y="621792"/>
            <a:ext cx="10515600" cy="53245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" altLang="ko-KR" sz="2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4-1. RQ1 — Query-side Skew</a:t>
            </a:r>
            <a:r>
              <a:rPr lang="ko-KR" altLang="en-US" sz="2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지표는 </a:t>
            </a:r>
            <a:r>
              <a:rPr lang="en" altLang="ko-KR" sz="2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Q-error</a:t>
            </a:r>
            <a:r>
              <a:rPr lang="ko-KR" altLang="en-US" sz="28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를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2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설명하지 못했다</a:t>
            </a:r>
            <a:endParaRPr lang="ko-KR" altLang="en-US"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727881"/>
            <a:ext cx="5806440" cy="21117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8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7315200" cy="223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AFAF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select</a:t>
                      </a:r>
                      <a:endParaRPr sz="12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AFAF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SYS(block)</a:t>
                      </a:r>
                      <a:endParaRPr sz="12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AFAF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BERN</a:t>
                      </a:r>
                      <a:r>
                        <a:rPr lang="en-US" sz="1200" b="1" dirty="0">
                          <a:solidFill>
                            <a:srgbClr val="FAFAF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(row)</a:t>
                      </a:r>
                      <a:endParaRPr sz="12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AFAF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diff%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AFAF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p-value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AFAF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행 단위 우위</a:t>
                      </a:r>
                      <a:endParaRPr sz="12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6/8</a:t>
                      </a:r>
                      <a:endParaRPr sz="1200" b="0" dirty="0">
                        <a:solidFill>
                          <a:srgbClr val="171717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0.010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1.558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1.299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+20.0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0.240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45/40</a:t>
                      </a:r>
                      <a:endParaRPr sz="1200" b="0" dirty="0">
                        <a:solidFill>
                          <a:srgbClr val="171717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AFAF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58/37</a:t>
                      </a:r>
                      <a:endParaRPr sz="12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0.100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1.212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1.132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+7.0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AFAF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66/31</a:t>
                      </a:r>
                      <a:endParaRPr sz="12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+12.0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AFAF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76/24</a:t>
                      </a:r>
                      <a:endParaRPr sz="12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73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0.500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1.153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1.052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+9.6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AFAF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78/22</a:t>
                      </a:r>
                      <a:endParaRPr sz="12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92440" y="1417320"/>
            <a:ext cx="3657600" cy="307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Takeaways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737360"/>
            <a:ext cx="3611880" cy="21018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06740" y="1832182"/>
            <a:ext cx="3383280" cy="179510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①</a:t>
            </a:r>
            <a:r>
              <a:rPr 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s=0.05~0.5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</a:t>
            </a:r>
            <a:r>
              <a:rPr 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BERN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이 </a:t>
            </a:r>
            <a:r>
              <a:rPr lang="en-US" altLang="ko-KR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SYSTEM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보다 일관되게 낮은 </a:t>
            </a:r>
            <a:r>
              <a:rPr lang="en-US" altLang="ko-KR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Q-error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②</a:t>
            </a:r>
            <a:r>
              <a:rPr 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s=0.5: median Q-error 1.1527 </a:t>
            </a: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en-US" altLang="ko-KR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 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lang="en-US" altLang="ko-KR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1.0519, +9.6%, 78/100 query 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개선</a:t>
            </a:r>
            <a:endParaRPr lang="en-US"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③</a:t>
            </a:r>
            <a:r>
              <a:rPr 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low selectivity 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에서는 </a:t>
            </a:r>
            <a:r>
              <a:rPr lang="en-US" altLang="ko-KR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true cardinality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가 작아 </a:t>
            </a:r>
            <a:r>
              <a:rPr lang="en-US" altLang="ko-KR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Q-error 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변동이 커짐</a:t>
            </a:r>
            <a:endParaRPr lang="en-US" altLang="ko-KR"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3880" y="6336632"/>
            <a:ext cx="11064240" cy="1785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Phase 4 — SYS vs BERN paired Q-error 4 panel (s=0.05/0.10/0.30/0.50)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7B0B48-14AE-2B68-807E-54FCC707A90A}"/>
              </a:ext>
            </a:extLst>
          </p:cNvPr>
          <p:cNvSpPr txBox="1"/>
          <p:nvPr/>
        </p:nvSpPr>
        <p:spPr>
          <a:xfrm>
            <a:off x="731520" y="621792"/>
            <a:ext cx="10515600" cy="53245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" altLang="ko-KR" sz="2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4-2. RQ2(1)—</a:t>
            </a:r>
            <a:r>
              <a:rPr lang="en" altLang="ko-KR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" altLang="ko-KR" sz="2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Block-level SYSTEM vs Row-level BERN</a:t>
            </a:r>
            <a:endParaRPr lang="en" altLang="ko-KR"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pic>
        <p:nvPicPr>
          <p:cNvPr id="13" name="Picture 12" descr="phase4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714" y="3931109"/>
            <a:ext cx="5433164" cy="2325706"/>
          </a:xfrm>
          <a:prstGeom prst="rect">
            <a:avLst/>
          </a:prstGeom>
        </p:spPr>
      </p:pic>
      <p:pic>
        <p:nvPicPr>
          <p:cNvPr id="14" name="Picture 13" descr="phase4_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6832" y="3932721"/>
            <a:ext cx="5433163" cy="23257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9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6858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AFAF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AFAF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5-seed 평균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AFAF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95% CI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AFAF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유의 seed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6A34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+1.64%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[+1.11, +2.18]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30%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6A34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+2.62%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[+1.45, +3.80]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5/5 (p&lt;0.001)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6A34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+4.19%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[+0.72, +7.66]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5/5 (p&lt;0.004)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+1.85%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[-0.22, +3.42]</a:t>
                      </a:r>
                      <a:endParaRPr sz="1400" b="0" dirty="0">
                        <a:solidFill>
                          <a:srgbClr val="171717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5/5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+8.93%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[+6.59, +10.95]</a:t>
                      </a:r>
                      <a:endParaRPr sz="1400" b="0" dirty="0">
                        <a:solidFill>
                          <a:srgbClr val="171717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717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1417320"/>
            <a:ext cx="4114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BERNOULLI vs STRATIFIED (KM20)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4160520"/>
            <a:ext cx="41148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Phase 6</a:t>
            </a: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— BERNOULLI vs STRATIFIED (KM20) 100 query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644651"/>
            <a:ext cx="10515600" cy="939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45000"/>
              </a:lnSpc>
            </a:pP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① s=0.500에서 KM20은 BERN 대비 +1.64%, 5-seed 95% CI [+1.11,+2.18]</a:t>
            </a:r>
          </a:p>
          <a:p>
            <a:pPr>
              <a:lnSpc>
                <a:spcPct val="145000"/>
              </a:lnSpc>
            </a:pP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② s=0.050, s=0.010에서도 개선 신호는 있으나 일부는 단일 seed / low-cardinality noise로 해석 보류</a:t>
            </a:r>
            <a:endParaRPr lang="en-US" sz="1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lnSpc>
                <a:spcPct val="145000"/>
              </a:lnSpc>
            </a:pP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③</a:t>
            </a:r>
            <a:r>
              <a:rPr 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KM20</a:t>
            </a:r>
            <a:r>
              <a:rPr lang="ko-KR" alt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의 역할은 </a:t>
            </a: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sample size </a:t>
            </a:r>
            <a:r>
              <a:rPr lang="ko-KR" alt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증가가 아니라 </a:t>
            </a: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vector-space region</a:t>
            </a:r>
            <a:r>
              <a:rPr lang="ko-KR" alt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별 </a:t>
            </a: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sample allocation </a:t>
            </a:r>
            <a:r>
              <a:rPr lang="ko-KR" alt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보정</a:t>
            </a:r>
            <a:endParaRPr sz="1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576072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5955887"/>
            <a:ext cx="10515600" cy="29546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KM20</a:t>
            </a:r>
            <a:r>
              <a:rPr lang="ko-KR" altLang="en-US" sz="1400" b="1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은 </a:t>
            </a:r>
            <a:r>
              <a:rPr lang="en-US" altLang="ko-KR" sz="1400" b="1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vector-space skew</a:t>
            </a:r>
            <a:r>
              <a:rPr lang="ko-KR" altLang="en-US" sz="1400" b="1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를 </a:t>
            </a:r>
            <a:r>
              <a:rPr lang="en-US" altLang="ko-KR" sz="1400" b="1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sample allocation</a:t>
            </a:r>
            <a:r>
              <a:rPr lang="ko-KR" altLang="en-US" sz="1400" b="1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에 반영하는 첫 번째 </a:t>
            </a:r>
            <a:r>
              <a:rPr lang="en-US" altLang="ko-KR" sz="1400" b="1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positive result</a:t>
            </a:r>
            <a:r>
              <a:rPr lang="ko-KR" altLang="en-US" sz="1400" b="1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다</a:t>
            </a:r>
            <a:r>
              <a:rPr lang="en-US" altLang="ko-KR" sz="1400" b="1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400" b="1" dirty="0">
              <a:solidFill>
                <a:schemeClr val="bg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F96AB4-6C82-7392-96BD-A9F6A3699B61}"/>
              </a:ext>
            </a:extLst>
          </p:cNvPr>
          <p:cNvSpPr txBox="1"/>
          <p:nvPr/>
        </p:nvSpPr>
        <p:spPr>
          <a:xfrm>
            <a:off x="731520" y="621792"/>
            <a:ext cx="10515600" cy="53245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" altLang="ko-KR" sz="2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4-3. RQ2(2)— KM20 Stratified: spatial allocation </a:t>
            </a:r>
            <a:r>
              <a:rPr lang="ko-KR" altLang="en-US" sz="2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추가</a:t>
            </a:r>
            <a:endParaRPr lang="ko-KR" altLang="en-US" sz="2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489" y="1783080"/>
            <a:ext cx="3840861" cy="22021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10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12080"/>
            <a:ext cx="5029200" cy="2308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외적 타당성 — DEEP 1M / 8M / SIFT 1.5M, KM20 s=0.500 효과 95% CI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4173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52160" y="1417320"/>
            <a:ext cx="164592" cy="82296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463040"/>
            <a:ext cx="292608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DEEP 1M (96d)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801368"/>
            <a:ext cx="3200400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CI [+1.11, +2.18]  ·  CV 0.234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1463039"/>
            <a:ext cx="201168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3317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52160" y="2331720"/>
            <a:ext cx="164592" cy="82296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2377440"/>
            <a:ext cx="292608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DEEP 8M (96d)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715768"/>
            <a:ext cx="3200400" cy="21762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CI [+0.65, +2.86]  ·  8x scale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377440"/>
            <a:ext cx="201168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+1.76%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32461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52160" y="3246120"/>
            <a:ext cx="164592" cy="8229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0" y="3291840"/>
            <a:ext cx="292608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SIFT 1.5M (128d)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630168"/>
            <a:ext cx="3200400" cy="21762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CI [+2.66, +3.48]  ·  CV 0.394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291840"/>
            <a:ext cx="201168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+3.07%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5271" y="4223150"/>
            <a:ext cx="5813329" cy="27430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주요</a:t>
            </a: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발견</a:t>
            </a: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+ </a:t>
            </a: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시사점</a:t>
            </a:r>
            <a:endParaRPr sz="1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845271" y="4570246"/>
            <a:ext cx="5760720" cy="115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① DEEP 1M ↔ 8M : CI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겹침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(CONSISTENT)</a:t>
            </a:r>
            <a:endParaRPr lang="en-US" sz="14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30000"/>
              </a:lnSpc>
            </a:pP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② </a:t>
            </a:r>
            <a:r>
              <a:rPr 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SIFT</a:t>
            </a:r>
            <a:r>
              <a:rPr 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:</a:t>
            </a: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DEEP</a:t>
            </a: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보다 더 큰 </a:t>
            </a:r>
            <a:r>
              <a:rPr lang="ko-KR" altLang="en-US" sz="140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개선폭</a:t>
            </a: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  <a:p>
            <a:pPr algn="l">
              <a:lnSpc>
                <a:spcPct val="130000"/>
              </a:lnSpc>
            </a:pP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	→ </a:t>
            </a: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더 </a:t>
            </a: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skewed </a:t>
            </a: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한 데이터에서 </a:t>
            </a: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KM20 </a:t>
            </a: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효과 증가 가능성</a:t>
            </a:r>
            <a:endParaRPr lang="en-US" sz="14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30000"/>
              </a:lnSpc>
            </a:pP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③ skewed ↑ ⇒ spatial-aware 가치 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42CEC1-D2A7-0FBA-69CE-0C4BBEEC3AE0}"/>
              </a:ext>
            </a:extLst>
          </p:cNvPr>
          <p:cNvSpPr txBox="1"/>
          <p:nvPr/>
        </p:nvSpPr>
        <p:spPr>
          <a:xfrm>
            <a:off x="731520" y="621792"/>
            <a:ext cx="10515600" cy="53245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" altLang="ko-KR" sz="2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4-4. External Validity— s=0.500</a:t>
            </a:r>
            <a:r>
              <a:rPr lang="ko-KR" altLang="en-US" sz="2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 </a:t>
            </a:r>
            <a:r>
              <a:rPr lang="en-US" altLang="ko-KR" sz="2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  <a:r>
              <a:rPr lang="ko-KR" altLang="en-US" sz="2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개 데이터셋 교차 검증</a:t>
            </a:r>
            <a:endParaRPr lang="ko-KR" altLang="en-US"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38" y="1417320"/>
            <a:ext cx="4619918" cy="34553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11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66881"/>
            <a:ext cx="10515600" cy="2839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▣ Recovery Rate = (</a:t>
            </a:r>
            <a:r>
              <a:rPr sz="1400" b="1" dirty="0" err="1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방법X</a:t>
            </a:r>
            <a:r>
              <a:rPr sz="1400" b="1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 − RANDOM20) / (KM20 − RANDOM20)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457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212848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Offline Partition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97480"/>
            <a:ext cx="320040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22960" y="2944368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2880360"/>
            <a:ext cx="3108960" cy="295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Random</a:t>
            </a:r>
            <a:r>
              <a:rPr 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Projection</a:t>
            </a:r>
            <a:endParaRPr sz="1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822960" y="3484991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420983"/>
            <a:ext cx="3108960" cy="295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MiniBatch k-means</a:t>
            </a:r>
            <a:endParaRPr sz="1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822960" y="4000562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3936554"/>
            <a:ext cx="3108960" cy="295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Hash partition (LSH)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26279" y="2194560"/>
            <a:ext cx="457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19" y="2212848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Online Query-Adaptive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79" y="2697480"/>
            <a:ext cx="320040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571999" y="2944368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00599" y="2880360"/>
            <a:ext cx="3108960" cy="295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Distance-Shell sampling</a:t>
            </a:r>
            <a:endParaRPr sz="1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4571999" y="3510043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00599" y="3446035"/>
            <a:ext cx="3108960" cy="295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KDE-pilot</a:t>
            </a:r>
            <a:endParaRPr sz="1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04671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75319" y="2194560"/>
            <a:ext cx="457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P3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59" y="2212848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Weight-based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19" y="2697480"/>
            <a:ext cx="320040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21039" y="2944368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49639" y="2880360"/>
            <a:ext cx="3108960" cy="2728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Importance sampling</a:t>
            </a:r>
          </a:p>
        </p:txBody>
      </p:sp>
      <p:sp>
        <p:nvSpPr>
          <p:cNvPr id="35" name="Oval 34"/>
          <p:cNvSpPr/>
          <p:nvPr/>
        </p:nvSpPr>
        <p:spPr>
          <a:xfrm>
            <a:off x="8321039" y="3503780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49639" y="3447288"/>
            <a:ext cx="3108960" cy="2728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Density-based reweighting</a:t>
            </a:r>
            <a:endParaRPr sz="1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" y="5074920"/>
            <a:ext cx="11064240" cy="27430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평가 조건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49240"/>
            <a:ext cx="11064240" cy="28424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  DEEP 1M · 8M · SIFT 1.5M 3 데이터셋 × 5-seed × 5 selectivity 동일 조건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 dirty="0">
              <a:latin typeface="Apple SD Gothic Neo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77240" y="5835065"/>
            <a:ext cx="10515600" cy="27193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★</a:t>
            </a:r>
            <a:r>
              <a:rPr lang="en-US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목표</a:t>
            </a:r>
            <a:r>
              <a:rPr lang="en-US" altLang="ko-KR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: </a:t>
            </a:r>
            <a:r>
              <a:rPr lang="ko-KR" altLang="en-US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적어도 하나의 저비용 방법이 </a:t>
            </a:r>
            <a:r>
              <a:rPr lang="en-US" altLang="ko-KR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KM20 </a:t>
            </a:r>
            <a:r>
              <a:rPr lang="ko-KR" altLang="en-US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효과의 </a:t>
            </a:r>
            <a:r>
              <a:rPr lang="en-US" altLang="ko-KR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50% </a:t>
            </a:r>
            <a:r>
              <a:rPr lang="ko-KR" altLang="en-US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이상을 회수하는지 검증</a:t>
            </a:r>
            <a:endParaRPr sz="1400" b="1" dirty="0">
              <a:solidFill>
                <a:srgbClr val="FAFAF9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0ACE09-37F0-D48E-A25C-7DACBD5020F0}"/>
              </a:ext>
            </a:extLst>
          </p:cNvPr>
          <p:cNvSpPr txBox="1"/>
          <p:nvPr/>
        </p:nvSpPr>
        <p:spPr>
          <a:xfrm>
            <a:off x="731520" y="621792"/>
            <a:ext cx="10515600" cy="53245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" altLang="ko-KR" sz="2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4-5. RQ3(Design)— spatial-unawareness</a:t>
            </a:r>
            <a:r>
              <a:rPr lang="ko-KR" altLang="en-US" sz="2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에서의 </a:t>
            </a:r>
            <a:r>
              <a:rPr lang="en" altLang="ko-KR" sz="2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Recovery Rate</a:t>
            </a:r>
            <a:endParaRPr lang="en" altLang="ko-KR" sz="2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12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269748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W1 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237744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4/4~4/11</a:t>
            </a:r>
            <a:endParaRPr sz="12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37744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환경 인수인계</a:t>
            </a:r>
            <a:r>
              <a:rPr lang="ko-KR" altLang="en-US" sz="1300" dirty="0"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altLang="ko-KR" sz="1300" dirty="0">
                <a:latin typeface="Apple SD Gothic Neo"/>
                <a:ea typeface="Apple SD Gothic Neo"/>
                <a:cs typeface="Apple SD Gothic Neo"/>
              </a:rPr>
              <a:t>·</a:t>
            </a:r>
            <a:r>
              <a:rPr lang="ko-KR" altLang="en-US" sz="1300" b="1" dirty="0" err="1">
                <a:latin typeface="Apple SD Gothic Neo"/>
                <a:ea typeface="Apple SD Gothic Neo"/>
                <a:cs typeface="Apple SD Gothic Neo"/>
              </a:rPr>
              <a:t>빌드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2468880" cy="5265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lang="en-US" sz="1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Exqutor</a:t>
            </a:r>
            <a:r>
              <a:rPr 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source  /    </a:t>
            </a:r>
          </a:p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 dataset / server</a:t>
            </a:r>
            <a:r>
              <a:rPr lang="en-US" altLang="ko-KR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인계</a:t>
            </a:r>
            <a:endParaRPr lang="en-US"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2468880" cy="525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</a:t>
            </a:r>
            <a:r>
              <a:rPr 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 </a:t>
            </a:r>
            <a:r>
              <a:rPr 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PostgreSQL + </a:t>
            </a:r>
            <a:r>
              <a:rPr lang="en-US" sz="1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pgvector</a:t>
            </a:r>
            <a:r>
              <a:rPr 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  + </a:t>
            </a:r>
            <a:r>
              <a:rPr lang="en-US" sz="1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Exqutor</a:t>
            </a:r>
            <a:r>
              <a:rPr 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build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2468880" cy="24878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</a:t>
            </a:r>
            <a:r>
              <a:rPr 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 </a:t>
            </a:r>
            <a:r>
              <a:rPr lang="ko-KR" altLang="en-US"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실험 테이블 및 실행 환경 </a:t>
            </a:r>
            <a:r>
              <a:rPr lang="ko-KR" altLang="en-US" sz="11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세팅</a:t>
            </a:r>
            <a:endParaRPr sz="11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33756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20440" y="1490472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W2 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057400"/>
            <a:ext cx="237744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4/1</a:t>
            </a:r>
            <a:r>
              <a:rPr lang="en-US" sz="12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sz="12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~4/1</a:t>
            </a:r>
            <a:r>
              <a:rPr lang="en-US" sz="12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  <a:endParaRPr sz="12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20440" y="2377440"/>
            <a:ext cx="246888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RQ1</a:t>
            </a:r>
            <a:r>
              <a:rPr 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구조분석 </a:t>
            </a:r>
            <a:r>
              <a:rPr lang="en-US" altLang="ko-KR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+ RQ2 </a:t>
            </a:r>
            <a:r>
              <a:rPr lang="ko-KR" alt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본 측정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20440" y="283464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 </a:t>
            </a:r>
            <a:r>
              <a:rPr 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Single-table AS branch </a:t>
            </a:r>
          </a:p>
          <a:p>
            <a:pPr algn="l">
              <a:lnSpc>
                <a:spcPct val="140000"/>
              </a:lnSpc>
            </a:pPr>
            <a:r>
              <a:rPr lang="en-US" altLang="ko-KR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 </a:t>
            </a:r>
            <a:r>
              <a:rPr lang="ko-KR" altLang="en-US"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비활성 확인</a:t>
            </a:r>
            <a:endParaRPr sz="11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20440" y="333756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</a:t>
            </a:r>
            <a:r>
              <a:rPr lang="en-US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 </a:t>
            </a:r>
            <a:r>
              <a:rPr 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Forced hook 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적용 시 </a:t>
            </a:r>
            <a:endParaRPr lang="en-US" altLang="ko-KR"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40000"/>
              </a:lnSpc>
            </a:pPr>
            <a:r>
              <a:rPr lang="en-US" altLang="ko-KR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 Sample Scan 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부작용 확인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20440" y="384048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40000"/>
              </a:lnSpc>
            </a:pPr>
            <a:r>
              <a:rPr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SYSTEM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  <a:r>
              <a:rPr lang="en-US" altLang="ko-KR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BERN, BERN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  <a:r>
              <a:rPr lang="en-US" altLang="ko-KR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KM20</a:t>
            </a:r>
          </a:p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 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본 측정 시작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12647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79" y="1417320"/>
            <a:ext cx="269748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59" y="1490472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W3 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057400"/>
            <a:ext cx="237744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</a:t>
            </a:r>
            <a:r>
              <a:rPr lang="en-US" sz="12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  <a:r>
              <a:rPr sz="12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~4/</a:t>
            </a:r>
            <a:r>
              <a:rPr lang="en-US" sz="12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  <a:endParaRPr sz="12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09359" y="2377440"/>
            <a:ext cx="237744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외적 타당성 </a:t>
            </a:r>
            <a:r>
              <a:rPr lang="en-US" altLang="ko-KR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+ </a:t>
            </a:r>
            <a:r>
              <a:rPr lang="ko-KR" alt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원인분석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09359" y="283464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 </a:t>
            </a:r>
            <a:r>
              <a:rPr lang="en-US" altLang="ko-KR" sz="1200" b="1" dirty="0">
                <a:latin typeface="Apple SD Gothic Neo"/>
                <a:ea typeface="Apple SD Gothic Neo"/>
                <a:cs typeface="Apple SD Gothic Neo"/>
              </a:rPr>
              <a:t>DEEP 8M / SIFT 1.5M</a:t>
            </a:r>
          </a:p>
          <a:p>
            <a:pPr>
              <a:lnSpc>
                <a:spcPct val="140000"/>
              </a:lnSpc>
            </a:pPr>
            <a:r>
              <a:rPr lang="en-US" altLang="ko-KR" sz="1200" b="1" dirty="0">
                <a:latin typeface="Apple SD Gothic Neo"/>
                <a:ea typeface="Apple SD Gothic Neo"/>
                <a:cs typeface="Apple SD Gothic Neo"/>
              </a:rPr>
              <a:t>  </a:t>
            </a:r>
            <a:r>
              <a:rPr lang="ko-KR" altLang="en-US" sz="1200" b="1" dirty="0">
                <a:latin typeface="Apple SD Gothic Neo"/>
                <a:ea typeface="Apple SD Gothic Neo"/>
                <a:cs typeface="Apple SD Gothic Neo"/>
              </a:rPr>
              <a:t>교차 검증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09359" y="3337560"/>
            <a:ext cx="2468880" cy="295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40000"/>
              </a:lnSpc>
            </a:pPr>
            <a:r>
              <a:rPr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 </a:t>
            </a:r>
            <a:r>
              <a:rPr lang="en-US" altLang="ko-KR" sz="1200" b="1" dirty="0">
                <a:latin typeface="Apple SD Gothic Neo"/>
                <a:ea typeface="Apple SD Gothic Neo"/>
                <a:cs typeface="Apple SD Gothic Neo"/>
              </a:rPr>
              <a:t>5-seed 95% CI </a:t>
            </a:r>
            <a:r>
              <a:rPr lang="ko-KR" altLang="en-US" sz="1200" b="1" dirty="0">
                <a:latin typeface="Apple SD Gothic Neo"/>
                <a:ea typeface="Apple SD Gothic Neo"/>
                <a:cs typeface="Apple SD Gothic Neo"/>
              </a:rPr>
              <a:t>산출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09359" y="384048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 </a:t>
            </a:r>
            <a:r>
              <a:rPr lang="en-US" altLang="ko-KR" sz="1200" b="1" dirty="0">
                <a:latin typeface="Apple SD Gothic Neo"/>
                <a:ea typeface="Apple SD Gothic Neo"/>
                <a:cs typeface="Apple SD Gothic Neo"/>
              </a:rPr>
              <a:t>RANDOM20 / Two-Level /</a:t>
            </a:r>
          </a:p>
          <a:p>
            <a:pPr>
              <a:lnSpc>
                <a:spcPct val="140000"/>
              </a:lnSpc>
            </a:pPr>
            <a:r>
              <a:rPr lang="en-US" altLang="ko-KR" sz="1200" b="1" dirty="0">
                <a:latin typeface="Apple SD Gothic Neo"/>
                <a:ea typeface="Apple SD Gothic Neo"/>
                <a:cs typeface="Apple SD Gothic Neo"/>
              </a:rPr>
              <a:t>  HHI / CV </a:t>
            </a:r>
            <a:r>
              <a:rPr lang="ko-KR" altLang="en-US" sz="1200" b="1" dirty="0">
                <a:latin typeface="Apple SD Gothic Neo"/>
                <a:ea typeface="Apple SD Gothic Neo"/>
                <a:cs typeface="Apple SD Gothic Neo"/>
              </a:rPr>
              <a:t>분석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91539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915399" y="1417320"/>
            <a:ext cx="2697480" cy="5029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98279" y="1490472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01010"/>
                </a:solidFill>
                <a:latin typeface="Apple SD Gothic Neo"/>
                <a:ea typeface="Apple SD Gothic Neo"/>
                <a:cs typeface="Apple SD Gothic Neo"/>
              </a:rPr>
              <a:t>W4  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79" y="2057400"/>
            <a:ext cx="2377440" cy="23993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</a:t>
            </a:r>
            <a:r>
              <a:rPr lang="en-US" sz="12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sz="12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7~4/28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79" y="2377440"/>
            <a:ext cx="2377440" cy="25731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중간 산출물 정리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098279" y="2834640"/>
            <a:ext cx="246888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 </a:t>
            </a:r>
            <a:r>
              <a:rPr lang="ko-KR" altLang="en-US" sz="1200" b="1" dirty="0">
                <a:latin typeface="Apple SD Gothic Neo"/>
                <a:ea typeface="Apple SD Gothic Neo"/>
                <a:cs typeface="Apple SD Gothic Neo"/>
              </a:rPr>
              <a:t>중간보고서 최종화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098279" y="3337560"/>
            <a:ext cx="246888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</a:t>
            </a:r>
            <a:r>
              <a:rPr 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발표자료 정리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098279" y="3840480"/>
            <a:ext cx="246888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 </a:t>
            </a:r>
            <a:r>
              <a:rPr lang="ko-KR" altLang="en-US" sz="1200" b="1" dirty="0">
                <a:latin typeface="Apple SD Gothic Neo"/>
                <a:ea typeface="Apple SD Gothic Neo"/>
                <a:cs typeface="Apple SD Gothic Neo"/>
              </a:rPr>
              <a:t>코드</a:t>
            </a:r>
            <a:r>
              <a:rPr lang="en-US" altLang="ko-KR" sz="1200" b="1" dirty="0">
                <a:latin typeface="Apple SD Gothic Neo"/>
                <a:ea typeface="Apple SD Gothic Neo"/>
                <a:cs typeface="Apple SD Gothic Neo"/>
              </a:rPr>
              <a:t>·</a:t>
            </a:r>
            <a:r>
              <a:rPr lang="ko-KR" altLang="en-US" sz="1200" b="1" dirty="0">
                <a:latin typeface="Apple SD Gothic Neo"/>
                <a:ea typeface="Apple SD Gothic Neo"/>
                <a:cs typeface="Apple SD Gothic Neo"/>
              </a:rPr>
              <a:t>결과 재현 가능 형태로 보존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944067-8D4A-AEF6-9843-E1EEF30CE812}"/>
              </a:ext>
            </a:extLst>
          </p:cNvPr>
          <p:cNvSpPr txBox="1"/>
          <p:nvPr/>
        </p:nvSpPr>
        <p:spPr>
          <a:xfrm>
            <a:off x="731520" y="621792"/>
            <a:ext cx="10515600" cy="53245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" altLang="ko-KR" sz="2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5-1. Current Progress</a:t>
            </a:r>
            <a:endParaRPr lang="en" altLang="ko-KR"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13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526835"/>
            <a:ext cx="155448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4/29~5/6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484303"/>
            <a:ext cx="32004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RQ</a:t>
            </a:r>
            <a:r>
              <a:rPr 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lang="ko-KR" alt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보강 </a:t>
            </a:r>
            <a:r>
              <a:rPr lang="en-US" altLang="ko-KR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+ RQ3 Offline Pilot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46520" y="1526835"/>
            <a:ext cx="52120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Low-selectivity </a:t>
            </a:r>
            <a:r>
              <a:rPr lang="ko-KR" alt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구간 반복 실험 보강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057400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121195"/>
            <a:ext cx="155448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5/7~5/13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078663"/>
            <a:ext cx="32004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RQ3</a:t>
            </a:r>
            <a:r>
              <a:rPr 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Offline </a:t>
            </a: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5-seed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21195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선별된</a:t>
            </a: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1~2 </a:t>
            </a:r>
            <a:r>
              <a:rPr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방법</a:t>
            </a: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5-seed × 3 </a:t>
            </a:r>
            <a:r>
              <a:rPr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— Recovery Rate </a:t>
            </a:r>
            <a:r>
              <a:rPr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산출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48640" y="26060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2651760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715555"/>
            <a:ext cx="155448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5/14~5/20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2673023"/>
            <a:ext cx="32004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RQ3</a:t>
            </a:r>
            <a:r>
              <a:rPr 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Online / Weight-based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46520" y="2715555"/>
            <a:ext cx="52120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Distance-Shell, KDE-pilot </a:t>
            </a:r>
            <a:r>
              <a:rPr lang="ko-KR" altLang="en-US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등 </a:t>
            </a:r>
            <a:r>
              <a:rPr lang="en-US" altLang="ko-KR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query-adaptive </a:t>
            </a:r>
            <a:r>
              <a:rPr lang="ko-KR" altLang="en-US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후보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370332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48640" y="320040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3246120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309915"/>
            <a:ext cx="15544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5/21~5/27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3267383"/>
            <a:ext cx="32004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민감도 분석</a:t>
            </a: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+ </a:t>
            </a:r>
            <a:r>
              <a:rPr sz="13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최종발표</a:t>
            </a: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준비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46520" y="3309915"/>
            <a:ext cx="52120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Sample_size</a:t>
            </a:r>
            <a:r>
              <a:rPr 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sensitivity, K sweep = 10/20/30/50, BERN </a:t>
            </a:r>
            <a:r>
              <a:rPr lang="ko-KR" alt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최적화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429768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48640" y="379476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3840480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3904275"/>
            <a:ext cx="15544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5/28~6/4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3861743"/>
            <a:ext cx="32004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최종발표</a:t>
            </a: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+ </a:t>
            </a:r>
            <a:r>
              <a:rPr sz="13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전시회</a:t>
            </a:r>
            <a:r>
              <a:rPr 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준비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46520" y="3904275"/>
            <a:ext cx="52120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Q&amp;A </a:t>
            </a:r>
            <a:r>
              <a:rPr lang="ko-KR" alt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예상 질문 정리</a:t>
            </a:r>
            <a:r>
              <a:rPr lang="en-US" altLang="ko-KR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lang="ko-KR" alt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발표</a:t>
            </a:r>
            <a:r>
              <a:rPr lang="en-US" altLang="ko-KR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/</a:t>
            </a:r>
            <a:r>
              <a:rPr lang="ko-KR" alt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포스터 준비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48640" y="489204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48640" y="43891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4434840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8760" y="4498635"/>
            <a:ext cx="155448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6/5~6/11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4680" y="4456103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최종보고서</a:t>
            </a: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작성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46520" y="4498635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RQ1 + RQ2 + RQ3 통합 + 실험 재현 가이드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3B419C-070E-DF9B-4FEB-518A224BF8AB}"/>
              </a:ext>
            </a:extLst>
          </p:cNvPr>
          <p:cNvSpPr txBox="1"/>
          <p:nvPr/>
        </p:nvSpPr>
        <p:spPr>
          <a:xfrm>
            <a:off x="731520" y="621792"/>
            <a:ext cx="10515600" cy="53245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5-2. </a:t>
            </a:r>
            <a:r>
              <a:rPr lang="ko-KR" altLang="en-US" sz="2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향후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2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계획</a:t>
            </a:r>
            <a:endParaRPr lang="ko-KR" altLang="en-US"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0" y="2377440"/>
            <a:ext cx="219456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606040"/>
            <a:ext cx="12191695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800" b="1" dirty="0" err="1">
                <a:latin typeface="Apple SD Gothic Neo"/>
                <a:ea typeface="Apple SD Gothic Neo"/>
                <a:cs typeface="Apple SD Gothic Neo"/>
              </a:rPr>
              <a:t>감사합니다</a:t>
            </a:r>
            <a:endParaRPr sz="5800" b="1" dirty="0"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749039"/>
            <a:ext cx="12191695" cy="35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800" b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Q &amp; A</a:t>
            </a:r>
            <a:endParaRPr sz="1800" b="0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440680"/>
            <a:ext cx="121916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박세은 (팀장) · 강재현 · 조현빈 · 이동욱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1423</Words>
  <Application>Microsoft Macintosh PowerPoint</Application>
  <PresentationFormat>와이드스크린</PresentationFormat>
  <Paragraphs>292</Paragraphs>
  <Slides>14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Apple SD Gothic Neo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조현빈</dc:creator>
  <cp:lastModifiedBy>조현빈</cp:lastModifiedBy>
  <cp:revision>6</cp:revision>
  <dcterms:created xsi:type="dcterms:W3CDTF">2026-04-28T11:33:19Z</dcterms:created>
  <dcterms:modified xsi:type="dcterms:W3CDTF">2026-04-28T13:35:27Z</dcterms:modified>
</cp:coreProperties>
</file>
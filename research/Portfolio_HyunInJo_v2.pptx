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3D7DDE"/>
                </a:solidFill>
                <a:latin typeface="Segoe UI"/>
              </a:rPr>
              <a:t>SAMSUNG RESEARCH  ·  SPATIAL AUDIO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200" b="1">
                <a:solidFill>
                  <a:srgbClr val="FFFFFF"/>
                </a:solidFill>
                <a:latin typeface="Segoe UI"/>
              </a:rPr>
              <a:t>Spatial Audio Research &amp;
Perception-driven Quality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2367" y="3291840"/>
            <a:ext cx="2286000" cy="777240"/>
          </a:xfrm>
          <a:prstGeom prst="roundRect">
            <a:avLst/>
          </a:prstGeom>
          <a:solidFill>
            <a:srgbClr val="1A30A5"/>
          </a:solidFill>
          <a:ln w="9525">
            <a:solidFill>
              <a:srgbClr val="4D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2367" y="3364992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2367" y="3749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B0C4EE"/>
                </a:solidFill>
                <a:latin typeface="Segoe UI"/>
              </a:rPr>
              <a:t>SCI(E) Papers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2687" y="3291840"/>
            <a:ext cx="2286000" cy="777240"/>
          </a:xfrm>
          <a:prstGeom prst="roundRect">
            <a:avLst/>
          </a:prstGeom>
          <a:solidFill>
            <a:srgbClr val="1A30A5"/>
          </a:solidFill>
          <a:ln w="9525">
            <a:solidFill>
              <a:srgbClr val="4D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2687" y="3364992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687" y="3749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B0C4EE"/>
                </a:solidFill>
                <a:latin typeface="Segoe UI"/>
              </a:rPr>
              <a:t>h-index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3291840"/>
            <a:ext cx="2286000" cy="777240"/>
          </a:xfrm>
          <a:prstGeom prst="roundRect">
            <a:avLst/>
          </a:prstGeom>
          <a:solidFill>
            <a:srgbClr val="1A30A5"/>
          </a:solidFill>
          <a:ln w="9525">
            <a:solidFill>
              <a:srgbClr val="4D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007" y="3364992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007" y="3749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B0C4EE"/>
                </a:solidFill>
                <a:latin typeface="Segoe UI"/>
              </a:rPr>
              <a:t>Patents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93327" y="3291840"/>
            <a:ext cx="2286000" cy="777240"/>
          </a:xfrm>
          <a:prstGeom prst="roundRect">
            <a:avLst/>
          </a:prstGeom>
          <a:solidFill>
            <a:srgbClr val="1A30A5"/>
          </a:solidFill>
          <a:ln w="9525">
            <a:solidFill>
              <a:srgbClr val="4D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3327" y="3364992"/>
            <a:ext cx="228600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Segoe UI"/>
              </a:rPr>
              <a:t>10+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3327" y="37490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B0C4EE"/>
                </a:solidFill>
                <a:latin typeface="Segoe UI"/>
              </a:rPr>
              <a:t>Awards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Hyun In Jo, Ph.D.  (조현인)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E7E6E2"/>
                </a:solidFill>
                <a:latin typeface="Segoe UI"/>
              </a:rPr>
              <a:t>Samsung Research · Visual Technology · Display Innovation Lab · Spatial Audio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2120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7E6E2"/>
                </a:solidFill>
                <a:latin typeface="Segoe UI"/>
              </a:rPr>
              <a:t>best2012@naver.com  |  010-6387-8402  |  linkedin.com/in/hyunin-jo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About 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718D"/>
                </a:solidFill>
                <a:latin typeface="Segoe UI"/>
              </a:rPr>
              <a:t>조현인 (Hyun In Jo, Ph.D.) — 경력 · 핵심 실적 · 전문성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09928"/>
            <a:ext cx="118872" cy="118872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" y="1828800"/>
            <a:ext cx="18288" cy="4572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3D7DDE"/>
                </a:solidFill>
                <a:latin typeface="Segoe UI"/>
              </a:rPr>
              <a:t>2013-2016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4592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B.S. 건축공학, 한양대 (수석졸업, 조기졸업)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50008"/>
            <a:ext cx="118872" cy="118872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" y="2468880"/>
            <a:ext cx="18288" cy="4572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860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3D7DDE"/>
                </a:solidFill>
                <a:latin typeface="Segoe UI"/>
              </a:rPr>
              <a:t>2016-2022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28600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Ph.D. 건축음향, 한양대 (석박통합, GPA 4.39/4.5)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90088"/>
            <a:ext cx="118872" cy="118872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" y="3108960"/>
            <a:ext cx="18288" cy="4572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92608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3D7DDE"/>
                </a:solidFill>
                <a:latin typeface="Segoe UI"/>
              </a:rPr>
              <a:t>2022.03-08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92608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Post-doc, 한국건설기술연구원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30167"/>
            <a:ext cx="118872" cy="118872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1812" y="3749039"/>
            <a:ext cx="18288" cy="4572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566159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3D7DDE"/>
                </a:solidFill>
                <a:latin typeface="Segoe UI"/>
              </a:rPr>
              <a:t>2022.08-현재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566159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현대자동차 NVH 책임연구원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70248"/>
            <a:ext cx="118872" cy="118872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062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3D7DDE"/>
                </a:solidFill>
                <a:latin typeface="Segoe UI"/>
              </a:rPr>
              <a:t>NOW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206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Samsung Research, Spatial Audio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38900" y="1684020"/>
            <a:ext cx="256032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1645920"/>
            <a:ext cx="2560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1755648"/>
            <a:ext cx="234086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13289F"/>
                </a:solidFill>
                <a:latin typeface="Segoe UI"/>
              </a:rPr>
              <a:t>SCI(E) 24편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2073402"/>
            <a:ext cx="234086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주저자 21편, h-index 18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8900" y="2644140"/>
            <a:ext cx="256032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0" y="2606040"/>
            <a:ext cx="2560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2715768"/>
            <a:ext cx="234086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13289F"/>
                </a:solidFill>
                <a:latin typeface="Segoe UI"/>
              </a:rPr>
              <a:t>EAA Best Paper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0528" y="3033522"/>
            <a:ext cx="234086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ICA 2019, I-INCE Young Professional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38900" y="3604260"/>
            <a:ext cx="256032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400800" y="3566160"/>
            <a:ext cx="2560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675888"/>
            <a:ext cx="234086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13289F"/>
                </a:solidFill>
                <a:latin typeface="Segoe UI"/>
              </a:rPr>
              <a:t>특허 6건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993642"/>
            <a:ext cx="234086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국내+미국, 기술이전 5천만원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38900" y="4564380"/>
            <a:ext cx="256032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00800" y="4526280"/>
            <a:ext cx="256032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0528" y="4636008"/>
            <a:ext cx="234086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700" b="1">
                <a:solidFill>
                  <a:srgbClr val="13289F"/>
                </a:solidFill>
                <a:latin typeface="Segoe UI"/>
              </a:rPr>
              <a:t>국제공동연구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0528" y="4953762"/>
            <a:ext cx="234086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UCL·소르본, SATP 18개국 표준화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669280"/>
            <a:ext cx="2606040" cy="6400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724144"/>
            <a:ext cx="238658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3D7DDE"/>
                </a:solidFill>
                <a:latin typeface="Segoe UI"/>
              </a:rPr>
              <a:t>Part 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925312"/>
            <a:ext cx="238658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Spatial Audio &amp;
Immersive Rendering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383280" y="5669280"/>
            <a:ext cx="2606040" cy="6400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493008" y="5724144"/>
            <a:ext cx="238658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3D7DDE"/>
                </a:solidFill>
                <a:latin typeface="Segoe UI"/>
              </a:rPr>
              <a:t>Part II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93008" y="5925312"/>
            <a:ext cx="238658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Perception-driven
Quality Evaluation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5669280"/>
            <a:ext cx="2606040" cy="6400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5724144"/>
            <a:ext cx="238658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3D7DDE"/>
                </a:solidFill>
                <a:latin typeface="Segoe UI"/>
              </a:rPr>
              <a:t>Part III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27648" y="5925312"/>
            <a:ext cx="238658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Research-to-Product
Execution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052560" y="5669280"/>
            <a:ext cx="2606040" cy="6400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62288" y="5724144"/>
            <a:ext cx="2386584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1">
                <a:solidFill>
                  <a:srgbClr val="3D7DDE"/>
                </a:solidFill>
                <a:latin typeface="Segoe UI"/>
              </a:rPr>
              <a:t>Part IV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62288" y="5925312"/>
            <a:ext cx="2386584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AI-driven Audio
Processing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0">
                <a:solidFill>
                  <a:srgbClr val="5B718D"/>
                </a:solidFill>
                <a:latin typeface="Segoe UI"/>
              </a:rPr>
              <a:t>THD 0.01%, 주파수 응답 ±0.5dB —
공학 스펙이 완벽해도 사용자가 "좋다"고 느끼지 않을 수 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3D7DDE"/>
                </a:solidFill>
                <a:latin typeface="Segoe UI"/>
              </a:rPr>
              <a:t>시각 맥락만으로 오디오 만족도가 76% 좌우된다면?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9147" y="2324100"/>
            <a:ext cx="8229600" cy="2011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1047" y="2286000"/>
            <a:ext cx="8229600" cy="2011680"/>
          </a:xfrm>
          <a:prstGeom prst="roundRect">
            <a:avLst/>
          </a:prstGeom>
          <a:solidFill>
            <a:srgbClr val="13289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81047" y="2286000"/>
            <a:ext cx="8229600" cy="20116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Segoe UI"/>
              </a:rPr>
              <a:t>사용자가 진짜 몰입을 느끼는
3D Audio-Visual 경험을
어떻게 설계하고 검증할 것인가?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5300" y="47929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7548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Part I
Spatial Audio &amp;
Immersive 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50749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1380" y="47929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47548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84632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Part II
Perception-driven
Quality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50749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7460" y="47929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7548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84632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Part III
Research-to-Product
Execution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0749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8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3540" y="47929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235440" y="47548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4846320"/>
            <a:ext cx="219456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Part IV
AI-driven Audio
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사운드스케이프란?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718D"/>
                </a:solidFill>
                <a:latin typeface="Segoe UI"/>
              </a:rPr>
              <a:t>Noise Control → Soundscape 패러다임 전환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6740" y="1684020"/>
            <a:ext cx="4572000" cy="137160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4572000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Traditional Noise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206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1A1A2E"/>
                </a:solidFill>
                <a:latin typeface="Segoe UI"/>
              </a:rPr>
              <a:t>"소음이 얼마나 큰가?" dB 측정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011680"/>
            <a:ext cx="10972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8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1780" y="1684020"/>
            <a:ext cx="4572000" cy="137160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0" y="1645920"/>
            <a:ext cx="4572000" cy="1371600"/>
          </a:xfrm>
          <a:prstGeom prst="roundRect">
            <a:avLst/>
          </a:prstGeom>
          <a:solidFill>
            <a:srgbClr val="13289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783080"/>
            <a:ext cx="4206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New Paradigm: Soundscape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148840"/>
            <a:ext cx="420624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FFFFFF"/>
                </a:solidFill>
                <a:latin typeface="Segoe UI"/>
              </a:rPr>
              <a:t>"소리가 어떻게 경험되는가?" 인간 지각 중심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291840"/>
            <a:ext cx="1078992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0424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718D"/>
                </a:solidFill>
                <a:latin typeface="Segoe UI"/>
              </a:rPr>
              <a:t>ISO 12913: "acoustic environment as perceived or experienced and/or understood by a person or people, in context"</a:t>
            </a:r>
          </a:p>
        </p:txBody>
      </p:sp>
      <p:pic>
        <p:nvPicPr>
          <p:cNvPr id="18" name="Picture 17" descr="proto_s5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4114800"/>
            <a:ext cx="54864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왔 사운드스케이프가 Spatial Audio에 직결되는가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소리를 경험으로 평가
(dB가 아닌 사용자 지각 중심)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50876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4475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렌더링 품질을 THD·주파수응답이 아닌
사용자가 느끼는 공간감·몰입감으로 평가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4754880" cy="777240"/>
          </a:xfrm>
          <a:prstGeom prst="roundRect">
            <a:avLst/>
          </a:prstGeom>
          <a:solidFill>
            <a:srgbClr val="FAFBFD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1343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오디오-비주얼 상호작용
(시각 맥락이 청각 지각을 최대 76% 좌우)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37744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240280"/>
            <a:ext cx="4754880" cy="777240"/>
          </a:xfrm>
          <a:prstGeom prst="roundRect">
            <a:avLst/>
          </a:prstGeom>
          <a:solidFill>
            <a:srgbClr val="FAFBFD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1343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Display + Audio 통합 설계
Holographic Displays × Spatial Audio 시너지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8211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재생 환경에 따라 동일 음원 지각 변화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324612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10896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18211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거실·침실·차량 등 재생 공간별
렌더링 최적화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77639"/>
            <a:ext cx="4754880" cy="777240"/>
          </a:xfrm>
          <a:prstGeom prst="roundRect">
            <a:avLst/>
          </a:prstGeom>
          <a:solidFill>
            <a:srgbClr val="FAFBFD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050791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개인차 (소음 민감도·성격·청력)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114799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977639"/>
            <a:ext cx="4754880" cy="777240"/>
          </a:xfrm>
          <a:prstGeom prst="roundRect">
            <a:avLst/>
          </a:prstGeom>
          <a:solidFill>
            <a:srgbClr val="FAFBFD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050791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Customized Audio 개인화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84632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91947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대규모 지각 평가 프로토콜
(ISO 12913 + SATP 18개국, 134명)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4983480"/>
            <a:ext cx="914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846320"/>
            <a:ext cx="47548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7960" y="4919472"/>
            <a:ext cx="4480560" cy="6309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Eclipsa Audio 품질 벤치마킹 및
인증 기준 수립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943600"/>
            <a:ext cx="11064240" cy="6400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신호처리가 "어떻게 구현할 것인가"라면, 저의 전문성은 "사용자가 어떻게 경험할 것인가"를 설계하고 검증하는 것입니다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Part I. Spatial Audio 기술 역량 — 연구 체계도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718D"/>
                </a:solidFill>
                <a:latin typeface="Segoe UI"/>
              </a:rPr>
              <a:t>5개 기술 축 + Eclipsa Audio 연결 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38447" y="1463040"/>
            <a:ext cx="4114800" cy="68580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38447" y="1463040"/>
            <a:ext cx="4114800" cy="685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Segoe UI"/>
              </a:rPr>
              <a:t>Spatial Audio Perception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1279" y="2148840"/>
            <a:ext cx="22860" cy="32004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6963" y="2506980"/>
            <a:ext cx="2103120" cy="3017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8863" y="2468880"/>
            <a:ext cx="21031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8863" y="2468880"/>
            <a:ext cx="2103120" cy="54864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0303" y="2606040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7DDE"/>
                </a:solidFill>
                <a:latin typeface="Segoe UI"/>
              </a:rPr>
              <a:t>축1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303" y="283464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3289F"/>
                </a:solidFill>
                <a:latin typeface="Segoe UI"/>
              </a:rPr>
              <a:t>시각 재현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0303" y="3154680"/>
            <a:ext cx="1920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77%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0303" y="374904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0303" y="37490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APAC'22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303" y="4160520"/>
            <a:ext cx="1920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HMD에서 Presence 유의 증가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8991" y="2148840"/>
            <a:ext cx="22860" cy="32004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814675" y="2506980"/>
            <a:ext cx="2103120" cy="3017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76575" y="2468880"/>
            <a:ext cx="21031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776575" y="2468880"/>
            <a:ext cx="2103120" cy="54864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68015" y="2606040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3D7DDE"/>
                </a:solidFill>
                <a:latin typeface="Segoe UI"/>
              </a:rPr>
              <a:t>축2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68015" y="283464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3289F"/>
                </a:solidFill>
                <a:latin typeface="Segoe UI"/>
              </a:rPr>
              <a:t>재생 방식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68015" y="3154680"/>
            <a:ext cx="1920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2.2dBA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68015" y="374904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68015" y="37490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APAC'19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8015" y="4160520"/>
            <a:ext cx="1920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HP vs SP 허용한계 차이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6703" y="2148840"/>
            <a:ext cx="22860" cy="320040"/>
          </a:xfrm>
          <a:prstGeom prst="rect">
            <a:avLst/>
          </a:prstGeom>
          <a:solidFill>
            <a:srgbClr val="068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82387" y="2506980"/>
            <a:ext cx="2103120" cy="3017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44287" y="2468880"/>
            <a:ext cx="21031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44287" y="2468880"/>
            <a:ext cx="2103120" cy="54864"/>
          </a:xfrm>
          <a:prstGeom prst="roundRect">
            <a:avLst/>
          </a:prstGeom>
          <a:solidFill>
            <a:srgbClr val="068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5727" y="2606040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689D8"/>
                </a:solidFill>
                <a:latin typeface="Segoe UI"/>
              </a:rPr>
              <a:t>축3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5727" y="283464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3289F"/>
                </a:solidFill>
                <a:latin typeface="Segoe UI"/>
              </a:rPr>
              <a:t>바이노럴-비주얼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35727" y="3154680"/>
            <a:ext cx="1920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77%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135727" y="374904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35727" y="37490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B&amp;E'19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35727" y="4160520"/>
            <a:ext cx="1920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HRTF가 공간감 지배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54415" y="2148840"/>
            <a:ext cx="22860" cy="320040"/>
          </a:xfrm>
          <a:prstGeom prst="rect">
            <a:avLst/>
          </a:prstGeom>
          <a:solidFill>
            <a:srgbClr val="068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50099" y="2506980"/>
            <a:ext cx="2103120" cy="3017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311999" y="2468880"/>
            <a:ext cx="21031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1999" y="2468880"/>
            <a:ext cx="2103120" cy="54864"/>
          </a:xfrm>
          <a:prstGeom prst="roundRect">
            <a:avLst/>
          </a:prstGeom>
          <a:solidFill>
            <a:srgbClr val="0689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3439" y="2606040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689D8"/>
                </a:solidFill>
                <a:latin typeface="Segoe UI"/>
              </a:rPr>
              <a:t>축4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3439" y="283464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3289F"/>
                </a:solidFill>
                <a:latin typeface="Segoe UI"/>
              </a:rPr>
              <a:t>시청각 정보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03439" y="3154680"/>
            <a:ext cx="1920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76%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03439" y="374904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3439" y="37490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B&amp;E'20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03439" y="4160520"/>
            <a:ext cx="1920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Visual이 만족도 좌우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622127" y="2148840"/>
            <a:ext cx="22860" cy="320040"/>
          </a:xfrm>
          <a:prstGeom prst="rect">
            <a:avLst/>
          </a:prstGeom>
          <a:solidFill>
            <a:srgbClr val="0A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17811" y="2506980"/>
            <a:ext cx="2103120" cy="3017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579711" y="2468880"/>
            <a:ext cx="21031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579711" y="2468880"/>
            <a:ext cx="2103120" cy="54864"/>
          </a:xfrm>
          <a:prstGeom prst="roundRect">
            <a:avLst/>
          </a:prstGeom>
          <a:solidFill>
            <a:srgbClr val="0A7A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71151" y="2606040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0A7AB5"/>
                </a:solidFill>
                <a:latin typeface="Segoe UI"/>
              </a:rPr>
              <a:t>축5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71151" y="2834640"/>
            <a:ext cx="19202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13289F"/>
                </a:solidFill>
                <a:latin typeface="Segoe UI"/>
              </a:rPr>
              <a:t>생태학적 타당성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71151" y="3154680"/>
            <a:ext cx="192024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VR≈In-situ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71151" y="374904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71151" y="374904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SCS'21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71151" y="4160520"/>
            <a:ext cx="192024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3개 프로토콜 유의차 없음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28800" y="5760720"/>
            <a:ext cx="8503920" cy="50292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11680" y="5806440"/>
            <a:ext cx="81381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→ Eclipsa Audio: HRTF 개인화(77%) + A-V 통합설계(76%) + VR 품질평가 실증 + 92.5% 만족도 예측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축1: 시각 재현 방식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701164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7011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APAC 2022 · Jo &amp; Jeon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840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Applied Acoustics, IF 3.4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같은 Spatial Audio를 HMD vs 모니터로 볼 때, 사용자의 음환경 지각이 얼마나 달라지는가?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29260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292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실험설계: 40명 피험자 × 8개 도시 음환경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시각 재현: HMD (HTC VIVE Pro) vs 2D Monitor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오디오: First-Order Ambisonics (FOA) + Head-tracking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평가: 14개 semantic differential pairs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통계: 반복측정 ANOVA, Bonferroni 사후검정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7DDE"/>
                </a:solidFill>
                <a:latin typeface="Segoe UI"/>
              </a:rPr>
              <a:t>핵심 발견: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HMD: 공간 현실감(Presence) 유의하게 증가 (p &lt; 0.05)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모니터: 전반적 소음 인식 더 높음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시각 재현 방식이 오디오 품질 판단을 체계적으로 변화시킴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Result — Semantic Profile Comparison</a:t>
            </a:r>
          </a:p>
        </p:txBody>
      </p:sp>
      <p:pic>
        <p:nvPicPr>
          <p:cNvPr id="16" name="Picture 15" descr="apac2022_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67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40 × 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피험자 × 환경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41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p &lt; 0.05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HMD Presence 유의차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15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14 pairs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Semantic Differential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20640"/>
            <a:ext cx="4754880" cy="146304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5285232"/>
            <a:ext cx="44256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XR 디바이스 대응 시, 시각 조건 통제가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오디오 품질 평가의 필수 전제 조건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Eclipsa Audio 품질 평가 프로토콜에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시각 재현 방식 변수 반드시 포함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축2: 헤드폰 vs 스피커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76403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76403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APAC 2019 · Jeon et 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840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Applied Acoustics, IF 3.4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헤드폰과 스피커 재생 방식이 동일 음원에 대한 사용자의 소리 품질 판단을 어떻게 바꾸는가?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29260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292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4가지 재생 조건: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(1) Headphone only  (2) Speaker only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(3) Headphone + HMD  (4) Speaker + HMD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자극: LAeq 40-65 dB, 6단계 소음 레벨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종속변수: 성가심(Annoyance), 허용한계(Allowance)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7DDE"/>
                </a:solidFill>
                <a:latin typeface="Segoe UI"/>
              </a:rPr>
              <a:t>핵심 발견: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Annoyance 차이: headphone vs speaker 8%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Allowance 차이: 6%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- 50% annoyance level에서 SPL 차이: 2.2 dBA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Speaker + HMD = 실제 현장에 가장 근접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Result — Annoyance vs SPL by Condition</a:t>
            </a:r>
          </a:p>
        </p:txBody>
      </p:sp>
      <p:pic>
        <p:nvPicPr>
          <p:cNvPr id="16" name="Picture 15" descr="be2019a_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67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Annoyance 차이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41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Allowance 차이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15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2.2 dBA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50% SPL 차이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20640"/>
            <a:ext cx="4754880" cy="146304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5285232"/>
            <a:ext cx="44256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헤드폰(바이노럴) vs 스피커(멀티채널) 재생 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사용자 지각 차이가 체계적으로 발생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Eclipsa Audio 렌더링 품질 평가에서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재생 디바이스별 보정 기준 필요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Speaker+HMD가 reference condition으로 적합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축3: 바이노럴-비주얼 상호작용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3716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3716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B&amp;E 2019 × 2편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840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Building and Environment, IF 7.4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HRTF 바이노럴 렌더링과 HMD 시각 재현, 어느 것이 사용자 공간 지각에 더 지배적인가?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29260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292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2x2 Factorial Design: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Factor A: HRTF (Individualized vs Generic)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Factor B: HMD (VR 360 vs No Visual)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피험자: 40명 × 8개 도시 음환경 = 320 data points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장비: Sennheiser HD-650 + HTC VIVE Pro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HRTF: CIPIC HRTF Database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7DDE"/>
                </a:solidFill>
                <a:latin typeface="Segoe UI"/>
              </a:rPr>
              <a:t>핵심 발견: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HRTF가 공간감 지각의 77% 설명 (지배적 요인)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HMD는 23% 보조적 역할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VR 환경에서 허용한계 6~7 dB 하락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Result — HRTF vs HMD Contribution</a:t>
            </a:r>
          </a:p>
        </p:txBody>
      </p:sp>
      <p:pic>
        <p:nvPicPr>
          <p:cNvPr id="16" name="Picture 15" descr="be2019a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67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77%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HRTF 공간감 기여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41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23%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HMD 시각 기여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15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6~7 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VR 허용한계 하락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20640"/>
            <a:ext cx="4754880" cy="146304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5285232"/>
            <a:ext cx="44256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HRTF 개인화 = 렌더러 최적화의 최우선 과제 (77%)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Eclipsa Audio HRTF 개인화 알고리즘 개발 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공간감 향상 효과가 시각 재현보다 3배 이상 지배적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제한된 리소스에서 HRTF에 집중 투자 근거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축4: 시청각 정보 기여도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6383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6383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B&amp;E 2020 · Jeon &amp; Jo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840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Building and Environment, IF 7.4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Audio 정보와 Visual 정보가 전체 환경 만족도에 각각 얼마나 기여하는가?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29260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292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오디오: FOA Ambisonics + HMD + Head-tracking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환경: 8개 도시 음환경 (공원, 도로, 광장 등)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3가지 제시 조건: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(1) Audio-only  (2) Visual-only  (3) Audio+Visual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종속변수: 만족도, 자연스러움, 쾀적성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7DDE"/>
                </a:solidFill>
                <a:latin typeface="Segoe UI"/>
              </a:rPr>
              <a:t>핵심 발견: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만족도 기여: Audio 24% vs Visual 76%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만족도 예측 모델 설명력: R² = 51%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시각이 지배적이나, 오디오 없이는 자연스러움 저하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Result — A/V Contribution to Satisfaction</a:t>
            </a:r>
          </a:p>
        </p:txBody>
      </p:sp>
      <p:pic>
        <p:nvPicPr>
          <p:cNvPr id="16" name="Picture 15" descr="be2020_p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67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Audio 만족도 기여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41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76%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Visual 만족도 기여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15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R²=51%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만족도 모델 설명력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20640"/>
            <a:ext cx="4754880" cy="146304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5285232"/>
            <a:ext cx="44256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Display + Audio 통합 설계가 만족도의 핵심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Holographic Displays x Spatial Audio 시너지: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시각 76% + 오디오 24%의 cross-modal 효과 극대화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오디오 품질만 올려도 자연스러움 개선 가능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축5: 생태학적 타당성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6383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6383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SCS 2021 · Jo &amp; Jeon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8404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Sustainable Cities and Society, IF 11.7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VR 실험실에서의 음환경 평가를 실제 현장(in-situ) 결과와 동일하게 신뢰할 수 있는가?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29260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29260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3289F"/>
                </a:solidFill>
                <a:latin typeface="Segoe UI"/>
              </a:rPr>
              <a:t>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5029200" cy="24688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대규모 실험: 50명 피험자 × 10개 도시 음환경</a:t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1A1A2E"/>
                </a:solidFill>
                <a:latin typeface="Segoe UI"/>
              </a:rPr>
              <a:t>ISO 12913-2 표준 3개 프로토콜 비교: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Method A: 현장 직접 평가 (In-situ)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Method B: 현장 녹음 후 실험실 재생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Method C: VR (FOA Ambisonics + HMD + Head-tracking)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7DDE"/>
                </a:solidFill>
                <a:latin typeface="Segoe UI"/>
              </a:rPr>
              <a:t>핵심 발견: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VR vs In-situ: 통계적 유의차 없음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P-E 모델이 3개 프로토콜 모두에서 재현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- 가장 높은 IF(11.7) — 연구 영향력 입증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Result — Protocol Comparison (P-E Model)</a:t>
            </a:r>
          </a:p>
        </p:txBody>
      </p:sp>
      <p:pic>
        <p:nvPicPr>
          <p:cNvPr id="16" name="Picture 15" descr="scs2021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27432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867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50 ×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피험자 × 환경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41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6060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157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3 Protocols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ISO 12913-2 A/B/C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1540" y="5158740"/>
            <a:ext cx="1828800" cy="7772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663440" y="5120640"/>
            <a:ext cx="182880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5230368"/>
            <a:ext cx="1609344" cy="42748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VR ≈ In-situ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5548122"/>
            <a:ext cx="1609344" cy="24003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유의차 없음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5120640"/>
            <a:ext cx="4754880" cy="146304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22592" y="5285232"/>
            <a:ext cx="4425696" cy="11338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VR 실험실에서 Eclipsa Audio 렌더링 품질 평가 →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실사용 환경 결과와 동일하게 신뢰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제품 출시 전 VR 기반 대규모 평가 프레임워크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구축 가능 (현장 테스트 비용 대폭 절감)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Part II. 멀티모달 생리반응 모델링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502920"/>
            <a:ext cx="216916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502920"/>
            <a:ext cx="216916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Segoe UI"/>
              </a:rPr>
              <a:t>SCS 2023 + SR 2022 + IJERPH 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822960"/>
            <a:ext cx="4114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3편 연속 출판 시리즈 (IF 11.7+)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6740" y="1135380"/>
            <a:ext cx="11064240" cy="11887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097280"/>
            <a:ext cx="11064240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70432"/>
            <a:ext cx="50292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실험 규모: 60명 × 9환경 × 2일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MAT (Montreal Arithmetic Task) 스트레스 유도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Day1: 준비→스트레스→자극→HRV+EEG (×6 = 60min)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Day2: 준비→자극→주관평가 (×6 = 42min)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170432"/>
            <a:ext cx="548640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측정 장비: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HRV: SA-3000NEW (5개 시간/주파수 도메인 지표)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EEG: EMOTIV EPOC Flex 32ch, 128Hz sampling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Eye-tracking: Tobii Pro (시선 고정, 산동 분석)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6740" y="250698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46888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57860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CCA 0.80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94665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718D"/>
                </a:solidFill>
                <a:latin typeface="Segoe UI"/>
              </a:rPr>
              <a:t>물리음향 ↔ 심리반응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75660" y="250698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37560" y="246888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7288" y="257860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CCA 0.78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94665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718D"/>
                </a:solidFill>
                <a:latin typeface="Segoe UI"/>
              </a:rPr>
              <a:t>지각품질 ↔ 심리반응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580" y="250698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246888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257860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SDNN +14.6%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4665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718D"/>
                </a:solidFill>
                <a:latin typeface="Segoe UI"/>
              </a:rPr>
              <a:t>스트레스 저항력 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53500" y="250698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915400" y="246888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5128" y="257860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TSI -9.5%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5128" y="294665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5B718D"/>
                </a:solidFill>
                <a:latin typeface="Segoe UI"/>
              </a:rPr>
              <a:t>스트레스 지수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291840"/>
            <a:ext cx="5303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B718D"/>
                </a:solidFill>
                <a:latin typeface="Segoe UI"/>
              </a:rPr>
              <a:t>HRV Stress Recovery Analysis</a:t>
            </a:r>
          </a:p>
        </p:txBody>
      </p:sp>
      <p:pic>
        <p:nvPicPr>
          <p:cNvPr id="30" name="Picture 29" descr="scs2023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520440"/>
            <a:ext cx="5303520" cy="21945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26480" y="3291840"/>
            <a:ext cx="5303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B718D"/>
                </a:solidFill>
                <a:latin typeface="Segoe UI"/>
              </a:rPr>
              <a:t>Eye-tracking Heatmap Analysis</a:t>
            </a:r>
          </a:p>
        </p:txBody>
      </p:sp>
      <p:pic>
        <p:nvPicPr>
          <p:cNvPr id="32" name="Picture 31" descr="ijerph2024_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20440"/>
            <a:ext cx="5303520" cy="219456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548640" y="5852160"/>
            <a:ext cx="11064240" cy="82296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6016752"/>
            <a:ext cx="10735056" cy="49377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FFFFF"/>
                </a:solidFill>
                <a:latin typeface="Segoe UI"/>
              </a:rPr>
              <a:t>Samsung 시사점:  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FFFFFF"/>
                </a:solidFill>
                <a:latin typeface="Segoe UI"/>
              </a:rPr>
              <a:t>(1) 생리신호 기반 객관적 품질 평가 → 주관 설문의 한계 보완  (2) EEG·HRV로 렌더링 품질 변화에 대한 신체 반응 정량화  (3) Galaxy Watch·Buds 센서로 실시간 검증 파이프라인 구축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사운드스케이프 디자인 응용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575435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575435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B&amp;E 2021 + B&amp;E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Building and Environment, IF 7.4 × 2편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1106424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16152"/>
            <a:ext cx="106984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RQ: 오디오-비주얼 상호작용이 실내 환경의 업무 품질과 생산성에 미치는 영향은?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958340"/>
            <a:ext cx="5303520" cy="320040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920240"/>
            <a:ext cx="53035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502920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B&amp;E 2021 — SEM 구조방정식 모델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Audio → Visual → 환경만족도 경로계수 정량화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오디오 품질이 시각 쾀적성에 간접효과 (cross-modal)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Soundscape→Overall satisfaction 경로 유의 (p&lt;0.01)</a:t>
            </a:r>
          </a:p>
          <a:p>
            <a:pPr algn="l">
              <a:lnSpc>
                <a:spcPct val="125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B&amp;E 2022 — 실내 사운드스케이프 → 업무 품질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Audio-Visual 일치 콘텐츠가 업무 선호도·생산성 유의 향상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자연 사운드스케이프: 집중도 +15%, 스트레스 -12%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도시 소음: 업무 정확도 -8% (방해 효과 정량화)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9202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>
                <a:solidFill>
                  <a:srgbClr val="5B718D"/>
                </a:solidFill>
                <a:latin typeface="Segoe UI"/>
              </a:rPr>
              <a:t>SEM Path Model — Path Coefficients</a:t>
            </a:r>
          </a:p>
        </p:txBody>
      </p:sp>
      <p:pic>
        <p:nvPicPr>
          <p:cNvPr id="15" name="Picture 14" descr="be2021_p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240280"/>
            <a:ext cx="5486400" cy="3200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6740" y="5341620"/>
            <a:ext cx="22860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303520"/>
            <a:ext cx="22860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413248"/>
            <a:ext cx="20665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+15%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705856"/>
            <a:ext cx="20665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자연 사운드 집중도 향상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55620" y="5341620"/>
            <a:ext cx="22860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017520" y="5303520"/>
            <a:ext cx="22860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27248" y="5413248"/>
            <a:ext cx="20665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-12%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5705856"/>
            <a:ext cx="20665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스트레스 감소 효과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24500" y="5341620"/>
            <a:ext cx="22860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0" y="5303520"/>
            <a:ext cx="22860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5413248"/>
            <a:ext cx="20665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200" b="1">
                <a:solidFill>
                  <a:srgbClr val="13289F"/>
                </a:solidFill>
                <a:latin typeface="Segoe UI"/>
              </a:rPr>
              <a:t>p &lt; 0.01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96128" y="5705856"/>
            <a:ext cx="20665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SEM 경로 유의성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5303520"/>
            <a:ext cx="3931920" cy="137160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5468112"/>
            <a:ext cx="3602736" cy="10424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Eclipsa Audio 재생 공간의 실내 환경 설계: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TV·사운드바 + 조명의 A-V 통합 최적화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→ Galaxy Home 환경 음향 자동 튜닝 근거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Part III. AVAS 사운드스케이프 디자인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701164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701164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HMG 특별상 + JASA (심사 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134명 대규모 청감평가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1106424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1A1A2E"/>
                </a:solidFill>
                <a:latin typeface="Segoe UI"/>
              </a:rPr>
              <a:t>17개 EV × 43개 AVAS 바이노럴 녹음 | 134명 청감평가 | Binaural BHS II + GoPro Visual | 34대 경쟁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6740" y="1775460"/>
            <a:ext cx="5303520" cy="320040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1737360"/>
            <a:ext cx="5303520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502920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3단계 감성어휘 개발: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Stage 1: 272개 형용사 수집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Stage 2: 전문가 축소 → 25쌍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Stage 3: 요인분석 최종 18쌍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7DDE"/>
                </a:solidFill>
                <a:latin typeface="Segoe UI"/>
              </a:rPr>
              <a:t>PCA 결과 — 신규 평가축: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기존: Pleasant-Eventful (환경 사운드스케이프)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신규: Comfort-Metallic (EV AVAS 특화 축)</a:t>
            </a:r>
          </a:p>
          <a:p>
            <a:pPr algn="l">
              <a:lnSpc>
                <a:spcPct val="120000"/>
              </a:lnSpc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200" b="1">
                <a:solidFill>
                  <a:srgbClr val="3D7DDE"/>
                </a:solidFill>
                <a:latin typeface="Segoe UI"/>
              </a:rPr>
              <a:t>브랜드 포지셔닝: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34대 경쟁 차량 DB로 브랜드별 AVAS 음질 매핑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만족도 예측 모델: 정확도 92.5%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37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B718D"/>
                </a:solidFill>
                <a:latin typeface="Segoe UI"/>
              </a:rPr>
              <a:t>PCA — Comfort-Metallic Axes + Brand Positioning</a:t>
            </a:r>
          </a:p>
        </p:txBody>
      </p:sp>
      <p:pic>
        <p:nvPicPr>
          <p:cNvPr id="15" name="Picture 14" descr="hmg_s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057400"/>
            <a:ext cx="5486400" cy="30175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86740" y="5250180"/>
            <a:ext cx="18288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5212080"/>
            <a:ext cx="18288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321808"/>
            <a:ext cx="16093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92.5%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614416"/>
            <a:ext cx="1609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만족도 예측 정확도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98420" y="5250180"/>
            <a:ext cx="18288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5212080"/>
            <a:ext cx="18288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5321808"/>
            <a:ext cx="16093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18쌍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8" y="5614416"/>
            <a:ext cx="1609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최종 감성어휘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10100" y="5250180"/>
            <a:ext cx="1828800" cy="73152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5212080"/>
            <a:ext cx="18288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81728" y="5321808"/>
            <a:ext cx="1609344" cy="40233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400" b="1">
                <a:solidFill>
                  <a:srgbClr val="13289F"/>
                </a:solidFill>
                <a:latin typeface="Segoe UI"/>
              </a:rPr>
              <a:t>34대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5614416"/>
            <a:ext cx="1609344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경쟁 DB 벤치마크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5212080"/>
            <a:ext cx="5029200" cy="141732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5376672"/>
            <a:ext cx="4700016" cy="10881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대규모 청감 평가 프레임 → Eclipsa Audio 품질 인증 적용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감성어휘 기반 평가축 → 렌더링 품질 차원 확장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경쟁 DB 벤치마킹 → 삼성 오디오 제품 포지셔닝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92.5% 예측 모델 → 렌더링 품질 튜닝 자동화 근거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연구 → 양산 실행력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718D"/>
                </a:solidFill>
                <a:latin typeface="Segoe UI"/>
              </a:rPr>
              <a:t>AVAS 브랜드 사운드 2.0 — EV3, IONIQ 5 양산 적용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300" y="1455420"/>
            <a:ext cx="2377440" cy="14630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2377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490472"/>
            <a:ext cx="274320" cy="274320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90472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2E"/>
                </a:solidFill>
                <a:latin typeface="Segoe UI"/>
              </a:rPr>
              <a:t>음향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7452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소리 특성 정의
목표 음질 설정
감성어휘 기반 디자인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192024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1380" y="1455420"/>
            <a:ext cx="2377440" cy="14630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83280" y="1417320"/>
            <a:ext cx="2377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1490472"/>
            <a:ext cx="274320" cy="274320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490472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1490472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2E"/>
                </a:solidFill>
                <a:latin typeface="Segoe UI"/>
              </a:rPr>
              <a:t>청취 평가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87452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134명 대규모 실험
18쌍 감성어휘
PCA 만족도 모델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92024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7460" y="1455420"/>
            <a:ext cx="2377440" cy="14630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09360" y="1417320"/>
            <a:ext cx="2377440" cy="1463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0" y="1490472"/>
            <a:ext cx="274320" cy="274320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490472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490472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1A1A2E"/>
                </a:solidFill>
                <a:latin typeface="Segoe UI"/>
              </a:rPr>
              <a:t>시스템 검증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87452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1A1A2E"/>
                </a:solidFill>
                <a:latin typeface="Segoe UI"/>
              </a:rPr>
              <a:t>실차 바이노럴 녹음
BHS II + GoPro
주행 조건별 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1920240"/>
            <a:ext cx="5029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3D7DDE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73540" y="1455420"/>
            <a:ext cx="2377440" cy="146304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1417320"/>
            <a:ext cx="2377440" cy="1463040"/>
          </a:xfrm>
          <a:prstGeom prst="roundRect">
            <a:avLst/>
          </a:prstGeom>
          <a:solidFill>
            <a:srgbClr val="13289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26880" y="1490472"/>
            <a:ext cx="274320" cy="274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490472"/>
            <a:ext cx="27432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200" b="1">
                <a:solidFill>
                  <a:srgbClr val="13289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1490472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양산 적용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874520"/>
            <a:ext cx="21031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FFFFFF"/>
                </a:solidFill>
                <a:latin typeface="Segoe UI"/>
              </a:rPr>
              <a:t>EV3 양산 적용
IONIQ 5 적용
Shiny 웹 예측 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5300" y="314706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7200" y="310896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321868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특허 6건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358673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국내 4건 + 미국 2건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84220" y="314706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246120" y="310896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55848" y="321868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기술이전 5천만원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358673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산업 적용 → 양산 실현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73140" y="314706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35040" y="310896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44768" y="321868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HMG 특별상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358673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학술대회 연구 성과상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2060" y="3147060"/>
            <a:ext cx="2606040" cy="8686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23960" y="3108960"/>
            <a:ext cx="260604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33688" y="3218688"/>
            <a:ext cx="2386584" cy="47777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Shiny 웹 툴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3688" y="3586734"/>
            <a:ext cx="2386584" cy="28117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900" b="0">
                <a:solidFill>
                  <a:srgbClr val="5B718D"/>
                </a:solidFill>
                <a:latin typeface="Segoe UI"/>
              </a:rPr>
              <a:t>실시간 만족도 예측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206240"/>
            <a:ext cx="11155680" cy="457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0080" y="4251960"/>
            <a:ext cx="10789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1A1A2E"/>
                </a:solidFill>
                <a:latin typeface="Segoe UI"/>
              </a:rPr>
              <a:t>부서 간 협업: Design (사운드 아이덴티티) × Regulation (UN R138 법규 대응) × NVH (실차 검증) × 양산팀 (적용)</a:t>
            </a:r>
          </a:p>
        </p:txBody>
      </p:sp>
      <p:pic>
        <p:nvPicPr>
          <p:cNvPr id="52" name="Picture 51" descr="hmg_s17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46320"/>
            <a:ext cx="5943600" cy="182880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6675120" y="4846320"/>
            <a:ext cx="4937760" cy="182880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39712" y="5010912"/>
            <a:ext cx="4608576" cy="149961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20000"/>
              </a:lnSpc>
            </a:pPr>
            <a:r>
              <a:rPr sz="4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연구→양산 end-to-end 실행력 입증: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청감평가 → 특허 → 기술이전 → 양산의 전 주기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FFFFFF"/>
                </a:solidFill>
                <a:latin typeface="Segoe UI"/>
              </a:rPr>
              <a:t>Samsung 적용: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렌더링 알고리즘의 제품 적용 주기 단축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  Eclipsa Audio 품질 인증 → 제품 출시 파이프라인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6400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Part IV. AI 기반 오디오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502920"/>
            <a:ext cx="1638300" cy="292608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502920"/>
            <a:ext cx="1638300" cy="29260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SENSORS 2021 + 특허 2건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82296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5B718D"/>
                </a:solidFill>
                <a:latin typeface="Segoe UI"/>
              </a:rPr>
              <a:t>기술이전 5천만원 달성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486400" cy="685800"/>
          </a:xfrm>
          <a:prstGeom prst="roundRect">
            <a:avLst/>
          </a:prstGeom>
          <a:solidFill>
            <a:srgbClr val="FDF0EF"/>
          </a:solidFill>
          <a:ln w="9525">
            <a:solidFill>
              <a:srgbClr val="E8C4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143000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392B"/>
                </a:solidFill>
                <a:latin typeface="Segoe UI"/>
              </a:rPr>
              <a:t>Problem: 데이터 희소성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30명 전문가 × 126건 청감평가 → 심각한 데이터 부족 | 전문가 평가: 비용·시간 과다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5486400" cy="685800"/>
          </a:xfrm>
          <a:prstGeom prst="roundRect">
            <a:avLst/>
          </a:prstGeom>
          <a:solidFill>
            <a:srgbClr val="EFF9F2"/>
          </a:solidFill>
          <a:ln w="9525">
            <a:solidFill>
              <a:srgbClr val="B8DE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39"/>
            <a:ext cx="5212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27AE60"/>
                </a:solidFill>
                <a:latin typeface="Segoe UI"/>
              </a:rPr>
              <a:t>Solution: RIR Convolution Data Augmentation</a:t>
            </a:r>
          </a:p>
          <a:p>
            <a:pPr algn="l">
              <a:lnSpc>
                <a:spcPct val="125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  8개 원본 → RIR 합성곱 → 43,000개로 확장 (5,375배) | + Loudness ISO 532B + Energy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097280"/>
            <a:ext cx="53035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1">
                <a:solidFill>
                  <a:srgbClr val="5B718D"/>
                </a:solidFill>
                <a:latin typeface="Segoe UI"/>
              </a:rPr>
              <a:t>5-Layer LSTM Architecture</a:t>
            </a:r>
          </a:p>
        </p:txBody>
      </p:sp>
      <p:pic>
        <p:nvPicPr>
          <p:cNvPr id="14" name="Picture 13" descr="sensors2021_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303520" cy="2103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28346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13289F"/>
                </a:solidFill>
                <a:latin typeface="Segoe UI"/>
              </a:rPr>
              <a:t>AI vs 8명 호흡기내과 전문의 비교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6740" y="31927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1546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0040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5B718D"/>
                </a:solidFill>
                <a:latin typeface="Segoe UI"/>
              </a:rPr>
              <a:t>Accuracy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AI  84.9%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718D"/>
                </a:solidFill>
                <a:latin typeface="Segoe UI"/>
              </a:rPr>
              <a:t>Expert avg  56.4%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47060" y="31927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08960" y="31546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320040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5B718D"/>
                </a:solidFill>
                <a:latin typeface="Segoe UI"/>
              </a:rPr>
              <a:t>Sensitivity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4290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AI  90.0%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3840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718D"/>
                </a:solidFill>
                <a:latin typeface="Segoe UI"/>
              </a:rPr>
              <a:t>Expert avg  40.7%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07380" y="3192780"/>
            <a:ext cx="2377440" cy="109728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669280" y="3154680"/>
            <a:ext cx="237744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3D7D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0" y="3200400"/>
            <a:ext cx="23774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1">
                <a:solidFill>
                  <a:srgbClr val="5B718D"/>
                </a:solidFill>
                <a:latin typeface="Segoe UI"/>
              </a:rPr>
              <a:t>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429000"/>
            <a:ext cx="23774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1">
                <a:solidFill>
                  <a:srgbClr val="13289F"/>
                </a:solidFill>
                <a:latin typeface="Segoe UI"/>
              </a:rPr>
              <a:t>AI  0.84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384048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0">
                <a:solidFill>
                  <a:srgbClr val="5B718D"/>
                </a:solidFill>
                <a:latin typeface="Segoe UI"/>
              </a:rPr>
              <a:t>Expert avg  0.56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6179" y="3421380"/>
            <a:ext cx="4206240" cy="914400"/>
          </a:xfrm>
          <a:prstGeom prst="roundRect">
            <a:avLst/>
          </a:prstGeom>
          <a:solidFill>
            <a:srgbClr val="D8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498079" y="3383280"/>
            <a:ext cx="42062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32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456432"/>
            <a:ext cx="3931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3289F"/>
                </a:solidFill>
                <a:latin typeface="Segoe UI"/>
              </a:rPr>
              <a:t>IP &amp; 기술이전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KR 특허 등록 + US 특허 출원</a:t>
            </a:r>
          </a:p>
          <a:p>
            <a:pPr algn="l">
              <a:lnSpc>
                <a:spcPct val="130000"/>
              </a:lnSpc>
            </a:pPr>
            <a:r>
              <a:rPr sz="1000" b="0">
                <a:solidFill>
                  <a:srgbClr val="1A1A2E"/>
                </a:solidFill>
                <a:latin typeface="Segoe UI"/>
              </a:rPr>
              <a:t>기술이전: 5,000만원 (현대자동차 → 산업체)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480560"/>
            <a:ext cx="6858000" cy="1051560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572000"/>
            <a:ext cx="6492240" cy="868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A-JEPA Vision — 차세대 AI Audio 연구 방향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Meta Audio-JEPA 자기지도 학습 + 음향 도메인 지식 결합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→ 라벨 없는 대규모 오디오 데이터에서 음질 표현 자동 학습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FFFF"/>
                </a:solidFill>
                <a:latin typeface="Segoe UI"/>
              </a:rPr>
              <a:t>→ Eclipsa Audio 렌더링 품질의 end-to-end 자동 판정 목표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480560"/>
            <a:ext cx="3931920" cy="210312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45552" y="4645152"/>
            <a:ext cx="3602736" cy="177393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Segoe UI"/>
              </a:rPr>
              <a:t>Samsung 시사점</a:t>
            </a:r>
          </a:p>
          <a:p>
            <a:pPr algn="l">
              <a:lnSpc>
                <a:spcPct val="110000"/>
              </a:lnSpc>
            </a:pPr>
            <a:r>
              <a:rPr sz="4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Eclipsa Audio 렌더링 품질의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자동 판정 파이프라인 구축</a:t>
            </a:r>
          </a:p>
          <a:p>
            <a:pPr algn="l">
              <a:lnSpc>
                <a:spcPct val="110000"/>
              </a:lnSpc>
            </a:pPr>
            <a:r>
              <a:rPr sz="4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대규모 A/B 테스트 비용 절감</a:t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(전문가 8명 수준 → AI 1개 모델)</a:t>
            </a:r>
          </a:p>
          <a:p>
            <a:pPr algn="l">
              <a:lnSpc>
                <a:spcPct val="110000"/>
              </a:lnSpc>
            </a:pPr>
            <a:r>
              <a:rPr sz="400" b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Segoe UI"/>
              </a:rPr>
              <a:t>A-JEPA로 비지도 학습 확장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3898" cy="635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35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908" cy="63500"/>
          </a:xfrm>
          <a:prstGeom prst="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9436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3289F"/>
                </a:solidFill>
                <a:latin typeface="Segoe UI"/>
              </a:rPr>
              <a:t>Contribution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5B718D"/>
                </a:solidFill>
                <a:latin typeface="Segoe UI"/>
              </a:rPr>
              <a:t>삼성리서치 Spatial Audio 기여 로드맵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20" y="1417320"/>
            <a:ext cx="3154680" cy="411480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20" y="1417320"/>
            <a:ext cx="3154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입사 ~ 6개월 (즉시 기여)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38928" y="1417320"/>
            <a:ext cx="3154680" cy="41148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38928" y="1417320"/>
            <a:ext cx="3154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6개월 ~ 2년 (과제 확장)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03336" y="1417320"/>
            <a:ext cx="3154680" cy="411480"/>
          </a:xfrm>
          <a:prstGeom prst="round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417320"/>
            <a:ext cx="3154680" cy="4114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2년 ~ (Lab 비전 주도)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" y="1901952"/>
            <a:ext cx="17373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" y="1901952"/>
            <a:ext cx="17373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Eclipsa
Audio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74520" y="1901952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65960" y="1947672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청감 평가 프레임 구축
(ISO 12913 + SATP 방법론)
→ 기존 연구 즉시 적용 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8" y="1901952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30368" y="1947672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HRTF 개인화 알고리즘 개발
렌더러 품질 최적화
→ 77% 공간감 기여도 활용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03336" y="1901952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94776" y="1947672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차세대 Eclipsa Audio
품질 표준 주도
→ 글로벌 de facto 표준 목표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" y="2980944"/>
            <a:ext cx="17373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" y="2980944"/>
            <a:ext cx="17373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AI 전환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74520" y="2980944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3026664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A-JEPA 프로토타입 구축
음질 자동 판정 파이프라인
→ LSTM 84.9% 정확도 기반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38928" y="2980944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3026664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생리신호 기반
실시간 품질 모니터링
→ Galaxy Watch 연동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03336" y="2980944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94776" y="3026664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AI 청감 평가 플랫폼
자동화 완성
→ 비지도 학습 확장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160" y="4059936"/>
            <a:ext cx="17373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7160" y="4059936"/>
            <a:ext cx="17373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파트
시너지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20" y="4059936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965960" y="4105656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Display팀 협업 시작
A-V 통합 평가 설계
→ Visual 76% 기여도 활용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8928" y="4059936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30368" y="4105656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Holographic Display ×
Spatial Audio 시너지
→ cross-modal 효과 극대화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03336" y="4059936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4105656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크로스모달 경험 설계
Lab 비전 제안
→ 차세대 제품 전략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37160" y="5138928"/>
            <a:ext cx="173736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7160" y="5138928"/>
            <a:ext cx="1737360" cy="10058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000" b="1">
                <a:solidFill>
                  <a:srgbClr val="13289F"/>
                </a:solidFill>
                <a:latin typeface="Segoe UI"/>
              </a:rPr>
              <a:t>인증·표준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74520" y="5138928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965960" y="5184648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Eclipsa Audio 인증 기준
초안 작성
→ 92.5% 예측모델 활용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38928" y="5138928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30368" y="5184648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국제 표준화 기여
(IEC/ISO WG 참여)
→ SATP 18개국 네트워크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03336" y="5138928"/>
            <a:ext cx="3154680" cy="1005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94776" y="5184648"/>
            <a:ext cx="297180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900" b="0">
                <a:solidFill>
                  <a:srgbClr val="1A1A2E"/>
                </a:solidFill>
                <a:latin typeface="Segoe UI"/>
              </a:rPr>
              <a:t>삼성 주도 표준
de facto 확립
→ 산업 리더십 확보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37160" y="5989320"/>
            <a:ext cx="11887200" cy="594360"/>
          </a:xfrm>
          <a:prstGeom prst="round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6080760"/>
            <a:ext cx="115214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신호처리가 만드는 기술 위에, 사용자가 경험하는 품질을 설계합니다 — Perception-driven Spatial Audio Quality Engineering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28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B1D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32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0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0">
                <a:solidFill>
                  <a:srgbClr val="E7E6E2"/>
                </a:solidFill>
                <a:latin typeface="Segoe UI"/>
              </a:rPr>
              <a:t>경청해 주셔서 감사합니다. 질문 부탁드립니다.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87087" y="3657600"/>
            <a:ext cx="3017520" cy="36576"/>
          </a:xfrm>
          <a:prstGeom prst="roundRect">
            <a:avLst/>
          </a:prstGeom>
          <a:solidFill>
            <a:srgbClr val="3D7D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95447" y="3931920"/>
            <a:ext cx="6400800" cy="1463040"/>
          </a:xfrm>
          <a:prstGeom prst="roundRect">
            <a:avLst/>
          </a:prstGeom>
          <a:solidFill>
            <a:srgbClr val="1A30A5"/>
          </a:solidFill>
          <a:ln w="9525">
            <a:solidFill>
              <a:srgbClr val="4D6D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5447" y="4069080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조현인 (Hyun In Jo, Ph.D.)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447" y="4434840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B0C4EE"/>
                </a:solidFill>
                <a:latin typeface="Segoe UI"/>
              </a:rPr>
              <a:t>Samsung Research · Visual Technology · Display Innovation Lab · Spatial Audio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95447" y="4800600"/>
            <a:ext cx="6400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000" b="0">
                <a:solidFill>
                  <a:srgbClr val="E7E6E2"/>
                </a:solidFill>
                <a:latin typeface="Segoe UI"/>
              </a:rPr>
              <a:t>best2012@naver.com  |  010-6387-8402  |  linkedin.com/in/hyunin-jo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
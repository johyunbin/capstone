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100"/>
            </a:pPr>
            <a:r>
              <a:t>[English Script]</a:t>
            </a:r>
          </a:p>
          <a:p>
            <a:pPr>
              <a:defRPr sz="1100"/>
            </a:pPr>
            <a:r>
              <a:t>Good morning/afternoon. Thank you for the opportunity to present my research and vision.</a:t>
            </a:r>
          </a:p>
          <a:p>
            <a:pPr>
              <a:defRPr sz="1100"/>
            </a:pPr>
            <a:r>
              <a:t>My name is Hyun In Jo. I received both my Bachelor's and Ph.D. degrees from Hanyang University's Department of Architectural Engineering. After working as a post-doctoral researcher at KICT and a senior research engineer at Hyundai Motor Company for four years, I am now applying for the faculty position in Intelligent Building Environment Systems.</a:t>
            </a:r>
          </a:p>
          <a:p>
            <a:pPr>
              <a:defRPr sz="1100"/>
            </a:pPr>
            <a:r>
              <a:t>Today, I will present my research achievements, future research plan, and how I can contribute to this department.</a:t>
            </a:r>
          </a:p>
          <a:p/>
          <a:p>
            <a:pPr>
              <a:defRPr b="1" sz="1100"/>
            </a:pPr>
            <a:r>
              <a:t>[한국어 스크립트]</a:t>
            </a:r>
          </a:p>
          <a:p>
            <a:pPr>
              <a:defRPr sz="1100"/>
            </a:pPr>
            <a:r>
              <a:t>안녕하십니까. 발표 기회를 주셔서 감사합니다.</a:t>
            </a:r>
          </a:p>
          <a:p>
            <a:pPr>
              <a:defRPr sz="1100"/>
            </a:pPr>
            <a:r>
              <a:t>저는 한양대학교 건축공학과에서 학사와 박사 학위를 취득한 조현인입니다. 한국건설기술연구원 박사후연구원과 현대자동차 연구소에서 4년간 책임연구원으로 근무한 뒤, 지능형 건축환경 시스템 분야 전임교원에 지원하였습니다.</a:t>
            </a:r>
          </a:p>
          <a:p>
            <a:pPr>
              <a:defRPr sz="1100"/>
            </a:pPr>
            <a:r>
              <a:t>오늘 저의 연구 실적, 향후 연구 계획, 그리고 학과에 대한 기여 방안을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100"/>
            </a:pPr>
            <a:r>
              <a:t>[English Script]</a:t>
            </a:r>
          </a:p>
          <a:p>
            <a:pPr>
              <a:defRPr sz="1100"/>
            </a:pPr>
            <a:r>
              <a:t>Here is the outline of today's presentation. I will start with a brief introduction, then discuss my research achievements across four impact areas, followed by my future research plan under SENSE Lab, and finally my education and contribution plans.</a:t>
            </a:r>
          </a:p>
          <a:p/>
          <a:p>
            <a:pPr>
              <a:defRPr b="1" sz="1100"/>
            </a:pPr>
            <a:r>
              <a:t>[한국어 스크립트]</a:t>
            </a:r>
          </a:p>
          <a:p>
            <a:pPr>
              <a:defRPr sz="1100"/>
            </a:pPr>
            <a:r>
              <a:t>오늘 발표의 목차입니다. 간략한 자기소개 후, 네 가지 영향 영역에 걸친 연구 실적을 말씀드리고, SENSE Lab으로서의 향후 연구 계획, 마지막으로 교육 및 기여 계획을 발표하겠습니다.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100"/>
            </a:pPr>
            <a:r>
              <a:t>[English Script]</a:t>
            </a:r>
          </a:p>
          <a:p>
            <a:pPr>
              <a:defRPr sz="1100"/>
            </a:pPr>
            <a:r>
              <a:t>The field of building sound environment research has evolved through three generations.</a:t>
            </a:r>
          </a:p>
          <a:p>
            <a:pPr>
              <a:defRPr sz="1100"/>
            </a:pPr>
            <a:r>
              <a:t>Generation 1 was traditional noise control — focused on physical metrics like decibels and reverberation time. The question was simply "how loud is it?"</a:t>
            </a:r>
          </a:p>
          <a:p>
            <a:pPr>
              <a:defRPr sz="1100"/>
            </a:pPr>
            <a:r>
              <a:t>Generation 2 introduced the soundscape paradigm — shifting focus to human perception and experience, guided by ISO 12913 standards. The question became "how do people actually experience the sound environment?"</a:t>
            </a:r>
          </a:p>
          <a:p>
            <a:pPr>
              <a:defRPr sz="1100"/>
            </a:pPr>
            <a:r>
              <a:t>Generation 3, which I propose, is the intelligent sound environment — using AI, IoT sensors, and digital twins to automatically optimize building acoustic environments. The question becomes "how can we optimize environments automatically based on human needs?"</a:t>
            </a:r>
          </a:p>
          <a:p>
            <a:pPr>
              <a:defRPr sz="1100"/>
            </a:pPr>
            <a:r>
              <a:t>I have researched across all three generations and I am ready to lead Generation 3 at Hanyang University.</a:t>
            </a:r>
          </a:p>
          <a:p/>
          <a:p>
            <a:pPr>
              <a:defRPr b="1" sz="1100"/>
            </a:pPr>
            <a:r>
              <a:t>[한국어 스크립트]</a:t>
            </a:r>
          </a:p>
          <a:p>
            <a:pPr>
              <a:defRPr sz="1100"/>
            </a:pPr>
            <a:r>
              <a:t>건축 음환경 연구는 세 세대를 거쳐 진화해 왔습니다.</a:t>
            </a:r>
          </a:p>
          <a:p>
            <a:pPr>
              <a:defRPr sz="1100"/>
            </a:pPr>
            <a:r>
              <a:t>1세대는 전통적 소음 제어입니다. 데시벨, 잔향시간 등 물리량 중심으로 "얼마나 시끄러운가?"가 핵심 질문이었습니다.</a:t>
            </a:r>
          </a:p>
          <a:p>
            <a:pPr>
              <a:defRPr sz="1100"/>
            </a:pPr>
            <a:r>
              <a:t>2세대는 사운드스케이프 패러다임으로, ISO 12913 표준에 기반하여 인간의 지각과 경험으로 초점이 전환되었습니다. "사람들은 음환경을 어떻게 경험하는가?"가 핵심 질문이 되었습니다.</a:t>
            </a:r>
          </a:p>
          <a:p>
            <a:pPr>
              <a:defRPr sz="1100"/>
            </a:pPr>
            <a:r>
              <a:t>제가 제안하는 3세대는 지능형 음환경으로, AI, IoT 센서, 디지털 트윈을 활용하여 건축 음환경을 자동으로 최적화합니다.</a:t>
            </a:r>
          </a:p>
          <a:p>
            <a:pPr>
              <a:defRPr sz="1100"/>
            </a:pPr>
            <a:r>
              <a:t>저는 세 세대의 연구를 모두 수행해 왔으며, 한양대학교에서 3세대를 이끌 준비가 되어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100"/>
            </a:pPr>
            <a:r>
              <a:t>[English Script]</a:t>
            </a:r>
          </a:p>
          <a:p>
            <a:pPr>
              <a:defRPr sz="1100"/>
            </a:pPr>
            <a:r>
              <a:t>Let me briefly introduce myself. I completed both my Bachelor's and Ph.D. at Hanyang University's Department of Architectural Engineering, graduating with highest honors in just 6 semesters for my bachelor's degree.</a:t>
            </a:r>
          </a:p>
          <a:p>
            <a:pPr>
              <a:defRPr sz="1100"/>
            </a:pPr>
            <a:r>
              <a:t>During my Ph.D., I conducted research on VR-based soundscape evaluation and psycho-physiological responses, and had the opportunity to visit Sorbonne University in Paris for joint research.</a:t>
            </a:r>
          </a:p>
          <a:p>
            <a:pPr>
              <a:defRPr sz="1100"/>
            </a:pPr>
            <a:r>
              <a:t>After graduating, I worked as a post-doctoral researcher at KICT on building energy data analysis, then joined Hyundai Motor Company where I have been working for four years as a senior research engineer in the NVH division.</a:t>
            </a:r>
          </a:p>
          <a:p>
            <a:pPr>
              <a:defRPr sz="1100"/>
            </a:pPr>
            <a:r>
              <a:t>As you can see on the right, I have published 26 SCI papers with 21 as first author, hold 6 patents including a US patent, received 12 research awards, and participated in over 5 million dollars of funded research.</a:t>
            </a:r>
          </a:p>
          <a:p/>
          <a:p>
            <a:pPr>
              <a:defRPr b="1" sz="1100"/>
            </a:pPr>
            <a:r>
              <a:t>[한국어 스크립트]</a:t>
            </a:r>
          </a:p>
          <a:p>
            <a:pPr>
              <a:defRPr sz="1100"/>
            </a:pPr>
            <a:r>
              <a:t>간략히 자기소개를 드리겠습니다. 저는 한양대학교 건축공학과에서 학사와 박사를 모두 마쳤으며, 학사는 6학기 수석 조기졸업하였습니다.</a:t>
            </a:r>
          </a:p>
          <a:p>
            <a:pPr>
              <a:defRPr sz="1100"/>
            </a:pPr>
            <a:r>
              <a:t>박사과정 중 VR 기반 사운드스케이프 평가와 심리생리학적 반응 연구를 수행하였고, 프랑스 소르본대학교에 방문연구원으로 공동연구를 진행하였습니다.</a:t>
            </a:r>
          </a:p>
          <a:p>
            <a:pPr>
              <a:defRPr sz="1100"/>
            </a:pPr>
            <a:r>
              <a:t>졸업 후 한국건설기술연구원에서 건물에너지 데이터 분석 박사후연구원을 거쳐, 현대자동차 연구소 NVH 시험팀에서 4년간 책임연구원으로 근무하고 있습니다.</a:t>
            </a:r>
          </a:p>
          <a:p>
            <a:pPr>
              <a:defRPr sz="1100"/>
            </a:pPr>
            <a:r>
              <a:t>오른쪽에 보시는 바와 같이, SCI 논문 26편(주저자 21편), 특허 6건(미국 포함), 수상 12건, 총 연구비 50억원 이상의 과제에 참여한 실적이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100"/>
            </a:pPr>
            <a:r>
              <a:t>[English Script]</a:t>
            </a:r>
          </a:p>
          <a:p>
            <a:pPr>
              <a:defRPr sz="1100"/>
            </a:pPr>
            <a:r>
              <a:t>My research philosophy rests on three core principles.</a:t>
            </a:r>
          </a:p>
          <a:p>
            <a:pPr>
              <a:defRPr sz="1100"/>
            </a:pPr>
            <a:r>
              <a:t>First, Perception over Physics. I believe we should evaluate building environments through how people actually experience them, not just through physical measurements. This is why I use psychoacoustic methods and bio-signals like EEG and eye-tracking alongside traditional acoustic metrics.</a:t>
            </a:r>
          </a:p>
          <a:p>
            <a:pPr>
              <a:defRPr sz="1100"/>
            </a:pPr>
            <a:r>
              <a:t>Second, Interdisciplinary Integration. My research bridges architectural acoustics with cognitive psychology, AI, and urban design. This single integrated methodology applies across buildings, cities, products, and even healthcare.</a:t>
            </a:r>
          </a:p>
          <a:p>
            <a:pPr>
              <a:defRPr sz="1100"/>
            </a:pPr>
            <a:r>
              <a:t>Third, Lab to Life. Research should not stay in journals. My work has been applied to three concert hall designs totaling over 4,500 seats, electric vehicle sounds in mass production, and VR-based digital therapeutics validated in clinical settings.</a:t>
            </a:r>
          </a:p>
          <a:p/>
          <a:p>
            <a:pPr>
              <a:defRPr b="1" sz="1100"/>
            </a:pPr>
            <a:r>
              <a:t>[한국어 스크립트]</a:t>
            </a:r>
          </a:p>
          <a:p>
            <a:pPr>
              <a:defRPr sz="1100"/>
            </a:pPr>
            <a:r>
              <a:t>저의 연구 철학은 세 가지 핵심 원칙에 기반합니다.</a:t>
            </a:r>
          </a:p>
          <a:p>
            <a:pPr>
              <a:defRPr sz="1100"/>
            </a:pPr>
            <a:r>
              <a:t>첫째, 물리량보다 지각입니다. 건축환경을 물리적 측정값이 아닌, 사람이 실제로 경험하는 방식으로 평가해야 합니다. 이를 위해 심리음향 방법론과 뇌파, 시선추적 등 생체신호를 활용합니다.</a:t>
            </a:r>
          </a:p>
          <a:p>
            <a:pPr>
              <a:defRPr sz="1100"/>
            </a:pPr>
            <a:r>
              <a:t>둘째, 학제간 융합입니다. 건축음향을 인지심리학, AI, 도시설계와 연결하는 하나의 통합 방법론을 구축하여, 건물·도시·제품·의료 분야에 적용합니다.</a:t>
            </a:r>
          </a:p>
          <a:p>
            <a:pPr>
              <a:defRPr sz="1100"/>
            </a:pPr>
            <a:r>
              <a:t>셋째, 연구실에서 현장으로입니다. 연구는 논문에 머물지 않아야 합니다. 저의 연구는 콘서트홀 3건의 설계, 전기차 양산 사운드, VR 디지털 치료제 임상 검증에 실제 적용되었습니다.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100"/>
            </a:pPr>
            <a:r>
              <a:t>[English Script]</a:t>
            </a:r>
          </a:p>
          <a:p>
            <a:pPr>
              <a:defRPr sz="1100"/>
            </a:pPr>
            <a:r>
              <a:t>My research follows a four-stage pipeline: Sense, Understand, Predict, and Apply.</a:t>
            </a:r>
          </a:p>
          <a:p>
            <a:pPr>
              <a:defRPr sz="1100"/>
            </a:pPr>
            <a:r>
              <a:t>In the Sense stage, I use VR and AR auralization to recreate building acoustic environments in the laboratory.</a:t>
            </a:r>
          </a:p>
          <a:p>
            <a:pPr>
              <a:defRPr sz="1100"/>
            </a:pPr>
            <a:r>
              <a:t>In the Understand stage, I apply psychoacoustic evaluation methods with bio-signals to quantify how people perceive these environments.</a:t>
            </a:r>
          </a:p>
          <a:p>
            <a:pPr>
              <a:defRPr sz="1100"/>
            </a:pPr>
            <a:r>
              <a:t>In the Predict stage, I use AI and machine learning to build predictive models for environmental quality.</a:t>
            </a:r>
          </a:p>
          <a:p>
            <a:pPr>
              <a:defRPr sz="1100"/>
            </a:pPr>
            <a:r>
              <a:t>In the Apply stage, I translate research findings into actual building designs, urban planning guidelines, and commercial products.</a:t>
            </a:r>
          </a:p>
          <a:p>
            <a:pPr>
              <a:defRPr sz="1100"/>
            </a:pPr>
            <a:r>
              <a:t>This single methodology creates impact across four areas: Buildings, Cities, Products, and Health. Let me walk you through each one.</a:t>
            </a:r>
          </a:p>
          <a:p/>
          <a:p>
            <a:pPr>
              <a:defRPr b="1" sz="1100"/>
            </a:pPr>
            <a:r>
              <a:t>[한국어 스크립트]</a:t>
            </a:r>
          </a:p>
          <a:p>
            <a:pPr>
              <a:defRPr sz="1100"/>
            </a:pPr>
            <a:r>
              <a:t>저의 연구는 네 단계의 파이프라인을 따릅니다: 감지, 이해, 예측, 적용입니다.</a:t>
            </a:r>
          </a:p>
          <a:p>
            <a:pPr>
              <a:defRPr sz="1100"/>
            </a:pPr>
            <a:r>
              <a:t>감지 단계에서는 VR/AR 오럴라이제이션으로 건축 음환경을 실험실에서 재현합니다.</a:t>
            </a:r>
          </a:p>
          <a:p>
            <a:pPr>
              <a:defRPr sz="1100"/>
            </a:pPr>
            <a:r>
              <a:t>이해 단계에서는 심리음향 평가와 생체신호로 인간의 환경 지각을 정량화합니다.</a:t>
            </a:r>
          </a:p>
          <a:p>
            <a:pPr>
              <a:defRPr sz="1100"/>
            </a:pPr>
            <a:r>
              <a:t>예측 단계에서는 AI/머신러닝으로 환경 품질 예측 모델을 구축합니다.</a:t>
            </a:r>
          </a:p>
          <a:p>
            <a:pPr>
              <a:defRPr sz="1100"/>
            </a:pPr>
            <a:r>
              <a:t>적용 단계에서는 연구 결과를 실제 건물 설계, 도시 계획, 상용 제품에 반영합니다.</a:t>
            </a:r>
          </a:p>
          <a:p>
            <a:pPr>
              <a:defRPr sz="1100"/>
            </a:pPr>
            <a:r>
              <a:t>이 하나의 방법론이 건물, 도시, 제품, 건강의 네 영역에 걸쳐 impact를 만듭니다. 각각을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100"/>
            </a:pPr>
            <a:r>
              <a:t>[English Script]</a:t>
            </a:r>
          </a:p>
          <a:p>
            <a:pPr>
              <a:defRPr sz="1100"/>
            </a:pPr>
            <a:r>
              <a:t>In the Buildings domain, I have two main contributions.</a:t>
            </a:r>
          </a:p>
          <a:p>
            <a:pPr>
              <a:defRPr sz="1100"/>
            </a:pPr>
            <a:r>
              <a:t>First, architectural acoustics design. I participated in the acoustical design of three concert halls totaling over 4,500 seats. I developed methods to optimize sound diffusion using both scale models and computer simulations, published in the Journal of Building Engineering.</a:t>
            </a:r>
          </a:p>
          <a:p>
            <a:pPr>
              <a:defRPr sz="1100"/>
            </a:pPr>
            <a:r>
              <a:t>Second, indoor sound environment evaluation. For floor impact noise in apartments, I used VR to conduct perceptual evaluations and discovered that the criterion for satisfaction should be 6 to 7 decibels stricter than existing Korean standards. This was published in Building and Environment with 50 citations.</a:t>
            </a:r>
          </a:p>
          <a:p>
            <a:pPr>
              <a:defRPr sz="1100"/>
            </a:pPr>
            <a:r>
              <a:t>For open-plan offices, I developed a Comfort-Content balance model showing the trade-off between acoustic preference and work productivity. And for water supply and drainage noise, I conducted VR-based annoyance assessments.</a:t>
            </a:r>
          </a:p>
          <a:p>
            <a:pPr>
              <a:defRPr sz="1100"/>
            </a:pPr>
            <a:r>
              <a:t>The key contribution is establishing human perception-based evaluation criteria that replace conventional physical metrics.</a:t>
            </a:r>
          </a:p>
          <a:p/>
          <a:p>
            <a:pPr>
              <a:defRPr b="1" sz="1100"/>
            </a:pPr>
            <a:r>
              <a:t>[한국어 스크립트]</a:t>
            </a:r>
          </a:p>
          <a:p>
            <a:pPr>
              <a:defRPr sz="1100"/>
            </a:pPr>
            <a:r>
              <a:t>건물 영역에서의 주요 기여를 말씀드리겠습니다.</a:t>
            </a:r>
          </a:p>
          <a:p>
            <a:pPr>
              <a:defRPr sz="1100"/>
            </a:pPr>
            <a:r>
              <a:t>첫째, 건축음향 설계입니다. 총 4,565석 규모의 콘서트홀 3건의 음향설계에 참여하였고, 축소모형과 시뮬레이션을 활용한 음확산 최적화 방법론을 개발하여 Journal of Building Engineering에 게재하였습니다.</a:t>
            </a:r>
          </a:p>
          <a:p>
            <a:pPr>
              <a:defRPr sz="1100"/>
            </a:pPr>
            <a:r>
              <a:t>둘째, 실내 음환경 평가입니다. 아파트 층간소음에 대해 VR 기반 지각 평가를 수행한 결과, 기존 국내 기준 대비 6-7dB 엄격한 만족 기준이 필요함을 밝혔습니다. Building and Environment에 게재되어 50회 인용되었습니다.</a:t>
            </a:r>
          </a:p>
          <a:p>
            <a:pPr>
              <a:defRPr sz="1100"/>
            </a:pPr>
            <a:r>
              <a:t>오픈플랜 오피스에서는 음향 쾌적성과 업무 생산성 간의 trade-off를 발견한 Comfort-Content 밸런스 모델을 개발하였습니다.</a:t>
            </a:r>
          </a:p>
          <a:p>
            <a:pPr>
              <a:defRPr sz="1100"/>
            </a:pPr>
            <a:r>
              <a:t>핵심 기여는 기존 물리량 중심의 평가 기준을 인간 지각 기반 평가 기준으로 전환한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100"/>
            </a:pPr>
            <a:r>
              <a:t>[English Script]</a:t>
            </a:r>
          </a:p>
          <a:p>
            <a:pPr>
              <a:defRPr sz="1100"/>
            </a:pPr>
            <a:r>
              <a:t>In the Cities domain, my main contributions are in soundscape assessment methodology and design guidelines.</a:t>
            </a:r>
          </a:p>
          <a:p>
            <a:pPr>
              <a:defRPr sz="1100"/>
            </a:pPr>
            <a:r>
              <a:t>For assessment, I validated the compatibility of quantitative and qualitative data collection protocols based on ISO 12913, published in Sustainable Cities and Society with impact factor 11.7.</a:t>
            </a:r>
          </a:p>
          <a:p>
            <a:pPr>
              <a:defRPr sz="1100"/>
            </a:pPr>
            <a:r>
              <a:t>A key finding was about audio-visual interaction. While visual information contributes 90% to environmental perception, it is actually the sound environment that determines overall satisfaction. This paper in Building and Environment has been cited 240 times, making it one of the most cited papers in the soundscape field.</a:t>
            </a:r>
          </a:p>
          <a:p>
            <a:pPr>
              <a:defRPr sz="1100"/>
            </a:pPr>
            <a:r>
              <a:t>I also developed revised soundscape and landscape indices with a structural equation model, establishing the design principle of "secure pleasantness while controlling eventfulness."</a:t>
            </a:r>
          </a:p>
          <a:p>
            <a:pPr>
              <a:defRPr sz="1100"/>
            </a:pPr>
            <a:r>
              <a:t>On the right, you can see my international collaborations. I worked with UCL on the 18-language validation of soundscape descriptors, with Sorbonne on Paris-Seoul comparative studies, and with RWTH Aachen on VR spatial audio rendering.</a:t>
            </a:r>
          </a:p>
          <a:p/>
          <a:p>
            <a:pPr>
              <a:defRPr b="1" sz="1100"/>
            </a:pPr>
            <a:r>
              <a:t>[한국어 스크립트]</a:t>
            </a:r>
          </a:p>
          <a:p>
            <a:pPr>
              <a:defRPr sz="1100"/>
            </a:pPr>
            <a:r>
              <a:t>도시 영역에서의 기여를 말씀드립니다.</a:t>
            </a:r>
          </a:p>
          <a:p>
            <a:pPr>
              <a:defRPr sz="1100"/>
            </a:pPr>
            <a:r>
              <a:t>사운드스케이프 평가 방법론 측면에서, ISO 12913 기반의 정량·정성 데이터 수집 프로토콜의 호환성을 검증하였습니다.</a:t>
            </a:r>
          </a:p>
          <a:p>
            <a:pPr>
              <a:defRPr sz="1100"/>
            </a:pPr>
            <a:r>
              <a:t>핵심 발견은 시청각 상호작용에 관한 것입니다. 시각 정보가 환경 인지의 90%를 차지하지만, 전체 만족도를 결정하는 것은 실제로 음환경이었습니다. 이 논문은 Building and Environment에 게재되어 240회 인용되었으며, 사운드스케이프 분야에서 가장 많이 인용된 논문 중 하나입니다.</a:t>
            </a:r>
          </a:p>
          <a:p>
            <a:pPr>
              <a:defRPr sz="1100"/>
            </a:pPr>
            <a:r>
              <a:t>또한 수정된 사운드스케이프·경관 인덱스와 구조방정식 모델을 개발하여, "쾌적성을 확보하고 활력성을 제어한다"는 설계 원칙을 제시하였습니다.</a:t>
            </a:r>
          </a:p>
          <a:p>
            <a:pPr>
              <a:defRPr sz="1100"/>
            </a:pPr>
            <a:r>
              <a:t>오른쪽은 국제공동연구 현황입니다. UCL과는 18개국 사운드스케이프 기술어 검증, 소르본과는 파리-서울 비교연구, RWTH 아헨과는 VR 입체음향 연구를 수행하였습니다.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100"/>
            </a:pPr>
            <a:r>
              <a:t>[English Script]</a:t>
            </a:r>
          </a:p>
          <a:p>
            <a:pPr>
              <a:defRPr sz="1100"/>
            </a:pPr>
            <a:r>
              <a:t>In the Products domain, I bring four years of hands-on R&amp;D experience at Hyundai Motor Company.</a:t>
            </a:r>
          </a:p>
          <a:p>
            <a:pPr>
              <a:defRPr sz="1100"/>
            </a:pPr>
            <a:r>
              <a:t>My primary role was designing AVAS — the Acoustic Vehicle Alerting System — for electric vehicles. I led the Brand Sound 2.0 design for Hyundai, Kia, and Genesis models including EV3 and IONIQ 5.</a:t>
            </a:r>
          </a:p>
          <a:p>
            <a:pPr>
              <a:defRPr sz="1100"/>
            </a:pPr>
            <a:r>
              <a:t>I also developed a soundscape-based framework for evaluating competitor AVAS sounds using VR auralization, and proposed a sound environment quantification methodology for EV cabins based on architectural acoustic theory.</a:t>
            </a:r>
          </a:p>
          <a:p>
            <a:pPr>
              <a:defRPr sz="1100"/>
            </a:pPr>
            <a:r>
              <a:t>On the NVH side, I worked on noise reduction for B-segment vehicles and managed industry-academia joint research with Seoul National University and Chungnam National University.</a:t>
            </a:r>
          </a:p>
          <a:p>
            <a:pPr>
              <a:defRPr sz="1100"/>
            </a:pPr>
            <a:r>
              <a:t>On the right, you can see the research-to-product pipeline I experienced: from perception model development, through listening tests and system verification, all the way to mass production tuning. This end-to-end experience is what distinguishes my research approach.</a:t>
            </a:r>
          </a:p>
          <a:p>
            <a:pPr>
              <a:defRPr sz="1100"/>
            </a:pPr>
            <a:r>
              <a:t>Our AVAS soundscape research was submitted to the Journal of the Acoustical Society of America and is currently under review.</a:t>
            </a:r>
          </a:p>
          <a:p/>
          <a:p>
            <a:pPr>
              <a:defRPr b="1" sz="1100"/>
            </a:pPr>
            <a:r>
              <a:t>[한국어 스크립트]</a:t>
            </a:r>
          </a:p>
          <a:p>
            <a:pPr>
              <a:defRPr sz="1100"/>
            </a:pPr>
            <a:r>
              <a:t>제품 영역에서는 현대자동차 연구소 4년간의 실무 R&amp;D 경험을 말씀드립니다.</a:t>
            </a:r>
          </a:p>
          <a:p>
            <a:pPr>
              <a:defRPr sz="1100"/>
            </a:pPr>
            <a:r>
              <a:t>주요 업무는 전기차 보행자 경고음(AVAS) 설계였습니다. 현대·기아·제네시스의 EV3, 아이오닉5 등 브랜드 사운드 2.0 디자인을 주도하였습니다.</a:t>
            </a:r>
          </a:p>
          <a:p>
            <a:pPr>
              <a:defRPr sz="1100"/>
            </a:pPr>
            <a:r>
              <a:t>또한 VR 오럴라이제이션을 활용한 사운드스케이프 기반 경쟁사 AVAS 평가 프레임워크를 개발하였고, 건축음향 이론을 적용한 전기차 캐빈 음환경 정량화 방법론을 제안하였습니다.</a:t>
            </a:r>
          </a:p>
          <a:p>
            <a:pPr>
              <a:defRPr sz="1100"/>
            </a:pPr>
            <a:r>
              <a:t>NVH 측면에서는 준중형 전기차/내연기관 차량의 소음저감 연구를 수행하였고, 서울대학교·충남대학교와의 산학공동연구를 기업 측 PI로서 운영하였습니다.</a:t>
            </a:r>
          </a:p>
          <a:p>
            <a:pPr>
              <a:defRPr sz="1100"/>
            </a:pPr>
            <a:r>
              <a:t>오른쪽은 제가 경험한 연구→제품 파이프라인입니다. 지각 모델 개발부터 청감 평가, 시스템 검증, 양산 튜닝까지 전 과정을 경험하였습니다.</a:t>
            </a:r>
          </a:p>
          <a:p>
            <a:pPr>
              <a:defRPr sz="1100"/>
            </a:pPr>
            <a:r>
              <a:t>AVAS 사운드스케이프 연구는 JASA에 투고하여 현재 심사 중입니다.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100"/>
            </a:pPr>
            <a:r>
              <a:t>[English Script]</a:t>
            </a:r>
          </a:p>
          <a:p>
            <a:pPr>
              <a:defRPr sz="1100"/>
            </a:pPr>
            <a:r>
              <a:t>The fourth impact area is Health, where building acoustics methodologies extend to healthcare applications.</a:t>
            </a:r>
          </a:p>
          <a:p>
            <a:pPr>
              <a:defRPr sz="1100"/>
            </a:pPr>
            <a:r>
              <a:t>In AI-based diagnosis, I contributed to a study using LSTM and CNN to classify cough sounds for pneumonia diagnosis, achieving 84.9% accuracy. To address data scarcity, I developed a room impulse response-based data augmentation technique that improved deep learning classifier performance. This technology was patented both in Korea and the US, and transferred to industry for 50,000 dollars.</a:t>
            </a:r>
          </a:p>
          <a:p>
            <a:pPr>
              <a:defRPr sz="1100"/>
            </a:pPr>
            <a:r>
              <a:t>In digital therapeutics, I worked on VR-based soundscape therapy for mental illness patients including depression and schizophrenia, in collaboration with Hanyang University Hospital. We quantified psycho-physiological restoration effects using EEG, heart rate variability, and eye-tracking.</a:t>
            </a:r>
          </a:p>
          <a:p>
            <a:pPr>
              <a:defRPr sz="1100"/>
            </a:pPr>
            <a:r>
              <a:t>This demonstrates that building acoustics methodologies have broad applicability beyond traditional engineering — into healthcare, mental health, and wellness.</a:t>
            </a:r>
          </a:p>
          <a:p/>
          <a:p>
            <a:pPr>
              <a:defRPr b="1" sz="1100"/>
            </a:pPr>
            <a:r>
              <a:t>[한국어 스크립트]</a:t>
            </a:r>
          </a:p>
          <a:p>
            <a:pPr>
              <a:defRPr sz="1100"/>
            </a:pPr>
            <a:r>
              <a:t>네 번째 영역인 건강 분야에서는 건축음향 방법론의 의료 확장을 말씀드립니다.</a:t>
            </a:r>
          </a:p>
          <a:p>
            <a:pPr>
              <a:defRPr sz="1100"/>
            </a:pPr>
            <a:r>
              <a:t>AI 기반 진단에서는 LSTM과 CNN을 활용한 기침소리 분류로 84.9%의 폐렴 진단 정확도를 달성하였습니다. 데이터 부족 문제를 해결하기 위해 공간 임펄스 응답 기반 데이터 증강 기술을 개발하였고, 이 기술은 한국과 미국에서 특허 등록되었으며 5천만원에 기술이전되었습니다.</a:t>
            </a:r>
          </a:p>
          <a:p>
            <a:pPr>
              <a:defRPr sz="1100"/>
            </a:pPr>
            <a:r>
              <a:t>디지털 치료제에서는 한양대학교 병원과 협력하여 우울증, 조현병 환자 대상 VR 사운드스케이프 치료 콘텐츠를 개발하고, EEG, 심박변이도, 시선추적으로 심리생리학적 회복 효과를 정량화하였습니다.</a:t>
            </a:r>
          </a:p>
          <a:p>
            <a:pPr>
              <a:defRPr sz="1100"/>
            </a:pPr>
            <a:r>
              <a:t>이는 건축음향의 방법론이 전통적 공학을 넘어 의료, 정신건강, 웰니스까지 확장될 수 있음을 보여줍니다.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100"/>
            </a:pPr>
            <a:r>
              <a:t>[English Script]</a:t>
            </a:r>
          </a:p>
          <a:p>
            <a:pPr>
              <a:defRPr sz="1100"/>
            </a:pPr>
            <a:r>
              <a:t>This slide summarizes my global network and scholarly activities.</a:t>
            </a:r>
          </a:p>
          <a:p>
            <a:pPr>
              <a:defRPr sz="1100"/>
            </a:pPr>
            <a:r>
              <a:t>I have been involved in three major international joint research projects: the SATP project with UCL on 18-language soundscape descriptor validation, the STAR project with Sorbonne on Paris-Seoul urban soundscape comparison, and the CHIC project with RWTH Aachen on VR 3D audio modeling.</a:t>
            </a:r>
          </a:p>
          <a:p>
            <a:pPr>
              <a:defRPr sz="1100"/>
            </a:pPr>
            <a:r>
              <a:t>In terms of awards, I received the EAA Best Paper and Presentation Award at the International Congress on Acoustics in 2019, the I-INCE Young Professional Award in 2020, and most recently the Hyundai Motor Group Special Award for research in 2025.</a:t>
            </a:r>
          </a:p>
          <a:p>
            <a:pPr>
              <a:defRPr sz="1100"/>
            </a:pPr>
            <a:r>
              <a:t>I serve as a reviewer for 17 international journals and delivered a keynote at the Urban Sound Symposium in 2021. I am also a member of major acoustical societies in both Korea and internationally.</a:t>
            </a:r>
          </a:p>
          <a:p/>
          <a:p>
            <a:pPr>
              <a:defRPr b="1" sz="1100"/>
            </a:pPr>
            <a:r>
              <a:t>[한국어 스크립트]</a:t>
            </a:r>
          </a:p>
          <a:p>
            <a:pPr>
              <a:defRPr sz="1100"/>
            </a:pPr>
            <a:r>
              <a:t>국제 네트워크와 학술 활동을 요약합니다.</a:t>
            </a:r>
          </a:p>
          <a:p>
            <a:pPr>
              <a:defRPr sz="1100"/>
            </a:pPr>
            <a:r>
              <a:t>3건의 주요 국제공동연구를 수행하였습니다. UCL과의 SATP 프로젝트(18개국 사운드스케이프 기술어 검증), 소르본과의 STAR 프로젝트(파리-서울 비교연구), RWTH 아헨과의 CHIC 프로젝트(VR 3D 오디오 모델링)입니다.</a:t>
            </a:r>
          </a:p>
          <a:p>
            <a:pPr>
              <a:defRPr sz="1100"/>
            </a:pPr>
            <a:r>
              <a:t>수상으로는 2019년 ICA 학술대회 EAA 최우수 논문·발표상, 2020년 I-INCE 유망연구자상, 2025년 현대자동차그룹 학술대회 특별상 등이 있습니다.</a:t>
            </a:r>
          </a:p>
          <a:p>
            <a:pPr>
              <a:defRPr sz="1100"/>
            </a:pPr>
            <a:r>
              <a:t>17개 국제 저널의 리뷰어로 활동하고 있으며, 2021년 Urban Sound Symposium에서 기조강연을 하였습니다.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100"/>
            </a:pPr>
            <a:r>
              <a:t>[English Script]</a:t>
            </a:r>
          </a:p>
          <a:p>
            <a:pPr>
              <a:defRPr sz="1100"/>
            </a:pPr>
            <a:r>
              <a:t>Before moving to my future plans, let me share three key lessons from my four years in industry.</a:t>
            </a:r>
          </a:p>
          <a:p>
            <a:pPr>
              <a:defRPr sz="1100"/>
            </a:pPr>
            <a:r>
              <a:t>First, the Research-to-Product Pipeline. I experienced the entire cycle from building a perception model, through listening tests and system verification, to mass production tuning. My research was validated not just through peer review but through actual product deployment in commercial vehicles.</a:t>
            </a:r>
          </a:p>
          <a:p>
            <a:pPr>
              <a:defRPr sz="1100"/>
            </a:pPr>
            <a:r>
              <a:t>Second, an Industry-Ready Research Network. I managed joint research projects from the corporate side as PI. This means I can initiate industry-academia collaborations from Day 1, with partners like Hyundai Motor and Samsung already in my network.</a:t>
            </a:r>
          </a:p>
          <a:p>
            <a:pPr>
              <a:defRPr sz="1100"/>
            </a:pPr>
            <a:r>
              <a:t>Third, Real-World Problem Definition. The best research questions come from industry. The question "how should AVAS sound in future cities?" came from the factory floor and became a paper submitted to JASA.</a:t>
            </a:r>
          </a:p>
          <a:p>
            <a:pPr>
              <a:defRPr sz="1100"/>
            </a:pPr>
            <a:r>
              <a:t>This experience fundamentally shaped how I define, validate, and deliver research.</a:t>
            </a:r>
          </a:p>
          <a:p/>
          <a:p>
            <a:pPr>
              <a:defRPr b="1" sz="1100"/>
            </a:pPr>
            <a:r>
              <a:t>[한국어 스크립트]</a:t>
            </a:r>
          </a:p>
          <a:p>
            <a:pPr>
              <a:defRPr sz="1100"/>
            </a:pPr>
            <a:r>
              <a:t>향후 계획으로 넘어가기 전에, 산업체 4년에서 배운 세 가지 교훈을 말씀드립니다.</a:t>
            </a:r>
          </a:p>
          <a:p>
            <a:pPr>
              <a:defRPr sz="1100"/>
            </a:pPr>
            <a:r>
              <a:t>첫째, 연구에서 제품까지의 파이프라인입니다. 지각 모델 구축부터 청감 평가, 시스템 검증, 양산 튜닝까지 전 과정을 경험하였습니다.</a:t>
            </a:r>
          </a:p>
          <a:p>
            <a:pPr>
              <a:defRPr sz="1100"/>
            </a:pPr>
            <a:r>
              <a:t>둘째, 산업체 연구 네트워크입니다. 기업 측 PI로서 산학과제를 운영한 경험이 있어, 부임 첫날부터 현대차, 삼성 등과 산학협력을 시작할 수 있습니다.</a:t>
            </a:r>
          </a:p>
          <a:p>
            <a:pPr>
              <a:defRPr sz="1100"/>
            </a:pPr>
            <a:r>
              <a:t>셋째, 현장 기반 연구 문제 정의입니다. "미래 도시에서 AVAS는 어떤 소리여야 하는가?" — 현장에서 나온 질문이 JASA 논문이 되었습니다.</a:t>
            </a:r>
          </a:p>
          <a:p>
            <a:pPr>
              <a:defRPr sz="1100"/>
            </a:pPr>
            <a:r>
              <a:t>이 경험이 제가 연구를 정의하고, 검증하고, 전달하는 방식을 근본적으로 바꾸어 놓았습니다.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100"/>
            </a:pPr>
            <a:r>
              <a:t>[English Script]</a:t>
            </a:r>
          </a:p>
          <a:p>
            <a:pPr>
              <a:defRPr sz="1100"/>
            </a:pPr>
            <a:r>
              <a:t>Now I present my future research vision: SENSE Lab — Sound Environment and Sensory Engineering Laboratory.</a:t>
            </a:r>
          </a:p>
          <a:p>
            <a:pPr>
              <a:defRPr sz="1100"/>
            </a:pPr>
            <a:r>
              <a:t>Currently, Hanyang University's architectural engineering department has established research groups in thermal environment and air quality. However, the sound environment — one of the three fundamental pillars of building environment — remains vacant.</a:t>
            </a:r>
          </a:p>
          <a:p>
            <a:pPr>
              <a:defRPr sz="1100"/>
            </a:pPr>
            <a:r>
              <a:t>SENSE Lab will complete this triangle. By adding sound to thermal and air quality, we can build a truly Intelligent Building Environment System — or IBES — that integrates all three domains through AI and data-driven approaches.</a:t>
            </a:r>
          </a:p>
          <a:p>
            <a:pPr>
              <a:defRPr sz="1100"/>
            </a:pPr>
            <a:r>
              <a:t>This is not just about adding another research area. It's about enabling cross-domain synergy that makes the whole department's building environment research greater than the sum of its parts.</a:t>
            </a:r>
          </a:p>
          <a:p/>
          <a:p>
            <a:pPr>
              <a:defRPr b="1" sz="1100"/>
            </a:pPr>
            <a:r>
              <a:t>[한국어 스크립트]</a:t>
            </a:r>
          </a:p>
          <a:p>
            <a:pPr>
              <a:defRPr sz="1100"/>
            </a:pPr>
            <a:r>
              <a:t>이제 향후 연구 비전을 말씀드립니다. SENSE Lab — Sound Environment aNd Sensory Engineering Laboratory입니다.</a:t>
            </a:r>
          </a:p>
          <a:p>
            <a:pPr>
              <a:defRPr sz="1100"/>
            </a:pPr>
            <a:r>
              <a:t>현재 한양대학교 건축공학부에는 열환경과 공기질 분야의 연구 그룹이 있습니다. 그러나 건축환경의 3대 축 중 하나인 음환경은 공백 상태입니다.</a:t>
            </a:r>
          </a:p>
          <a:p>
            <a:pPr>
              <a:defRPr sz="1100"/>
            </a:pPr>
            <a:r>
              <a:t>SENSE Lab이 이 삼각형을 완성합니다. 열과 공기에 소리를 더하여, AI와 데이터 기반으로 세 영역을 통합하는 진정한 지능형 건축환경 시스템(IBES)을 구축할 수 있습니다.</a:t>
            </a:r>
          </a:p>
          <a:p>
            <a:pPr>
              <a:defRPr sz="1100"/>
            </a:pPr>
            <a:r>
              <a:t>이것은 단순히 연구 분야를 추가하는 것이 아니라, 학과 전체의 건축환경 연구가 시너지를 만들 수 있는 기반을 마련하는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100"/>
            </a:pPr>
            <a:r>
              <a:t>[English Script]</a:t>
            </a:r>
          </a:p>
          <a:p>
            <a:pPr>
              <a:defRPr sz="1100"/>
            </a:pPr>
            <a:r>
              <a:t>My research plan consists of three phases. Let me present Phase 1 and Phase 2.</a:t>
            </a:r>
          </a:p>
          <a:p>
            <a:pPr>
              <a:defRPr sz="1100"/>
            </a:pPr>
            <a:r>
              <a:t>Phase 1, Years 1 through 3, focuses on building the foundation: an AI-driven building acoustic environment diagnosis system. This includes deploying IoT acoustic sensor networks, developing ML-based sound classification algorithms, and creating a VR simulation platform for previewing acoustics at the design stage. Target funding is 200 to 300 million won per year from NRF and industry partners.</a:t>
            </a:r>
          </a:p>
          <a:p>
            <a:pPr>
              <a:defRPr sz="1100"/>
            </a:pPr>
            <a:r>
              <a:t>Phase 2, Years 3 through 5, expands to Mobility-Urban Sound Environment Interaction. As electric vehicles transform city soundscapes, we need long-term monitoring systems and integrated AVAS-urban soundscape design frameworks. I also plan to develop digital twin-based prediction tools. Target funding scales to 500 million to 1 billion won per year, with partnerships including Samsung for spatial audio research.</a:t>
            </a:r>
          </a:p>
          <a:p/>
          <a:p>
            <a:pPr>
              <a:defRPr b="1" sz="1100"/>
            </a:pPr>
            <a:r>
              <a:t>[한국어 스크립트]</a:t>
            </a:r>
          </a:p>
          <a:p>
            <a:pPr>
              <a:defRPr sz="1100"/>
            </a:pPr>
            <a:r>
              <a:t>연구 계획은 3단계로 구성됩니다. Phase 1과 2를 먼저 말씀드립니다.</a:t>
            </a:r>
          </a:p>
          <a:p>
            <a:pPr>
              <a:defRPr sz="1100"/>
            </a:pPr>
            <a:r>
              <a:t>Phase 1은 1-3년차로, AI 기반 건축 음환경 진단 시스템 구축에 집중합니다. IoT 음향 센서 네트워크 배치, ML 기반 음환경 자동 분류, VR 시뮬레이션 플랫폼 개발을 포함합니다. 목표 연구비는 연 2-3억원입니다.</a:t>
            </a:r>
          </a:p>
          <a:p>
            <a:pPr>
              <a:defRPr sz="1100"/>
            </a:pPr>
            <a:r>
              <a:t>Phase 2는 3-5년차로, 모빌리티-도시 음환경 상호작용 연구로 확장합니다. 전기차 시대의 도시 음환경 변화를 장기 모니터링하고, AVAS-도시 사운드스케이프 통합 설계 프레임워크를 개발합니다. 디지털 트윈 기반 예측 도구도 구축합니다. 목표 연구비는 연 5-10억원이며, 삼성과의 공간 오디오 공동연구를 포함합니다.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100"/>
            </a:pPr>
            <a:r>
              <a:t>[English Script]</a:t>
            </a:r>
          </a:p>
          <a:p>
            <a:pPr>
              <a:defRPr sz="1100"/>
            </a:pPr>
            <a:r>
              <a:t>Phase 3, from Year 5 onwards, aims for full integration. The goal is a multi-modal intelligent building environment platform that combines sound, thermal, and air quality sensing and control. This will be achieved through joint research with existing faculty members in the department.</a:t>
            </a:r>
          </a:p>
          <a:p>
            <a:pPr>
              <a:defRPr sz="1100"/>
            </a:pPr>
            <a:r>
              <a:t>I also plan to establish Hanyang as an international research hub leveraging my existing network, and take a leadership role in expanding ISO 12913 soundscape standards.</a:t>
            </a:r>
          </a:p>
          <a:p>
            <a:pPr>
              <a:defRPr sz="1100"/>
            </a:pPr>
            <a:r>
              <a:t>On the right is the funding roadmap. Starting at approximately 400 million won per year in Years 1-2, scaling to 700 million in Years 3-4, and targeting over 1 billion won annually from Year 5.</a:t>
            </a:r>
          </a:p>
          <a:p>
            <a:pPr>
              <a:defRPr sz="1100"/>
            </a:pPr>
            <a:r>
              <a:t>Critically, I can start from Day 1 with ready-to-launch partnerships: Hyundai Motor for AVAS and NVH research, Samsung for spatial audio, NRF where I have 11 funded projects on record, and active international collaborations with UCL, RWTH Aachen, and Sorbonne.</a:t>
            </a:r>
          </a:p>
          <a:p/>
          <a:p>
            <a:pPr>
              <a:defRPr b="1" sz="1100"/>
            </a:pPr>
            <a:r>
              <a:t>[한국어 스크립트]</a:t>
            </a:r>
          </a:p>
          <a:p>
            <a:pPr>
              <a:defRPr sz="1100"/>
            </a:pPr>
            <a:r>
              <a:t>Phase 3은 5년차 이후로, 완전한 통합을 목표로 합니다. 음·열·공기질 센싱과 제어를 결합하는 멀티모달 지능형 건축환경 플랫폼을 구축하며, 학과 내 기존 교수님들과의 공동연구로 달성합니다.</a:t>
            </a:r>
          </a:p>
          <a:p>
            <a:pPr>
              <a:defRPr sz="1100"/>
            </a:pPr>
            <a:r>
              <a:t>또한 기존 네트워크를 활용하여 한양대를 국제 연구 허브로 자리매김하고, ISO 12913 사운드스케이프 표준 확장에서 리더십을 확보하겠습니다.</a:t>
            </a:r>
          </a:p>
          <a:p>
            <a:pPr>
              <a:defRPr sz="1100"/>
            </a:pPr>
            <a:r>
              <a:t>오른쪽은 과제 수주 로드맵입니다. 1-2년차 연 4억, 3-4년차 연 7억, 5년차 이후 연 10억 이상을 목표로 합니다.</a:t>
            </a:r>
          </a:p>
          <a:p>
            <a:pPr>
              <a:defRPr sz="1100"/>
            </a:pPr>
            <a:r>
              <a:t>핵심적으로, 부임 첫날부터 즉시 가동 가능한 파트너십이 있습니다: 현대차(AVAS/NVH), 삼성(공간음향), NRF(기존 11건 수행 이력), UCL/RWTH/Sorbonne(진행 중 공동연구)입니다.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100"/>
            </a:pPr>
            <a:r>
              <a:t>[English Script]</a:t>
            </a:r>
          </a:p>
          <a:p>
            <a:pPr>
              <a:defRPr sz="1100"/>
            </a:pPr>
            <a:r>
              <a:t>This slide provides more detail on my funding strategy.</a:t>
            </a:r>
          </a:p>
          <a:p>
            <a:pPr>
              <a:defRPr sz="1100"/>
            </a:pPr>
            <a:r>
              <a:t>For government funding, I plan to target NRF programs at multiple levels: Young or Mid-career Researcher grants for soundscape AI research at 100-200 million won per year, International Joint Research with UCL and Sorbonne, and a Basic Research Lab grant for building environment integration.</a:t>
            </a:r>
          </a:p>
          <a:p>
            <a:pPr>
              <a:defRPr sz="1100"/>
            </a:pPr>
            <a:r>
              <a:t>I also plan to apply to government agencies including MSIT for smart city programs, MOLIT for urban noise policy, and LH Corporation for residential noise standards.</a:t>
            </a:r>
          </a:p>
          <a:p>
            <a:pPr>
              <a:defRPr sz="1100"/>
            </a:pPr>
            <a:r>
              <a:t>For industry collaboration, I have three main channels. Hyundai Motor Company, where I have an existing relationship and ongoing joint research since 2023. Samsung Research, where I have demonstrated spatial audio capability. And construction and architecture firms for building acoustics consulting, building on a precedent project with FURSYS worth 60 million won.</a:t>
            </a:r>
          </a:p>
          <a:p/>
          <a:p>
            <a:pPr>
              <a:defRPr b="1" sz="1100"/>
            </a:pPr>
            <a:r>
              <a:t>[한국어 스크립트]</a:t>
            </a:r>
          </a:p>
          <a:p>
            <a:pPr>
              <a:defRPr sz="1100"/>
            </a:pPr>
            <a:r>
              <a:t>과제 수주 전략을 상세히 말씀드립니다.</a:t>
            </a:r>
          </a:p>
          <a:p>
            <a:pPr>
              <a:defRPr sz="1100"/>
            </a:pPr>
            <a:r>
              <a:t>정부 과제로는 NRF 다단계 프로그램을 타겟합니다: 신진/중견연구자 과제(사운드스케이프 AI, 연 1-2억), 국제공동연구(UCL/소르본, 각 연 1.2억), 기초연구실(건축환경 통합, 5억/3년)입니다.</a:t>
            </a:r>
          </a:p>
          <a:p>
            <a:pPr>
              <a:defRPr sz="1100"/>
            </a:pPr>
            <a:r>
              <a:t>정부 기관으로는 과기정통부 스마트시티, 국토부 도시소음 정책, LH 주거소음 기준 사업 등을 지원할 계획입니다.</a:t>
            </a:r>
          </a:p>
          <a:p>
            <a:pPr>
              <a:defRPr sz="1100"/>
            </a:pPr>
            <a:r>
              <a:t>산학협력은 세 채널입니다. 현대자동차(기존 관계, 2023년부터 공동연구 진행 중), 삼성리서치(공간음향 역량 보유), 건설/건축사무소(건축음향 컨설팅, 퍼시스 6천만원 과제 선례)입니다.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100"/>
            </a:pPr>
            <a:r>
              <a:t>[English Script]</a:t>
            </a:r>
          </a:p>
          <a:p>
            <a:pPr>
              <a:defRPr sz="1100"/>
            </a:pPr>
            <a:r>
              <a:t>My teaching philosophy centers on educating future-ready architectural engineers who understand both technology and human experience.</a:t>
            </a:r>
          </a:p>
          <a:p>
            <a:pPr>
              <a:defRPr sz="1100"/>
            </a:pPr>
            <a:r>
              <a:t>Three principles guide my approach.</a:t>
            </a:r>
          </a:p>
          <a:p>
            <a:pPr>
              <a:defRPr sz="1100"/>
            </a:pPr>
            <a:r>
              <a:t>First, Theory to Practice. I connect classroom theory to real-world applications using actual industry cases. Students will learn from Hyundai Motor projects and concert hall designs, and use VR simulation labs for immersive learning.</a:t>
            </a:r>
          </a:p>
          <a:p>
            <a:pPr>
              <a:defRPr sz="1100"/>
            </a:pPr>
            <a:r>
              <a:t>Second, Data Literacy. Modern architectural engineers need AI and data analysis skills. I will integrate Python and MATLAB-based acoustic data processing into the curriculum, along with machine learning fundamentals for building performance optimization.</a:t>
            </a:r>
          </a:p>
          <a:p>
            <a:pPr>
              <a:defRPr sz="1100"/>
            </a:pPr>
            <a:r>
              <a:t>Third, Global Exposure. All graduate students will be required to present at international conferences. I will facilitate short-term visits to our partner institutions — UCL, RWTH Aachen, and Sorbonne — and provide bilingual research training to prepare students for global careers.</a:t>
            </a:r>
          </a:p>
          <a:p/>
          <a:p>
            <a:pPr>
              <a:defRPr b="1" sz="1100"/>
            </a:pPr>
            <a:r>
              <a:t>[한국어 스크립트]</a:t>
            </a:r>
          </a:p>
          <a:p>
            <a:pPr>
              <a:defRPr sz="1100"/>
            </a:pPr>
            <a:r>
              <a:t>저의 교육 철학은 기술과 인간 경험을 모두 이해하는 미래형 건축 엔지니어 양성입니다.</a:t>
            </a:r>
          </a:p>
          <a:p>
            <a:pPr>
              <a:defRPr sz="1100"/>
            </a:pPr>
            <a:r>
              <a:t>세 가지 원칙이 있습니다.</a:t>
            </a:r>
          </a:p>
          <a:p>
            <a:pPr>
              <a:defRPr sz="1100"/>
            </a:pPr>
            <a:r>
              <a:t>첫째, 이론에서 실천으로입니다. 현대자동차 프로젝트와 콘서트홀 설계 사례를 교재로 활용하고, VR 시뮬레이션 실습실에서 몰입형 학습 경험을 제공합니다.</a:t>
            </a:r>
          </a:p>
          <a:p>
            <a:pPr>
              <a:defRPr sz="1100"/>
            </a:pPr>
            <a:r>
              <a:t>둘째, 데이터 리터러시입니다. 현대 건축 엔지니어에게 AI와 데이터 분석 역량이 필수입니다. Python/MATLAB 기반 음향 데이터 처리와 머신러닝 기초를 교과과정에 통합합니다.</a:t>
            </a:r>
          </a:p>
          <a:p>
            <a:pPr>
              <a:defRPr sz="1100"/>
            </a:pPr>
            <a:r>
              <a:t>셋째, 글로벌 노출입니다. 대학원생 전원의 국제학회 발표를 의무화하고, UCL/RWTH/소르본 파트너 기관 단기 방문을 지원하며, 글로벌 커리어를 위한 이중언어 연구 훈련을 제공합니다.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100"/>
            </a:pPr>
            <a:r>
              <a:t>[English Script]</a:t>
            </a:r>
          </a:p>
          <a:p>
            <a:pPr>
              <a:defRPr sz="1100"/>
            </a:pPr>
            <a:r>
              <a:t>For teaching, I plan to inherit three existing undergraduate courses: Building Environmental Engineering, Architectural Acoustics, and Probability and Statistics.</a:t>
            </a:r>
          </a:p>
          <a:p>
            <a:pPr>
              <a:defRPr sz="1100"/>
            </a:pPr>
            <a:r>
              <a:t>I also propose developing three new courses. First, Smart Building Environment Systems for graduate students, integrating IoT, machine learning, and VR. Second, AI for Built Environment, a hands-on lab course using Python and MATLAB for acoustic data analysis. Third, Sustainable Building and Ecology at the undergraduate level, covering LEED and WELL standards.</a:t>
            </a:r>
          </a:p>
          <a:p>
            <a:pPr>
              <a:defRPr sz="1100"/>
            </a:pPr>
            <a:r>
              <a:t>For student mentoring, undergraduates will engage in capstone designs linked to real industry projects. Graduate students will target one SCI paper and one patent each, with mandatory international conference presentations and short-term visits to our partner institutions. Career paths include Hyundai Motor, Samsung Research, construction firms, and government research institutes.</a:t>
            </a:r>
          </a:p>
          <a:p/>
          <a:p>
            <a:pPr>
              <a:defRPr b="1" sz="1100"/>
            </a:pPr>
            <a:r>
              <a:t>[한국어 스크립트]</a:t>
            </a:r>
          </a:p>
          <a:p>
            <a:pPr>
              <a:defRPr sz="1100"/>
            </a:pPr>
            <a:r>
              <a:t>교육 계획입니다. 기존 학부 교과목인 건축환경공학, 건축음향, 확률통계론을 계승합니다.</a:t>
            </a:r>
          </a:p>
          <a:p>
            <a:pPr>
              <a:defRPr sz="1100"/>
            </a:pPr>
            <a:r>
              <a:t>신규 교과목으로 세 과목을 개설합니다. 대학원 스마트 건축환경 시스템(IoT+ML+VR), 대학원 AI for Built Environment(Python/MATLAB 실습), 학부 지속가능 건축(LEED/WELL)입니다.</a:t>
            </a:r>
          </a:p>
          <a:p>
            <a:pPr>
              <a:defRPr sz="1100"/>
            </a:pPr>
            <a:r>
              <a:t>학생 지도에서, 학부생은 산학과제 연계 캡스톤 디자인을, 대학원생은 1인 1 SCI + 1 특허를 목표로 하며, 국제학회 발표를 의무화하고 파트너 기관 단기 방문을 지원합니다.</a:t>
            </a:r>
          </a:p>
          <a:p>
            <a:pPr>
              <a:defRPr sz="1100"/>
            </a:pPr>
            <a:r>
              <a:t>졸업 후 진로는 현대차, 삼성리서치, 건설사, 정부 연구기관 등으로 연계합니다.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100"/>
            </a:pPr>
            <a:r>
              <a:t>[English Script]</a:t>
            </a:r>
          </a:p>
          <a:p>
            <a:pPr>
              <a:defRPr sz="1100"/>
            </a:pPr>
            <a:r>
              <a:t>I see four ways I can contribute to this department.</a:t>
            </a:r>
          </a:p>
          <a:p>
            <a:pPr>
              <a:defRPr sz="1100"/>
            </a:pPr>
            <a:r>
              <a:t>First, completing the building environment research group. Adding sound to the existing thermal and air quality research enables joint applications for BK21 and Leading Research Center grants.</a:t>
            </a:r>
          </a:p>
          <a:p>
            <a:pPr>
              <a:defRPr sz="1100"/>
            </a:pPr>
            <a:r>
              <a:t>Second, expanding industry collaboration. My networks at Hyundai Motor and Samsung open new partnership channels for the entire department, along with acoustics consulting for construction firms.</a:t>
            </a:r>
          </a:p>
          <a:p>
            <a:pPr>
              <a:defRPr sz="1100"/>
            </a:pPr>
            <a:r>
              <a:t>Third, elevating global presence. My active collaborations with UCL, RWTH Aachen, and Sorbonne can be leveraged for department-level MOUs and student exchanges. I can also lead ISO 12913 standardization efforts.</a:t>
            </a:r>
          </a:p>
          <a:p>
            <a:pPr>
              <a:defRPr sz="1100"/>
            </a:pPr>
            <a:r>
              <a:t>Fourth, as a Hanyang alumnus who completed both B.S. and Ph.D. here, I have a deep understanding of this department's culture and history. I am committed to continuing the tradition of building acoustics research that has been established at Hanyang.</a:t>
            </a:r>
          </a:p>
          <a:p/>
          <a:p>
            <a:pPr>
              <a:defRPr b="1" sz="1100"/>
            </a:pPr>
            <a:r>
              <a:t>[한국어 스크립트]</a:t>
            </a:r>
          </a:p>
          <a:p>
            <a:pPr>
              <a:defRPr sz="1100"/>
            </a:pPr>
            <a:r>
              <a:t>학과에 대한 네 가지 기여 방안을 말씀드립니다.</a:t>
            </a:r>
          </a:p>
          <a:p>
            <a:pPr>
              <a:defRPr sz="1100"/>
            </a:pPr>
            <a:r>
              <a:t>첫째, 건축환경 연구 그룹 완성입니다. 기존 열/공기 연구에 소리를 더하여 BK21, 선도연구센터 등 공동 신청의 기반을 마련합니다.</a:t>
            </a:r>
          </a:p>
          <a:p>
            <a:pPr>
              <a:defRPr sz="1100"/>
            </a:pPr>
            <a:r>
              <a:t>둘째, 산학협력 확대입니다. 현대차, 삼성 네트워크를 통해 학과 전체에 새로운 산학 기회를 제공하고, 건설사 음향 컨설팅도 가능합니다.</a:t>
            </a:r>
          </a:p>
          <a:p>
            <a:pPr>
              <a:defRPr sz="1100"/>
            </a:pPr>
            <a:r>
              <a:t>셋째, 국제 위상 제고입니다. UCL/RWTH/소르본과의 파트너십을 학과 차원 MOU와 학생 교류로 확대하고, ISO 12913 표준화를 주도합니다.</a:t>
            </a:r>
          </a:p>
          <a:p>
            <a:pPr>
              <a:defRPr sz="1100"/>
            </a:pPr>
            <a:r>
              <a:t>넷째, 한양대 동문으로서의 헌신입니다. 이 학과에서 학사와 박사를 모두 마쳤기에, 학과 문화와 역사를 깊이 이해하고 있으며, 한양대 건축음향 연구의 전통을 이어가겠습니다.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100"/>
            </a:pPr>
            <a:r>
              <a:t>[English Script]</a:t>
            </a:r>
          </a:p>
          <a:p>
            <a:pPr>
              <a:defRPr sz="1100"/>
            </a:pPr>
            <a:r>
              <a:t>Thank you for your attention. From Hanyang's tradition in building acoustics, through industry validation at Hyundai Motor Company, to the next generation of intelligent sound environments — SENSE Lab is ready.</a:t>
            </a:r>
          </a:p>
          <a:p>
            <a:pPr>
              <a:defRPr sz="1100"/>
            </a:pPr>
            <a:r>
              <a:t>I would be happy to answer any questions you may have.</a:t>
            </a:r>
          </a:p>
          <a:p/>
          <a:p>
            <a:pPr>
              <a:defRPr b="1" sz="1100"/>
            </a:pPr>
            <a:r>
              <a:t>[한국어 스크립트]</a:t>
            </a:r>
          </a:p>
          <a:p>
            <a:pPr>
              <a:defRPr sz="1100"/>
            </a:pPr>
            <a:r>
              <a:t>경청해 주셔서 감사합니다. 한양대학교 건축음향의 전통 위에, 산업체에서의 검증을 거쳐, 차세대 지능형 음환경 연구로 — SENSE Lab은 준비되어 있습니다.</a:t>
            </a:r>
          </a:p>
          <a:p>
            <a:pPr>
              <a:defRPr sz="1100"/>
            </a:pPr>
            <a:r>
              <a:t>질문이 있으시면 기꺼이 답변드리겠습니다.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731520" y="1645920"/>
            <a:ext cx="1828800" cy="38100"/>
          </a:xfrm>
          <a:prstGeom prst="rect">
            <a:avLst/>
          </a:prstGeom>
          <a:solidFill>
            <a:srgbClr val="068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058400" cy="1371600"/>
          </a:xfrm>
          <a:prstGeom prst="rect">
            <a:avLst/>
          </a:prstGeom>
          <a:noFill/>
        </p:spPr>
        <p:txBody>
          <a:bodyPr wrap="square">
            <a:spAutoFit/>
          </a:bodyPr>
          <a:lstStyle/>
          <a:p>
            <a:pPr algn="l">
              <a:spcAft>
                <a:spcPts val="1080"/>
              </a:spcAft>
              <a:defRPr sz="3600" b="1">
                <a:solidFill>
                  <a:srgbClr val="FFFFFF"/>
                </a:solidFill>
                <a:latin typeface="Calibri"/>
              </a:defRPr>
            </a:pPr>
            <a:r>
              <a:t>Intelligent Sound Environment Systems</a:t>
            </a:r>
            <a:br/>
            <a:r>
              <a:t>for Human-Centered Built Environments</a:t>
            </a:r>
          </a:p>
        </p:txBody>
      </p:sp>
      <p:sp>
        <p:nvSpPr>
          <p:cNvPr id="4" name="TextBox 3"/>
          <p:cNvSpPr txBox="1"/>
          <p:nvPr/>
        </p:nvSpPr>
        <p:spPr>
          <a:xfrm>
            <a:off x="731520" y="3474720"/>
            <a:ext cx="7315200" cy="457200"/>
          </a:xfrm>
          <a:prstGeom prst="rect">
            <a:avLst/>
          </a:prstGeom>
          <a:noFill/>
        </p:spPr>
        <p:txBody>
          <a:bodyPr wrap="square">
            <a:spAutoFit/>
          </a:bodyPr>
          <a:lstStyle/>
          <a:p>
            <a:pPr algn="l">
              <a:spcAft>
                <a:spcPts val="339"/>
              </a:spcAft>
              <a:defRPr sz="1700" b="0">
                <a:solidFill>
                  <a:srgbClr val="0689D8"/>
                </a:solidFill>
                <a:latin typeface="Calibri"/>
              </a:defRPr>
            </a:pPr>
            <a:r>
              <a:t>Faculty Position: Intelligent Building Environment Systems</a:t>
            </a:r>
          </a:p>
        </p:txBody>
      </p:sp>
      <p:sp>
        <p:nvSpPr>
          <p:cNvPr id="5" name="Rectangle 4"/>
          <p:cNvSpPr/>
          <p:nvPr/>
        </p:nvSpPr>
        <p:spPr>
          <a:xfrm>
            <a:off x="731520" y="4206240"/>
            <a:ext cx="4572000" cy="12700"/>
          </a:xfrm>
          <a:prstGeom prst="rect">
            <a:avLst/>
          </a:prstGeom>
          <a:solidFill>
            <a:srgbClr val="22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480560"/>
            <a:ext cx="5486400" cy="548640"/>
          </a:xfrm>
          <a:prstGeom prst="rect">
            <a:avLst/>
          </a:prstGeom>
          <a:noFill/>
        </p:spPr>
        <p:txBody>
          <a:bodyPr wrap="square">
            <a:spAutoFit/>
          </a:bodyPr>
          <a:lstStyle/>
          <a:p>
            <a:pPr algn="l">
              <a:spcAft>
                <a:spcPts val="559"/>
              </a:spcAft>
              <a:defRPr sz="2800" b="1">
                <a:solidFill>
                  <a:srgbClr val="FFFFFF"/>
                </a:solidFill>
                <a:latin typeface="Calibri"/>
              </a:defRPr>
            </a:pPr>
            <a:r>
              <a:t>Hyun In Jo, Ph.D.</a:t>
            </a:r>
          </a:p>
        </p:txBody>
      </p:sp>
      <p:sp>
        <p:nvSpPr>
          <p:cNvPr id="7" name="TextBox 6"/>
          <p:cNvSpPr txBox="1"/>
          <p:nvPr/>
        </p:nvSpPr>
        <p:spPr>
          <a:xfrm>
            <a:off x="731520" y="5029200"/>
            <a:ext cx="7315200" cy="320040"/>
          </a:xfrm>
          <a:prstGeom prst="rect">
            <a:avLst/>
          </a:prstGeom>
          <a:noFill/>
        </p:spPr>
        <p:txBody>
          <a:bodyPr wrap="square">
            <a:spAutoFit/>
          </a:bodyPr>
          <a:lstStyle/>
          <a:p>
            <a:pPr algn="l">
              <a:spcAft>
                <a:spcPts val="259"/>
              </a:spcAft>
              <a:defRPr sz="1300" b="0">
                <a:solidFill>
                  <a:srgbClr val="3D7DDE"/>
                </a:solidFill>
                <a:latin typeface="Calibri"/>
              </a:defRPr>
            </a:pPr>
            <a:r>
              <a:t>LEED AP BD+C  |  LEED AP ID+C  |  WELL AP  |  ADsP</a:t>
            </a:r>
          </a:p>
        </p:txBody>
      </p:sp>
      <p:sp>
        <p:nvSpPr>
          <p:cNvPr id="8" name="TextBox 7"/>
          <p:cNvSpPr txBox="1"/>
          <p:nvPr/>
        </p:nvSpPr>
        <p:spPr>
          <a:xfrm>
            <a:off x="731520" y="5486400"/>
            <a:ext cx="9144000" cy="457200"/>
          </a:xfrm>
          <a:prstGeom prst="rect">
            <a:avLst/>
          </a:prstGeom>
          <a:noFill/>
        </p:spPr>
        <p:txBody>
          <a:bodyPr wrap="square">
            <a:spAutoFit/>
          </a:bodyPr>
          <a:lstStyle/>
          <a:p>
            <a:pPr algn="l">
              <a:spcAft>
                <a:spcPts val="299"/>
              </a:spcAft>
              <a:defRPr sz="1500" b="0">
                <a:solidFill>
                  <a:srgbClr val="8899AA"/>
                </a:solidFill>
                <a:latin typeface="Calibri"/>
              </a:defRPr>
            </a:pPr>
            <a:r>
              <a:t>Department of Architectural Engineering, Hanyang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685800"/>
          </a:xfrm>
          <a:prstGeom prst="rect">
            <a:avLst/>
          </a:prstGeom>
          <a:noFill/>
        </p:spPr>
        <p:txBody>
          <a:bodyPr wrap="square">
            <a:spAutoFit/>
          </a:bodyPr>
          <a:lstStyle/>
          <a:p>
            <a:pPr algn="l">
              <a:spcAft>
                <a:spcPts val="519"/>
              </a:spcAft>
              <a:defRPr sz="2600" b="1">
                <a:solidFill>
                  <a:srgbClr val="0A0F1E"/>
                </a:solidFill>
                <a:latin typeface="Calibri"/>
              </a:defRPr>
            </a:pPr>
            <a:r>
              <a:t>Table of Contents</a:t>
            </a:r>
          </a:p>
        </p:txBody>
      </p:sp>
      <p:sp>
        <p:nvSpPr>
          <p:cNvPr id="4" name="Rectangle 3"/>
          <p:cNvSpPr/>
          <p:nvPr/>
        </p:nvSpPr>
        <p:spPr>
          <a:xfrm>
            <a:off x="731520" y="868680"/>
            <a:ext cx="10698480" cy="1905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1097280" cy="320040"/>
          </a:xfrm>
          <a:prstGeom prst="rect">
            <a:avLst/>
          </a:prstGeom>
          <a:noFill/>
        </p:spPr>
        <p:txBody>
          <a:bodyPr wrap="square">
            <a:spAutoFit/>
          </a:bodyPr>
          <a:lstStyle/>
          <a:p>
            <a:pPr algn="r">
              <a:spcAft>
                <a:spcPts val="179"/>
              </a:spcAft>
              <a:defRPr sz="900" b="0">
                <a:solidFill>
                  <a:srgbClr val="888899"/>
                </a:solidFill>
                <a:latin typeface="Calibri"/>
              </a:defRPr>
            </a:pPr>
            <a:r>
              <a:t>2 / 20</a:t>
            </a:r>
          </a:p>
        </p:txBody>
      </p:sp>
      <p:sp>
        <p:nvSpPr>
          <p:cNvPr id="6" name="Rounded Rectangle 5"/>
          <p:cNvSpPr/>
          <p:nvPr/>
        </p:nvSpPr>
        <p:spPr>
          <a:xfrm>
            <a:off x="731520" y="1280160"/>
            <a:ext cx="731520" cy="594360"/>
          </a:xfrm>
          <a:prstGeom prst="round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01</a:t>
            </a:r>
          </a:p>
        </p:txBody>
      </p:sp>
      <p:sp>
        <p:nvSpPr>
          <p:cNvPr id="7" name="TextBox 6"/>
          <p:cNvSpPr txBox="1"/>
          <p:nvPr/>
        </p:nvSpPr>
        <p:spPr>
          <a:xfrm>
            <a:off x="1645920" y="1325880"/>
            <a:ext cx="2743200" cy="548640"/>
          </a:xfrm>
          <a:prstGeom prst="rect">
            <a:avLst/>
          </a:prstGeom>
          <a:noFill/>
        </p:spPr>
        <p:txBody>
          <a:bodyPr wrap="square">
            <a:spAutoFit/>
          </a:bodyPr>
          <a:lstStyle/>
          <a:p>
            <a:pPr algn="l">
              <a:spcAft>
                <a:spcPts val="399"/>
              </a:spcAft>
              <a:defRPr sz="2000" b="1">
                <a:solidFill>
                  <a:srgbClr val="0A0F1E"/>
                </a:solidFill>
                <a:latin typeface="Calibri"/>
              </a:defRPr>
            </a:pPr>
            <a:r>
              <a:t>Introduction</a:t>
            </a:r>
          </a:p>
        </p:txBody>
      </p:sp>
      <p:sp>
        <p:nvSpPr>
          <p:cNvPr id="8" name="TextBox 7"/>
          <p:cNvSpPr txBox="1"/>
          <p:nvPr/>
        </p:nvSpPr>
        <p:spPr>
          <a:xfrm>
            <a:off x="4389120" y="1325880"/>
            <a:ext cx="6858000" cy="548640"/>
          </a:xfrm>
          <a:prstGeom prst="rect">
            <a:avLst/>
          </a:prstGeom>
          <a:noFill/>
        </p:spPr>
        <p:txBody>
          <a:bodyPr wrap="square">
            <a:spAutoFit/>
          </a:bodyPr>
          <a:lstStyle/>
          <a:p>
            <a:pPr algn="l">
              <a:spcAft>
                <a:spcPts val="390"/>
              </a:spcAft>
              <a:defRPr sz="1300" b="0">
                <a:solidFill>
                  <a:srgbClr val="75787B"/>
                </a:solidFill>
                <a:latin typeface="Calibri"/>
              </a:defRPr>
            </a:pPr>
            <a:r>
              <a:t>The Evolution  |  Brief Introduction</a:t>
            </a:r>
          </a:p>
        </p:txBody>
      </p:sp>
      <p:sp>
        <p:nvSpPr>
          <p:cNvPr id="9" name="Rounded Rectangle 8"/>
          <p:cNvSpPr/>
          <p:nvPr/>
        </p:nvSpPr>
        <p:spPr>
          <a:xfrm>
            <a:off x="731520" y="2286000"/>
            <a:ext cx="731520" cy="594360"/>
          </a:xfrm>
          <a:prstGeom prst="round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02</a:t>
            </a:r>
          </a:p>
        </p:txBody>
      </p:sp>
      <p:sp>
        <p:nvSpPr>
          <p:cNvPr id="10" name="TextBox 9"/>
          <p:cNvSpPr txBox="1"/>
          <p:nvPr/>
        </p:nvSpPr>
        <p:spPr>
          <a:xfrm>
            <a:off x="1645920" y="2331720"/>
            <a:ext cx="2743200" cy="548640"/>
          </a:xfrm>
          <a:prstGeom prst="rect">
            <a:avLst/>
          </a:prstGeom>
          <a:noFill/>
        </p:spPr>
        <p:txBody>
          <a:bodyPr wrap="square">
            <a:spAutoFit/>
          </a:bodyPr>
          <a:lstStyle/>
          <a:p>
            <a:pPr algn="l">
              <a:spcAft>
                <a:spcPts val="399"/>
              </a:spcAft>
              <a:defRPr sz="2000" b="1">
                <a:solidFill>
                  <a:srgbClr val="0A0F1E"/>
                </a:solidFill>
                <a:latin typeface="Calibri"/>
              </a:defRPr>
            </a:pPr>
            <a:r>
              <a:t>Research</a:t>
            </a:r>
          </a:p>
        </p:txBody>
      </p:sp>
      <p:sp>
        <p:nvSpPr>
          <p:cNvPr id="11" name="TextBox 10"/>
          <p:cNvSpPr txBox="1"/>
          <p:nvPr/>
        </p:nvSpPr>
        <p:spPr>
          <a:xfrm>
            <a:off x="4389120" y="2331720"/>
            <a:ext cx="6858000" cy="548640"/>
          </a:xfrm>
          <a:prstGeom prst="rect">
            <a:avLst/>
          </a:prstGeom>
          <a:noFill/>
        </p:spPr>
        <p:txBody>
          <a:bodyPr wrap="square">
            <a:spAutoFit/>
          </a:bodyPr>
          <a:lstStyle/>
          <a:p>
            <a:pPr algn="l">
              <a:spcAft>
                <a:spcPts val="390"/>
              </a:spcAft>
              <a:defRPr sz="1300" b="0">
                <a:solidFill>
                  <a:srgbClr val="75787B"/>
                </a:solidFill>
                <a:latin typeface="Calibri"/>
              </a:defRPr>
            </a:pPr>
            <a:r>
              <a:t>Philosophy  |  Key Research (Buildings · Cities · Products · Health)</a:t>
            </a:r>
            <a:br/>
            <a:r>
              <a:t>Global Network  |  Industry Experience</a:t>
            </a:r>
          </a:p>
        </p:txBody>
      </p:sp>
      <p:sp>
        <p:nvSpPr>
          <p:cNvPr id="12" name="Rounded Rectangle 11"/>
          <p:cNvSpPr/>
          <p:nvPr/>
        </p:nvSpPr>
        <p:spPr>
          <a:xfrm>
            <a:off x="731520" y="3291840"/>
            <a:ext cx="731520" cy="594360"/>
          </a:xfrm>
          <a:prstGeom prst="round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03</a:t>
            </a:r>
          </a:p>
        </p:txBody>
      </p:sp>
      <p:sp>
        <p:nvSpPr>
          <p:cNvPr id="13" name="TextBox 12"/>
          <p:cNvSpPr txBox="1"/>
          <p:nvPr/>
        </p:nvSpPr>
        <p:spPr>
          <a:xfrm>
            <a:off x="1645920" y="3337560"/>
            <a:ext cx="2743200" cy="548640"/>
          </a:xfrm>
          <a:prstGeom prst="rect">
            <a:avLst/>
          </a:prstGeom>
          <a:noFill/>
        </p:spPr>
        <p:txBody>
          <a:bodyPr wrap="square">
            <a:spAutoFit/>
          </a:bodyPr>
          <a:lstStyle/>
          <a:p>
            <a:pPr algn="l">
              <a:spcAft>
                <a:spcPts val="399"/>
              </a:spcAft>
              <a:defRPr sz="2000" b="1">
                <a:solidFill>
                  <a:srgbClr val="0A0F1E"/>
                </a:solidFill>
                <a:latin typeface="Calibri"/>
              </a:defRPr>
            </a:pPr>
            <a:r>
              <a:t>Future Research Plan</a:t>
            </a:r>
          </a:p>
        </p:txBody>
      </p:sp>
      <p:sp>
        <p:nvSpPr>
          <p:cNvPr id="14" name="TextBox 13"/>
          <p:cNvSpPr txBox="1"/>
          <p:nvPr/>
        </p:nvSpPr>
        <p:spPr>
          <a:xfrm>
            <a:off x="4389120" y="3337560"/>
            <a:ext cx="6858000" cy="548640"/>
          </a:xfrm>
          <a:prstGeom prst="rect">
            <a:avLst/>
          </a:prstGeom>
          <a:noFill/>
        </p:spPr>
        <p:txBody>
          <a:bodyPr wrap="square">
            <a:spAutoFit/>
          </a:bodyPr>
          <a:lstStyle/>
          <a:p>
            <a:pPr algn="l">
              <a:spcAft>
                <a:spcPts val="390"/>
              </a:spcAft>
              <a:defRPr sz="1300" b="0">
                <a:solidFill>
                  <a:srgbClr val="75787B"/>
                </a:solidFill>
                <a:latin typeface="Calibri"/>
              </a:defRPr>
            </a:pPr>
            <a:r>
              <a:t>SENSE Lab Vision  |  Phase 1-2-3  |  Funding Roadmap</a:t>
            </a:r>
          </a:p>
        </p:txBody>
      </p:sp>
      <p:sp>
        <p:nvSpPr>
          <p:cNvPr id="15" name="Rounded Rectangle 14"/>
          <p:cNvSpPr/>
          <p:nvPr/>
        </p:nvSpPr>
        <p:spPr>
          <a:xfrm>
            <a:off x="731520" y="4297680"/>
            <a:ext cx="731520" cy="594360"/>
          </a:xfrm>
          <a:prstGeom prst="round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04</a:t>
            </a:r>
          </a:p>
        </p:txBody>
      </p:sp>
      <p:sp>
        <p:nvSpPr>
          <p:cNvPr id="16" name="TextBox 15"/>
          <p:cNvSpPr txBox="1"/>
          <p:nvPr/>
        </p:nvSpPr>
        <p:spPr>
          <a:xfrm>
            <a:off x="1645920" y="4343400"/>
            <a:ext cx="2743200" cy="548640"/>
          </a:xfrm>
          <a:prstGeom prst="rect">
            <a:avLst/>
          </a:prstGeom>
          <a:noFill/>
        </p:spPr>
        <p:txBody>
          <a:bodyPr wrap="square">
            <a:spAutoFit/>
          </a:bodyPr>
          <a:lstStyle/>
          <a:p>
            <a:pPr algn="l">
              <a:spcAft>
                <a:spcPts val="399"/>
              </a:spcAft>
              <a:defRPr sz="2000" b="1">
                <a:solidFill>
                  <a:srgbClr val="0A0F1E"/>
                </a:solidFill>
                <a:latin typeface="Calibri"/>
              </a:defRPr>
            </a:pPr>
            <a:r>
              <a:t>Education</a:t>
            </a:r>
          </a:p>
        </p:txBody>
      </p:sp>
      <p:sp>
        <p:nvSpPr>
          <p:cNvPr id="17" name="TextBox 16"/>
          <p:cNvSpPr txBox="1"/>
          <p:nvPr/>
        </p:nvSpPr>
        <p:spPr>
          <a:xfrm>
            <a:off x="4389120" y="4343400"/>
            <a:ext cx="6858000" cy="548640"/>
          </a:xfrm>
          <a:prstGeom prst="rect">
            <a:avLst/>
          </a:prstGeom>
          <a:noFill/>
        </p:spPr>
        <p:txBody>
          <a:bodyPr wrap="square">
            <a:spAutoFit/>
          </a:bodyPr>
          <a:lstStyle/>
          <a:p>
            <a:pPr algn="l">
              <a:spcAft>
                <a:spcPts val="390"/>
              </a:spcAft>
              <a:defRPr sz="1300" b="0">
                <a:solidFill>
                  <a:srgbClr val="75787B"/>
                </a:solidFill>
                <a:latin typeface="Calibri"/>
              </a:defRPr>
            </a:pPr>
            <a:r>
              <a:t>Teaching Philosophy  |  Teaching Plan  |  Student Mentoring</a:t>
            </a:r>
          </a:p>
        </p:txBody>
      </p:sp>
      <p:sp>
        <p:nvSpPr>
          <p:cNvPr id="18" name="Rounded Rectangle 17"/>
          <p:cNvSpPr/>
          <p:nvPr/>
        </p:nvSpPr>
        <p:spPr>
          <a:xfrm>
            <a:off x="731520" y="5303520"/>
            <a:ext cx="731520" cy="594360"/>
          </a:xfrm>
          <a:prstGeom prst="round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05</a:t>
            </a:r>
          </a:p>
        </p:txBody>
      </p:sp>
      <p:sp>
        <p:nvSpPr>
          <p:cNvPr id="19" name="TextBox 18"/>
          <p:cNvSpPr txBox="1"/>
          <p:nvPr/>
        </p:nvSpPr>
        <p:spPr>
          <a:xfrm>
            <a:off x="1645920" y="5349240"/>
            <a:ext cx="2743200" cy="548640"/>
          </a:xfrm>
          <a:prstGeom prst="rect">
            <a:avLst/>
          </a:prstGeom>
          <a:noFill/>
        </p:spPr>
        <p:txBody>
          <a:bodyPr wrap="square">
            <a:spAutoFit/>
          </a:bodyPr>
          <a:lstStyle/>
          <a:p>
            <a:pPr algn="l">
              <a:spcAft>
                <a:spcPts val="399"/>
              </a:spcAft>
              <a:defRPr sz="2000" b="1">
                <a:solidFill>
                  <a:srgbClr val="0A0F1E"/>
                </a:solidFill>
                <a:latin typeface="Calibri"/>
              </a:defRPr>
            </a:pPr>
            <a:r>
              <a:t>Contribution</a:t>
            </a:r>
          </a:p>
        </p:txBody>
      </p:sp>
      <p:sp>
        <p:nvSpPr>
          <p:cNvPr id="20" name="TextBox 19"/>
          <p:cNvSpPr txBox="1"/>
          <p:nvPr/>
        </p:nvSpPr>
        <p:spPr>
          <a:xfrm>
            <a:off x="4389120" y="5349240"/>
            <a:ext cx="6858000" cy="548640"/>
          </a:xfrm>
          <a:prstGeom prst="rect">
            <a:avLst/>
          </a:prstGeom>
          <a:noFill/>
        </p:spPr>
        <p:txBody>
          <a:bodyPr wrap="square">
            <a:spAutoFit/>
          </a:bodyPr>
          <a:lstStyle/>
          <a:p>
            <a:pPr algn="l">
              <a:spcAft>
                <a:spcPts val="390"/>
              </a:spcAft>
              <a:defRPr sz="1300" b="0">
                <a:solidFill>
                  <a:srgbClr val="75787B"/>
                </a:solidFill>
                <a:latin typeface="Calibri"/>
              </a:defRPr>
            </a:pPr>
            <a:r>
              <a:t>Department  |  Industry  |  Global Network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685800"/>
          </a:xfrm>
          <a:prstGeom prst="rect">
            <a:avLst/>
          </a:prstGeom>
          <a:noFill/>
        </p:spPr>
        <p:txBody>
          <a:bodyPr wrap="square">
            <a:spAutoFit/>
          </a:bodyPr>
          <a:lstStyle/>
          <a:p>
            <a:pPr algn="l">
              <a:spcAft>
                <a:spcPts val="519"/>
              </a:spcAft>
              <a:defRPr sz="2600" b="1">
                <a:solidFill>
                  <a:srgbClr val="0A0F1E"/>
                </a:solidFill>
                <a:latin typeface="Calibri"/>
              </a:defRPr>
            </a:pPr>
            <a:r>
              <a:t>The Evolution of Building Sound Environment Research</a:t>
            </a:r>
          </a:p>
        </p:txBody>
      </p:sp>
      <p:sp>
        <p:nvSpPr>
          <p:cNvPr id="4" name="Rectangle 3"/>
          <p:cNvSpPr/>
          <p:nvPr/>
        </p:nvSpPr>
        <p:spPr>
          <a:xfrm>
            <a:off x="731520" y="868680"/>
            <a:ext cx="10698480" cy="1905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1097280" cy="320040"/>
          </a:xfrm>
          <a:prstGeom prst="rect">
            <a:avLst/>
          </a:prstGeom>
          <a:noFill/>
        </p:spPr>
        <p:txBody>
          <a:bodyPr wrap="square">
            <a:spAutoFit/>
          </a:bodyPr>
          <a:lstStyle/>
          <a:p>
            <a:pPr algn="r">
              <a:spcAft>
                <a:spcPts val="179"/>
              </a:spcAft>
              <a:defRPr sz="900" b="0">
                <a:solidFill>
                  <a:srgbClr val="888899"/>
                </a:solidFill>
                <a:latin typeface="Calibri"/>
              </a:defRPr>
            </a:pPr>
            <a:r>
              <a:t>3 / 20</a:t>
            </a:r>
          </a:p>
        </p:txBody>
      </p:sp>
      <p:sp>
        <p:nvSpPr>
          <p:cNvPr id="6" name="Rounded Rectangle 5"/>
          <p:cNvSpPr/>
          <p:nvPr/>
        </p:nvSpPr>
        <p:spPr>
          <a:xfrm>
            <a:off x="731520" y="1280160"/>
            <a:ext cx="3383280" cy="4206240"/>
          </a:xfrm>
          <a:prstGeom prst="roundRect">
            <a:avLst/>
          </a:prstGeom>
          <a:solidFill>
            <a:srgbClr val="E5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63040"/>
            <a:ext cx="2834640" cy="320040"/>
          </a:xfrm>
          <a:prstGeom prst="rect">
            <a:avLst/>
          </a:prstGeom>
          <a:noFill/>
        </p:spPr>
        <p:txBody>
          <a:bodyPr wrap="square">
            <a:spAutoFit/>
          </a:bodyPr>
          <a:lstStyle/>
          <a:p>
            <a:pPr algn="l">
              <a:spcAft>
                <a:spcPts val="239"/>
              </a:spcAft>
              <a:defRPr sz="1200" b="1">
                <a:solidFill>
                  <a:srgbClr val="13289F"/>
                </a:solidFill>
                <a:latin typeface="Calibri"/>
              </a:defRPr>
            </a:pPr>
            <a:r>
              <a:t>Generation 1</a:t>
            </a:r>
          </a:p>
        </p:txBody>
      </p:sp>
      <p:sp>
        <p:nvSpPr>
          <p:cNvPr id="8" name="TextBox 7"/>
          <p:cNvSpPr txBox="1"/>
          <p:nvPr/>
        </p:nvSpPr>
        <p:spPr>
          <a:xfrm>
            <a:off x="1005840" y="1828800"/>
            <a:ext cx="2834640" cy="1097280"/>
          </a:xfrm>
          <a:prstGeom prst="rect">
            <a:avLst/>
          </a:prstGeom>
          <a:noFill/>
        </p:spPr>
        <p:txBody>
          <a:bodyPr wrap="square">
            <a:spAutoFit/>
          </a:bodyPr>
          <a:lstStyle/>
          <a:p>
            <a:pPr algn="l">
              <a:spcAft>
                <a:spcPts val="240"/>
              </a:spcAft>
              <a:defRPr sz="2400" b="1">
                <a:solidFill>
                  <a:srgbClr val="1A1A2E"/>
                </a:solidFill>
                <a:latin typeface="Calibri"/>
              </a:defRPr>
            </a:pPr>
            <a:r>
              <a:t>Noise Control</a:t>
            </a:r>
          </a:p>
        </p:txBody>
      </p:sp>
      <p:sp>
        <p:nvSpPr>
          <p:cNvPr id="9" name="TextBox 8"/>
          <p:cNvSpPr txBox="1"/>
          <p:nvPr/>
        </p:nvSpPr>
        <p:spPr>
          <a:xfrm>
            <a:off x="1005840" y="3017520"/>
            <a:ext cx="2834640" cy="2011680"/>
          </a:xfrm>
          <a:prstGeom prst="rect">
            <a:avLst/>
          </a:prstGeom>
          <a:noFill/>
        </p:spPr>
        <p:txBody>
          <a:bodyPr wrap="square">
            <a:spAutoFit/>
          </a:bodyPr>
          <a:lstStyle/>
          <a:p>
            <a:pPr algn="l">
              <a:spcAft>
                <a:spcPts val="490"/>
              </a:spcAft>
              <a:defRPr sz="1400" b="0">
                <a:solidFill>
                  <a:srgbClr val="75787B"/>
                </a:solidFill>
                <a:latin typeface="Calibri"/>
              </a:defRPr>
            </a:pPr>
            <a:r>
              <a:t>Physical metrics</a:t>
            </a:r>
            <a:br/>
            <a:r>
              <a:t>dB, RT60, NC curves</a:t>
            </a:r>
            <a:br/>
            <a:br/>
            <a:r>
              <a:t>"How loud is it?"</a:t>
            </a:r>
          </a:p>
        </p:txBody>
      </p:sp>
      <p:sp>
        <p:nvSpPr>
          <p:cNvPr id="10" name="TextBox 9"/>
          <p:cNvSpPr txBox="1"/>
          <p:nvPr/>
        </p:nvSpPr>
        <p:spPr>
          <a:xfrm>
            <a:off x="4160520" y="2926080"/>
            <a:ext cx="274320" cy="457200"/>
          </a:xfrm>
          <a:prstGeom prst="rect">
            <a:avLst/>
          </a:prstGeom>
          <a:noFill/>
        </p:spPr>
        <p:txBody>
          <a:bodyPr wrap="square">
            <a:spAutoFit/>
          </a:bodyPr>
          <a:lstStyle/>
          <a:p>
            <a:pPr algn="ctr">
              <a:spcAft>
                <a:spcPts val="479"/>
              </a:spcAft>
              <a:defRPr sz="2400" b="1">
                <a:solidFill>
                  <a:srgbClr val="13289F"/>
                </a:solidFill>
                <a:latin typeface="Calibri"/>
              </a:defRPr>
            </a:pPr>
            <a:r>
              <a:t>→</a:t>
            </a:r>
          </a:p>
        </p:txBody>
      </p:sp>
      <p:sp>
        <p:nvSpPr>
          <p:cNvPr id="11" name="Rounded Rectangle 10"/>
          <p:cNvSpPr/>
          <p:nvPr/>
        </p:nvSpPr>
        <p:spPr>
          <a:xfrm>
            <a:off x="4480559" y="1280160"/>
            <a:ext cx="3383280" cy="4206240"/>
          </a:xfrm>
          <a:prstGeom prst="roundRect">
            <a:avLst/>
          </a:prstGeom>
          <a:solidFill>
            <a:srgbClr val="D0E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79" y="1463040"/>
            <a:ext cx="2834640" cy="320040"/>
          </a:xfrm>
          <a:prstGeom prst="rect">
            <a:avLst/>
          </a:prstGeom>
          <a:noFill/>
        </p:spPr>
        <p:txBody>
          <a:bodyPr wrap="square">
            <a:spAutoFit/>
          </a:bodyPr>
          <a:lstStyle/>
          <a:p>
            <a:pPr algn="l">
              <a:spcAft>
                <a:spcPts val="239"/>
              </a:spcAft>
              <a:defRPr sz="1200" b="1">
                <a:solidFill>
                  <a:srgbClr val="13289F"/>
                </a:solidFill>
                <a:latin typeface="Calibri"/>
              </a:defRPr>
            </a:pPr>
            <a:r>
              <a:t>Generation 2</a:t>
            </a:r>
          </a:p>
        </p:txBody>
      </p:sp>
      <p:sp>
        <p:nvSpPr>
          <p:cNvPr id="13" name="TextBox 12"/>
          <p:cNvSpPr txBox="1"/>
          <p:nvPr/>
        </p:nvSpPr>
        <p:spPr>
          <a:xfrm>
            <a:off x="4754879" y="1828800"/>
            <a:ext cx="2834640" cy="1097280"/>
          </a:xfrm>
          <a:prstGeom prst="rect">
            <a:avLst/>
          </a:prstGeom>
          <a:noFill/>
        </p:spPr>
        <p:txBody>
          <a:bodyPr wrap="square">
            <a:spAutoFit/>
          </a:bodyPr>
          <a:lstStyle/>
          <a:p>
            <a:pPr algn="l">
              <a:spcAft>
                <a:spcPts val="240"/>
              </a:spcAft>
              <a:defRPr sz="2400" b="1">
                <a:solidFill>
                  <a:srgbClr val="0A0F1E"/>
                </a:solidFill>
                <a:latin typeface="Calibri"/>
              </a:defRPr>
            </a:pPr>
            <a:r>
              <a:t>Soundscape</a:t>
            </a:r>
          </a:p>
        </p:txBody>
      </p:sp>
      <p:sp>
        <p:nvSpPr>
          <p:cNvPr id="14" name="TextBox 13"/>
          <p:cNvSpPr txBox="1"/>
          <p:nvPr/>
        </p:nvSpPr>
        <p:spPr>
          <a:xfrm>
            <a:off x="4754879" y="3017520"/>
            <a:ext cx="2834640" cy="2011680"/>
          </a:xfrm>
          <a:prstGeom prst="rect">
            <a:avLst/>
          </a:prstGeom>
          <a:noFill/>
        </p:spPr>
        <p:txBody>
          <a:bodyPr wrap="square">
            <a:spAutoFit/>
          </a:bodyPr>
          <a:lstStyle/>
          <a:p>
            <a:pPr algn="l">
              <a:spcAft>
                <a:spcPts val="490"/>
              </a:spcAft>
              <a:defRPr sz="1400" b="0">
                <a:solidFill>
                  <a:srgbClr val="75787B"/>
                </a:solidFill>
                <a:latin typeface="Calibri"/>
              </a:defRPr>
            </a:pPr>
            <a:r>
              <a:t>Perceptual experience</a:t>
            </a:r>
            <a:br/>
            <a:r>
              <a:t>ISO 12913, VR, Bio-signals</a:t>
            </a:r>
            <a:br/>
            <a:br/>
            <a:r>
              <a:t>"How do people</a:t>
            </a:r>
            <a:br/>
            <a:r>
              <a:t>experience it?"</a:t>
            </a:r>
          </a:p>
        </p:txBody>
      </p:sp>
      <p:sp>
        <p:nvSpPr>
          <p:cNvPr id="15" name="TextBox 14"/>
          <p:cNvSpPr txBox="1"/>
          <p:nvPr/>
        </p:nvSpPr>
        <p:spPr>
          <a:xfrm>
            <a:off x="7909559" y="2926080"/>
            <a:ext cx="274320" cy="457200"/>
          </a:xfrm>
          <a:prstGeom prst="rect">
            <a:avLst/>
          </a:prstGeom>
          <a:noFill/>
        </p:spPr>
        <p:txBody>
          <a:bodyPr wrap="square">
            <a:spAutoFit/>
          </a:bodyPr>
          <a:lstStyle/>
          <a:p>
            <a:pPr algn="ctr">
              <a:spcAft>
                <a:spcPts val="479"/>
              </a:spcAft>
              <a:defRPr sz="2400" b="1">
                <a:solidFill>
                  <a:srgbClr val="13289F"/>
                </a:solidFill>
                <a:latin typeface="Calibri"/>
              </a:defRPr>
            </a:pPr>
            <a:r>
              <a:t>→</a:t>
            </a:r>
          </a:p>
        </p:txBody>
      </p:sp>
      <p:sp>
        <p:nvSpPr>
          <p:cNvPr id="16" name="Rounded Rectangle 15"/>
          <p:cNvSpPr/>
          <p:nvPr/>
        </p:nvSpPr>
        <p:spPr>
          <a:xfrm>
            <a:off x="8229599" y="1280160"/>
            <a:ext cx="3383280" cy="4206240"/>
          </a:xfrm>
          <a:prstGeom prst="round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19" y="1463040"/>
            <a:ext cx="2834640" cy="320040"/>
          </a:xfrm>
          <a:prstGeom prst="rect">
            <a:avLst/>
          </a:prstGeom>
          <a:noFill/>
        </p:spPr>
        <p:txBody>
          <a:bodyPr wrap="square">
            <a:spAutoFit/>
          </a:bodyPr>
          <a:lstStyle/>
          <a:p>
            <a:pPr algn="l">
              <a:spcAft>
                <a:spcPts val="239"/>
              </a:spcAft>
              <a:defRPr sz="1200" b="1">
                <a:solidFill>
                  <a:srgbClr val="3D7DDE"/>
                </a:solidFill>
                <a:latin typeface="Calibri"/>
              </a:defRPr>
            </a:pPr>
            <a:r>
              <a:t>Generation 3</a:t>
            </a:r>
          </a:p>
        </p:txBody>
      </p:sp>
      <p:sp>
        <p:nvSpPr>
          <p:cNvPr id="18" name="TextBox 17"/>
          <p:cNvSpPr txBox="1"/>
          <p:nvPr/>
        </p:nvSpPr>
        <p:spPr>
          <a:xfrm>
            <a:off x="8503919" y="1828800"/>
            <a:ext cx="2834640" cy="1097280"/>
          </a:xfrm>
          <a:prstGeom prst="rect">
            <a:avLst/>
          </a:prstGeom>
          <a:noFill/>
        </p:spPr>
        <p:txBody>
          <a:bodyPr wrap="square">
            <a:spAutoFit/>
          </a:bodyPr>
          <a:lstStyle/>
          <a:p>
            <a:pPr algn="l">
              <a:spcAft>
                <a:spcPts val="240"/>
              </a:spcAft>
              <a:defRPr sz="2400" b="1">
                <a:solidFill>
                  <a:srgbClr val="FFFFFF"/>
                </a:solidFill>
                <a:latin typeface="Calibri"/>
              </a:defRPr>
            </a:pPr>
            <a:r>
              <a:t>Intelligent</a:t>
            </a:r>
            <a:br/>
            <a:r>
              <a:t>Sound Environment</a:t>
            </a:r>
          </a:p>
        </p:txBody>
      </p:sp>
      <p:sp>
        <p:nvSpPr>
          <p:cNvPr id="19" name="TextBox 18"/>
          <p:cNvSpPr txBox="1"/>
          <p:nvPr/>
        </p:nvSpPr>
        <p:spPr>
          <a:xfrm>
            <a:off x="8503919" y="3017520"/>
            <a:ext cx="2834640" cy="2011680"/>
          </a:xfrm>
          <a:prstGeom prst="rect">
            <a:avLst/>
          </a:prstGeom>
          <a:noFill/>
        </p:spPr>
        <p:txBody>
          <a:bodyPr wrap="square">
            <a:spAutoFit/>
          </a:bodyPr>
          <a:lstStyle/>
          <a:p>
            <a:pPr algn="l">
              <a:spcAft>
                <a:spcPts val="490"/>
              </a:spcAft>
              <a:defRPr sz="1400" b="0">
                <a:solidFill>
                  <a:srgbClr val="FFFFFF"/>
                </a:solidFill>
                <a:latin typeface="Calibri"/>
              </a:defRPr>
            </a:pPr>
            <a:r>
              <a:t>Data-driven optimization</a:t>
            </a:r>
            <a:br/>
            <a:r>
              <a:t>AI, IoT, Digital Twin</a:t>
            </a:r>
            <a:br/>
            <a:br/>
            <a:r>
              <a:t>"How to optimize</a:t>
            </a:r>
            <a:br/>
            <a:r>
              <a:t>automatically?"</a:t>
            </a:r>
          </a:p>
        </p:txBody>
      </p:sp>
      <p:sp>
        <p:nvSpPr>
          <p:cNvPr id="20" name="TextBox 19"/>
          <p:cNvSpPr txBox="1"/>
          <p:nvPr/>
        </p:nvSpPr>
        <p:spPr>
          <a:xfrm>
            <a:off x="731520" y="5760720"/>
            <a:ext cx="10698480" cy="548640"/>
          </a:xfrm>
          <a:prstGeom prst="rect">
            <a:avLst/>
          </a:prstGeom>
          <a:noFill/>
        </p:spPr>
        <p:txBody>
          <a:bodyPr wrap="square">
            <a:spAutoFit/>
          </a:bodyPr>
          <a:lstStyle/>
          <a:p>
            <a:pPr algn="ctr">
              <a:spcAft>
                <a:spcPts val="339"/>
              </a:spcAft>
              <a:defRPr sz="1700" b="1">
                <a:solidFill>
                  <a:srgbClr val="0A0F1E"/>
                </a:solidFill>
                <a:latin typeface="Calibri"/>
              </a:defRPr>
            </a:pPr>
            <a:r>
              <a:t>"I have researched across all three generations — and I am ready to lead Generation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685800"/>
          </a:xfrm>
          <a:prstGeom prst="rect">
            <a:avLst/>
          </a:prstGeom>
          <a:noFill/>
        </p:spPr>
        <p:txBody>
          <a:bodyPr wrap="square">
            <a:spAutoFit/>
          </a:bodyPr>
          <a:lstStyle/>
          <a:p>
            <a:pPr algn="l">
              <a:spcAft>
                <a:spcPts val="519"/>
              </a:spcAft>
              <a:defRPr sz="2600" b="1">
                <a:solidFill>
                  <a:srgbClr val="0A0F1E"/>
                </a:solidFill>
                <a:latin typeface="Calibri"/>
              </a:defRPr>
            </a:pPr>
            <a:r>
              <a:t>Brief Introduction</a:t>
            </a:r>
          </a:p>
        </p:txBody>
      </p:sp>
      <p:sp>
        <p:nvSpPr>
          <p:cNvPr id="4" name="Rectangle 3"/>
          <p:cNvSpPr/>
          <p:nvPr/>
        </p:nvSpPr>
        <p:spPr>
          <a:xfrm>
            <a:off x="731520" y="868680"/>
            <a:ext cx="10698480" cy="1905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1097280" cy="320040"/>
          </a:xfrm>
          <a:prstGeom prst="rect">
            <a:avLst/>
          </a:prstGeom>
          <a:noFill/>
        </p:spPr>
        <p:txBody>
          <a:bodyPr wrap="square">
            <a:spAutoFit/>
          </a:bodyPr>
          <a:lstStyle/>
          <a:p>
            <a:pPr algn="r">
              <a:spcAft>
                <a:spcPts val="179"/>
              </a:spcAft>
              <a:defRPr sz="900" b="0">
                <a:solidFill>
                  <a:srgbClr val="888899"/>
                </a:solidFill>
                <a:latin typeface="Calibri"/>
              </a:defRPr>
            </a:pPr>
            <a:r>
              <a:t>4 / 20</a:t>
            </a:r>
          </a:p>
        </p:txBody>
      </p:sp>
      <p:sp>
        <p:nvSpPr>
          <p:cNvPr id="6" name="Oval 5"/>
          <p:cNvSpPr/>
          <p:nvPr/>
        </p:nvSpPr>
        <p:spPr>
          <a:xfrm>
            <a:off x="914400" y="1234440"/>
            <a:ext cx="137160" cy="137160"/>
          </a:xfrm>
          <a:prstGeom prst="ellipse">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 y="1371600"/>
            <a:ext cx="25400" cy="5943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1143000"/>
            <a:ext cx="1828800" cy="274320"/>
          </a:xfrm>
          <a:prstGeom prst="rect">
            <a:avLst/>
          </a:prstGeom>
          <a:noFill/>
        </p:spPr>
        <p:txBody>
          <a:bodyPr wrap="square">
            <a:spAutoFit/>
          </a:bodyPr>
          <a:lstStyle/>
          <a:p>
            <a:pPr algn="l">
              <a:spcAft>
                <a:spcPts val="239"/>
              </a:spcAft>
              <a:defRPr sz="1200" b="1">
                <a:solidFill>
                  <a:srgbClr val="75787B"/>
                </a:solidFill>
                <a:latin typeface="Calibri"/>
              </a:defRPr>
            </a:pPr>
            <a:r>
              <a:t>2013 – 2016</a:t>
            </a:r>
          </a:p>
        </p:txBody>
      </p:sp>
      <p:sp>
        <p:nvSpPr>
          <p:cNvPr id="9" name="TextBox 8"/>
          <p:cNvSpPr txBox="1"/>
          <p:nvPr/>
        </p:nvSpPr>
        <p:spPr>
          <a:xfrm>
            <a:off x="3063240" y="1143000"/>
            <a:ext cx="3657600" cy="274320"/>
          </a:xfrm>
          <a:prstGeom prst="rect">
            <a:avLst/>
          </a:prstGeom>
          <a:noFill/>
        </p:spPr>
        <p:txBody>
          <a:bodyPr wrap="square">
            <a:spAutoFit/>
          </a:bodyPr>
          <a:lstStyle/>
          <a:p>
            <a:pPr algn="l">
              <a:spcAft>
                <a:spcPts val="259"/>
              </a:spcAft>
              <a:defRPr sz="1300" b="1">
                <a:solidFill>
                  <a:srgbClr val="0A0F1E"/>
                </a:solidFill>
                <a:latin typeface="Calibri"/>
              </a:defRPr>
            </a:pPr>
            <a:r>
              <a:t>B.S. Architectural Engineering</a:t>
            </a:r>
          </a:p>
        </p:txBody>
      </p:sp>
      <p:sp>
        <p:nvSpPr>
          <p:cNvPr id="10" name="TextBox 9"/>
          <p:cNvSpPr txBox="1"/>
          <p:nvPr/>
        </p:nvSpPr>
        <p:spPr>
          <a:xfrm>
            <a:off x="3063240" y="1371600"/>
            <a:ext cx="4114800" cy="274320"/>
          </a:xfrm>
          <a:prstGeom prst="rect">
            <a:avLst/>
          </a:prstGeom>
          <a:noFill/>
        </p:spPr>
        <p:txBody>
          <a:bodyPr wrap="square">
            <a:spAutoFit/>
          </a:bodyPr>
          <a:lstStyle/>
          <a:p>
            <a:pPr algn="l">
              <a:spcAft>
                <a:spcPts val="219"/>
              </a:spcAft>
              <a:defRPr sz="1100" b="0">
                <a:solidFill>
                  <a:srgbClr val="75787B"/>
                </a:solidFill>
                <a:latin typeface="Calibri"/>
              </a:defRPr>
            </a:pPr>
            <a:r>
              <a:t>Hanyang University (Summa Cum Laude, 6-semester Early Graduation)</a:t>
            </a:r>
          </a:p>
        </p:txBody>
      </p:sp>
      <p:sp>
        <p:nvSpPr>
          <p:cNvPr id="11" name="Oval 10"/>
          <p:cNvSpPr/>
          <p:nvPr/>
        </p:nvSpPr>
        <p:spPr>
          <a:xfrm>
            <a:off x="914400" y="1984248"/>
            <a:ext cx="137160" cy="137160"/>
          </a:xfrm>
          <a:prstGeom prst="ellipse">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64692" y="2121408"/>
            <a:ext cx="25400" cy="5943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1892808"/>
            <a:ext cx="1828800" cy="274320"/>
          </a:xfrm>
          <a:prstGeom prst="rect">
            <a:avLst/>
          </a:prstGeom>
          <a:noFill/>
        </p:spPr>
        <p:txBody>
          <a:bodyPr wrap="square">
            <a:spAutoFit/>
          </a:bodyPr>
          <a:lstStyle/>
          <a:p>
            <a:pPr algn="l">
              <a:spcAft>
                <a:spcPts val="239"/>
              </a:spcAft>
              <a:defRPr sz="1200" b="1">
                <a:solidFill>
                  <a:srgbClr val="75787B"/>
                </a:solidFill>
                <a:latin typeface="Calibri"/>
              </a:defRPr>
            </a:pPr>
            <a:r>
              <a:t>2016 – 2022</a:t>
            </a:r>
          </a:p>
        </p:txBody>
      </p:sp>
      <p:sp>
        <p:nvSpPr>
          <p:cNvPr id="14" name="TextBox 13"/>
          <p:cNvSpPr txBox="1"/>
          <p:nvPr/>
        </p:nvSpPr>
        <p:spPr>
          <a:xfrm>
            <a:off x="3063240" y="1892808"/>
            <a:ext cx="3657600" cy="274320"/>
          </a:xfrm>
          <a:prstGeom prst="rect">
            <a:avLst/>
          </a:prstGeom>
          <a:noFill/>
        </p:spPr>
        <p:txBody>
          <a:bodyPr wrap="square">
            <a:spAutoFit/>
          </a:bodyPr>
          <a:lstStyle/>
          <a:p>
            <a:pPr algn="l">
              <a:spcAft>
                <a:spcPts val="259"/>
              </a:spcAft>
              <a:defRPr sz="1300" b="1">
                <a:solidFill>
                  <a:srgbClr val="0A0F1E"/>
                </a:solidFill>
                <a:latin typeface="Calibri"/>
              </a:defRPr>
            </a:pPr>
            <a:r>
              <a:t>Ph.D. Architectural Environmental Engineering</a:t>
            </a:r>
          </a:p>
        </p:txBody>
      </p:sp>
      <p:sp>
        <p:nvSpPr>
          <p:cNvPr id="15" name="TextBox 14"/>
          <p:cNvSpPr txBox="1"/>
          <p:nvPr/>
        </p:nvSpPr>
        <p:spPr>
          <a:xfrm>
            <a:off x="3063240" y="2121408"/>
            <a:ext cx="4114800" cy="274320"/>
          </a:xfrm>
          <a:prstGeom prst="rect">
            <a:avLst/>
          </a:prstGeom>
          <a:noFill/>
        </p:spPr>
        <p:txBody>
          <a:bodyPr wrap="square">
            <a:spAutoFit/>
          </a:bodyPr>
          <a:lstStyle/>
          <a:p>
            <a:pPr algn="l">
              <a:spcAft>
                <a:spcPts val="219"/>
              </a:spcAft>
              <a:defRPr sz="1100" b="0">
                <a:solidFill>
                  <a:srgbClr val="75787B"/>
                </a:solidFill>
                <a:latin typeface="Calibri"/>
              </a:defRPr>
            </a:pPr>
            <a:r>
              <a:t>Hanyang University (GPA 4.39 / 4.5, Advisor: Prof. Jin Yong Jeon)</a:t>
            </a:r>
          </a:p>
        </p:txBody>
      </p:sp>
      <p:sp>
        <p:nvSpPr>
          <p:cNvPr id="16" name="Oval 15"/>
          <p:cNvSpPr/>
          <p:nvPr/>
        </p:nvSpPr>
        <p:spPr>
          <a:xfrm>
            <a:off x="914400" y="2734056"/>
            <a:ext cx="137160" cy="137160"/>
          </a:xfrm>
          <a:prstGeom prst="ellipse">
            <a:avLst/>
          </a:prstGeom>
          <a:solidFill>
            <a:srgbClr val="3D7D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64692" y="2871216"/>
            <a:ext cx="25400" cy="5943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34440" y="2642616"/>
            <a:ext cx="1828800" cy="274320"/>
          </a:xfrm>
          <a:prstGeom prst="rect">
            <a:avLst/>
          </a:prstGeom>
          <a:noFill/>
        </p:spPr>
        <p:txBody>
          <a:bodyPr wrap="square">
            <a:spAutoFit/>
          </a:bodyPr>
          <a:lstStyle/>
          <a:p>
            <a:pPr algn="l">
              <a:spcAft>
                <a:spcPts val="239"/>
              </a:spcAft>
              <a:defRPr sz="1200" b="1">
                <a:solidFill>
                  <a:srgbClr val="75787B"/>
                </a:solidFill>
                <a:latin typeface="Calibri"/>
              </a:defRPr>
            </a:pPr>
            <a:r>
              <a:t>2018.10</a:t>
            </a:r>
          </a:p>
        </p:txBody>
      </p:sp>
      <p:sp>
        <p:nvSpPr>
          <p:cNvPr id="19" name="TextBox 18"/>
          <p:cNvSpPr txBox="1"/>
          <p:nvPr/>
        </p:nvSpPr>
        <p:spPr>
          <a:xfrm>
            <a:off x="3063240" y="2642616"/>
            <a:ext cx="3657600" cy="274320"/>
          </a:xfrm>
          <a:prstGeom prst="rect">
            <a:avLst/>
          </a:prstGeom>
          <a:noFill/>
        </p:spPr>
        <p:txBody>
          <a:bodyPr wrap="square">
            <a:spAutoFit/>
          </a:bodyPr>
          <a:lstStyle/>
          <a:p>
            <a:pPr algn="l">
              <a:spcAft>
                <a:spcPts val="259"/>
              </a:spcAft>
              <a:defRPr sz="1300" b="1">
                <a:solidFill>
                  <a:srgbClr val="0A0F1E"/>
                </a:solidFill>
                <a:latin typeface="Calibri"/>
              </a:defRPr>
            </a:pPr>
            <a:r>
              <a:t>Visiting Researcher</a:t>
            </a:r>
          </a:p>
        </p:txBody>
      </p:sp>
      <p:sp>
        <p:nvSpPr>
          <p:cNvPr id="20" name="TextBox 19"/>
          <p:cNvSpPr txBox="1"/>
          <p:nvPr/>
        </p:nvSpPr>
        <p:spPr>
          <a:xfrm>
            <a:off x="3063240" y="2871216"/>
            <a:ext cx="4114800" cy="274320"/>
          </a:xfrm>
          <a:prstGeom prst="rect">
            <a:avLst/>
          </a:prstGeom>
          <a:noFill/>
        </p:spPr>
        <p:txBody>
          <a:bodyPr wrap="square">
            <a:spAutoFit/>
          </a:bodyPr>
          <a:lstStyle/>
          <a:p>
            <a:pPr algn="l">
              <a:spcAft>
                <a:spcPts val="219"/>
              </a:spcAft>
              <a:defRPr sz="1100" b="0">
                <a:solidFill>
                  <a:srgbClr val="75787B"/>
                </a:solidFill>
                <a:latin typeface="Calibri"/>
              </a:defRPr>
            </a:pPr>
            <a:r>
              <a:t>Institut Jean Le Rond d'Alembert, Sorbonne University, Paris</a:t>
            </a:r>
          </a:p>
        </p:txBody>
      </p:sp>
      <p:sp>
        <p:nvSpPr>
          <p:cNvPr id="21" name="Oval 20"/>
          <p:cNvSpPr/>
          <p:nvPr/>
        </p:nvSpPr>
        <p:spPr>
          <a:xfrm>
            <a:off x="914400" y="3483864"/>
            <a:ext cx="137160" cy="137160"/>
          </a:xfrm>
          <a:prstGeom prst="ellipse">
            <a:avLst/>
          </a:prstGeom>
          <a:solidFill>
            <a:srgbClr val="3D7D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4692" y="3621024"/>
            <a:ext cx="25400" cy="5943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3392424"/>
            <a:ext cx="1828800" cy="274320"/>
          </a:xfrm>
          <a:prstGeom prst="rect">
            <a:avLst/>
          </a:prstGeom>
          <a:noFill/>
        </p:spPr>
        <p:txBody>
          <a:bodyPr wrap="square">
            <a:spAutoFit/>
          </a:bodyPr>
          <a:lstStyle/>
          <a:p>
            <a:pPr algn="l">
              <a:spcAft>
                <a:spcPts val="239"/>
              </a:spcAft>
              <a:defRPr sz="1200" b="1">
                <a:solidFill>
                  <a:srgbClr val="75787B"/>
                </a:solidFill>
                <a:latin typeface="Calibri"/>
              </a:defRPr>
            </a:pPr>
            <a:r>
              <a:t>2022.03 – 08</a:t>
            </a:r>
          </a:p>
        </p:txBody>
      </p:sp>
      <p:sp>
        <p:nvSpPr>
          <p:cNvPr id="24" name="TextBox 23"/>
          <p:cNvSpPr txBox="1"/>
          <p:nvPr/>
        </p:nvSpPr>
        <p:spPr>
          <a:xfrm>
            <a:off x="3063240" y="3392424"/>
            <a:ext cx="3657600" cy="274320"/>
          </a:xfrm>
          <a:prstGeom prst="rect">
            <a:avLst/>
          </a:prstGeom>
          <a:noFill/>
        </p:spPr>
        <p:txBody>
          <a:bodyPr wrap="square">
            <a:spAutoFit/>
          </a:bodyPr>
          <a:lstStyle/>
          <a:p>
            <a:pPr algn="l">
              <a:spcAft>
                <a:spcPts val="259"/>
              </a:spcAft>
              <a:defRPr sz="1300" b="1">
                <a:solidFill>
                  <a:srgbClr val="0A0F1E"/>
                </a:solidFill>
                <a:latin typeface="Calibri"/>
              </a:defRPr>
            </a:pPr>
            <a:r>
              <a:t>Post-doctoral Researcher (NST Young Scientist Fellow)</a:t>
            </a:r>
          </a:p>
        </p:txBody>
      </p:sp>
      <p:sp>
        <p:nvSpPr>
          <p:cNvPr id="25" name="TextBox 24"/>
          <p:cNvSpPr txBox="1"/>
          <p:nvPr/>
        </p:nvSpPr>
        <p:spPr>
          <a:xfrm>
            <a:off x="3063240" y="3621024"/>
            <a:ext cx="4114800" cy="274320"/>
          </a:xfrm>
          <a:prstGeom prst="rect">
            <a:avLst/>
          </a:prstGeom>
          <a:noFill/>
        </p:spPr>
        <p:txBody>
          <a:bodyPr wrap="square">
            <a:spAutoFit/>
          </a:bodyPr>
          <a:lstStyle/>
          <a:p>
            <a:pPr algn="l">
              <a:spcAft>
                <a:spcPts val="219"/>
              </a:spcAft>
              <a:defRPr sz="1100" b="0">
                <a:solidFill>
                  <a:srgbClr val="75787B"/>
                </a:solidFill>
                <a:latin typeface="Calibri"/>
              </a:defRPr>
            </a:pPr>
            <a:r>
              <a:t>Korea Institute of Civil Engineering and Building Technology (KICT)</a:t>
            </a:r>
          </a:p>
        </p:txBody>
      </p:sp>
      <p:sp>
        <p:nvSpPr>
          <p:cNvPr id="26" name="Oval 25"/>
          <p:cNvSpPr/>
          <p:nvPr/>
        </p:nvSpPr>
        <p:spPr>
          <a:xfrm>
            <a:off x="914400" y="4233672"/>
            <a:ext cx="137160" cy="137160"/>
          </a:xfrm>
          <a:prstGeom prst="ellipse">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34440" y="4142232"/>
            <a:ext cx="1828800" cy="274320"/>
          </a:xfrm>
          <a:prstGeom prst="rect">
            <a:avLst/>
          </a:prstGeom>
          <a:noFill/>
        </p:spPr>
        <p:txBody>
          <a:bodyPr wrap="square">
            <a:spAutoFit/>
          </a:bodyPr>
          <a:lstStyle/>
          <a:p>
            <a:pPr algn="l">
              <a:spcAft>
                <a:spcPts val="239"/>
              </a:spcAft>
              <a:defRPr sz="1200" b="1">
                <a:solidFill>
                  <a:srgbClr val="75787B"/>
                </a:solidFill>
                <a:latin typeface="Calibri"/>
              </a:defRPr>
            </a:pPr>
            <a:r>
              <a:t>2022.09 – Present</a:t>
            </a:r>
          </a:p>
        </p:txBody>
      </p:sp>
      <p:sp>
        <p:nvSpPr>
          <p:cNvPr id="28" name="TextBox 27"/>
          <p:cNvSpPr txBox="1"/>
          <p:nvPr/>
        </p:nvSpPr>
        <p:spPr>
          <a:xfrm>
            <a:off x="3063240" y="4142232"/>
            <a:ext cx="3657600" cy="274320"/>
          </a:xfrm>
          <a:prstGeom prst="rect">
            <a:avLst/>
          </a:prstGeom>
          <a:noFill/>
        </p:spPr>
        <p:txBody>
          <a:bodyPr wrap="square">
            <a:spAutoFit/>
          </a:bodyPr>
          <a:lstStyle/>
          <a:p>
            <a:pPr algn="l">
              <a:spcAft>
                <a:spcPts val="259"/>
              </a:spcAft>
              <a:defRPr sz="1300" b="1">
                <a:solidFill>
                  <a:srgbClr val="0A0F1E"/>
                </a:solidFill>
                <a:latin typeface="Calibri"/>
              </a:defRPr>
            </a:pPr>
            <a:r>
              <a:t>Senior Research Engineer</a:t>
            </a:r>
          </a:p>
        </p:txBody>
      </p:sp>
      <p:sp>
        <p:nvSpPr>
          <p:cNvPr id="29" name="TextBox 28"/>
          <p:cNvSpPr txBox="1"/>
          <p:nvPr/>
        </p:nvSpPr>
        <p:spPr>
          <a:xfrm>
            <a:off x="3063240" y="4370832"/>
            <a:ext cx="4114800" cy="274320"/>
          </a:xfrm>
          <a:prstGeom prst="rect">
            <a:avLst/>
          </a:prstGeom>
          <a:noFill/>
        </p:spPr>
        <p:txBody>
          <a:bodyPr wrap="square">
            <a:spAutoFit/>
          </a:bodyPr>
          <a:lstStyle/>
          <a:p>
            <a:pPr algn="l">
              <a:spcAft>
                <a:spcPts val="219"/>
              </a:spcAft>
              <a:defRPr sz="1100" b="0">
                <a:solidFill>
                  <a:srgbClr val="75787B"/>
                </a:solidFill>
                <a:latin typeface="Calibri"/>
              </a:defRPr>
            </a:pPr>
            <a:r>
              <a:t>Hyundai Motor Company, NVH Test Research Lab</a:t>
            </a:r>
          </a:p>
        </p:txBody>
      </p:sp>
      <p:sp>
        <p:nvSpPr>
          <p:cNvPr id="30" name="TextBox 29"/>
          <p:cNvSpPr txBox="1"/>
          <p:nvPr/>
        </p:nvSpPr>
        <p:spPr>
          <a:xfrm>
            <a:off x="7772400" y="1280160"/>
            <a:ext cx="1280160" cy="640080"/>
          </a:xfrm>
          <a:prstGeom prst="rect">
            <a:avLst/>
          </a:prstGeom>
          <a:noFill/>
        </p:spPr>
        <p:txBody>
          <a:bodyPr wrap="square">
            <a:spAutoFit/>
          </a:bodyPr>
          <a:lstStyle/>
          <a:p>
            <a:pPr algn="ctr">
              <a:spcAft>
                <a:spcPts val="559"/>
              </a:spcAft>
              <a:defRPr sz="2800" b="1">
                <a:solidFill>
                  <a:srgbClr val="13289F"/>
                </a:solidFill>
                <a:latin typeface="Calibri"/>
              </a:defRPr>
            </a:pPr>
            <a:r>
              <a:t>26</a:t>
            </a:r>
          </a:p>
        </p:txBody>
      </p:sp>
      <p:sp>
        <p:nvSpPr>
          <p:cNvPr id="31" name="TextBox 30"/>
          <p:cNvSpPr txBox="1"/>
          <p:nvPr/>
        </p:nvSpPr>
        <p:spPr>
          <a:xfrm>
            <a:off x="7772400" y="1920240"/>
            <a:ext cx="1280160" cy="731520"/>
          </a:xfrm>
          <a:prstGeom prst="rect">
            <a:avLst/>
          </a:prstGeom>
          <a:noFill/>
        </p:spPr>
        <p:txBody>
          <a:bodyPr wrap="square">
            <a:spAutoFit/>
          </a:bodyPr>
          <a:lstStyle/>
          <a:p>
            <a:pPr algn="ctr">
              <a:spcAft>
                <a:spcPts val="179"/>
              </a:spcAft>
              <a:defRPr sz="900" b="0">
                <a:solidFill>
                  <a:srgbClr val="75787B"/>
                </a:solidFill>
                <a:latin typeface="Calibri"/>
              </a:defRPr>
            </a:pPr>
            <a:r>
              <a:t>SCI(E) Papers</a:t>
            </a:r>
            <a:br/>
            <a:r>
              <a:t>(21 First Author)</a:t>
            </a:r>
          </a:p>
        </p:txBody>
      </p:sp>
      <p:sp>
        <p:nvSpPr>
          <p:cNvPr id="32" name="TextBox 31"/>
          <p:cNvSpPr txBox="1"/>
          <p:nvPr/>
        </p:nvSpPr>
        <p:spPr>
          <a:xfrm>
            <a:off x="9144000" y="1280160"/>
            <a:ext cx="1280160" cy="640080"/>
          </a:xfrm>
          <a:prstGeom prst="rect">
            <a:avLst/>
          </a:prstGeom>
          <a:noFill/>
        </p:spPr>
        <p:txBody>
          <a:bodyPr wrap="square">
            <a:spAutoFit/>
          </a:bodyPr>
          <a:lstStyle/>
          <a:p>
            <a:pPr algn="ctr">
              <a:spcAft>
                <a:spcPts val="559"/>
              </a:spcAft>
              <a:defRPr sz="2800" b="1">
                <a:solidFill>
                  <a:srgbClr val="13289F"/>
                </a:solidFill>
                <a:latin typeface="Calibri"/>
              </a:defRPr>
            </a:pPr>
            <a:r>
              <a:t>18</a:t>
            </a:r>
          </a:p>
        </p:txBody>
      </p:sp>
      <p:sp>
        <p:nvSpPr>
          <p:cNvPr id="33" name="TextBox 32"/>
          <p:cNvSpPr txBox="1"/>
          <p:nvPr/>
        </p:nvSpPr>
        <p:spPr>
          <a:xfrm>
            <a:off x="9144000" y="1920240"/>
            <a:ext cx="1280160" cy="731520"/>
          </a:xfrm>
          <a:prstGeom prst="rect">
            <a:avLst/>
          </a:prstGeom>
          <a:noFill/>
        </p:spPr>
        <p:txBody>
          <a:bodyPr wrap="square">
            <a:spAutoFit/>
          </a:bodyPr>
          <a:lstStyle/>
          <a:p>
            <a:pPr algn="ctr">
              <a:spcAft>
                <a:spcPts val="179"/>
              </a:spcAft>
              <a:defRPr sz="900" b="0">
                <a:solidFill>
                  <a:srgbClr val="75787B"/>
                </a:solidFill>
                <a:latin typeface="Calibri"/>
              </a:defRPr>
            </a:pPr>
            <a:r>
              <a:t>h-index</a:t>
            </a:r>
          </a:p>
        </p:txBody>
      </p:sp>
      <p:sp>
        <p:nvSpPr>
          <p:cNvPr id="34" name="TextBox 33"/>
          <p:cNvSpPr txBox="1"/>
          <p:nvPr/>
        </p:nvSpPr>
        <p:spPr>
          <a:xfrm>
            <a:off x="10515600" y="1280160"/>
            <a:ext cx="1280160" cy="640080"/>
          </a:xfrm>
          <a:prstGeom prst="rect">
            <a:avLst/>
          </a:prstGeom>
          <a:noFill/>
        </p:spPr>
        <p:txBody>
          <a:bodyPr wrap="square">
            <a:spAutoFit/>
          </a:bodyPr>
          <a:lstStyle/>
          <a:p>
            <a:pPr algn="ctr">
              <a:spcAft>
                <a:spcPts val="559"/>
              </a:spcAft>
              <a:defRPr sz="2800" b="1">
                <a:solidFill>
                  <a:srgbClr val="13289F"/>
                </a:solidFill>
                <a:latin typeface="Calibri"/>
              </a:defRPr>
            </a:pPr>
            <a:r>
              <a:t>6</a:t>
            </a:r>
          </a:p>
        </p:txBody>
      </p:sp>
      <p:sp>
        <p:nvSpPr>
          <p:cNvPr id="35" name="TextBox 34"/>
          <p:cNvSpPr txBox="1"/>
          <p:nvPr/>
        </p:nvSpPr>
        <p:spPr>
          <a:xfrm>
            <a:off x="10515600" y="1920240"/>
            <a:ext cx="1280160" cy="731520"/>
          </a:xfrm>
          <a:prstGeom prst="rect">
            <a:avLst/>
          </a:prstGeom>
          <a:noFill/>
        </p:spPr>
        <p:txBody>
          <a:bodyPr wrap="square">
            <a:spAutoFit/>
          </a:bodyPr>
          <a:lstStyle/>
          <a:p>
            <a:pPr algn="ctr">
              <a:spcAft>
                <a:spcPts val="179"/>
              </a:spcAft>
              <a:defRPr sz="900" b="0">
                <a:solidFill>
                  <a:srgbClr val="75787B"/>
                </a:solidFill>
                <a:latin typeface="Calibri"/>
              </a:defRPr>
            </a:pPr>
            <a:r>
              <a:t>Patents</a:t>
            </a:r>
            <a:br/>
            <a:r>
              <a:t>(incl. US)</a:t>
            </a:r>
          </a:p>
        </p:txBody>
      </p:sp>
      <p:sp>
        <p:nvSpPr>
          <p:cNvPr id="36" name="TextBox 35"/>
          <p:cNvSpPr txBox="1"/>
          <p:nvPr/>
        </p:nvSpPr>
        <p:spPr>
          <a:xfrm>
            <a:off x="7772400" y="3383280"/>
            <a:ext cx="1280160" cy="640080"/>
          </a:xfrm>
          <a:prstGeom prst="rect">
            <a:avLst/>
          </a:prstGeom>
          <a:noFill/>
        </p:spPr>
        <p:txBody>
          <a:bodyPr wrap="square">
            <a:spAutoFit/>
          </a:bodyPr>
          <a:lstStyle/>
          <a:p>
            <a:pPr algn="ctr">
              <a:spcAft>
                <a:spcPts val="559"/>
              </a:spcAft>
              <a:defRPr sz="2800" b="1">
                <a:solidFill>
                  <a:srgbClr val="13289F"/>
                </a:solidFill>
                <a:latin typeface="Calibri"/>
              </a:defRPr>
            </a:pPr>
            <a:r>
              <a:t>12</a:t>
            </a:r>
          </a:p>
        </p:txBody>
      </p:sp>
      <p:sp>
        <p:nvSpPr>
          <p:cNvPr id="37" name="TextBox 36"/>
          <p:cNvSpPr txBox="1"/>
          <p:nvPr/>
        </p:nvSpPr>
        <p:spPr>
          <a:xfrm>
            <a:off x="7772400" y="4023360"/>
            <a:ext cx="1280160" cy="731520"/>
          </a:xfrm>
          <a:prstGeom prst="rect">
            <a:avLst/>
          </a:prstGeom>
          <a:noFill/>
        </p:spPr>
        <p:txBody>
          <a:bodyPr wrap="square">
            <a:spAutoFit/>
          </a:bodyPr>
          <a:lstStyle/>
          <a:p>
            <a:pPr algn="ctr">
              <a:spcAft>
                <a:spcPts val="179"/>
              </a:spcAft>
              <a:defRPr sz="900" b="0">
                <a:solidFill>
                  <a:srgbClr val="75787B"/>
                </a:solidFill>
                <a:latin typeface="Calibri"/>
              </a:defRPr>
            </a:pPr>
            <a:r>
              <a:t>Awards</a:t>
            </a:r>
          </a:p>
        </p:txBody>
      </p:sp>
      <p:sp>
        <p:nvSpPr>
          <p:cNvPr id="38" name="TextBox 37"/>
          <p:cNvSpPr txBox="1"/>
          <p:nvPr/>
        </p:nvSpPr>
        <p:spPr>
          <a:xfrm>
            <a:off x="9144000" y="3383280"/>
            <a:ext cx="1280160" cy="640080"/>
          </a:xfrm>
          <a:prstGeom prst="rect">
            <a:avLst/>
          </a:prstGeom>
          <a:noFill/>
        </p:spPr>
        <p:txBody>
          <a:bodyPr wrap="square">
            <a:spAutoFit/>
          </a:bodyPr>
          <a:lstStyle/>
          <a:p>
            <a:pPr algn="ctr">
              <a:spcAft>
                <a:spcPts val="559"/>
              </a:spcAft>
              <a:defRPr sz="2800" b="1">
                <a:solidFill>
                  <a:srgbClr val="13289F"/>
                </a:solidFill>
                <a:latin typeface="Calibri"/>
              </a:defRPr>
            </a:pPr>
            <a:r>
              <a:t>$5M+</a:t>
            </a:r>
          </a:p>
        </p:txBody>
      </p:sp>
      <p:sp>
        <p:nvSpPr>
          <p:cNvPr id="39" name="TextBox 38"/>
          <p:cNvSpPr txBox="1"/>
          <p:nvPr/>
        </p:nvSpPr>
        <p:spPr>
          <a:xfrm>
            <a:off x="9144000" y="4023360"/>
            <a:ext cx="1280160" cy="731520"/>
          </a:xfrm>
          <a:prstGeom prst="rect">
            <a:avLst/>
          </a:prstGeom>
          <a:noFill/>
        </p:spPr>
        <p:txBody>
          <a:bodyPr wrap="square">
            <a:spAutoFit/>
          </a:bodyPr>
          <a:lstStyle/>
          <a:p>
            <a:pPr algn="ctr">
              <a:spcAft>
                <a:spcPts val="179"/>
              </a:spcAft>
              <a:defRPr sz="900" b="0">
                <a:solidFill>
                  <a:srgbClr val="75787B"/>
                </a:solidFill>
                <a:latin typeface="Calibri"/>
              </a:defRPr>
            </a:pPr>
            <a:r>
              <a:t>Funded</a:t>
            </a:r>
            <a:br/>
            <a:r>
              <a:t>Research</a:t>
            </a:r>
          </a:p>
        </p:txBody>
      </p:sp>
      <p:sp>
        <p:nvSpPr>
          <p:cNvPr id="40" name="TextBox 39"/>
          <p:cNvSpPr txBox="1"/>
          <p:nvPr/>
        </p:nvSpPr>
        <p:spPr>
          <a:xfrm>
            <a:off x="10515600" y="3383280"/>
            <a:ext cx="1280160" cy="640080"/>
          </a:xfrm>
          <a:prstGeom prst="rect">
            <a:avLst/>
          </a:prstGeom>
          <a:noFill/>
        </p:spPr>
        <p:txBody>
          <a:bodyPr wrap="square">
            <a:spAutoFit/>
          </a:bodyPr>
          <a:lstStyle/>
          <a:p>
            <a:pPr algn="ctr">
              <a:spcAft>
                <a:spcPts val="559"/>
              </a:spcAft>
              <a:defRPr sz="2800" b="1">
                <a:solidFill>
                  <a:srgbClr val="13289F"/>
                </a:solidFill>
                <a:latin typeface="Calibri"/>
              </a:defRPr>
            </a:pPr>
            <a:r>
              <a:t>4,565</a:t>
            </a:r>
          </a:p>
        </p:txBody>
      </p:sp>
      <p:sp>
        <p:nvSpPr>
          <p:cNvPr id="41" name="TextBox 40"/>
          <p:cNvSpPr txBox="1"/>
          <p:nvPr/>
        </p:nvSpPr>
        <p:spPr>
          <a:xfrm>
            <a:off x="10515600" y="4023360"/>
            <a:ext cx="1280160" cy="731520"/>
          </a:xfrm>
          <a:prstGeom prst="rect">
            <a:avLst/>
          </a:prstGeom>
          <a:noFill/>
        </p:spPr>
        <p:txBody>
          <a:bodyPr wrap="square">
            <a:spAutoFit/>
          </a:bodyPr>
          <a:lstStyle/>
          <a:p>
            <a:pPr algn="ctr">
              <a:spcAft>
                <a:spcPts val="179"/>
              </a:spcAft>
              <a:defRPr sz="900" b="0">
                <a:solidFill>
                  <a:srgbClr val="75787B"/>
                </a:solidFill>
                <a:latin typeface="Calibri"/>
              </a:defRPr>
            </a:pPr>
            <a:r>
              <a:t>Concert Hall</a:t>
            </a:r>
            <a:br/>
            <a:r>
              <a:t>Seats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685800"/>
          </a:xfrm>
          <a:prstGeom prst="rect">
            <a:avLst/>
          </a:prstGeom>
          <a:noFill/>
        </p:spPr>
        <p:txBody>
          <a:bodyPr wrap="square">
            <a:spAutoFit/>
          </a:bodyPr>
          <a:lstStyle/>
          <a:p>
            <a:pPr algn="l">
              <a:spcAft>
                <a:spcPts val="519"/>
              </a:spcAft>
              <a:defRPr sz="2600" b="1">
                <a:solidFill>
                  <a:srgbClr val="0A0F1E"/>
                </a:solidFill>
                <a:latin typeface="Calibri"/>
              </a:defRPr>
            </a:pPr>
            <a:r>
              <a:t>Research Philosophy</a:t>
            </a:r>
          </a:p>
        </p:txBody>
      </p:sp>
      <p:sp>
        <p:nvSpPr>
          <p:cNvPr id="4" name="Rectangle 3"/>
          <p:cNvSpPr/>
          <p:nvPr/>
        </p:nvSpPr>
        <p:spPr>
          <a:xfrm>
            <a:off x="731520" y="868680"/>
            <a:ext cx="10698480" cy="1905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1097280" cy="320040"/>
          </a:xfrm>
          <a:prstGeom prst="rect">
            <a:avLst/>
          </a:prstGeom>
          <a:noFill/>
        </p:spPr>
        <p:txBody>
          <a:bodyPr wrap="square">
            <a:spAutoFit/>
          </a:bodyPr>
          <a:lstStyle/>
          <a:p>
            <a:pPr algn="r">
              <a:spcAft>
                <a:spcPts val="179"/>
              </a:spcAft>
              <a:defRPr sz="900" b="0">
                <a:solidFill>
                  <a:srgbClr val="888899"/>
                </a:solidFill>
                <a:latin typeface="Calibri"/>
              </a:defRPr>
            </a:pPr>
            <a:r>
              <a:t>5 / 20</a:t>
            </a:r>
          </a:p>
        </p:txBody>
      </p:sp>
      <p:sp>
        <p:nvSpPr>
          <p:cNvPr id="6" name="TextBox 5"/>
          <p:cNvSpPr txBox="1"/>
          <p:nvPr/>
        </p:nvSpPr>
        <p:spPr>
          <a:xfrm>
            <a:off x="731520" y="1097280"/>
            <a:ext cx="10698480" cy="731520"/>
          </a:xfrm>
          <a:prstGeom prst="rect">
            <a:avLst/>
          </a:prstGeom>
          <a:noFill/>
        </p:spPr>
        <p:txBody>
          <a:bodyPr wrap="square">
            <a:spAutoFit/>
          </a:bodyPr>
          <a:lstStyle/>
          <a:p>
            <a:pPr algn="ctr">
              <a:spcAft>
                <a:spcPts val="570"/>
              </a:spcAft>
              <a:defRPr sz="1900" b="1">
                <a:solidFill>
                  <a:srgbClr val="0A0F1E"/>
                </a:solidFill>
                <a:latin typeface="Calibri"/>
              </a:defRPr>
            </a:pPr>
            <a:r>
              <a:t>"Designing human-centric acoustic environments</a:t>
            </a:r>
            <a:br/>
            <a:r>
              <a:t>by integrating perception science, architecture, and intelligent technology"</a:t>
            </a:r>
          </a:p>
        </p:txBody>
      </p:sp>
      <p:sp>
        <p:nvSpPr>
          <p:cNvPr id="7" name="Rounded Rectangle 6"/>
          <p:cNvSpPr/>
          <p:nvPr/>
        </p:nvSpPr>
        <p:spPr>
          <a:xfrm>
            <a:off x="731520" y="2194560"/>
            <a:ext cx="3474720" cy="40233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468880"/>
            <a:ext cx="2926080" cy="457200"/>
          </a:xfrm>
          <a:prstGeom prst="rect">
            <a:avLst/>
          </a:prstGeom>
          <a:noFill/>
        </p:spPr>
        <p:txBody>
          <a:bodyPr wrap="square">
            <a:spAutoFit/>
          </a:bodyPr>
          <a:lstStyle/>
          <a:p>
            <a:pPr algn="l">
              <a:spcAft>
                <a:spcPts val="339"/>
              </a:spcAft>
              <a:defRPr sz="1700" b="1">
                <a:solidFill>
                  <a:srgbClr val="0A0F1E"/>
                </a:solidFill>
                <a:latin typeface="Calibri"/>
              </a:defRPr>
            </a:pPr>
            <a:r>
              <a:t>Perception over Physics</a:t>
            </a:r>
          </a:p>
        </p:txBody>
      </p:sp>
      <p:sp>
        <p:nvSpPr>
          <p:cNvPr id="9" name="Rectangle 8"/>
          <p:cNvSpPr/>
          <p:nvPr/>
        </p:nvSpPr>
        <p:spPr>
          <a:xfrm>
            <a:off x="1005840" y="2880360"/>
            <a:ext cx="1371600" cy="381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108960"/>
            <a:ext cx="2926080" cy="2743200"/>
          </a:xfrm>
          <a:prstGeom prst="rect">
            <a:avLst/>
          </a:prstGeom>
          <a:noFill/>
        </p:spPr>
        <p:txBody>
          <a:bodyPr wrap="square">
            <a:spAutoFit/>
          </a:bodyPr>
          <a:lstStyle/>
          <a:p>
            <a:pPr algn="l">
              <a:spcAft>
                <a:spcPts val="519"/>
              </a:spcAft>
              <a:defRPr sz="1300" b="0">
                <a:solidFill>
                  <a:srgbClr val="75787B"/>
                </a:solidFill>
                <a:latin typeface="Calibri"/>
              </a:defRPr>
            </a:pPr>
            <a:r>
              <a:t>Evaluate environments through</a:t>
            </a:r>
            <a:br/>
            <a:r>
              <a:t>human experience, not just dB.</a:t>
            </a:r>
            <a:br/>
            <a:br/>
            <a:r>
              <a:t>Psychoacoustics, bio-signals</a:t>
            </a:r>
            <a:br/>
            <a:r>
              <a:t>(EEG, HRV, eye-tracking), and</a:t>
            </a:r>
            <a:br/>
            <a:r>
              <a:t>subjective assessment replace</a:t>
            </a:r>
            <a:br/>
            <a:r>
              <a:t>purely physical metrics.</a:t>
            </a:r>
          </a:p>
        </p:txBody>
      </p:sp>
      <p:sp>
        <p:nvSpPr>
          <p:cNvPr id="11" name="Rounded Rectangle 10"/>
          <p:cNvSpPr/>
          <p:nvPr/>
        </p:nvSpPr>
        <p:spPr>
          <a:xfrm>
            <a:off x="4480559" y="2194560"/>
            <a:ext cx="3474720" cy="40233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79" y="2468880"/>
            <a:ext cx="2926080" cy="457200"/>
          </a:xfrm>
          <a:prstGeom prst="rect">
            <a:avLst/>
          </a:prstGeom>
          <a:noFill/>
        </p:spPr>
        <p:txBody>
          <a:bodyPr wrap="square">
            <a:spAutoFit/>
          </a:bodyPr>
          <a:lstStyle/>
          <a:p>
            <a:pPr algn="l">
              <a:spcAft>
                <a:spcPts val="339"/>
              </a:spcAft>
              <a:defRPr sz="1700" b="1">
                <a:solidFill>
                  <a:srgbClr val="0A0F1E"/>
                </a:solidFill>
                <a:latin typeface="Calibri"/>
              </a:defRPr>
            </a:pPr>
            <a:r>
              <a:t>Interdisciplinary Integration</a:t>
            </a:r>
          </a:p>
        </p:txBody>
      </p:sp>
      <p:sp>
        <p:nvSpPr>
          <p:cNvPr id="13" name="Rectangle 12"/>
          <p:cNvSpPr/>
          <p:nvPr/>
        </p:nvSpPr>
        <p:spPr>
          <a:xfrm>
            <a:off x="4754879" y="2880360"/>
            <a:ext cx="1371600" cy="381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79" y="3108960"/>
            <a:ext cx="2926080" cy="2743200"/>
          </a:xfrm>
          <a:prstGeom prst="rect">
            <a:avLst/>
          </a:prstGeom>
          <a:noFill/>
        </p:spPr>
        <p:txBody>
          <a:bodyPr wrap="square">
            <a:spAutoFit/>
          </a:bodyPr>
          <a:lstStyle/>
          <a:p>
            <a:pPr algn="l">
              <a:spcAft>
                <a:spcPts val="519"/>
              </a:spcAft>
              <a:defRPr sz="1300" b="0">
                <a:solidFill>
                  <a:srgbClr val="75787B"/>
                </a:solidFill>
                <a:latin typeface="Calibri"/>
              </a:defRPr>
            </a:pPr>
            <a:r>
              <a:t>Bridge architectural acoustics with</a:t>
            </a:r>
            <a:br/>
            <a:r>
              <a:t>cognitive psychology, AI / data science,</a:t>
            </a:r>
            <a:br/>
            <a:r>
              <a:t>and urban design.</a:t>
            </a:r>
            <a:br/>
            <a:br/>
            <a:r>
              <a:t>One core methodology applied</a:t>
            </a:r>
            <a:br/>
            <a:r>
              <a:t>across buildings, cities, products,</a:t>
            </a:r>
            <a:br/>
            <a:r>
              <a:t>and healthcare.</a:t>
            </a:r>
          </a:p>
        </p:txBody>
      </p:sp>
      <p:sp>
        <p:nvSpPr>
          <p:cNvPr id="15" name="Rounded Rectangle 14"/>
          <p:cNvSpPr/>
          <p:nvPr/>
        </p:nvSpPr>
        <p:spPr>
          <a:xfrm>
            <a:off x="8229599" y="2194560"/>
            <a:ext cx="3474720" cy="40233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19" y="2468880"/>
            <a:ext cx="2926080" cy="457200"/>
          </a:xfrm>
          <a:prstGeom prst="rect">
            <a:avLst/>
          </a:prstGeom>
          <a:noFill/>
        </p:spPr>
        <p:txBody>
          <a:bodyPr wrap="square">
            <a:spAutoFit/>
          </a:bodyPr>
          <a:lstStyle/>
          <a:p>
            <a:pPr algn="l">
              <a:spcAft>
                <a:spcPts val="339"/>
              </a:spcAft>
              <a:defRPr sz="1700" b="1">
                <a:solidFill>
                  <a:srgbClr val="0A0F1E"/>
                </a:solidFill>
                <a:latin typeface="Calibri"/>
              </a:defRPr>
            </a:pPr>
            <a:r>
              <a:t>Lab to Life</a:t>
            </a:r>
          </a:p>
        </p:txBody>
      </p:sp>
      <p:sp>
        <p:nvSpPr>
          <p:cNvPr id="17" name="Rectangle 16"/>
          <p:cNvSpPr/>
          <p:nvPr/>
        </p:nvSpPr>
        <p:spPr>
          <a:xfrm>
            <a:off x="8503919" y="2880360"/>
            <a:ext cx="1371600" cy="381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19" y="3108960"/>
            <a:ext cx="2926080" cy="2743200"/>
          </a:xfrm>
          <a:prstGeom prst="rect">
            <a:avLst/>
          </a:prstGeom>
          <a:noFill/>
        </p:spPr>
        <p:txBody>
          <a:bodyPr wrap="square">
            <a:spAutoFit/>
          </a:bodyPr>
          <a:lstStyle/>
          <a:p>
            <a:pPr algn="l">
              <a:spcAft>
                <a:spcPts val="519"/>
              </a:spcAft>
              <a:defRPr sz="1300" b="0">
                <a:solidFill>
                  <a:srgbClr val="75787B"/>
                </a:solidFill>
                <a:latin typeface="Calibri"/>
              </a:defRPr>
            </a:pPr>
            <a:r>
              <a:t>Research must reach real buildings,</a:t>
            </a:r>
            <a:br/>
            <a:r>
              <a:t>cities, and products.</a:t>
            </a:r>
            <a:br/>
            <a:br/>
            <a:r>
              <a:t>3 concert halls designed,</a:t>
            </a:r>
            <a:br/>
            <a:r>
              <a:t>EV sound in mass production,</a:t>
            </a:r>
            <a:br/>
            <a:r>
              <a:t>digital therapeutics validated</a:t>
            </a:r>
            <a:br/>
            <a:r>
              <a:t>in clinical settings.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685800"/>
          </a:xfrm>
          <a:prstGeom prst="rect">
            <a:avLst/>
          </a:prstGeom>
          <a:noFill/>
        </p:spPr>
        <p:txBody>
          <a:bodyPr wrap="square">
            <a:spAutoFit/>
          </a:bodyPr>
          <a:lstStyle/>
          <a:p>
            <a:pPr algn="l">
              <a:spcAft>
                <a:spcPts val="519"/>
              </a:spcAft>
              <a:defRPr sz="2600" b="1">
                <a:solidFill>
                  <a:srgbClr val="0A0F1E"/>
                </a:solidFill>
                <a:latin typeface="Calibri"/>
              </a:defRPr>
            </a:pPr>
            <a:r>
              <a:t>Research Overview — One Method, Four Impacts</a:t>
            </a:r>
          </a:p>
        </p:txBody>
      </p:sp>
      <p:sp>
        <p:nvSpPr>
          <p:cNvPr id="4" name="Rectangle 3"/>
          <p:cNvSpPr/>
          <p:nvPr/>
        </p:nvSpPr>
        <p:spPr>
          <a:xfrm>
            <a:off x="731520" y="868680"/>
            <a:ext cx="10698480" cy="1905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1097280" cy="320040"/>
          </a:xfrm>
          <a:prstGeom prst="rect">
            <a:avLst/>
          </a:prstGeom>
          <a:noFill/>
        </p:spPr>
        <p:txBody>
          <a:bodyPr wrap="square">
            <a:spAutoFit/>
          </a:bodyPr>
          <a:lstStyle/>
          <a:p>
            <a:pPr algn="r">
              <a:spcAft>
                <a:spcPts val="179"/>
              </a:spcAft>
              <a:defRPr sz="900" b="0">
                <a:solidFill>
                  <a:srgbClr val="888899"/>
                </a:solidFill>
                <a:latin typeface="Calibri"/>
              </a:defRPr>
            </a:pPr>
            <a:r>
              <a:t>6 / 20</a:t>
            </a:r>
          </a:p>
        </p:txBody>
      </p:sp>
      <p:sp>
        <p:nvSpPr>
          <p:cNvPr id="6" name="Rounded Rectangle 5"/>
          <p:cNvSpPr/>
          <p:nvPr/>
        </p:nvSpPr>
        <p:spPr>
          <a:xfrm>
            <a:off x="548640" y="1188720"/>
            <a:ext cx="2377440" cy="1280160"/>
          </a:xfrm>
          <a:prstGeom prst="round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FFFFFF"/>
                </a:solidFill>
              </a:defRPr>
            </a:pPr>
            <a:r>
              <a:t>SENSE</a:t>
            </a:r>
          </a:p>
          <a:p>
            <a:pPr algn="ctr">
              <a:defRPr sz="1100">
                <a:solidFill>
                  <a:srgbClr val="3D7DDE"/>
                </a:solidFill>
              </a:defRPr>
            </a:pPr>
            <a:r>
              <a:t>VR / AR</a:t>
            </a:r>
            <a:br/>
            <a:r>
              <a:t>Auralization</a:t>
            </a:r>
          </a:p>
        </p:txBody>
      </p:sp>
      <p:sp>
        <p:nvSpPr>
          <p:cNvPr id="7" name="TextBox 6"/>
          <p:cNvSpPr txBox="1"/>
          <p:nvPr/>
        </p:nvSpPr>
        <p:spPr>
          <a:xfrm>
            <a:off x="2971800" y="1554480"/>
            <a:ext cx="457200" cy="365760"/>
          </a:xfrm>
          <a:prstGeom prst="rect">
            <a:avLst/>
          </a:prstGeom>
          <a:noFill/>
        </p:spPr>
        <p:txBody>
          <a:bodyPr wrap="square">
            <a:spAutoFit/>
          </a:bodyPr>
          <a:lstStyle/>
          <a:p>
            <a:pPr algn="ctr">
              <a:spcAft>
                <a:spcPts val="399"/>
              </a:spcAft>
              <a:defRPr sz="2000" b="1">
                <a:solidFill>
                  <a:srgbClr val="13289F"/>
                </a:solidFill>
                <a:latin typeface="Calibri"/>
              </a:defRPr>
            </a:pPr>
            <a:r>
              <a:t>→</a:t>
            </a:r>
          </a:p>
        </p:txBody>
      </p:sp>
      <p:sp>
        <p:nvSpPr>
          <p:cNvPr id="8" name="Rounded Rectangle 7"/>
          <p:cNvSpPr/>
          <p:nvPr/>
        </p:nvSpPr>
        <p:spPr>
          <a:xfrm>
            <a:off x="3474720" y="1188720"/>
            <a:ext cx="2377440" cy="1280160"/>
          </a:xfrm>
          <a:prstGeom prst="round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FFFFFF"/>
                </a:solidFill>
              </a:defRPr>
            </a:pPr>
            <a:r>
              <a:t>UNDERSTAND</a:t>
            </a:r>
          </a:p>
          <a:p>
            <a:pPr algn="ctr">
              <a:defRPr sz="1100">
                <a:solidFill>
                  <a:srgbClr val="3D7DDE"/>
                </a:solidFill>
              </a:defRPr>
            </a:pPr>
            <a:r>
              <a:t>Psychoacoustic</a:t>
            </a:r>
            <a:br/>
            <a:r>
              <a:t>Evaluation</a:t>
            </a:r>
          </a:p>
        </p:txBody>
      </p:sp>
      <p:sp>
        <p:nvSpPr>
          <p:cNvPr id="9" name="TextBox 8"/>
          <p:cNvSpPr txBox="1"/>
          <p:nvPr/>
        </p:nvSpPr>
        <p:spPr>
          <a:xfrm>
            <a:off x="5897880" y="1554480"/>
            <a:ext cx="457200" cy="365760"/>
          </a:xfrm>
          <a:prstGeom prst="rect">
            <a:avLst/>
          </a:prstGeom>
          <a:noFill/>
        </p:spPr>
        <p:txBody>
          <a:bodyPr wrap="square">
            <a:spAutoFit/>
          </a:bodyPr>
          <a:lstStyle/>
          <a:p>
            <a:pPr algn="ctr">
              <a:spcAft>
                <a:spcPts val="399"/>
              </a:spcAft>
              <a:defRPr sz="2000" b="1">
                <a:solidFill>
                  <a:srgbClr val="13289F"/>
                </a:solidFill>
                <a:latin typeface="Calibri"/>
              </a:defRPr>
            </a:pPr>
            <a:r>
              <a:t>→</a:t>
            </a:r>
          </a:p>
        </p:txBody>
      </p:sp>
      <p:sp>
        <p:nvSpPr>
          <p:cNvPr id="10" name="Rounded Rectangle 9"/>
          <p:cNvSpPr/>
          <p:nvPr/>
        </p:nvSpPr>
        <p:spPr>
          <a:xfrm>
            <a:off x="6400800" y="1188720"/>
            <a:ext cx="2377440" cy="1280160"/>
          </a:xfrm>
          <a:prstGeom prst="round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FFFFFF"/>
                </a:solidFill>
              </a:defRPr>
            </a:pPr>
            <a:r>
              <a:t>PREDICT</a:t>
            </a:r>
          </a:p>
          <a:p>
            <a:pPr algn="ctr">
              <a:defRPr sz="1100">
                <a:solidFill>
                  <a:srgbClr val="3D7DDE"/>
                </a:solidFill>
              </a:defRPr>
            </a:pPr>
            <a:r>
              <a:t>AI / ML</a:t>
            </a:r>
            <a:br/>
            <a:r>
              <a:t>Modeling</a:t>
            </a:r>
          </a:p>
        </p:txBody>
      </p:sp>
      <p:sp>
        <p:nvSpPr>
          <p:cNvPr id="11" name="TextBox 10"/>
          <p:cNvSpPr txBox="1"/>
          <p:nvPr/>
        </p:nvSpPr>
        <p:spPr>
          <a:xfrm>
            <a:off x="8823960" y="1554480"/>
            <a:ext cx="457200" cy="365760"/>
          </a:xfrm>
          <a:prstGeom prst="rect">
            <a:avLst/>
          </a:prstGeom>
          <a:noFill/>
        </p:spPr>
        <p:txBody>
          <a:bodyPr wrap="square">
            <a:spAutoFit/>
          </a:bodyPr>
          <a:lstStyle/>
          <a:p>
            <a:pPr algn="ctr">
              <a:spcAft>
                <a:spcPts val="399"/>
              </a:spcAft>
              <a:defRPr sz="2000" b="1">
                <a:solidFill>
                  <a:srgbClr val="13289F"/>
                </a:solidFill>
                <a:latin typeface="Calibri"/>
              </a:defRPr>
            </a:pPr>
            <a:r>
              <a:t>→</a:t>
            </a:r>
          </a:p>
        </p:txBody>
      </p:sp>
      <p:sp>
        <p:nvSpPr>
          <p:cNvPr id="12" name="Rounded Rectangle 11"/>
          <p:cNvSpPr/>
          <p:nvPr/>
        </p:nvSpPr>
        <p:spPr>
          <a:xfrm>
            <a:off x="9326880" y="1188720"/>
            <a:ext cx="2377440" cy="1280160"/>
          </a:xfrm>
          <a:prstGeom prst="round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FFFFFF"/>
                </a:solidFill>
              </a:defRPr>
            </a:pPr>
            <a:r>
              <a:t>APPLY</a:t>
            </a:r>
          </a:p>
          <a:p>
            <a:pPr algn="ctr">
              <a:defRPr sz="1100">
                <a:solidFill>
                  <a:srgbClr val="3D7DDE"/>
                </a:solidFill>
              </a:defRPr>
            </a:pPr>
            <a:r>
              <a:t>Design &amp;</a:t>
            </a:r>
            <a:br/>
            <a:r>
              <a:t>Product</a:t>
            </a:r>
          </a:p>
        </p:txBody>
      </p:sp>
      <p:sp>
        <p:nvSpPr>
          <p:cNvPr id="13" name="Rounded Rectangle 12"/>
          <p:cNvSpPr/>
          <p:nvPr/>
        </p:nvSpPr>
        <p:spPr>
          <a:xfrm>
            <a:off x="548640" y="3017520"/>
            <a:ext cx="2377440" cy="30175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200400"/>
            <a:ext cx="2011680" cy="365760"/>
          </a:xfrm>
          <a:prstGeom prst="rect">
            <a:avLst/>
          </a:prstGeom>
          <a:noFill/>
        </p:spPr>
        <p:txBody>
          <a:bodyPr wrap="square">
            <a:spAutoFit/>
          </a:bodyPr>
          <a:lstStyle/>
          <a:p>
            <a:pPr algn="ctr">
              <a:spcAft>
                <a:spcPts val="299"/>
              </a:spcAft>
              <a:defRPr sz="1500" b="1">
                <a:solidFill>
                  <a:srgbClr val="13289F"/>
                </a:solidFill>
                <a:latin typeface="Calibri"/>
              </a:defRPr>
            </a:pPr>
            <a:r>
              <a:t>BUILDINGS</a:t>
            </a:r>
          </a:p>
        </p:txBody>
      </p:sp>
      <p:sp>
        <p:nvSpPr>
          <p:cNvPr id="15" name="Rectangle 14"/>
          <p:cNvSpPr/>
          <p:nvPr/>
        </p:nvSpPr>
        <p:spPr>
          <a:xfrm>
            <a:off x="1005840" y="3566160"/>
            <a:ext cx="1463040" cy="381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749039"/>
            <a:ext cx="2103120" cy="1097280"/>
          </a:xfrm>
          <a:prstGeom prst="rect">
            <a:avLst/>
          </a:prstGeom>
          <a:noFill/>
        </p:spPr>
        <p:txBody>
          <a:bodyPr wrap="square">
            <a:spAutoFit/>
          </a:bodyPr>
          <a:lstStyle/>
          <a:p>
            <a:pPr algn="ctr">
              <a:spcAft>
                <a:spcPts val="360"/>
              </a:spcAft>
              <a:defRPr sz="1200" b="0">
                <a:solidFill>
                  <a:srgbClr val="75787B"/>
                </a:solidFill>
                <a:latin typeface="Calibri"/>
              </a:defRPr>
            </a:pPr>
            <a:r>
              <a:t>Concert halls, apartments,</a:t>
            </a:r>
            <a:br/>
            <a:r>
              <a:t>office environments</a:t>
            </a:r>
          </a:p>
        </p:txBody>
      </p:sp>
      <p:sp>
        <p:nvSpPr>
          <p:cNvPr id="17" name="TextBox 16"/>
          <p:cNvSpPr txBox="1"/>
          <p:nvPr/>
        </p:nvSpPr>
        <p:spPr>
          <a:xfrm>
            <a:off x="685800" y="5029200"/>
            <a:ext cx="2103120" cy="365760"/>
          </a:xfrm>
          <a:prstGeom prst="rect">
            <a:avLst/>
          </a:prstGeom>
          <a:noFill/>
        </p:spPr>
        <p:txBody>
          <a:bodyPr wrap="square">
            <a:spAutoFit/>
          </a:bodyPr>
          <a:lstStyle/>
          <a:p>
            <a:pPr algn="ctr">
              <a:spcAft>
                <a:spcPts val="219"/>
              </a:spcAft>
              <a:defRPr sz="1100" b="1">
                <a:solidFill>
                  <a:srgbClr val="0A0F1E"/>
                </a:solidFill>
                <a:latin typeface="Calibri"/>
              </a:defRPr>
            </a:pPr>
            <a:r>
              <a:t>12 SCI papers</a:t>
            </a:r>
          </a:p>
        </p:txBody>
      </p:sp>
      <p:sp>
        <p:nvSpPr>
          <p:cNvPr id="18" name="Rounded Rectangle 17"/>
          <p:cNvSpPr/>
          <p:nvPr/>
        </p:nvSpPr>
        <p:spPr>
          <a:xfrm>
            <a:off x="3474720" y="3017520"/>
            <a:ext cx="2377440" cy="30175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0" y="3200400"/>
            <a:ext cx="2011680" cy="365760"/>
          </a:xfrm>
          <a:prstGeom prst="rect">
            <a:avLst/>
          </a:prstGeom>
          <a:noFill/>
        </p:spPr>
        <p:txBody>
          <a:bodyPr wrap="square">
            <a:spAutoFit/>
          </a:bodyPr>
          <a:lstStyle/>
          <a:p>
            <a:pPr algn="ctr">
              <a:spcAft>
                <a:spcPts val="299"/>
              </a:spcAft>
              <a:defRPr sz="1500" b="1">
                <a:solidFill>
                  <a:srgbClr val="13289F"/>
                </a:solidFill>
                <a:latin typeface="Calibri"/>
              </a:defRPr>
            </a:pPr>
            <a:r>
              <a:t>CITIES</a:t>
            </a:r>
          </a:p>
        </p:txBody>
      </p:sp>
      <p:sp>
        <p:nvSpPr>
          <p:cNvPr id="20" name="Rectangle 19"/>
          <p:cNvSpPr/>
          <p:nvPr/>
        </p:nvSpPr>
        <p:spPr>
          <a:xfrm>
            <a:off x="3931920" y="3566160"/>
            <a:ext cx="1463040" cy="381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11880" y="3749039"/>
            <a:ext cx="2103120" cy="1097280"/>
          </a:xfrm>
          <a:prstGeom prst="rect">
            <a:avLst/>
          </a:prstGeom>
          <a:noFill/>
        </p:spPr>
        <p:txBody>
          <a:bodyPr wrap="square">
            <a:spAutoFit/>
          </a:bodyPr>
          <a:lstStyle/>
          <a:p>
            <a:pPr algn="ctr">
              <a:spcAft>
                <a:spcPts val="360"/>
              </a:spcAft>
              <a:defRPr sz="1200" b="0">
                <a:solidFill>
                  <a:srgbClr val="75787B"/>
                </a:solidFill>
                <a:latin typeface="Calibri"/>
              </a:defRPr>
            </a:pPr>
            <a:r>
              <a:t>Urban parks, streets,</a:t>
            </a:r>
            <a:br/>
            <a:r>
              <a:t>soundscape design</a:t>
            </a:r>
          </a:p>
        </p:txBody>
      </p:sp>
      <p:sp>
        <p:nvSpPr>
          <p:cNvPr id="22" name="TextBox 21"/>
          <p:cNvSpPr txBox="1"/>
          <p:nvPr/>
        </p:nvSpPr>
        <p:spPr>
          <a:xfrm>
            <a:off x="3611880" y="5029200"/>
            <a:ext cx="2103120" cy="365760"/>
          </a:xfrm>
          <a:prstGeom prst="rect">
            <a:avLst/>
          </a:prstGeom>
          <a:noFill/>
        </p:spPr>
        <p:txBody>
          <a:bodyPr wrap="square">
            <a:spAutoFit/>
          </a:bodyPr>
          <a:lstStyle/>
          <a:p>
            <a:pPr algn="ctr">
              <a:spcAft>
                <a:spcPts val="219"/>
              </a:spcAft>
              <a:defRPr sz="1100" b="1">
                <a:solidFill>
                  <a:srgbClr val="0A0F1E"/>
                </a:solidFill>
                <a:latin typeface="Calibri"/>
              </a:defRPr>
            </a:pPr>
            <a:r>
              <a:t>7 SCI papers</a:t>
            </a:r>
          </a:p>
        </p:txBody>
      </p:sp>
      <p:sp>
        <p:nvSpPr>
          <p:cNvPr id="23" name="Rounded Rectangle 22"/>
          <p:cNvSpPr/>
          <p:nvPr/>
        </p:nvSpPr>
        <p:spPr>
          <a:xfrm>
            <a:off x="6400800" y="3017520"/>
            <a:ext cx="2377440" cy="30175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3200400"/>
            <a:ext cx="2011680" cy="365760"/>
          </a:xfrm>
          <a:prstGeom prst="rect">
            <a:avLst/>
          </a:prstGeom>
          <a:noFill/>
        </p:spPr>
        <p:txBody>
          <a:bodyPr wrap="square">
            <a:spAutoFit/>
          </a:bodyPr>
          <a:lstStyle/>
          <a:p>
            <a:pPr algn="ctr">
              <a:spcAft>
                <a:spcPts val="299"/>
              </a:spcAft>
              <a:defRPr sz="1500" b="1">
                <a:solidFill>
                  <a:srgbClr val="13289F"/>
                </a:solidFill>
                <a:latin typeface="Calibri"/>
              </a:defRPr>
            </a:pPr>
            <a:r>
              <a:t>PRODUCTS</a:t>
            </a:r>
          </a:p>
        </p:txBody>
      </p:sp>
      <p:sp>
        <p:nvSpPr>
          <p:cNvPr id="25" name="Rectangle 24"/>
          <p:cNvSpPr/>
          <p:nvPr/>
        </p:nvSpPr>
        <p:spPr>
          <a:xfrm>
            <a:off x="6858000" y="3566160"/>
            <a:ext cx="1463040" cy="381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37960" y="3749039"/>
            <a:ext cx="2103120" cy="1097280"/>
          </a:xfrm>
          <a:prstGeom prst="rect">
            <a:avLst/>
          </a:prstGeom>
          <a:noFill/>
        </p:spPr>
        <p:txBody>
          <a:bodyPr wrap="square">
            <a:spAutoFit/>
          </a:bodyPr>
          <a:lstStyle/>
          <a:p>
            <a:pPr algn="ctr">
              <a:spcAft>
                <a:spcPts val="360"/>
              </a:spcAft>
              <a:defRPr sz="1200" b="0">
                <a:solidFill>
                  <a:srgbClr val="75787B"/>
                </a:solidFill>
                <a:latin typeface="Calibri"/>
              </a:defRPr>
            </a:pPr>
            <a:r>
              <a:t>EV AVAS, vehicle NVH,</a:t>
            </a:r>
            <a:br/>
            <a:r>
              <a:t>mass production</a:t>
            </a:r>
          </a:p>
        </p:txBody>
      </p:sp>
      <p:sp>
        <p:nvSpPr>
          <p:cNvPr id="27" name="TextBox 26"/>
          <p:cNvSpPr txBox="1"/>
          <p:nvPr/>
        </p:nvSpPr>
        <p:spPr>
          <a:xfrm>
            <a:off x="6537960" y="5029200"/>
            <a:ext cx="2103120" cy="365760"/>
          </a:xfrm>
          <a:prstGeom prst="rect">
            <a:avLst/>
          </a:prstGeom>
          <a:noFill/>
        </p:spPr>
        <p:txBody>
          <a:bodyPr wrap="square">
            <a:spAutoFit/>
          </a:bodyPr>
          <a:lstStyle/>
          <a:p>
            <a:pPr algn="ctr">
              <a:spcAft>
                <a:spcPts val="219"/>
              </a:spcAft>
              <a:defRPr sz="1100" b="1">
                <a:solidFill>
                  <a:srgbClr val="0A0F1E"/>
                </a:solidFill>
                <a:latin typeface="Calibri"/>
              </a:defRPr>
            </a:pPr>
            <a:r>
              <a:t>2 SCI + JASA</a:t>
            </a:r>
          </a:p>
        </p:txBody>
      </p:sp>
      <p:sp>
        <p:nvSpPr>
          <p:cNvPr id="28" name="Rounded Rectangle 27"/>
          <p:cNvSpPr/>
          <p:nvPr/>
        </p:nvSpPr>
        <p:spPr>
          <a:xfrm>
            <a:off x="9326880" y="3017520"/>
            <a:ext cx="2377440" cy="30175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0" y="3200400"/>
            <a:ext cx="2011680" cy="365760"/>
          </a:xfrm>
          <a:prstGeom prst="rect">
            <a:avLst/>
          </a:prstGeom>
          <a:noFill/>
        </p:spPr>
        <p:txBody>
          <a:bodyPr wrap="square">
            <a:spAutoFit/>
          </a:bodyPr>
          <a:lstStyle/>
          <a:p>
            <a:pPr algn="ctr">
              <a:spcAft>
                <a:spcPts val="299"/>
              </a:spcAft>
              <a:defRPr sz="1500" b="1">
                <a:solidFill>
                  <a:srgbClr val="13289F"/>
                </a:solidFill>
                <a:latin typeface="Calibri"/>
              </a:defRPr>
            </a:pPr>
            <a:r>
              <a:t>HEALTH</a:t>
            </a:r>
          </a:p>
        </p:txBody>
      </p:sp>
      <p:sp>
        <p:nvSpPr>
          <p:cNvPr id="30" name="Rectangle 29"/>
          <p:cNvSpPr/>
          <p:nvPr/>
        </p:nvSpPr>
        <p:spPr>
          <a:xfrm>
            <a:off x="9784080" y="3566160"/>
            <a:ext cx="1463040" cy="381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64040" y="3749039"/>
            <a:ext cx="2103120" cy="1097280"/>
          </a:xfrm>
          <a:prstGeom prst="rect">
            <a:avLst/>
          </a:prstGeom>
          <a:noFill/>
        </p:spPr>
        <p:txBody>
          <a:bodyPr wrap="square">
            <a:spAutoFit/>
          </a:bodyPr>
          <a:lstStyle/>
          <a:p>
            <a:pPr algn="ctr">
              <a:spcAft>
                <a:spcPts val="360"/>
              </a:spcAft>
              <a:defRPr sz="1200" b="0">
                <a:solidFill>
                  <a:srgbClr val="75787B"/>
                </a:solidFill>
                <a:latin typeface="Calibri"/>
              </a:defRPr>
            </a:pPr>
            <a:r>
              <a:t>Pneumonia AI diagnosis,</a:t>
            </a:r>
            <a:br/>
            <a:r>
              <a:t>digital therapeutics</a:t>
            </a:r>
          </a:p>
        </p:txBody>
      </p:sp>
      <p:sp>
        <p:nvSpPr>
          <p:cNvPr id="32" name="TextBox 31"/>
          <p:cNvSpPr txBox="1"/>
          <p:nvPr/>
        </p:nvSpPr>
        <p:spPr>
          <a:xfrm>
            <a:off x="9464040" y="5029200"/>
            <a:ext cx="2103120" cy="365760"/>
          </a:xfrm>
          <a:prstGeom prst="rect">
            <a:avLst/>
          </a:prstGeom>
          <a:noFill/>
        </p:spPr>
        <p:txBody>
          <a:bodyPr wrap="square">
            <a:spAutoFit/>
          </a:bodyPr>
          <a:lstStyle/>
          <a:p>
            <a:pPr algn="ctr">
              <a:spcAft>
                <a:spcPts val="219"/>
              </a:spcAft>
              <a:defRPr sz="1100" b="1">
                <a:solidFill>
                  <a:srgbClr val="0A0F1E"/>
                </a:solidFill>
                <a:latin typeface="Calibri"/>
              </a:defRPr>
            </a:pPr>
            <a:r>
              <a:t>3 SCI + TT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685800"/>
          </a:xfrm>
          <a:prstGeom prst="rect">
            <a:avLst/>
          </a:prstGeom>
          <a:noFill/>
        </p:spPr>
        <p:txBody>
          <a:bodyPr wrap="square">
            <a:spAutoFit/>
          </a:bodyPr>
          <a:lstStyle/>
          <a:p>
            <a:pPr algn="l">
              <a:spcAft>
                <a:spcPts val="519"/>
              </a:spcAft>
              <a:defRPr sz="2600" b="1">
                <a:solidFill>
                  <a:srgbClr val="0A0F1E"/>
                </a:solidFill>
                <a:latin typeface="Calibri"/>
              </a:defRPr>
            </a:pPr>
            <a:r>
              <a:t>Impact 1: Buildings — Comfortable Built Environments</a:t>
            </a:r>
          </a:p>
        </p:txBody>
      </p:sp>
      <p:sp>
        <p:nvSpPr>
          <p:cNvPr id="4" name="Rectangle 3"/>
          <p:cNvSpPr/>
          <p:nvPr/>
        </p:nvSpPr>
        <p:spPr>
          <a:xfrm>
            <a:off x="731520" y="868680"/>
            <a:ext cx="10698480" cy="1905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1097280" cy="320040"/>
          </a:xfrm>
          <a:prstGeom prst="rect">
            <a:avLst/>
          </a:prstGeom>
          <a:noFill/>
        </p:spPr>
        <p:txBody>
          <a:bodyPr wrap="square">
            <a:spAutoFit/>
          </a:bodyPr>
          <a:lstStyle/>
          <a:p>
            <a:pPr algn="r">
              <a:spcAft>
                <a:spcPts val="179"/>
              </a:spcAft>
              <a:defRPr sz="900" b="0">
                <a:solidFill>
                  <a:srgbClr val="888899"/>
                </a:solidFill>
                <a:latin typeface="Calibri"/>
              </a:defRPr>
            </a:pPr>
            <a:r>
              <a:t>7 / 20</a:t>
            </a:r>
          </a:p>
        </p:txBody>
      </p:sp>
      <p:sp>
        <p:nvSpPr>
          <p:cNvPr id="6" name="TextBox 5"/>
          <p:cNvSpPr txBox="1"/>
          <p:nvPr/>
        </p:nvSpPr>
        <p:spPr>
          <a:xfrm>
            <a:off x="731520" y="1097280"/>
            <a:ext cx="5029200" cy="365760"/>
          </a:xfrm>
          <a:prstGeom prst="rect">
            <a:avLst/>
          </a:prstGeom>
          <a:noFill/>
        </p:spPr>
        <p:txBody>
          <a:bodyPr wrap="square">
            <a:spAutoFit/>
          </a:bodyPr>
          <a:lstStyle/>
          <a:p>
            <a:pPr algn="l">
              <a:spcAft>
                <a:spcPts val="339"/>
              </a:spcAft>
              <a:defRPr sz="1700" b="1">
                <a:solidFill>
                  <a:srgbClr val="0A0F1E"/>
                </a:solidFill>
                <a:latin typeface="Calibri"/>
              </a:defRPr>
            </a:pPr>
            <a:r>
              <a:t>Architectural Acoustics Design</a:t>
            </a:r>
          </a:p>
        </p:txBody>
      </p:sp>
      <p:sp>
        <p:nvSpPr>
          <p:cNvPr id="7" name="Rectangle 6"/>
          <p:cNvSpPr/>
          <p:nvPr/>
        </p:nvSpPr>
        <p:spPr>
          <a:xfrm>
            <a:off x="731520" y="1417320"/>
            <a:ext cx="1371600" cy="381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00200"/>
            <a:ext cx="5303520" cy="2743200"/>
          </a:xfrm>
          <a:prstGeom prst="rect">
            <a:avLst/>
          </a:prstGeom>
          <a:noFill/>
        </p:spPr>
        <p:txBody>
          <a:bodyPr wrap="square">
            <a:spAutoFit/>
          </a:bodyPr>
          <a:lstStyle/>
          <a:p>
            <a:pPr algn="l">
              <a:spcAft>
                <a:spcPts val="390"/>
              </a:spcAft>
              <a:defRPr sz="1300" b="0">
                <a:solidFill>
                  <a:srgbClr val="1A1A2E"/>
                </a:solidFill>
                <a:latin typeface="Calibri"/>
              </a:defRPr>
            </a:pPr>
            <a:r>
              <a:t>•  3 Concert Halls: IFEZ Art Center (1,800 seats),</a:t>
            </a:r>
          </a:p>
          <a:p>
            <a:pPr algn="l">
              <a:spcBef>
                <a:spcPts val="0"/>
              </a:spcBef>
              <a:spcAft>
                <a:spcPts val="200"/>
              </a:spcAft>
              <a:defRPr sz="1300" b="0">
                <a:solidFill>
                  <a:srgbClr val="1A1A2E"/>
                </a:solidFill>
                <a:latin typeface="Calibri"/>
              </a:defRPr>
            </a:pPr>
            <a:r>
              <a:t>   Bucheon Culture Arts Center (1,450), Pyeongtaek (1,315)</a:t>
            </a:r>
          </a:p>
          <a:p>
            <a:pPr algn="l">
              <a:spcBef>
                <a:spcPts val="0"/>
              </a:spcBef>
              <a:spcAft>
                <a:spcPts val="200"/>
              </a:spcAft>
              <a:defRPr sz="1300" b="0">
                <a:solidFill>
                  <a:srgbClr val="1A1A2E"/>
                </a:solidFill>
                <a:latin typeface="Calibri"/>
              </a:defRPr>
            </a:pPr>
            <a:r>
              <a:t>•  Sound diffusion optimization with scale models + simulations [1]</a:t>
            </a:r>
          </a:p>
          <a:p>
            <a:pPr algn="l">
              <a:spcBef>
                <a:spcPts val="0"/>
              </a:spcBef>
              <a:spcAft>
                <a:spcPts val="200"/>
              </a:spcAft>
              <a:defRPr sz="1300" b="0">
                <a:solidFill>
                  <a:srgbClr val="1A1A2E"/>
                </a:solidFill>
                <a:latin typeface="Calibri"/>
              </a:defRPr>
            </a:pPr>
          </a:p>
          <a:p>
            <a:pPr algn="l">
              <a:spcBef>
                <a:spcPts val="0"/>
              </a:spcBef>
              <a:spcAft>
                <a:spcPts val="200"/>
              </a:spcAft>
              <a:defRPr sz="1300" b="0">
                <a:solidFill>
                  <a:srgbClr val="1A1A2E"/>
                </a:solidFill>
                <a:latin typeface="Calibri"/>
              </a:defRPr>
            </a:pPr>
            <a:r>
              <a:t>•  Floor impact noise: VR evaluation → criterion lowered by 6-7 dB [2]</a:t>
            </a:r>
          </a:p>
          <a:p>
            <a:pPr algn="l">
              <a:spcBef>
                <a:spcPts val="0"/>
              </a:spcBef>
              <a:spcAft>
                <a:spcPts val="200"/>
              </a:spcAft>
              <a:defRPr sz="1300" b="0">
                <a:solidFill>
                  <a:srgbClr val="1A1A2E"/>
                </a:solidFill>
                <a:latin typeface="Calibri"/>
              </a:defRPr>
            </a:pPr>
            <a:r>
              <a:t>•  Open-plan office: Comfort-Content balance model [3][4]</a:t>
            </a:r>
          </a:p>
          <a:p>
            <a:pPr algn="l">
              <a:spcBef>
                <a:spcPts val="0"/>
              </a:spcBef>
              <a:spcAft>
                <a:spcPts val="200"/>
              </a:spcAft>
              <a:defRPr sz="1300" b="0">
                <a:solidFill>
                  <a:srgbClr val="1A1A2E"/>
                </a:solidFill>
                <a:latin typeface="Calibri"/>
              </a:defRPr>
            </a:pPr>
            <a:r>
              <a:t>•  Water supply/drainage noise: VR annoyance assessment [5]</a:t>
            </a:r>
          </a:p>
        </p:txBody>
      </p:sp>
      <p:sp>
        <p:nvSpPr>
          <p:cNvPr id="9" name="Rounded Rectangle 8"/>
          <p:cNvSpPr/>
          <p:nvPr/>
        </p:nvSpPr>
        <p:spPr>
          <a:xfrm>
            <a:off x="6400800" y="1097280"/>
            <a:ext cx="5029200" cy="41148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1280160"/>
            <a:ext cx="4572000" cy="365760"/>
          </a:xfrm>
          <a:prstGeom prst="rect">
            <a:avLst/>
          </a:prstGeom>
          <a:noFill/>
        </p:spPr>
        <p:txBody>
          <a:bodyPr wrap="square">
            <a:spAutoFit/>
          </a:bodyPr>
          <a:lstStyle/>
          <a:p>
            <a:pPr algn="l">
              <a:spcAft>
                <a:spcPts val="299"/>
              </a:spcAft>
              <a:defRPr sz="1500" b="1">
                <a:solidFill>
                  <a:srgbClr val="0A0F1E"/>
                </a:solidFill>
                <a:latin typeface="Calibri"/>
              </a:defRPr>
            </a:pPr>
            <a:r>
              <a:t>Key Contribution</a:t>
            </a:r>
          </a:p>
        </p:txBody>
      </p:sp>
      <p:sp>
        <p:nvSpPr>
          <p:cNvPr id="11" name="TextBox 10"/>
          <p:cNvSpPr txBox="1"/>
          <p:nvPr/>
        </p:nvSpPr>
        <p:spPr>
          <a:xfrm>
            <a:off x="6675120" y="1737360"/>
            <a:ext cx="4572000" cy="3200400"/>
          </a:xfrm>
          <a:prstGeom prst="rect">
            <a:avLst/>
          </a:prstGeom>
          <a:noFill/>
        </p:spPr>
        <p:txBody>
          <a:bodyPr wrap="square">
            <a:spAutoFit/>
          </a:bodyPr>
          <a:lstStyle/>
          <a:p>
            <a:pPr algn="l">
              <a:spcAft>
                <a:spcPts val="519"/>
              </a:spcAft>
              <a:defRPr sz="1300" b="0">
                <a:solidFill>
                  <a:srgbClr val="75787B"/>
                </a:solidFill>
                <a:latin typeface="Calibri"/>
              </a:defRPr>
            </a:pPr>
            <a:r>
              <a:t>Established human perception-based</a:t>
            </a:r>
            <a:br/>
            <a:r>
              <a:t>evaluation criteria for building acoustics,</a:t>
            </a:r>
            <a:br/>
            <a:r>
              <a:t>replacing conventional physical metrics.</a:t>
            </a:r>
            <a:br/>
            <a:br/>
            <a:r>
              <a:t>VR technology enables reproducible</a:t>
            </a:r>
            <a:br/>
            <a:r>
              <a:t>laboratory experiments that closely</a:t>
            </a:r>
            <a:br/>
            <a:r>
              <a:t>match real-world acoustic experiences.</a:t>
            </a:r>
            <a:br/>
            <a:br/>
            <a:r>
              <a:t>Results directly informed Korean</a:t>
            </a:r>
            <a:br/>
            <a:r>
              <a:t>building noise standards and</a:t>
            </a:r>
            <a:br/>
            <a:r>
              <a:t>architectural design practice.</a:t>
            </a:r>
          </a:p>
        </p:txBody>
      </p:sp>
      <p:sp>
        <p:nvSpPr>
          <p:cNvPr id="12" name="TextBox 11"/>
          <p:cNvSpPr txBox="1"/>
          <p:nvPr/>
        </p:nvSpPr>
        <p:spPr>
          <a:xfrm>
            <a:off x="457200" y="5806440"/>
            <a:ext cx="11430000" cy="1005840"/>
          </a:xfrm>
          <a:prstGeom prst="rect">
            <a:avLst/>
          </a:prstGeom>
          <a:noFill/>
        </p:spPr>
        <p:txBody>
          <a:bodyPr wrap="square">
            <a:spAutoFit/>
          </a:bodyPr>
          <a:lstStyle/>
          <a:p>
            <a:pPr algn="l">
              <a:spcAft>
                <a:spcPts val="104"/>
              </a:spcAft>
              <a:defRPr sz="700" b="0">
                <a:solidFill>
                  <a:srgbClr val="888899"/>
                </a:solidFill>
                <a:latin typeface="Calibri"/>
              </a:defRPr>
            </a:pPr>
            <a:r>
              <a:t>[1] Jo &amp; Jeon (2022) "Optimizing sound diffusion in a concert hall using scale-model measurements and simulations" JOBE 50, Q1</a:t>
            </a:r>
            <a:br/>
            <a:r>
              <a:t>[2] Jo &amp; Jeon (2019) "Downstairs resident classification characteristics for upstairs walking vibration noise...under VR" B&amp;E 150, Q1, Cited 50</a:t>
            </a:r>
            <a:br/>
            <a:r>
              <a:t>[3] Jeon, Jo* et al. (2022) "Crossed effects of audio-visual environment on indoor soundscape perception for pleasant OPO" B&amp;E 207, Q1</a:t>
            </a:r>
            <a:br/>
            <a:r>
              <a:t>[4] Jo &amp; Jeon (2022) "Influence of indoor soundscape perception...on work-related quality with preference and productivity in OPO" B&amp;E 208, Q1</a:t>
            </a:r>
            <a:br/>
            <a:r>
              <a:t>[5] Jeon, Jo* et al. (2019) "Subjective and objective evaluation of water-supply and drainage noises...using a head-mounted display" Appl. Acoust. 148, Q1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685800"/>
          </a:xfrm>
          <a:prstGeom prst="rect">
            <a:avLst/>
          </a:prstGeom>
          <a:noFill/>
        </p:spPr>
        <p:txBody>
          <a:bodyPr wrap="square">
            <a:spAutoFit/>
          </a:bodyPr>
          <a:lstStyle/>
          <a:p>
            <a:pPr algn="l">
              <a:spcAft>
                <a:spcPts val="519"/>
              </a:spcAft>
              <a:defRPr sz="2600" b="1">
                <a:solidFill>
                  <a:srgbClr val="0A0F1E"/>
                </a:solidFill>
                <a:latin typeface="Calibri"/>
              </a:defRPr>
            </a:pPr>
            <a:r>
              <a:t>Impact 2: Cities — Pleasant Urban Sound Environments</a:t>
            </a:r>
          </a:p>
        </p:txBody>
      </p:sp>
      <p:sp>
        <p:nvSpPr>
          <p:cNvPr id="4" name="Rectangle 3"/>
          <p:cNvSpPr/>
          <p:nvPr/>
        </p:nvSpPr>
        <p:spPr>
          <a:xfrm>
            <a:off x="731520" y="868680"/>
            <a:ext cx="10698480" cy="1905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1097280" cy="320040"/>
          </a:xfrm>
          <a:prstGeom prst="rect">
            <a:avLst/>
          </a:prstGeom>
          <a:noFill/>
        </p:spPr>
        <p:txBody>
          <a:bodyPr wrap="square">
            <a:spAutoFit/>
          </a:bodyPr>
          <a:lstStyle/>
          <a:p>
            <a:pPr algn="r">
              <a:spcAft>
                <a:spcPts val="179"/>
              </a:spcAft>
              <a:defRPr sz="900" b="0">
                <a:solidFill>
                  <a:srgbClr val="888899"/>
                </a:solidFill>
                <a:latin typeface="Calibri"/>
              </a:defRPr>
            </a:pPr>
            <a:r>
              <a:t>8 / 20</a:t>
            </a:r>
          </a:p>
        </p:txBody>
      </p:sp>
      <p:sp>
        <p:nvSpPr>
          <p:cNvPr id="6" name="TextBox 5"/>
          <p:cNvSpPr txBox="1"/>
          <p:nvPr/>
        </p:nvSpPr>
        <p:spPr>
          <a:xfrm>
            <a:off x="731520" y="1097280"/>
            <a:ext cx="5486400" cy="365760"/>
          </a:xfrm>
          <a:prstGeom prst="rect">
            <a:avLst/>
          </a:prstGeom>
          <a:noFill/>
        </p:spPr>
        <p:txBody>
          <a:bodyPr wrap="square">
            <a:spAutoFit/>
          </a:bodyPr>
          <a:lstStyle/>
          <a:p>
            <a:pPr algn="l">
              <a:spcAft>
                <a:spcPts val="339"/>
              </a:spcAft>
              <a:defRPr sz="1700" b="1">
                <a:solidFill>
                  <a:srgbClr val="0A0F1E"/>
                </a:solidFill>
                <a:latin typeface="Calibri"/>
              </a:defRPr>
            </a:pPr>
            <a:r>
              <a:t>Soundscape Assessment &amp; Design</a:t>
            </a:r>
          </a:p>
        </p:txBody>
      </p:sp>
      <p:sp>
        <p:nvSpPr>
          <p:cNvPr id="7" name="Rectangle 6"/>
          <p:cNvSpPr/>
          <p:nvPr/>
        </p:nvSpPr>
        <p:spPr>
          <a:xfrm>
            <a:off x="731520" y="1417320"/>
            <a:ext cx="1371600" cy="381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00200"/>
            <a:ext cx="5486400" cy="2926080"/>
          </a:xfrm>
          <a:prstGeom prst="rect">
            <a:avLst/>
          </a:prstGeom>
          <a:noFill/>
        </p:spPr>
        <p:txBody>
          <a:bodyPr wrap="square">
            <a:spAutoFit/>
          </a:bodyPr>
          <a:lstStyle/>
          <a:p>
            <a:pPr algn="l">
              <a:spcAft>
                <a:spcPts val="390"/>
              </a:spcAft>
              <a:defRPr sz="1300" b="0">
                <a:solidFill>
                  <a:srgbClr val="1A1A2E"/>
                </a:solidFill>
                <a:latin typeface="Calibri"/>
              </a:defRPr>
            </a:pPr>
            <a:r>
              <a:t>•  ISO 12913: Quantitative + qualitative protocol validation [1]</a:t>
            </a:r>
          </a:p>
          <a:p>
            <a:pPr algn="l">
              <a:spcBef>
                <a:spcPts val="0"/>
              </a:spcBef>
              <a:spcAft>
                <a:spcPts val="300"/>
              </a:spcAft>
              <a:defRPr sz="1300" b="0">
                <a:solidFill>
                  <a:srgbClr val="1A1A2E"/>
                </a:solidFill>
                <a:latin typeface="Calibri"/>
              </a:defRPr>
            </a:pPr>
            <a:r>
              <a:t>•  Audio-visual interaction: Visual 90% contribution,</a:t>
            </a:r>
          </a:p>
          <a:p>
            <a:pPr algn="l">
              <a:spcBef>
                <a:spcPts val="0"/>
              </a:spcBef>
              <a:spcAft>
                <a:spcPts val="300"/>
              </a:spcAft>
              <a:defRPr sz="1300" b="0">
                <a:solidFill>
                  <a:srgbClr val="1A1A2E"/>
                </a:solidFill>
                <a:latin typeface="Calibri"/>
              </a:defRPr>
            </a:pPr>
            <a:r>
              <a:t>   yet sound determines overall satisfaction [2] (Cited 240)</a:t>
            </a:r>
          </a:p>
          <a:p>
            <a:pPr algn="l">
              <a:spcBef>
                <a:spcPts val="0"/>
              </a:spcBef>
              <a:spcAft>
                <a:spcPts val="300"/>
              </a:spcAft>
              <a:defRPr sz="1300" b="0">
                <a:solidFill>
                  <a:srgbClr val="1A1A2E"/>
                </a:solidFill>
                <a:latin typeface="Calibri"/>
              </a:defRPr>
            </a:pPr>
            <a:r>
              <a:t>•  Soundscape design index: Revised GSI/RSI/GLI/RLI</a:t>
            </a:r>
          </a:p>
          <a:p>
            <a:pPr algn="l">
              <a:spcBef>
                <a:spcPts val="0"/>
              </a:spcBef>
              <a:spcAft>
                <a:spcPts val="300"/>
              </a:spcAft>
              <a:defRPr sz="1300" b="0">
                <a:solidFill>
                  <a:srgbClr val="1A1A2E"/>
                </a:solidFill>
                <a:latin typeface="Calibri"/>
              </a:defRPr>
            </a:pPr>
            <a:r>
              <a:t>   SEM model — "Secure pleasantness, control eventfulness" [3]</a:t>
            </a:r>
          </a:p>
          <a:p>
            <a:pPr algn="l">
              <a:spcBef>
                <a:spcPts val="0"/>
              </a:spcBef>
              <a:spcAft>
                <a:spcPts val="300"/>
              </a:spcAft>
              <a:defRPr sz="1300" b="0">
                <a:solidFill>
                  <a:srgbClr val="1A1A2E"/>
                </a:solidFill>
                <a:latin typeface="Calibri"/>
              </a:defRPr>
            </a:pPr>
            <a:r>
              <a:t>•  Urban behavior: Human presence → dynamic soundscape [4]</a:t>
            </a:r>
          </a:p>
        </p:txBody>
      </p:sp>
      <p:sp>
        <p:nvSpPr>
          <p:cNvPr id="9" name="TextBox 8"/>
          <p:cNvSpPr txBox="1"/>
          <p:nvPr/>
        </p:nvSpPr>
        <p:spPr>
          <a:xfrm>
            <a:off x="6583680" y="1097280"/>
            <a:ext cx="4846320" cy="365760"/>
          </a:xfrm>
          <a:prstGeom prst="rect">
            <a:avLst/>
          </a:prstGeom>
          <a:noFill/>
        </p:spPr>
        <p:txBody>
          <a:bodyPr wrap="square">
            <a:spAutoFit/>
          </a:bodyPr>
          <a:lstStyle/>
          <a:p>
            <a:pPr algn="l">
              <a:spcAft>
                <a:spcPts val="339"/>
              </a:spcAft>
              <a:defRPr sz="1700" b="1">
                <a:solidFill>
                  <a:srgbClr val="0A0F1E"/>
                </a:solidFill>
                <a:latin typeface="Calibri"/>
              </a:defRPr>
            </a:pPr>
            <a:r>
              <a:t>International Collaboration</a:t>
            </a:r>
          </a:p>
        </p:txBody>
      </p:sp>
      <p:sp>
        <p:nvSpPr>
          <p:cNvPr id="10" name="Rounded Rectangle 9"/>
          <p:cNvSpPr/>
          <p:nvPr/>
        </p:nvSpPr>
        <p:spPr>
          <a:xfrm>
            <a:off x="6583680" y="1645920"/>
            <a:ext cx="4846320" cy="11887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1737360"/>
            <a:ext cx="2103120" cy="320040"/>
          </a:xfrm>
          <a:prstGeom prst="rect">
            <a:avLst/>
          </a:prstGeom>
          <a:noFill/>
        </p:spPr>
        <p:txBody>
          <a:bodyPr wrap="square">
            <a:spAutoFit/>
          </a:bodyPr>
          <a:lstStyle/>
          <a:p>
            <a:pPr algn="l">
              <a:spcAft>
                <a:spcPts val="259"/>
              </a:spcAft>
              <a:defRPr sz="1300" b="1">
                <a:solidFill>
                  <a:srgbClr val="0A0F1E"/>
                </a:solidFill>
                <a:latin typeface="Calibri"/>
              </a:defRPr>
            </a:pPr>
            <a:r>
              <a:t>UCL, London</a:t>
            </a:r>
          </a:p>
        </p:txBody>
      </p:sp>
      <p:sp>
        <p:nvSpPr>
          <p:cNvPr id="12" name="TextBox 11"/>
          <p:cNvSpPr txBox="1"/>
          <p:nvPr/>
        </p:nvSpPr>
        <p:spPr>
          <a:xfrm>
            <a:off x="9052560" y="1737360"/>
            <a:ext cx="2194560" cy="320040"/>
          </a:xfrm>
          <a:prstGeom prst="rect">
            <a:avLst/>
          </a:prstGeom>
          <a:noFill/>
        </p:spPr>
        <p:txBody>
          <a:bodyPr wrap="square">
            <a:spAutoFit/>
          </a:bodyPr>
          <a:lstStyle/>
          <a:p>
            <a:pPr algn="l">
              <a:spcAft>
                <a:spcPts val="219"/>
              </a:spcAft>
              <a:defRPr sz="1100" b="0">
                <a:solidFill>
                  <a:srgbClr val="75787B"/>
                </a:solidFill>
                <a:latin typeface="Calibri"/>
              </a:defRPr>
            </a:pPr>
            <a:r>
              <a:t>Prof. Jian Kang</a:t>
            </a:r>
          </a:p>
        </p:txBody>
      </p:sp>
      <p:sp>
        <p:nvSpPr>
          <p:cNvPr id="13" name="TextBox 12"/>
          <p:cNvSpPr txBox="1"/>
          <p:nvPr/>
        </p:nvSpPr>
        <p:spPr>
          <a:xfrm>
            <a:off x="6858000" y="2057400"/>
            <a:ext cx="4389120" cy="640080"/>
          </a:xfrm>
          <a:prstGeom prst="rect">
            <a:avLst/>
          </a:prstGeom>
          <a:noFill/>
        </p:spPr>
        <p:txBody>
          <a:bodyPr wrap="square">
            <a:spAutoFit/>
          </a:bodyPr>
          <a:lstStyle/>
          <a:p>
            <a:pPr algn="l">
              <a:spcAft>
                <a:spcPts val="275"/>
              </a:spcAft>
              <a:defRPr sz="1100" b="0">
                <a:solidFill>
                  <a:srgbClr val="75787B"/>
                </a:solidFill>
                <a:latin typeface="Calibri"/>
              </a:defRPr>
            </a:pPr>
            <a:r>
              <a:t>Soundscape descriptors — 18-language</a:t>
            </a:r>
            <a:br/>
            <a:r>
              <a:t>validation (SATP Project) [5]</a:t>
            </a:r>
          </a:p>
        </p:txBody>
      </p:sp>
      <p:sp>
        <p:nvSpPr>
          <p:cNvPr id="14" name="Rounded Rectangle 13"/>
          <p:cNvSpPr/>
          <p:nvPr/>
        </p:nvSpPr>
        <p:spPr>
          <a:xfrm>
            <a:off x="6583680" y="3063240"/>
            <a:ext cx="4846320" cy="11887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0" y="3154680"/>
            <a:ext cx="2103120" cy="320040"/>
          </a:xfrm>
          <a:prstGeom prst="rect">
            <a:avLst/>
          </a:prstGeom>
          <a:noFill/>
        </p:spPr>
        <p:txBody>
          <a:bodyPr wrap="square">
            <a:spAutoFit/>
          </a:bodyPr>
          <a:lstStyle/>
          <a:p>
            <a:pPr algn="l">
              <a:spcAft>
                <a:spcPts val="259"/>
              </a:spcAft>
              <a:defRPr sz="1300" b="1">
                <a:solidFill>
                  <a:srgbClr val="0A0F1E"/>
                </a:solidFill>
                <a:latin typeface="Calibri"/>
              </a:defRPr>
            </a:pPr>
            <a:r>
              <a:t>Sorbonne, Paris</a:t>
            </a:r>
          </a:p>
        </p:txBody>
      </p:sp>
      <p:sp>
        <p:nvSpPr>
          <p:cNvPr id="16" name="TextBox 15"/>
          <p:cNvSpPr txBox="1"/>
          <p:nvPr/>
        </p:nvSpPr>
        <p:spPr>
          <a:xfrm>
            <a:off x="9052560" y="3154680"/>
            <a:ext cx="2194560" cy="320040"/>
          </a:xfrm>
          <a:prstGeom prst="rect">
            <a:avLst/>
          </a:prstGeom>
          <a:noFill/>
        </p:spPr>
        <p:txBody>
          <a:bodyPr wrap="square">
            <a:spAutoFit/>
          </a:bodyPr>
          <a:lstStyle/>
          <a:p>
            <a:pPr algn="l">
              <a:spcAft>
                <a:spcPts val="219"/>
              </a:spcAft>
              <a:defRPr sz="1100" b="0">
                <a:solidFill>
                  <a:srgbClr val="75787B"/>
                </a:solidFill>
                <a:latin typeface="Calibri"/>
              </a:defRPr>
            </a:pPr>
            <a:r>
              <a:t>Prof. J-D. Polack</a:t>
            </a:r>
          </a:p>
        </p:txBody>
      </p:sp>
      <p:sp>
        <p:nvSpPr>
          <p:cNvPr id="17" name="TextBox 16"/>
          <p:cNvSpPr txBox="1"/>
          <p:nvPr/>
        </p:nvSpPr>
        <p:spPr>
          <a:xfrm>
            <a:off x="6858000" y="3474720"/>
            <a:ext cx="4389120" cy="640080"/>
          </a:xfrm>
          <a:prstGeom prst="rect">
            <a:avLst/>
          </a:prstGeom>
          <a:noFill/>
        </p:spPr>
        <p:txBody>
          <a:bodyPr wrap="square">
            <a:spAutoFit/>
          </a:bodyPr>
          <a:lstStyle/>
          <a:p>
            <a:pPr algn="l">
              <a:spcAft>
                <a:spcPts val="275"/>
              </a:spcAft>
              <a:defRPr sz="1100" b="0">
                <a:solidFill>
                  <a:srgbClr val="75787B"/>
                </a:solidFill>
                <a:latin typeface="Calibri"/>
              </a:defRPr>
            </a:pPr>
            <a:r>
              <a:t>Paris-Seoul urban soundscape</a:t>
            </a:r>
            <a:br/>
            <a:r>
              <a:t>comparative study (STAR Project)</a:t>
            </a:r>
          </a:p>
        </p:txBody>
      </p:sp>
      <p:sp>
        <p:nvSpPr>
          <p:cNvPr id="18" name="Rounded Rectangle 17"/>
          <p:cNvSpPr/>
          <p:nvPr/>
        </p:nvSpPr>
        <p:spPr>
          <a:xfrm>
            <a:off x="6583680" y="4480560"/>
            <a:ext cx="4846320" cy="11887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4572000"/>
            <a:ext cx="2103120" cy="320040"/>
          </a:xfrm>
          <a:prstGeom prst="rect">
            <a:avLst/>
          </a:prstGeom>
          <a:noFill/>
        </p:spPr>
        <p:txBody>
          <a:bodyPr wrap="square">
            <a:spAutoFit/>
          </a:bodyPr>
          <a:lstStyle/>
          <a:p>
            <a:pPr algn="l">
              <a:spcAft>
                <a:spcPts val="259"/>
              </a:spcAft>
              <a:defRPr sz="1300" b="1">
                <a:solidFill>
                  <a:srgbClr val="0A0F1E"/>
                </a:solidFill>
                <a:latin typeface="Calibri"/>
              </a:defRPr>
            </a:pPr>
            <a:r>
              <a:t>RWTH Aachen</a:t>
            </a:r>
          </a:p>
        </p:txBody>
      </p:sp>
      <p:sp>
        <p:nvSpPr>
          <p:cNvPr id="20" name="TextBox 19"/>
          <p:cNvSpPr txBox="1"/>
          <p:nvPr/>
        </p:nvSpPr>
        <p:spPr>
          <a:xfrm>
            <a:off x="9052560" y="4572000"/>
            <a:ext cx="2194560" cy="320040"/>
          </a:xfrm>
          <a:prstGeom prst="rect">
            <a:avLst/>
          </a:prstGeom>
          <a:noFill/>
        </p:spPr>
        <p:txBody>
          <a:bodyPr wrap="square">
            <a:spAutoFit/>
          </a:bodyPr>
          <a:lstStyle/>
          <a:p>
            <a:pPr algn="l">
              <a:spcAft>
                <a:spcPts val="219"/>
              </a:spcAft>
              <a:defRPr sz="1100" b="0">
                <a:solidFill>
                  <a:srgbClr val="75787B"/>
                </a:solidFill>
                <a:latin typeface="Calibri"/>
              </a:defRPr>
            </a:pPr>
            <a:r>
              <a:t>Prof. M. Vorlaender</a:t>
            </a:r>
          </a:p>
        </p:txBody>
      </p:sp>
      <p:sp>
        <p:nvSpPr>
          <p:cNvPr id="21" name="TextBox 20"/>
          <p:cNvSpPr txBox="1"/>
          <p:nvPr/>
        </p:nvSpPr>
        <p:spPr>
          <a:xfrm>
            <a:off x="6858000" y="4892040"/>
            <a:ext cx="4389120" cy="640080"/>
          </a:xfrm>
          <a:prstGeom prst="rect">
            <a:avLst/>
          </a:prstGeom>
          <a:noFill/>
        </p:spPr>
        <p:txBody>
          <a:bodyPr wrap="square">
            <a:spAutoFit/>
          </a:bodyPr>
          <a:lstStyle/>
          <a:p>
            <a:pPr algn="l">
              <a:spcAft>
                <a:spcPts val="275"/>
              </a:spcAft>
              <a:defRPr sz="1100" b="0">
                <a:solidFill>
                  <a:srgbClr val="75787B"/>
                </a:solidFill>
                <a:latin typeface="Calibri"/>
              </a:defRPr>
            </a:pPr>
            <a:r>
              <a:t>VR spatial audio rendering</a:t>
            </a:r>
            <a:br/>
            <a:r>
              <a:t>&amp; ecological validity</a:t>
            </a:r>
          </a:p>
        </p:txBody>
      </p:sp>
      <p:sp>
        <p:nvSpPr>
          <p:cNvPr id="22" name="TextBox 21"/>
          <p:cNvSpPr txBox="1"/>
          <p:nvPr/>
        </p:nvSpPr>
        <p:spPr>
          <a:xfrm>
            <a:off x="457200" y="5806440"/>
            <a:ext cx="11430000" cy="1005840"/>
          </a:xfrm>
          <a:prstGeom prst="rect">
            <a:avLst/>
          </a:prstGeom>
          <a:noFill/>
        </p:spPr>
        <p:txBody>
          <a:bodyPr wrap="square">
            <a:spAutoFit/>
          </a:bodyPr>
          <a:lstStyle/>
          <a:p>
            <a:pPr algn="l">
              <a:spcAft>
                <a:spcPts val="104"/>
              </a:spcAft>
              <a:defRPr sz="700" b="0">
                <a:solidFill>
                  <a:srgbClr val="888899"/>
                </a:solidFill>
                <a:latin typeface="Calibri"/>
              </a:defRPr>
            </a:pPr>
            <a:r>
              <a:t>[1] Jo &amp; Jeon (2021) "Compatibility of quantitative and qualitative data-collection protocols for urban soundscape evaluation" SCS 74, Q1, IF 11.7</a:t>
            </a:r>
            <a:br/>
            <a:r>
              <a:t>[2] Jeon &amp; Jo* (2020) "Effects of audio-visual interactions on soundscape and landscape perception...satisfaction with the urban environment" B&amp;E 169, Q1, Cited 240</a:t>
            </a:r>
            <a:br/>
            <a:r>
              <a:t>[3] Jo &amp; Jeon (2021) "Overall environmental assessment in urban parks: Modelling audio-visual interaction with a SEM based on soundscape and landscape indices" B&amp;E 204, Q1, Cited 103</a:t>
            </a:r>
            <a:br/>
            <a:r>
              <a:t>[4] Jo &amp; Jeon (2020) "The influence of human behavioral characteristics on soundscape perception in urban parks" L&amp;UP 203, Q1, Cited 111</a:t>
            </a:r>
            <a:br/>
            <a:r>
              <a:t>[5] Aletta†, Jo et al. (2024) "Soundscape descriptors in eighteen languages: Translation and validation through listening experiments" Appl. Acoust. 224, Q1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685800"/>
          </a:xfrm>
          <a:prstGeom prst="rect">
            <a:avLst/>
          </a:prstGeom>
          <a:noFill/>
        </p:spPr>
        <p:txBody>
          <a:bodyPr wrap="square">
            <a:spAutoFit/>
          </a:bodyPr>
          <a:lstStyle/>
          <a:p>
            <a:pPr algn="l">
              <a:spcAft>
                <a:spcPts val="519"/>
              </a:spcAft>
              <a:defRPr sz="2600" b="1">
                <a:solidFill>
                  <a:srgbClr val="0A0F1E"/>
                </a:solidFill>
                <a:latin typeface="Calibri"/>
              </a:defRPr>
            </a:pPr>
            <a:r>
              <a:t>Impact 3: Products — From Research to Mass Production</a:t>
            </a:r>
          </a:p>
        </p:txBody>
      </p:sp>
      <p:sp>
        <p:nvSpPr>
          <p:cNvPr id="4" name="Rectangle 3"/>
          <p:cNvSpPr/>
          <p:nvPr/>
        </p:nvSpPr>
        <p:spPr>
          <a:xfrm>
            <a:off x="731520" y="868680"/>
            <a:ext cx="10698480" cy="1905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1097280" cy="320040"/>
          </a:xfrm>
          <a:prstGeom prst="rect">
            <a:avLst/>
          </a:prstGeom>
          <a:noFill/>
        </p:spPr>
        <p:txBody>
          <a:bodyPr wrap="square">
            <a:spAutoFit/>
          </a:bodyPr>
          <a:lstStyle/>
          <a:p>
            <a:pPr algn="r">
              <a:spcAft>
                <a:spcPts val="179"/>
              </a:spcAft>
              <a:defRPr sz="900" b="0">
                <a:solidFill>
                  <a:srgbClr val="888899"/>
                </a:solidFill>
                <a:latin typeface="Calibri"/>
              </a:defRPr>
            </a:pPr>
            <a:r>
              <a:t>9 / 20</a:t>
            </a:r>
          </a:p>
        </p:txBody>
      </p:sp>
      <p:sp>
        <p:nvSpPr>
          <p:cNvPr id="6" name="TextBox 5"/>
          <p:cNvSpPr txBox="1"/>
          <p:nvPr/>
        </p:nvSpPr>
        <p:spPr>
          <a:xfrm>
            <a:off x="731520" y="1097280"/>
            <a:ext cx="5029200" cy="365760"/>
          </a:xfrm>
          <a:prstGeom prst="rect">
            <a:avLst/>
          </a:prstGeom>
          <a:noFill/>
        </p:spPr>
        <p:txBody>
          <a:bodyPr wrap="square">
            <a:spAutoFit/>
          </a:bodyPr>
          <a:lstStyle/>
          <a:p>
            <a:pPr algn="l">
              <a:spcAft>
                <a:spcPts val="339"/>
              </a:spcAft>
              <a:defRPr sz="1700" b="1">
                <a:solidFill>
                  <a:srgbClr val="0A0F1E"/>
                </a:solidFill>
                <a:latin typeface="Calibri"/>
              </a:defRPr>
            </a:pPr>
            <a:r>
              <a:t>Hyundai Motor Company (4 Years)</a:t>
            </a:r>
          </a:p>
        </p:txBody>
      </p:sp>
      <p:sp>
        <p:nvSpPr>
          <p:cNvPr id="7" name="Rectangle 6"/>
          <p:cNvSpPr/>
          <p:nvPr/>
        </p:nvSpPr>
        <p:spPr>
          <a:xfrm>
            <a:off x="731520" y="1417320"/>
            <a:ext cx="1371600" cy="381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00200"/>
            <a:ext cx="5486400" cy="3474720"/>
          </a:xfrm>
          <a:prstGeom prst="rect">
            <a:avLst/>
          </a:prstGeom>
          <a:noFill/>
        </p:spPr>
        <p:txBody>
          <a:bodyPr wrap="square">
            <a:spAutoFit/>
          </a:bodyPr>
          <a:lstStyle/>
          <a:p>
            <a:pPr algn="l">
              <a:spcAft>
                <a:spcPts val="325"/>
              </a:spcAft>
              <a:defRPr sz="1300" b="0">
                <a:solidFill>
                  <a:srgbClr val="1A1A2E"/>
                </a:solidFill>
                <a:latin typeface="Calibri"/>
              </a:defRPr>
            </a:pPr>
            <a:r>
              <a:t>•  AVAS Brand Sound 2.0 Design &amp; Tuning</a:t>
            </a:r>
          </a:p>
          <a:p>
            <a:pPr algn="l">
              <a:spcBef>
                <a:spcPts val="0"/>
              </a:spcBef>
              <a:spcAft>
                <a:spcPts val="200"/>
              </a:spcAft>
              <a:defRPr sz="1300" b="0">
                <a:solidFill>
                  <a:srgbClr val="1A1A2E"/>
                </a:solidFill>
                <a:latin typeface="Calibri"/>
              </a:defRPr>
            </a:pPr>
            <a:r>
              <a:t>   Hyundai / Kia / Genesis (EV3, IONIQ 5)</a:t>
            </a:r>
          </a:p>
          <a:p>
            <a:pPr algn="l">
              <a:spcBef>
                <a:spcPts val="0"/>
              </a:spcBef>
              <a:spcAft>
                <a:spcPts val="200"/>
              </a:spcAft>
              <a:defRPr sz="1300" b="0">
                <a:solidFill>
                  <a:srgbClr val="1A1A2E"/>
                </a:solidFill>
                <a:latin typeface="Calibri"/>
              </a:defRPr>
            </a:pPr>
            <a:r>
              <a:t>•  Soundscape-based competitor AVAS evaluation [1]</a:t>
            </a:r>
          </a:p>
          <a:p>
            <a:pPr algn="l">
              <a:spcBef>
                <a:spcPts val="0"/>
              </a:spcBef>
              <a:spcAft>
                <a:spcPts val="200"/>
              </a:spcAft>
              <a:defRPr sz="1300" b="0">
                <a:solidFill>
                  <a:srgbClr val="1A1A2E"/>
                </a:solidFill>
                <a:latin typeface="Calibri"/>
              </a:defRPr>
            </a:pPr>
            <a:r>
              <a:t>   VR auralization with ambisonic reproduction system</a:t>
            </a:r>
          </a:p>
          <a:p>
            <a:pPr algn="l">
              <a:spcBef>
                <a:spcPts val="0"/>
              </a:spcBef>
              <a:spcAft>
                <a:spcPts val="200"/>
              </a:spcAft>
              <a:defRPr sz="1300" b="0">
                <a:solidFill>
                  <a:srgbClr val="1A1A2E"/>
                </a:solidFill>
                <a:latin typeface="Calibri"/>
              </a:defRPr>
            </a:pPr>
            <a:r>
              <a:t>•  Sound environment quantification in EV cabins</a:t>
            </a:r>
          </a:p>
          <a:p>
            <a:pPr algn="l">
              <a:spcBef>
                <a:spcPts val="0"/>
              </a:spcBef>
              <a:spcAft>
                <a:spcPts val="200"/>
              </a:spcAft>
              <a:defRPr sz="1300" b="0">
                <a:solidFill>
                  <a:srgbClr val="1A1A2E"/>
                </a:solidFill>
                <a:latin typeface="Calibri"/>
              </a:defRPr>
            </a:pPr>
            <a:r>
              <a:t>   Architectural acoustic theory → TDP methodology</a:t>
            </a:r>
          </a:p>
          <a:p>
            <a:pPr algn="l">
              <a:spcBef>
                <a:spcPts val="0"/>
              </a:spcBef>
              <a:spcAft>
                <a:spcPts val="200"/>
              </a:spcAft>
              <a:defRPr sz="1300" b="0">
                <a:solidFill>
                  <a:srgbClr val="1A1A2E"/>
                </a:solidFill>
                <a:latin typeface="Calibri"/>
              </a:defRPr>
            </a:pPr>
            <a:r>
              <a:t>•  Vehicle NVH test: B-seg EV/ICE noise reduction (K3, EV3, IONIQ5)</a:t>
            </a:r>
          </a:p>
          <a:p>
            <a:pPr algn="l">
              <a:spcBef>
                <a:spcPts val="0"/>
              </a:spcBef>
              <a:spcAft>
                <a:spcPts val="200"/>
              </a:spcAft>
              <a:defRPr sz="1300" b="0">
                <a:solidFill>
                  <a:srgbClr val="1A1A2E"/>
                </a:solidFill>
                <a:latin typeface="Calibri"/>
              </a:defRPr>
            </a:pPr>
            <a:r>
              <a:t>•  Industry-academia joint research PI</a:t>
            </a:r>
          </a:p>
          <a:p>
            <a:pPr algn="l">
              <a:spcBef>
                <a:spcPts val="0"/>
              </a:spcBef>
              <a:spcAft>
                <a:spcPts val="200"/>
              </a:spcAft>
              <a:defRPr sz="1300" b="0">
                <a:solidFill>
                  <a:srgbClr val="1A1A2E"/>
                </a:solidFill>
                <a:latin typeface="Calibri"/>
              </a:defRPr>
            </a:pPr>
            <a:r>
              <a:t>   Seoul Nat'l Univ. + Chungnam Nat'l Univ. (NRF funded)</a:t>
            </a:r>
          </a:p>
        </p:txBody>
      </p:sp>
      <p:sp>
        <p:nvSpPr>
          <p:cNvPr id="9" name="TextBox 8"/>
          <p:cNvSpPr txBox="1"/>
          <p:nvPr/>
        </p:nvSpPr>
        <p:spPr>
          <a:xfrm>
            <a:off x="6583680" y="1097280"/>
            <a:ext cx="4846320" cy="365760"/>
          </a:xfrm>
          <a:prstGeom prst="rect">
            <a:avLst/>
          </a:prstGeom>
          <a:noFill/>
        </p:spPr>
        <p:txBody>
          <a:bodyPr wrap="square">
            <a:spAutoFit/>
          </a:bodyPr>
          <a:lstStyle/>
          <a:p>
            <a:pPr algn="l">
              <a:spcAft>
                <a:spcPts val="339"/>
              </a:spcAft>
              <a:defRPr sz="1700" b="1">
                <a:solidFill>
                  <a:srgbClr val="0A0F1E"/>
                </a:solidFill>
                <a:latin typeface="Calibri"/>
              </a:defRPr>
            </a:pPr>
            <a:r>
              <a:t>Research-to-Product Pipeline</a:t>
            </a:r>
          </a:p>
        </p:txBody>
      </p:sp>
      <p:sp>
        <p:nvSpPr>
          <p:cNvPr id="10" name="Rounded Rectangle 9"/>
          <p:cNvSpPr/>
          <p:nvPr/>
        </p:nvSpPr>
        <p:spPr>
          <a:xfrm>
            <a:off x="6583680" y="1645920"/>
            <a:ext cx="1645920" cy="731520"/>
          </a:xfrm>
          <a:prstGeom prst="round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Research</a:t>
            </a:r>
          </a:p>
        </p:txBody>
      </p:sp>
      <p:sp>
        <p:nvSpPr>
          <p:cNvPr id="11" name="TextBox 10"/>
          <p:cNvSpPr txBox="1"/>
          <p:nvPr/>
        </p:nvSpPr>
        <p:spPr>
          <a:xfrm>
            <a:off x="8412480" y="1691640"/>
            <a:ext cx="3017520" cy="640080"/>
          </a:xfrm>
          <a:prstGeom prst="rect">
            <a:avLst/>
          </a:prstGeom>
          <a:noFill/>
        </p:spPr>
        <p:txBody>
          <a:bodyPr wrap="square">
            <a:spAutoFit/>
          </a:bodyPr>
          <a:lstStyle/>
          <a:p>
            <a:pPr algn="l">
              <a:spcAft>
                <a:spcPts val="275"/>
              </a:spcAft>
              <a:defRPr sz="1100" b="0">
                <a:solidFill>
                  <a:srgbClr val="75787B"/>
                </a:solidFill>
                <a:latin typeface="Calibri"/>
              </a:defRPr>
            </a:pPr>
            <a:r>
              <a:t>Perception model &amp;</a:t>
            </a:r>
            <a:br/>
            <a:r>
              <a:t>evaluation framework</a:t>
            </a:r>
          </a:p>
        </p:txBody>
      </p:sp>
      <p:sp>
        <p:nvSpPr>
          <p:cNvPr id="12" name="TextBox 11"/>
          <p:cNvSpPr txBox="1"/>
          <p:nvPr/>
        </p:nvSpPr>
        <p:spPr>
          <a:xfrm>
            <a:off x="7223760" y="2377440"/>
            <a:ext cx="365760" cy="274320"/>
          </a:xfrm>
          <a:prstGeom prst="rect">
            <a:avLst/>
          </a:prstGeom>
          <a:noFill/>
        </p:spPr>
        <p:txBody>
          <a:bodyPr wrap="square">
            <a:spAutoFit/>
          </a:bodyPr>
          <a:lstStyle/>
          <a:p>
            <a:pPr algn="ctr">
              <a:spcAft>
                <a:spcPts val="259"/>
              </a:spcAft>
              <a:defRPr sz="1300" b="0">
                <a:solidFill>
                  <a:srgbClr val="13289F"/>
                </a:solidFill>
                <a:latin typeface="Calibri"/>
              </a:defRPr>
            </a:pPr>
            <a:r>
              <a:t>↓</a:t>
            </a:r>
          </a:p>
        </p:txBody>
      </p:sp>
      <p:sp>
        <p:nvSpPr>
          <p:cNvPr id="13" name="Rounded Rectangle 12"/>
          <p:cNvSpPr/>
          <p:nvPr/>
        </p:nvSpPr>
        <p:spPr>
          <a:xfrm>
            <a:off x="6583680" y="2697480"/>
            <a:ext cx="1645920" cy="731520"/>
          </a:xfrm>
          <a:prstGeom prst="round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Evaluation</a:t>
            </a:r>
          </a:p>
        </p:txBody>
      </p:sp>
      <p:sp>
        <p:nvSpPr>
          <p:cNvPr id="14" name="TextBox 13"/>
          <p:cNvSpPr txBox="1"/>
          <p:nvPr/>
        </p:nvSpPr>
        <p:spPr>
          <a:xfrm>
            <a:off x="8412480" y="2743200"/>
            <a:ext cx="3017520" cy="640080"/>
          </a:xfrm>
          <a:prstGeom prst="rect">
            <a:avLst/>
          </a:prstGeom>
          <a:noFill/>
        </p:spPr>
        <p:txBody>
          <a:bodyPr wrap="square">
            <a:spAutoFit/>
          </a:bodyPr>
          <a:lstStyle/>
          <a:p>
            <a:pPr algn="l">
              <a:spcAft>
                <a:spcPts val="275"/>
              </a:spcAft>
              <a:defRPr sz="1100" b="0">
                <a:solidFill>
                  <a:srgbClr val="75787B"/>
                </a:solidFill>
                <a:latin typeface="Calibri"/>
              </a:defRPr>
            </a:pPr>
            <a:r>
              <a:t>Subjective listening test &amp;</a:t>
            </a:r>
            <a:br/>
            <a:r>
              <a:t>psychoacoustic analysis</a:t>
            </a:r>
          </a:p>
        </p:txBody>
      </p:sp>
      <p:sp>
        <p:nvSpPr>
          <p:cNvPr id="15" name="TextBox 14"/>
          <p:cNvSpPr txBox="1"/>
          <p:nvPr/>
        </p:nvSpPr>
        <p:spPr>
          <a:xfrm>
            <a:off x="7223760" y="3429000"/>
            <a:ext cx="365760" cy="274320"/>
          </a:xfrm>
          <a:prstGeom prst="rect">
            <a:avLst/>
          </a:prstGeom>
          <a:noFill/>
        </p:spPr>
        <p:txBody>
          <a:bodyPr wrap="square">
            <a:spAutoFit/>
          </a:bodyPr>
          <a:lstStyle/>
          <a:p>
            <a:pPr algn="ctr">
              <a:spcAft>
                <a:spcPts val="259"/>
              </a:spcAft>
              <a:defRPr sz="1300" b="0">
                <a:solidFill>
                  <a:srgbClr val="13289F"/>
                </a:solidFill>
                <a:latin typeface="Calibri"/>
              </a:defRPr>
            </a:pPr>
            <a:r>
              <a:t>↓</a:t>
            </a:r>
          </a:p>
        </p:txBody>
      </p:sp>
      <p:sp>
        <p:nvSpPr>
          <p:cNvPr id="16" name="Rounded Rectangle 15"/>
          <p:cNvSpPr/>
          <p:nvPr/>
        </p:nvSpPr>
        <p:spPr>
          <a:xfrm>
            <a:off x="6583680" y="3749040"/>
            <a:ext cx="1645920" cy="731520"/>
          </a:xfrm>
          <a:prstGeom prst="round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Validation</a:t>
            </a:r>
          </a:p>
        </p:txBody>
      </p:sp>
      <p:sp>
        <p:nvSpPr>
          <p:cNvPr id="17" name="TextBox 16"/>
          <p:cNvSpPr txBox="1"/>
          <p:nvPr/>
        </p:nvSpPr>
        <p:spPr>
          <a:xfrm>
            <a:off x="8412480" y="3794760"/>
            <a:ext cx="3017520" cy="640080"/>
          </a:xfrm>
          <a:prstGeom prst="rect">
            <a:avLst/>
          </a:prstGeom>
          <a:noFill/>
        </p:spPr>
        <p:txBody>
          <a:bodyPr wrap="square">
            <a:spAutoFit/>
          </a:bodyPr>
          <a:lstStyle/>
          <a:p>
            <a:pPr algn="l">
              <a:spcAft>
                <a:spcPts val="275"/>
              </a:spcAft>
              <a:defRPr sz="1100" b="0">
                <a:solidFill>
                  <a:srgbClr val="75787B"/>
                </a:solidFill>
                <a:latin typeface="Calibri"/>
              </a:defRPr>
            </a:pPr>
            <a:r>
              <a:t>System-level verification &amp;</a:t>
            </a:r>
            <a:br/>
            <a:r>
              <a:t>regulatory compliance</a:t>
            </a:r>
          </a:p>
        </p:txBody>
      </p:sp>
      <p:sp>
        <p:nvSpPr>
          <p:cNvPr id="18" name="TextBox 17"/>
          <p:cNvSpPr txBox="1"/>
          <p:nvPr/>
        </p:nvSpPr>
        <p:spPr>
          <a:xfrm>
            <a:off x="7223760" y="4480560"/>
            <a:ext cx="365760" cy="274320"/>
          </a:xfrm>
          <a:prstGeom prst="rect">
            <a:avLst/>
          </a:prstGeom>
          <a:noFill/>
        </p:spPr>
        <p:txBody>
          <a:bodyPr wrap="square">
            <a:spAutoFit/>
          </a:bodyPr>
          <a:lstStyle/>
          <a:p>
            <a:pPr algn="ctr">
              <a:spcAft>
                <a:spcPts val="259"/>
              </a:spcAft>
              <a:defRPr sz="1300" b="0">
                <a:solidFill>
                  <a:srgbClr val="13289F"/>
                </a:solidFill>
                <a:latin typeface="Calibri"/>
              </a:defRPr>
            </a:pPr>
            <a:r>
              <a:t>↓</a:t>
            </a:r>
          </a:p>
        </p:txBody>
      </p:sp>
      <p:sp>
        <p:nvSpPr>
          <p:cNvPr id="19" name="Rounded Rectangle 18"/>
          <p:cNvSpPr/>
          <p:nvPr/>
        </p:nvSpPr>
        <p:spPr>
          <a:xfrm>
            <a:off x="6583680" y="4800599"/>
            <a:ext cx="1645920" cy="731520"/>
          </a:xfrm>
          <a:prstGeom prst="round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Production</a:t>
            </a:r>
          </a:p>
        </p:txBody>
      </p:sp>
      <p:sp>
        <p:nvSpPr>
          <p:cNvPr id="20" name="TextBox 19"/>
          <p:cNvSpPr txBox="1"/>
          <p:nvPr/>
        </p:nvSpPr>
        <p:spPr>
          <a:xfrm>
            <a:off x="8412480" y="4846319"/>
            <a:ext cx="3017520" cy="640080"/>
          </a:xfrm>
          <a:prstGeom prst="rect">
            <a:avLst/>
          </a:prstGeom>
          <a:noFill/>
        </p:spPr>
        <p:txBody>
          <a:bodyPr wrap="square">
            <a:spAutoFit/>
          </a:bodyPr>
          <a:lstStyle/>
          <a:p>
            <a:pPr algn="l">
              <a:spcAft>
                <a:spcPts val="275"/>
              </a:spcAft>
              <a:defRPr sz="1100" b="0">
                <a:solidFill>
                  <a:srgbClr val="75787B"/>
                </a:solidFill>
                <a:latin typeface="Calibri"/>
              </a:defRPr>
            </a:pPr>
            <a:r>
              <a:t>Mass production tuning &amp;</a:t>
            </a:r>
            <a:br/>
            <a:r>
              <a:t>quality management</a:t>
            </a:r>
          </a:p>
        </p:txBody>
      </p:sp>
      <p:sp>
        <p:nvSpPr>
          <p:cNvPr id="21" name="TextBox 20"/>
          <p:cNvSpPr txBox="1"/>
          <p:nvPr/>
        </p:nvSpPr>
        <p:spPr>
          <a:xfrm>
            <a:off x="6583680" y="5577840"/>
            <a:ext cx="4846320" cy="365760"/>
          </a:xfrm>
          <a:prstGeom prst="rect">
            <a:avLst/>
          </a:prstGeom>
          <a:noFill/>
        </p:spPr>
        <p:txBody>
          <a:bodyPr wrap="square">
            <a:spAutoFit/>
          </a:bodyPr>
          <a:lstStyle/>
          <a:p>
            <a:pPr algn="l">
              <a:spcAft>
                <a:spcPts val="259"/>
              </a:spcAft>
              <a:defRPr sz="1300" b="1">
                <a:solidFill>
                  <a:srgbClr val="0A0F1E"/>
                </a:solidFill>
                <a:latin typeface="Calibri"/>
              </a:defRPr>
            </a:pPr>
            <a:r>
              <a:t>"Research → Evaluation → Validation → Production — the full cycle."</a:t>
            </a:r>
          </a:p>
        </p:txBody>
      </p:sp>
      <p:sp>
        <p:nvSpPr>
          <p:cNvPr id="22" name="TextBox 21"/>
          <p:cNvSpPr txBox="1"/>
          <p:nvPr/>
        </p:nvSpPr>
        <p:spPr>
          <a:xfrm>
            <a:off x="457200" y="5989320"/>
            <a:ext cx="11430000" cy="1005840"/>
          </a:xfrm>
          <a:prstGeom prst="rect">
            <a:avLst/>
          </a:prstGeom>
          <a:noFill/>
        </p:spPr>
        <p:txBody>
          <a:bodyPr wrap="square">
            <a:spAutoFit/>
          </a:bodyPr>
          <a:lstStyle/>
          <a:p>
            <a:pPr algn="l">
              <a:spcAft>
                <a:spcPts val="104"/>
              </a:spcAft>
              <a:defRPr sz="700" b="0">
                <a:solidFill>
                  <a:srgbClr val="888899"/>
                </a:solidFill>
                <a:latin typeface="Calibri"/>
              </a:defRPr>
            </a:pPr>
            <a:r>
              <a:t>[1] Jeon, Jo &amp; Hong (2026) "Perceptual impact of electric vehicle acoustic alerting systems on urban soundscapes: using the ISO 12913 framework" JASA — under review</a:t>
            </a:r>
            <a:br/>
            <a:r>
              <a:t>    Jo, Jeon &amp; Hong (2025) "Perceptual and satisfaction models for AVAS based on soundscape design concept" HMG Summit Conference — Special Award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685800"/>
          </a:xfrm>
          <a:prstGeom prst="rect">
            <a:avLst/>
          </a:prstGeom>
          <a:noFill/>
        </p:spPr>
        <p:txBody>
          <a:bodyPr wrap="square">
            <a:spAutoFit/>
          </a:bodyPr>
          <a:lstStyle/>
          <a:p>
            <a:pPr algn="l">
              <a:spcAft>
                <a:spcPts val="519"/>
              </a:spcAft>
              <a:defRPr sz="2600" b="1">
                <a:solidFill>
                  <a:srgbClr val="0A0F1E"/>
                </a:solidFill>
                <a:latin typeface="Calibri"/>
              </a:defRPr>
            </a:pPr>
            <a:r>
              <a:t>Impact 4: Health — Sound for Human Well-being</a:t>
            </a:r>
          </a:p>
        </p:txBody>
      </p:sp>
      <p:sp>
        <p:nvSpPr>
          <p:cNvPr id="4" name="Rectangle 3"/>
          <p:cNvSpPr/>
          <p:nvPr/>
        </p:nvSpPr>
        <p:spPr>
          <a:xfrm>
            <a:off x="731520" y="868680"/>
            <a:ext cx="10698480" cy="1905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1097280" cy="320040"/>
          </a:xfrm>
          <a:prstGeom prst="rect">
            <a:avLst/>
          </a:prstGeom>
          <a:noFill/>
        </p:spPr>
        <p:txBody>
          <a:bodyPr wrap="square">
            <a:spAutoFit/>
          </a:bodyPr>
          <a:lstStyle/>
          <a:p>
            <a:pPr algn="r">
              <a:spcAft>
                <a:spcPts val="179"/>
              </a:spcAft>
              <a:defRPr sz="900" b="0">
                <a:solidFill>
                  <a:srgbClr val="888899"/>
                </a:solidFill>
                <a:latin typeface="Calibri"/>
              </a:defRPr>
            </a:pPr>
            <a:r>
              <a:t>10 / 20</a:t>
            </a:r>
          </a:p>
        </p:txBody>
      </p:sp>
      <p:sp>
        <p:nvSpPr>
          <p:cNvPr id="6" name="TextBox 5"/>
          <p:cNvSpPr txBox="1"/>
          <p:nvPr/>
        </p:nvSpPr>
        <p:spPr>
          <a:xfrm>
            <a:off x="731520" y="1097280"/>
            <a:ext cx="5029200" cy="365760"/>
          </a:xfrm>
          <a:prstGeom prst="rect">
            <a:avLst/>
          </a:prstGeom>
          <a:noFill/>
        </p:spPr>
        <p:txBody>
          <a:bodyPr wrap="square">
            <a:spAutoFit/>
          </a:bodyPr>
          <a:lstStyle/>
          <a:p>
            <a:pPr algn="l">
              <a:spcAft>
                <a:spcPts val="339"/>
              </a:spcAft>
              <a:defRPr sz="1700" b="1">
                <a:solidFill>
                  <a:srgbClr val="0A0F1E"/>
                </a:solidFill>
                <a:latin typeface="Calibri"/>
              </a:defRPr>
            </a:pPr>
            <a:r>
              <a:t>AI-based Respiratory Disease Diagnosis</a:t>
            </a:r>
          </a:p>
        </p:txBody>
      </p:sp>
      <p:sp>
        <p:nvSpPr>
          <p:cNvPr id="7" name="Rectangle 6"/>
          <p:cNvSpPr/>
          <p:nvPr/>
        </p:nvSpPr>
        <p:spPr>
          <a:xfrm>
            <a:off x="731520" y="1417320"/>
            <a:ext cx="1371600" cy="381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00200"/>
            <a:ext cx="5303520" cy="1828800"/>
          </a:xfrm>
          <a:prstGeom prst="rect">
            <a:avLst/>
          </a:prstGeom>
          <a:noFill/>
        </p:spPr>
        <p:txBody>
          <a:bodyPr wrap="square">
            <a:spAutoFit/>
          </a:bodyPr>
          <a:lstStyle/>
          <a:p>
            <a:pPr algn="l">
              <a:spcAft>
                <a:spcPts val="390"/>
              </a:spcAft>
              <a:defRPr sz="1300" b="0">
                <a:solidFill>
                  <a:srgbClr val="1A1A2E"/>
                </a:solidFill>
                <a:latin typeface="Calibri"/>
              </a:defRPr>
            </a:pPr>
            <a:r>
              <a:t>•  Cough sound classification using LSTM / CNN</a:t>
            </a:r>
          </a:p>
          <a:p>
            <a:pPr algn="l">
              <a:spcBef>
                <a:spcPts val="0"/>
              </a:spcBef>
              <a:spcAft>
                <a:spcPts val="200"/>
              </a:spcAft>
              <a:defRPr sz="1300" b="0">
                <a:solidFill>
                  <a:srgbClr val="13289F"/>
                </a:solidFill>
                <a:latin typeface="Calibri"/>
              </a:defRPr>
            </a:pPr>
            <a:r>
              <a:t>   → Pneumonia diagnosis accuracy: 84.9% [1]</a:t>
            </a:r>
          </a:p>
          <a:p>
            <a:pPr algn="l">
              <a:spcBef>
                <a:spcPts val="0"/>
              </a:spcBef>
              <a:spcAft>
                <a:spcPts val="200"/>
              </a:spcAft>
              <a:defRPr sz="1300" b="0">
                <a:solidFill>
                  <a:srgbClr val="1A1A2E"/>
                </a:solidFill>
                <a:latin typeface="Calibri"/>
              </a:defRPr>
            </a:pPr>
            <a:r>
              <a:t>•  RIR-based data augmentation for deep learning</a:t>
            </a:r>
          </a:p>
          <a:p>
            <a:pPr algn="l">
              <a:spcBef>
                <a:spcPts val="0"/>
              </a:spcBef>
              <a:spcAft>
                <a:spcPts val="200"/>
              </a:spcAft>
              <a:defRPr sz="1300" b="0">
                <a:solidFill>
                  <a:srgbClr val="13289F"/>
                </a:solidFill>
                <a:latin typeface="Calibri"/>
              </a:defRPr>
            </a:pPr>
            <a:r>
              <a:t>   → Patent (Korea + US No. 18273592) [2]</a:t>
            </a:r>
          </a:p>
          <a:p>
            <a:pPr algn="l">
              <a:spcBef>
                <a:spcPts val="0"/>
              </a:spcBef>
              <a:spcAft>
                <a:spcPts val="200"/>
              </a:spcAft>
              <a:defRPr sz="1300" b="0">
                <a:solidFill>
                  <a:srgbClr val="13289F"/>
                </a:solidFill>
                <a:latin typeface="Calibri"/>
              </a:defRPr>
            </a:pPr>
            <a:r>
              <a:t>   → Technology transfer: $50,000 to Hanyang S&amp;A</a:t>
            </a:r>
          </a:p>
        </p:txBody>
      </p:sp>
      <p:sp>
        <p:nvSpPr>
          <p:cNvPr id="9" name="TextBox 8"/>
          <p:cNvSpPr txBox="1"/>
          <p:nvPr/>
        </p:nvSpPr>
        <p:spPr>
          <a:xfrm>
            <a:off x="731520" y="3291840"/>
            <a:ext cx="5029200" cy="365760"/>
          </a:xfrm>
          <a:prstGeom prst="rect">
            <a:avLst/>
          </a:prstGeom>
          <a:noFill/>
        </p:spPr>
        <p:txBody>
          <a:bodyPr wrap="square">
            <a:spAutoFit/>
          </a:bodyPr>
          <a:lstStyle/>
          <a:p>
            <a:pPr algn="l">
              <a:spcAft>
                <a:spcPts val="339"/>
              </a:spcAft>
              <a:defRPr sz="1700" b="1">
                <a:solidFill>
                  <a:srgbClr val="0A0F1E"/>
                </a:solidFill>
                <a:latin typeface="Calibri"/>
              </a:defRPr>
            </a:pPr>
            <a:r>
              <a:t>VR Soundscape Digital Therapeutics</a:t>
            </a:r>
          </a:p>
        </p:txBody>
      </p:sp>
      <p:sp>
        <p:nvSpPr>
          <p:cNvPr id="10" name="Rectangle 9"/>
          <p:cNvSpPr/>
          <p:nvPr/>
        </p:nvSpPr>
        <p:spPr>
          <a:xfrm>
            <a:off x="731520" y="3611880"/>
            <a:ext cx="1371600" cy="381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794760"/>
            <a:ext cx="5303520" cy="1645920"/>
          </a:xfrm>
          <a:prstGeom prst="rect">
            <a:avLst/>
          </a:prstGeom>
          <a:noFill/>
        </p:spPr>
        <p:txBody>
          <a:bodyPr wrap="square">
            <a:spAutoFit/>
          </a:bodyPr>
          <a:lstStyle/>
          <a:p>
            <a:pPr algn="l">
              <a:spcAft>
                <a:spcPts val="390"/>
              </a:spcAft>
              <a:defRPr sz="1300" b="0">
                <a:solidFill>
                  <a:srgbClr val="1A1A2E"/>
                </a:solidFill>
                <a:latin typeface="Calibri"/>
              </a:defRPr>
            </a:pPr>
            <a:r>
              <a:t>•  VR sound therapy for mental illness</a:t>
            </a:r>
          </a:p>
          <a:p>
            <a:pPr algn="l">
              <a:spcBef>
                <a:spcPts val="0"/>
              </a:spcBef>
              <a:spcAft>
                <a:spcPts val="200"/>
              </a:spcAft>
              <a:defRPr sz="1300" b="0">
                <a:solidFill>
                  <a:srgbClr val="1A1A2E"/>
                </a:solidFill>
                <a:latin typeface="Calibri"/>
              </a:defRPr>
            </a:pPr>
            <a:r>
              <a:t>   (Depression, schizophrenia — HYU Hospital)</a:t>
            </a:r>
          </a:p>
          <a:p>
            <a:pPr algn="l">
              <a:spcBef>
                <a:spcPts val="0"/>
              </a:spcBef>
              <a:spcAft>
                <a:spcPts val="200"/>
              </a:spcAft>
              <a:defRPr sz="1300" b="0">
                <a:solidFill>
                  <a:srgbClr val="1A1A2E"/>
                </a:solidFill>
                <a:latin typeface="Calibri"/>
              </a:defRPr>
            </a:pPr>
            <a:r>
              <a:t>•  Psycho-physiological restoration quantified</a:t>
            </a:r>
          </a:p>
          <a:p>
            <a:pPr algn="l">
              <a:spcBef>
                <a:spcPts val="0"/>
              </a:spcBef>
              <a:spcAft>
                <a:spcPts val="200"/>
              </a:spcAft>
              <a:defRPr sz="1300" b="0">
                <a:solidFill>
                  <a:srgbClr val="1A1A2E"/>
                </a:solidFill>
                <a:latin typeface="Calibri"/>
              </a:defRPr>
            </a:pPr>
            <a:r>
              <a:t>   via EEG, HRV, and eye-tracking [3][4]</a:t>
            </a:r>
          </a:p>
        </p:txBody>
      </p:sp>
      <p:sp>
        <p:nvSpPr>
          <p:cNvPr id="12" name="Rounded Rectangle 11"/>
          <p:cNvSpPr/>
          <p:nvPr/>
        </p:nvSpPr>
        <p:spPr>
          <a:xfrm>
            <a:off x="6400800" y="1097280"/>
            <a:ext cx="5029200" cy="41148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1280160"/>
            <a:ext cx="4572000" cy="365760"/>
          </a:xfrm>
          <a:prstGeom prst="rect">
            <a:avLst/>
          </a:prstGeom>
          <a:noFill/>
        </p:spPr>
        <p:txBody>
          <a:bodyPr wrap="square">
            <a:spAutoFit/>
          </a:bodyPr>
          <a:lstStyle/>
          <a:p>
            <a:pPr algn="l">
              <a:spcAft>
                <a:spcPts val="299"/>
              </a:spcAft>
              <a:defRPr sz="1500" b="1">
                <a:solidFill>
                  <a:srgbClr val="0A0F1E"/>
                </a:solidFill>
                <a:latin typeface="Calibri"/>
              </a:defRPr>
            </a:pPr>
            <a:r>
              <a:t>Expanding Building Acoustics</a:t>
            </a:r>
          </a:p>
        </p:txBody>
      </p:sp>
      <p:sp>
        <p:nvSpPr>
          <p:cNvPr id="14" name="TextBox 13"/>
          <p:cNvSpPr txBox="1"/>
          <p:nvPr/>
        </p:nvSpPr>
        <p:spPr>
          <a:xfrm>
            <a:off x="6675120" y="1737360"/>
            <a:ext cx="4572000" cy="3200400"/>
          </a:xfrm>
          <a:prstGeom prst="rect">
            <a:avLst/>
          </a:prstGeom>
          <a:noFill/>
        </p:spPr>
        <p:txBody>
          <a:bodyPr wrap="square">
            <a:spAutoFit/>
          </a:bodyPr>
          <a:lstStyle/>
          <a:p>
            <a:pPr algn="l">
              <a:spcAft>
                <a:spcPts val="455"/>
              </a:spcAft>
              <a:defRPr sz="1300" b="0">
                <a:solidFill>
                  <a:srgbClr val="75787B"/>
                </a:solidFill>
                <a:latin typeface="Calibri"/>
              </a:defRPr>
            </a:pPr>
            <a:r>
              <a:t>Building acoustics methodologies</a:t>
            </a:r>
            <a:br/>
            <a:r>
              <a:t>— sound analysis, spatial audio,</a:t>
            </a:r>
            <a:br/>
            <a:r>
              <a:t>psychoacoustic evaluation —</a:t>
            </a:r>
            <a:br/>
            <a:br/>
            <a:r>
              <a:t>extend to:</a:t>
            </a:r>
            <a:br/>
            <a:br/>
            <a:r>
              <a:t>✓  Healthcare (disease diagnosis)</a:t>
            </a:r>
            <a:br/>
            <a:r>
              <a:t>✓  Mental health (digital therapeutics)</a:t>
            </a:r>
            <a:br/>
            <a:r>
              <a:t>✓  Wellness (restorative environments)</a:t>
            </a:r>
            <a:br/>
            <a:br/>
            <a:r>
              <a:t>Demonstrates broad applicability of</a:t>
            </a:r>
            <a:br/>
            <a:r>
              <a:t>perception-driven sound research</a:t>
            </a:r>
            <a:br/>
            <a:r>
              <a:t>beyond traditional building engineering.</a:t>
            </a:r>
          </a:p>
        </p:txBody>
      </p:sp>
      <p:sp>
        <p:nvSpPr>
          <p:cNvPr id="15" name="TextBox 14"/>
          <p:cNvSpPr txBox="1"/>
          <p:nvPr/>
        </p:nvSpPr>
        <p:spPr>
          <a:xfrm>
            <a:off x="457200" y="5806440"/>
            <a:ext cx="11430000" cy="1005840"/>
          </a:xfrm>
          <a:prstGeom prst="rect">
            <a:avLst/>
          </a:prstGeom>
          <a:noFill/>
        </p:spPr>
        <p:txBody>
          <a:bodyPr wrap="square">
            <a:spAutoFit/>
          </a:bodyPr>
          <a:lstStyle/>
          <a:p>
            <a:pPr algn="l">
              <a:spcAft>
                <a:spcPts val="104"/>
              </a:spcAft>
              <a:defRPr sz="700" b="0">
                <a:solidFill>
                  <a:srgbClr val="888899"/>
                </a:solidFill>
                <a:latin typeface="Calibri"/>
              </a:defRPr>
            </a:pPr>
            <a:r>
              <a:t>[1] Chung, Jo et al. (2021) "Diagnosis of pneumonia by cough sounds analyzed with statistical features and AI" Sensors 21(21), SCI-E</a:t>
            </a:r>
            <a:br/>
            <a:r>
              <a:t>[2] Jeon, Jo et al. (2021/2024) Patent: "Improvement of deep learning based sound classifier performance with data augmentation with RIR" KR+US 18273592, TT ₩50M</a:t>
            </a:r>
            <a:br/>
            <a:r>
              <a:t>[3] Jeon, Jo* &amp; Lee (2023) "Psycho-physiological restoration with audio-visual interactions through VR simulations of soundscape and landscape" SCS 99, Q1, Cited 74</a:t>
            </a:r>
            <a:br/>
            <a:r>
              <a:t>[4] Jo et al. (2022) "Effect of noise sensitivity on psychophysiological response through monoscopic 360 video and stereoscopic sound" Scientific Report 12, Q1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685800"/>
          </a:xfrm>
          <a:prstGeom prst="rect">
            <a:avLst/>
          </a:prstGeom>
          <a:noFill/>
        </p:spPr>
        <p:txBody>
          <a:bodyPr wrap="square">
            <a:spAutoFit/>
          </a:bodyPr>
          <a:lstStyle/>
          <a:p>
            <a:pPr algn="l">
              <a:spcAft>
                <a:spcPts val="519"/>
              </a:spcAft>
              <a:defRPr sz="2600" b="1">
                <a:solidFill>
                  <a:srgbClr val="0A0F1E"/>
                </a:solidFill>
                <a:latin typeface="Calibri"/>
              </a:defRPr>
            </a:pPr>
            <a:r>
              <a:t>Global Network &amp; Scholarly Activities</a:t>
            </a:r>
          </a:p>
        </p:txBody>
      </p:sp>
      <p:sp>
        <p:nvSpPr>
          <p:cNvPr id="4" name="Rectangle 3"/>
          <p:cNvSpPr/>
          <p:nvPr/>
        </p:nvSpPr>
        <p:spPr>
          <a:xfrm>
            <a:off x="731520" y="868680"/>
            <a:ext cx="10698480" cy="1905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1097280" cy="320040"/>
          </a:xfrm>
          <a:prstGeom prst="rect">
            <a:avLst/>
          </a:prstGeom>
          <a:noFill/>
        </p:spPr>
        <p:txBody>
          <a:bodyPr wrap="square">
            <a:spAutoFit/>
          </a:bodyPr>
          <a:lstStyle/>
          <a:p>
            <a:pPr algn="r">
              <a:spcAft>
                <a:spcPts val="179"/>
              </a:spcAft>
              <a:defRPr sz="900" b="0">
                <a:solidFill>
                  <a:srgbClr val="888899"/>
                </a:solidFill>
                <a:latin typeface="Calibri"/>
              </a:defRPr>
            </a:pPr>
            <a:r>
              <a:t>11 / 20</a:t>
            </a:r>
          </a:p>
        </p:txBody>
      </p:sp>
      <p:sp>
        <p:nvSpPr>
          <p:cNvPr id="6" name="TextBox 5"/>
          <p:cNvSpPr txBox="1"/>
          <p:nvPr/>
        </p:nvSpPr>
        <p:spPr>
          <a:xfrm>
            <a:off x="731520" y="1097280"/>
            <a:ext cx="5029200" cy="365760"/>
          </a:xfrm>
          <a:prstGeom prst="rect">
            <a:avLst/>
          </a:prstGeom>
          <a:noFill/>
        </p:spPr>
        <p:txBody>
          <a:bodyPr wrap="square">
            <a:spAutoFit/>
          </a:bodyPr>
          <a:lstStyle/>
          <a:p>
            <a:pPr algn="l">
              <a:spcAft>
                <a:spcPts val="339"/>
              </a:spcAft>
              <a:defRPr sz="1700" b="1">
                <a:solidFill>
                  <a:srgbClr val="0A0F1E"/>
                </a:solidFill>
                <a:latin typeface="Calibri"/>
              </a:defRPr>
            </a:pPr>
            <a:r>
              <a:t>International Joint Research Projects</a:t>
            </a:r>
          </a:p>
        </p:txBody>
      </p:sp>
      <p:sp>
        <p:nvSpPr>
          <p:cNvPr id="7" name="Rounded Rectangle 6"/>
          <p:cNvSpPr/>
          <p:nvPr/>
        </p:nvSpPr>
        <p:spPr>
          <a:xfrm>
            <a:off x="731520" y="1554480"/>
            <a:ext cx="5029200" cy="10972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45920"/>
            <a:ext cx="4572000" cy="274320"/>
          </a:xfrm>
          <a:prstGeom prst="rect">
            <a:avLst/>
          </a:prstGeom>
          <a:noFill/>
        </p:spPr>
        <p:txBody>
          <a:bodyPr wrap="square">
            <a:spAutoFit/>
          </a:bodyPr>
          <a:lstStyle/>
          <a:p>
            <a:pPr algn="l">
              <a:spcAft>
                <a:spcPts val="259"/>
              </a:spcAft>
              <a:defRPr sz="1300" b="1">
                <a:solidFill>
                  <a:srgbClr val="0A0F1E"/>
                </a:solidFill>
                <a:latin typeface="Calibri"/>
              </a:defRPr>
            </a:pPr>
            <a:r>
              <a:t>SATP Project (2020-2022)</a:t>
            </a:r>
          </a:p>
        </p:txBody>
      </p:sp>
      <p:sp>
        <p:nvSpPr>
          <p:cNvPr id="9" name="TextBox 8"/>
          <p:cNvSpPr txBox="1"/>
          <p:nvPr/>
        </p:nvSpPr>
        <p:spPr>
          <a:xfrm>
            <a:off x="1005840" y="1920240"/>
            <a:ext cx="4572000" cy="640080"/>
          </a:xfrm>
          <a:prstGeom prst="rect">
            <a:avLst/>
          </a:prstGeom>
          <a:noFill/>
        </p:spPr>
        <p:txBody>
          <a:bodyPr wrap="square">
            <a:spAutoFit/>
          </a:bodyPr>
          <a:lstStyle/>
          <a:p>
            <a:pPr algn="l">
              <a:spcAft>
                <a:spcPts val="275"/>
              </a:spcAft>
              <a:defRPr sz="1100" b="0">
                <a:solidFill>
                  <a:srgbClr val="75787B"/>
                </a:solidFill>
                <a:latin typeface="Calibri"/>
              </a:defRPr>
            </a:pPr>
            <a:r>
              <a:t>Soundscape Attributes Translation — 18 languages</a:t>
            </a:r>
            <a:br/>
            <a:r>
              <a:t>UCL, Stockholm, TU Berlin, McGill, NUS, etc.</a:t>
            </a:r>
          </a:p>
        </p:txBody>
      </p:sp>
      <p:sp>
        <p:nvSpPr>
          <p:cNvPr id="10" name="Rounded Rectangle 9"/>
          <p:cNvSpPr/>
          <p:nvPr/>
        </p:nvSpPr>
        <p:spPr>
          <a:xfrm>
            <a:off x="731520" y="2880360"/>
            <a:ext cx="5029200" cy="10972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971800"/>
            <a:ext cx="4572000" cy="274320"/>
          </a:xfrm>
          <a:prstGeom prst="rect">
            <a:avLst/>
          </a:prstGeom>
          <a:noFill/>
        </p:spPr>
        <p:txBody>
          <a:bodyPr wrap="square">
            <a:spAutoFit/>
          </a:bodyPr>
          <a:lstStyle/>
          <a:p>
            <a:pPr algn="l">
              <a:spcAft>
                <a:spcPts val="259"/>
              </a:spcAft>
              <a:defRPr sz="1300" b="1">
                <a:solidFill>
                  <a:srgbClr val="0A0F1E"/>
                </a:solidFill>
                <a:latin typeface="Calibri"/>
              </a:defRPr>
            </a:pPr>
            <a:r>
              <a:t>STAR Project (2018-2020)</a:t>
            </a:r>
          </a:p>
        </p:txBody>
      </p:sp>
      <p:sp>
        <p:nvSpPr>
          <p:cNvPr id="12" name="TextBox 11"/>
          <p:cNvSpPr txBox="1"/>
          <p:nvPr/>
        </p:nvSpPr>
        <p:spPr>
          <a:xfrm>
            <a:off x="1005840" y="3246120"/>
            <a:ext cx="4572000" cy="640080"/>
          </a:xfrm>
          <a:prstGeom prst="rect">
            <a:avLst/>
          </a:prstGeom>
          <a:noFill/>
        </p:spPr>
        <p:txBody>
          <a:bodyPr wrap="square">
            <a:spAutoFit/>
          </a:bodyPr>
          <a:lstStyle/>
          <a:p>
            <a:pPr algn="l">
              <a:spcAft>
                <a:spcPts val="275"/>
              </a:spcAft>
              <a:defRPr sz="1100" b="0">
                <a:solidFill>
                  <a:srgbClr val="75787B"/>
                </a:solidFill>
                <a:latin typeface="Calibri"/>
              </a:defRPr>
            </a:pPr>
            <a:r>
              <a:t>France-Korea urban soundscape comparison</a:t>
            </a:r>
            <a:br/>
            <a:r>
              <a:t>Sorbonne University, Paris</a:t>
            </a:r>
          </a:p>
        </p:txBody>
      </p:sp>
      <p:sp>
        <p:nvSpPr>
          <p:cNvPr id="13" name="Rounded Rectangle 12"/>
          <p:cNvSpPr/>
          <p:nvPr/>
        </p:nvSpPr>
        <p:spPr>
          <a:xfrm>
            <a:off x="731520" y="4206240"/>
            <a:ext cx="5029200" cy="10972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297680"/>
            <a:ext cx="4572000" cy="274320"/>
          </a:xfrm>
          <a:prstGeom prst="rect">
            <a:avLst/>
          </a:prstGeom>
          <a:noFill/>
        </p:spPr>
        <p:txBody>
          <a:bodyPr wrap="square">
            <a:spAutoFit/>
          </a:bodyPr>
          <a:lstStyle/>
          <a:p>
            <a:pPr algn="l">
              <a:spcAft>
                <a:spcPts val="259"/>
              </a:spcAft>
              <a:defRPr sz="1300" b="1">
                <a:solidFill>
                  <a:srgbClr val="0A0F1E"/>
                </a:solidFill>
                <a:latin typeface="Calibri"/>
              </a:defRPr>
            </a:pPr>
            <a:r>
              <a:t>CHIC Project (2016-2019)</a:t>
            </a:r>
          </a:p>
        </p:txBody>
      </p:sp>
      <p:sp>
        <p:nvSpPr>
          <p:cNvPr id="15" name="TextBox 14"/>
          <p:cNvSpPr txBox="1"/>
          <p:nvPr/>
        </p:nvSpPr>
        <p:spPr>
          <a:xfrm>
            <a:off x="1005840" y="4572000"/>
            <a:ext cx="4572000" cy="640080"/>
          </a:xfrm>
          <a:prstGeom prst="rect">
            <a:avLst/>
          </a:prstGeom>
          <a:noFill/>
        </p:spPr>
        <p:txBody>
          <a:bodyPr wrap="square">
            <a:spAutoFit/>
          </a:bodyPr>
          <a:lstStyle/>
          <a:p>
            <a:pPr algn="l">
              <a:spcAft>
                <a:spcPts val="275"/>
              </a:spcAft>
              <a:defRPr sz="1100" b="0">
                <a:solidFill>
                  <a:srgbClr val="75787B"/>
                </a:solidFill>
                <a:latin typeface="Calibri"/>
              </a:defRPr>
            </a:pPr>
            <a:r>
              <a:t>VR 3D audio environment modeling</a:t>
            </a:r>
            <a:br/>
            <a:r>
              <a:t>RWTH Aachen University, KIST</a:t>
            </a:r>
          </a:p>
        </p:txBody>
      </p:sp>
      <p:sp>
        <p:nvSpPr>
          <p:cNvPr id="16" name="TextBox 15"/>
          <p:cNvSpPr txBox="1"/>
          <p:nvPr/>
        </p:nvSpPr>
        <p:spPr>
          <a:xfrm>
            <a:off x="6583680" y="1097280"/>
            <a:ext cx="4846320" cy="365760"/>
          </a:xfrm>
          <a:prstGeom prst="rect">
            <a:avLst/>
          </a:prstGeom>
          <a:noFill/>
        </p:spPr>
        <p:txBody>
          <a:bodyPr wrap="square">
            <a:spAutoFit/>
          </a:bodyPr>
          <a:lstStyle/>
          <a:p>
            <a:pPr algn="l">
              <a:spcAft>
                <a:spcPts val="339"/>
              </a:spcAft>
              <a:defRPr sz="1700" b="1">
                <a:solidFill>
                  <a:srgbClr val="0A0F1E"/>
                </a:solidFill>
                <a:latin typeface="Calibri"/>
              </a:defRPr>
            </a:pPr>
            <a:r>
              <a:t>Awards &amp; Scholarly Activities</a:t>
            </a:r>
          </a:p>
        </p:txBody>
      </p:sp>
      <p:sp>
        <p:nvSpPr>
          <p:cNvPr id="17" name="TextBox 16"/>
          <p:cNvSpPr txBox="1"/>
          <p:nvPr/>
        </p:nvSpPr>
        <p:spPr>
          <a:xfrm>
            <a:off x="6583680" y="1554480"/>
            <a:ext cx="4846320" cy="4389120"/>
          </a:xfrm>
          <a:prstGeom prst="rect">
            <a:avLst/>
          </a:prstGeom>
          <a:noFill/>
        </p:spPr>
        <p:txBody>
          <a:bodyPr wrap="square">
            <a:spAutoFit/>
          </a:bodyPr>
          <a:lstStyle/>
          <a:p>
            <a:pPr algn="l">
              <a:spcAft>
                <a:spcPts val="259"/>
              </a:spcAft>
              <a:defRPr sz="1300" b="1">
                <a:solidFill>
                  <a:srgbClr val="0A0F1E"/>
                </a:solidFill>
                <a:latin typeface="Calibri"/>
              </a:defRPr>
            </a:pPr>
            <a:r>
              <a:t>Awards (selected):</a:t>
            </a:r>
          </a:p>
          <a:p>
            <a:pPr algn="l">
              <a:spcBef>
                <a:spcPts val="0"/>
              </a:spcBef>
              <a:spcAft>
                <a:spcPts val="100"/>
              </a:spcAft>
              <a:defRPr sz="1200" b="0">
                <a:solidFill>
                  <a:srgbClr val="1A1A2E"/>
                </a:solidFill>
                <a:latin typeface="Calibri"/>
              </a:defRPr>
            </a:pPr>
            <a:r>
              <a:t>  •  EAA Best Paper &amp; Presentation — ICA 2019, Aachen</a:t>
            </a:r>
          </a:p>
          <a:p>
            <a:pPr algn="l">
              <a:spcBef>
                <a:spcPts val="0"/>
              </a:spcBef>
              <a:spcAft>
                <a:spcPts val="100"/>
              </a:spcAft>
              <a:defRPr sz="1200" b="0">
                <a:solidFill>
                  <a:srgbClr val="1A1A2E"/>
                </a:solidFill>
                <a:latin typeface="Calibri"/>
              </a:defRPr>
            </a:pPr>
            <a:r>
              <a:t>  •  I-INCE Young Professional Award — Inter-Noise 2020</a:t>
            </a:r>
          </a:p>
          <a:p>
            <a:pPr algn="l">
              <a:spcBef>
                <a:spcPts val="0"/>
              </a:spcBef>
              <a:spcAft>
                <a:spcPts val="100"/>
              </a:spcAft>
              <a:defRPr sz="1200" b="0">
                <a:solidFill>
                  <a:srgbClr val="1A1A2E"/>
                </a:solidFill>
                <a:latin typeface="Calibri"/>
              </a:defRPr>
            </a:pPr>
            <a:r>
              <a:t>  •  HMG Special Award for Research Paper — 2025</a:t>
            </a:r>
          </a:p>
          <a:p>
            <a:pPr algn="l">
              <a:spcBef>
                <a:spcPts val="0"/>
              </a:spcBef>
              <a:spcAft>
                <a:spcPts val="100"/>
              </a:spcAft>
              <a:defRPr sz="1200" b="0">
                <a:solidFill>
                  <a:srgbClr val="1A1A2E"/>
                </a:solidFill>
                <a:latin typeface="Calibri"/>
              </a:defRPr>
            </a:pPr>
            <a:r>
              <a:t>  •  Promising Scientist Award — KSNVE 2022</a:t>
            </a:r>
          </a:p>
          <a:p>
            <a:pPr algn="l">
              <a:spcBef>
                <a:spcPts val="0"/>
              </a:spcBef>
              <a:spcAft>
                <a:spcPts val="100"/>
              </a:spcAft>
              <a:defRPr sz="1200" b="0">
                <a:solidFill>
                  <a:srgbClr val="1A1A2E"/>
                </a:solidFill>
                <a:latin typeface="Calibri"/>
              </a:defRPr>
            </a:pPr>
            <a:r>
              <a:t>  •  Ph.D. Excellence Paper Award — Hanyang 2022</a:t>
            </a:r>
          </a:p>
          <a:p>
            <a:pPr algn="l">
              <a:spcBef>
                <a:spcPts val="0"/>
              </a:spcBef>
              <a:spcAft>
                <a:spcPts val="100"/>
              </a:spcAft>
              <a:defRPr sz="1300" b="0">
                <a:solidFill>
                  <a:srgbClr val="1A1A2E"/>
                </a:solidFill>
                <a:latin typeface="Calibri"/>
              </a:defRPr>
            </a:pPr>
          </a:p>
          <a:p>
            <a:pPr algn="l">
              <a:spcBef>
                <a:spcPts val="0"/>
              </a:spcBef>
              <a:spcAft>
                <a:spcPts val="100"/>
              </a:spcAft>
              <a:defRPr sz="1300" b="1">
                <a:solidFill>
                  <a:srgbClr val="1A1A2E"/>
                </a:solidFill>
                <a:latin typeface="Calibri"/>
              </a:defRPr>
            </a:pPr>
            <a:r>
              <a:t>Journal Reviewer: 17 international journals</a:t>
            </a:r>
          </a:p>
          <a:p>
            <a:pPr algn="l">
              <a:spcBef>
                <a:spcPts val="0"/>
              </a:spcBef>
              <a:spcAft>
                <a:spcPts val="100"/>
              </a:spcAft>
              <a:defRPr sz="1200" b="0">
                <a:solidFill>
                  <a:srgbClr val="1A1A2E"/>
                </a:solidFill>
                <a:latin typeface="Calibri"/>
              </a:defRPr>
            </a:pPr>
            <a:r>
              <a:t>  B&amp;E, L&amp;UP, SCS, Applied Acoustics, IEEE Access, etc.</a:t>
            </a:r>
          </a:p>
          <a:p>
            <a:pPr algn="l">
              <a:spcBef>
                <a:spcPts val="0"/>
              </a:spcBef>
              <a:spcAft>
                <a:spcPts val="100"/>
              </a:spcAft>
              <a:defRPr sz="1300" b="0">
                <a:solidFill>
                  <a:srgbClr val="1A1A2E"/>
                </a:solidFill>
                <a:latin typeface="Calibri"/>
              </a:defRPr>
            </a:pPr>
          </a:p>
          <a:p>
            <a:pPr algn="l">
              <a:spcBef>
                <a:spcPts val="0"/>
              </a:spcBef>
              <a:spcAft>
                <a:spcPts val="100"/>
              </a:spcAft>
              <a:defRPr sz="1300" b="1">
                <a:solidFill>
                  <a:srgbClr val="1A1A2E"/>
                </a:solidFill>
                <a:latin typeface="Calibri"/>
              </a:defRPr>
            </a:pPr>
            <a:r>
              <a:t>Keynote: Urban Sound Symposium, E-congress 2021</a:t>
            </a:r>
          </a:p>
          <a:p>
            <a:pPr algn="l">
              <a:spcBef>
                <a:spcPts val="0"/>
              </a:spcBef>
              <a:spcAft>
                <a:spcPts val="100"/>
              </a:spcAft>
              <a:defRPr sz="1300" b="0">
                <a:solidFill>
                  <a:srgbClr val="1A1A2E"/>
                </a:solidFill>
                <a:latin typeface="Calibri"/>
              </a:defRPr>
            </a:pPr>
          </a:p>
          <a:p>
            <a:pPr algn="l">
              <a:spcBef>
                <a:spcPts val="0"/>
              </a:spcBef>
              <a:spcAft>
                <a:spcPts val="100"/>
              </a:spcAft>
              <a:defRPr sz="1300" b="1">
                <a:solidFill>
                  <a:srgbClr val="1A1A2E"/>
                </a:solidFill>
                <a:latin typeface="Calibri"/>
              </a:defRPr>
            </a:pPr>
            <a:r>
              <a:t>Affiliations: ASA | AES | KSNVE | ASK | AIK | SAREK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685800"/>
          </a:xfrm>
          <a:prstGeom prst="rect">
            <a:avLst/>
          </a:prstGeom>
          <a:noFill/>
        </p:spPr>
        <p:txBody>
          <a:bodyPr wrap="square">
            <a:spAutoFit/>
          </a:bodyPr>
          <a:lstStyle/>
          <a:p>
            <a:pPr algn="l">
              <a:spcAft>
                <a:spcPts val="519"/>
              </a:spcAft>
              <a:defRPr sz="2600" b="1">
                <a:solidFill>
                  <a:srgbClr val="0A0F1E"/>
                </a:solidFill>
                <a:latin typeface="Calibri"/>
              </a:defRPr>
            </a:pPr>
            <a:r>
              <a:t>What Industry Taught Me</a:t>
            </a:r>
          </a:p>
        </p:txBody>
      </p:sp>
      <p:sp>
        <p:nvSpPr>
          <p:cNvPr id="4" name="Rectangle 3"/>
          <p:cNvSpPr/>
          <p:nvPr/>
        </p:nvSpPr>
        <p:spPr>
          <a:xfrm>
            <a:off x="731520" y="868680"/>
            <a:ext cx="10698480" cy="1905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1097280" cy="320040"/>
          </a:xfrm>
          <a:prstGeom prst="rect">
            <a:avLst/>
          </a:prstGeom>
          <a:noFill/>
        </p:spPr>
        <p:txBody>
          <a:bodyPr wrap="square">
            <a:spAutoFit/>
          </a:bodyPr>
          <a:lstStyle/>
          <a:p>
            <a:pPr algn="r">
              <a:spcAft>
                <a:spcPts val="179"/>
              </a:spcAft>
              <a:defRPr sz="900" b="0">
                <a:solidFill>
                  <a:srgbClr val="888899"/>
                </a:solidFill>
                <a:latin typeface="Calibri"/>
              </a:defRPr>
            </a:pPr>
            <a:r>
              <a:t>12 / 20</a:t>
            </a:r>
          </a:p>
        </p:txBody>
      </p:sp>
      <p:sp>
        <p:nvSpPr>
          <p:cNvPr id="6" name="Rounded Rectangle 5"/>
          <p:cNvSpPr/>
          <p:nvPr/>
        </p:nvSpPr>
        <p:spPr>
          <a:xfrm>
            <a:off x="548640" y="1188720"/>
            <a:ext cx="3566160" cy="43891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371600"/>
            <a:ext cx="457200" cy="457200"/>
          </a:xfrm>
          <a:prstGeom prst="round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1</a:t>
            </a:r>
          </a:p>
        </p:txBody>
      </p:sp>
      <p:sp>
        <p:nvSpPr>
          <p:cNvPr id="8" name="TextBox 7"/>
          <p:cNvSpPr txBox="1"/>
          <p:nvPr/>
        </p:nvSpPr>
        <p:spPr>
          <a:xfrm>
            <a:off x="1325880" y="1371600"/>
            <a:ext cx="2560320" cy="548640"/>
          </a:xfrm>
          <a:prstGeom prst="rect">
            <a:avLst/>
          </a:prstGeom>
          <a:noFill/>
        </p:spPr>
        <p:txBody>
          <a:bodyPr wrap="square">
            <a:spAutoFit/>
          </a:bodyPr>
          <a:lstStyle/>
          <a:p>
            <a:pPr algn="l">
              <a:spcAft>
                <a:spcPts val="150"/>
              </a:spcAft>
              <a:defRPr sz="1500" b="1">
                <a:solidFill>
                  <a:srgbClr val="0A0F1E"/>
                </a:solidFill>
                <a:latin typeface="Calibri"/>
              </a:defRPr>
            </a:pPr>
            <a:r>
              <a:t>Research-to-Product</a:t>
            </a:r>
            <a:br/>
            <a:r>
              <a:t>Pipeline</a:t>
            </a:r>
          </a:p>
        </p:txBody>
      </p:sp>
      <p:sp>
        <p:nvSpPr>
          <p:cNvPr id="9" name="TextBox 8"/>
          <p:cNvSpPr txBox="1"/>
          <p:nvPr/>
        </p:nvSpPr>
        <p:spPr>
          <a:xfrm>
            <a:off x="822960" y="2103120"/>
            <a:ext cx="3017520" cy="3200400"/>
          </a:xfrm>
          <a:prstGeom prst="rect">
            <a:avLst/>
          </a:prstGeom>
          <a:noFill/>
        </p:spPr>
        <p:txBody>
          <a:bodyPr wrap="square">
            <a:spAutoFit/>
          </a:bodyPr>
          <a:lstStyle/>
          <a:p>
            <a:pPr algn="l">
              <a:spcAft>
                <a:spcPts val="519"/>
              </a:spcAft>
              <a:defRPr sz="1300" b="0">
                <a:solidFill>
                  <a:srgbClr val="75787B"/>
                </a:solidFill>
                <a:latin typeface="Calibri"/>
              </a:defRPr>
            </a:pPr>
            <a:r>
              <a:t>Experienced the full cycle:</a:t>
            </a:r>
            <a:br/>
            <a:r>
              <a:t>perception model → listening test →</a:t>
            </a:r>
            <a:br/>
            <a:r>
              <a:t>system verification → mass production.</a:t>
            </a:r>
            <a:br/>
            <a:br/>
            <a:r>
              <a:t>Research validated not only through</a:t>
            </a:r>
            <a:br/>
            <a:r>
              <a:t>peer review, but through real-world</a:t>
            </a:r>
            <a:br/>
            <a:r>
              <a:t>product deployment.</a:t>
            </a:r>
          </a:p>
        </p:txBody>
      </p:sp>
      <p:sp>
        <p:nvSpPr>
          <p:cNvPr id="10" name="Rounded Rectangle 9"/>
          <p:cNvSpPr/>
          <p:nvPr/>
        </p:nvSpPr>
        <p:spPr>
          <a:xfrm>
            <a:off x="4389120" y="1188720"/>
            <a:ext cx="3566160" cy="43891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0" y="1371600"/>
            <a:ext cx="457200" cy="457200"/>
          </a:xfrm>
          <a:prstGeom prst="round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2</a:t>
            </a:r>
          </a:p>
        </p:txBody>
      </p:sp>
      <p:sp>
        <p:nvSpPr>
          <p:cNvPr id="12" name="TextBox 11"/>
          <p:cNvSpPr txBox="1"/>
          <p:nvPr/>
        </p:nvSpPr>
        <p:spPr>
          <a:xfrm>
            <a:off x="5166360" y="1371600"/>
            <a:ext cx="2560320" cy="548640"/>
          </a:xfrm>
          <a:prstGeom prst="rect">
            <a:avLst/>
          </a:prstGeom>
          <a:noFill/>
        </p:spPr>
        <p:txBody>
          <a:bodyPr wrap="square">
            <a:spAutoFit/>
          </a:bodyPr>
          <a:lstStyle/>
          <a:p>
            <a:pPr algn="l">
              <a:spcAft>
                <a:spcPts val="150"/>
              </a:spcAft>
              <a:defRPr sz="1500" b="1">
                <a:solidFill>
                  <a:srgbClr val="0A0F1E"/>
                </a:solidFill>
                <a:latin typeface="Calibri"/>
              </a:defRPr>
            </a:pPr>
            <a:r>
              <a:t>Industry-Ready</a:t>
            </a:r>
            <a:br/>
            <a:r>
              <a:t>Research Network</a:t>
            </a:r>
          </a:p>
        </p:txBody>
      </p:sp>
      <p:sp>
        <p:nvSpPr>
          <p:cNvPr id="13" name="TextBox 12"/>
          <p:cNvSpPr txBox="1"/>
          <p:nvPr/>
        </p:nvSpPr>
        <p:spPr>
          <a:xfrm>
            <a:off x="4663440" y="2103120"/>
            <a:ext cx="3017520" cy="3200400"/>
          </a:xfrm>
          <a:prstGeom prst="rect">
            <a:avLst/>
          </a:prstGeom>
          <a:noFill/>
        </p:spPr>
        <p:txBody>
          <a:bodyPr wrap="square">
            <a:spAutoFit/>
          </a:bodyPr>
          <a:lstStyle/>
          <a:p>
            <a:pPr algn="l">
              <a:spcAft>
                <a:spcPts val="519"/>
              </a:spcAft>
              <a:defRPr sz="1300" b="0">
                <a:solidFill>
                  <a:srgbClr val="75787B"/>
                </a:solidFill>
                <a:latin typeface="Calibri"/>
              </a:defRPr>
            </a:pPr>
            <a:r>
              <a:t>Managed industry-academia joint</a:t>
            </a:r>
            <a:br/>
            <a:r>
              <a:t>research as PI from the corporate side.</a:t>
            </a:r>
            <a:br/>
            <a:br/>
            <a:r>
              <a:t>Ready to initiate joint research with</a:t>
            </a:r>
            <a:br/>
            <a:r>
              <a:t>Hyundai Motor, Samsung, and</a:t>
            </a:r>
            <a:br/>
            <a:r>
              <a:t>construction companies from Day 1.</a:t>
            </a:r>
          </a:p>
        </p:txBody>
      </p:sp>
      <p:sp>
        <p:nvSpPr>
          <p:cNvPr id="14" name="Rounded Rectangle 13"/>
          <p:cNvSpPr/>
          <p:nvPr/>
        </p:nvSpPr>
        <p:spPr>
          <a:xfrm>
            <a:off x="8229600" y="1188720"/>
            <a:ext cx="3566160" cy="43891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412480" y="1371600"/>
            <a:ext cx="457200" cy="457200"/>
          </a:xfrm>
          <a:prstGeom prst="round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3</a:t>
            </a:r>
          </a:p>
        </p:txBody>
      </p:sp>
      <p:sp>
        <p:nvSpPr>
          <p:cNvPr id="16" name="TextBox 15"/>
          <p:cNvSpPr txBox="1"/>
          <p:nvPr/>
        </p:nvSpPr>
        <p:spPr>
          <a:xfrm>
            <a:off x="9006840" y="1371600"/>
            <a:ext cx="2560320" cy="548640"/>
          </a:xfrm>
          <a:prstGeom prst="rect">
            <a:avLst/>
          </a:prstGeom>
          <a:noFill/>
        </p:spPr>
        <p:txBody>
          <a:bodyPr wrap="square">
            <a:spAutoFit/>
          </a:bodyPr>
          <a:lstStyle/>
          <a:p>
            <a:pPr algn="l">
              <a:spcAft>
                <a:spcPts val="150"/>
              </a:spcAft>
              <a:defRPr sz="1500" b="1">
                <a:solidFill>
                  <a:srgbClr val="0A0F1E"/>
                </a:solidFill>
                <a:latin typeface="Calibri"/>
              </a:defRPr>
            </a:pPr>
            <a:r>
              <a:t>Real-World Problem</a:t>
            </a:r>
            <a:br/>
            <a:r>
              <a:t>Definition</a:t>
            </a:r>
          </a:p>
        </p:txBody>
      </p:sp>
      <p:sp>
        <p:nvSpPr>
          <p:cNvPr id="17" name="TextBox 16"/>
          <p:cNvSpPr txBox="1"/>
          <p:nvPr/>
        </p:nvSpPr>
        <p:spPr>
          <a:xfrm>
            <a:off x="8503920" y="2103120"/>
            <a:ext cx="3017520" cy="3200400"/>
          </a:xfrm>
          <a:prstGeom prst="rect">
            <a:avLst/>
          </a:prstGeom>
          <a:noFill/>
        </p:spPr>
        <p:txBody>
          <a:bodyPr wrap="square">
            <a:spAutoFit/>
          </a:bodyPr>
          <a:lstStyle/>
          <a:p>
            <a:pPr algn="l">
              <a:spcAft>
                <a:spcPts val="519"/>
              </a:spcAft>
              <a:defRPr sz="1300" b="0">
                <a:solidFill>
                  <a:srgbClr val="75787B"/>
                </a:solidFill>
                <a:latin typeface="Calibri"/>
              </a:defRPr>
            </a:pPr>
            <a:r>
              <a:t>Industry problems are the best</a:t>
            </a:r>
            <a:br/>
            <a:r>
              <a:t>research questions.</a:t>
            </a:r>
            <a:br/>
            <a:br/>
            <a:r>
              <a:t>"How should AVAS sound in future</a:t>
            </a:r>
            <a:br/>
            <a:r>
              <a:t>cities?" — from the factory floor</a:t>
            </a:r>
            <a:br/>
            <a:r>
              <a:t>to a JASA paper.</a:t>
            </a:r>
          </a:p>
        </p:txBody>
      </p:sp>
      <p:sp>
        <p:nvSpPr>
          <p:cNvPr id="18" name="TextBox 17"/>
          <p:cNvSpPr txBox="1"/>
          <p:nvPr/>
        </p:nvSpPr>
        <p:spPr>
          <a:xfrm>
            <a:off x="731520" y="5852160"/>
            <a:ext cx="10698480" cy="457200"/>
          </a:xfrm>
          <a:prstGeom prst="rect">
            <a:avLst/>
          </a:prstGeom>
          <a:noFill/>
        </p:spPr>
        <p:txBody>
          <a:bodyPr wrap="square">
            <a:spAutoFit/>
          </a:bodyPr>
          <a:lstStyle/>
          <a:p>
            <a:pPr algn="ctr">
              <a:spcAft>
                <a:spcPts val="319"/>
              </a:spcAft>
              <a:defRPr sz="1600" b="1">
                <a:solidFill>
                  <a:srgbClr val="0A0F1E"/>
                </a:solidFill>
                <a:latin typeface="Calibri"/>
              </a:defRPr>
            </a:pPr>
            <a:r>
              <a:t>"This experience shaped how I define, validate, and deliver research."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TextBox 1"/>
          <p:cNvSpPr txBox="1"/>
          <p:nvPr/>
        </p:nvSpPr>
        <p:spPr>
          <a:xfrm>
            <a:off x="10972800" y="6446520"/>
            <a:ext cx="1097280" cy="320040"/>
          </a:xfrm>
          <a:prstGeom prst="rect">
            <a:avLst/>
          </a:prstGeom>
          <a:noFill/>
        </p:spPr>
        <p:txBody>
          <a:bodyPr wrap="square">
            <a:spAutoFit/>
          </a:bodyPr>
          <a:lstStyle/>
          <a:p>
            <a:pPr algn="r">
              <a:spcAft>
                <a:spcPts val="179"/>
              </a:spcAft>
              <a:defRPr sz="900" b="0">
                <a:solidFill>
                  <a:srgbClr val="888899"/>
                </a:solidFill>
                <a:latin typeface="Calibri"/>
              </a:defRPr>
            </a:pPr>
            <a:r>
              <a:t>13 / 20</a:t>
            </a:r>
          </a:p>
        </p:txBody>
      </p:sp>
      <p:sp>
        <p:nvSpPr>
          <p:cNvPr id="3" name="TextBox 2"/>
          <p:cNvSpPr txBox="1"/>
          <p:nvPr/>
        </p:nvSpPr>
        <p:spPr>
          <a:xfrm>
            <a:off x="731520" y="457200"/>
            <a:ext cx="3657600" cy="365760"/>
          </a:xfrm>
          <a:prstGeom prst="rect">
            <a:avLst/>
          </a:prstGeom>
          <a:noFill/>
        </p:spPr>
        <p:txBody>
          <a:bodyPr wrap="square">
            <a:spAutoFit/>
          </a:bodyPr>
          <a:lstStyle/>
          <a:p>
            <a:pPr algn="l">
              <a:spcAft>
                <a:spcPts val="279"/>
              </a:spcAft>
              <a:defRPr sz="1400" b="1">
                <a:solidFill>
                  <a:srgbClr val="3D7DDE"/>
                </a:solidFill>
                <a:latin typeface="Calibri"/>
              </a:defRPr>
            </a:pPr>
            <a:r>
              <a:t>FUTURE RESEARCH PLAN</a:t>
            </a:r>
          </a:p>
        </p:txBody>
      </p:sp>
      <p:sp>
        <p:nvSpPr>
          <p:cNvPr id="4" name="TextBox 3"/>
          <p:cNvSpPr txBox="1"/>
          <p:nvPr/>
        </p:nvSpPr>
        <p:spPr>
          <a:xfrm>
            <a:off x="731520" y="1371600"/>
            <a:ext cx="10058400" cy="914400"/>
          </a:xfrm>
          <a:prstGeom prst="rect">
            <a:avLst/>
          </a:prstGeom>
          <a:noFill/>
        </p:spPr>
        <p:txBody>
          <a:bodyPr wrap="square">
            <a:spAutoFit/>
          </a:bodyPr>
          <a:lstStyle/>
          <a:p>
            <a:pPr algn="l">
              <a:spcAft>
                <a:spcPts val="1039"/>
              </a:spcAft>
              <a:defRPr sz="5200" b="1">
                <a:solidFill>
                  <a:srgbClr val="FFFFFF"/>
                </a:solidFill>
                <a:latin typeface="Calibri"/>
              </a:defRPr>
            </a:pPr>
            <a:r>
              <a:t>SENSE Lab</a:t>
            </a:r>
          </a:p>
        </p:txBody>
      </p:sp>
      <p:sp>
        <p:nvSpPr>
          <p:cNvPr id="5" name="TextBox 4"/>
          <p:cNvSpPr txBox="1"/>
          <p:nvPr/>
        </p:nvSpPr>
        <p:spPr>
          <a:xfrm>
            <a:off x="731520" y="2377440"/>
            <a:ext cx="10058400" cy="457200"/>
          </a:xfrm>
          <a:prstGeom prst="rect">
            <a:avLst/>
          </a:prstGeom>
          <a:noFill/>
        </p:spPr>
        <p:txBody>
          <a:bodyPr wrap="square">
            <a:spAutoFit/>
          </a:bodyPr>
          <a:lstStyle/>
          <a:p>
            <a:pPr algn="l">
              <a:spcAft>
                <a:spcPts val="399"/>
              </a:spcAft>
              <a:defRPr sz="2000" b="0">
                <a:solidFill>
                  <a:srgbClr val="3D7DDE"/>
                </a:solidFill>
                <a:latin typeface="Calibri"/>
              </a:defRPr>
            </a:pPr>
            <a:r>
              <a:t>Sound Environment aNd Sensory Engineering Laboratory</a:t>
            </a:r>
          </a:p>
        </p:txBody>
      </p:sp>
      <p:sp>
        <p:nvSpPr>
          <p:cNvPr id="6" name="TextBox 5"/>
          <p:cNvSpPr txBox="1"/>
          <p:nvPr/>
        </p:nvSpPr>
        <p:spPr>
          <a:xfrm>
            <a:off x="731520" y="3291840"/>
            <a:ext cx="10058400" cy="457200"/>
          </a:xfrm>
          <a:prstGeom prst="rect">
            <a:avLst/>
          </a:prstGeom>
          <a:noFill/>
        </p:spPr>
        <p:txBody>
          <a:bodyPr wrap="square">
            <a:spAutoFit/>
          </a:bodyPr>
          <a:lstStyle/>
          <a:p>
            <a:pPr algn="l">
              <a:spcAft>
                <a:spcPts val="339"/>
              </a:spcAft>
              <a:defRPr sz="1700" b="0">
                <a:solidFill>
                  <a:srgbClr val="FFFFFF"/>
                </a:solidFill>
                <a:latin typeface="Calibri"/>
              </a:defRPr>
            </a:pPr>
            <a:r>
              <a:t>Completing the building environment research at Hanyang:</a:t>
            </a:r>
          </a:p>
        </p:txBody>
      </p:sp>
      <p:sp>
        <p:nvSpPr>
          <p:cNvPr id="7" name="Rounded Rectangle 6"/>
          <p:cNvSpPr/>
          <p:nvPr/>
        </p:nvSpPr>
        <p:spPr>
          <a:xfrm>
            <a:off x="731520" y="3931920"/>
            <a:ext cx="2743200" cy="1097280"/>
          </a:xfrm>
          <a:prstGeom prst="roundRect">
            <a:avLst/>
          </a:prstGeom>
          <a:solidFill>
            <a:srgbClr val="15305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defRPr>
            </a:pPr>
            <a:r>
              <a:t>Thermal</a:t>
            </a:r>
            <a:br/>
            <a:r>
              <a:t>Environment</a:t>
            </a:r>
          </a:p>
          <a:p>
            <a:pPr algn="ctr">
              <a:defRPr sz="1100">
                <a:solidFill>
                  <a:srgbClr val="3D7DDE"/>
                </a:solidFill>
              </a:defRPr>
            </a:pPr>
            <a:r>
              <a:t>(Existing)</a:t>
            </a:r>
          </a:p>
        </p:txBody>
      </p:sp>
      <p:sp>
        <p:nvSpPr>
          <p:cNvPr id="8" name="Rounded Rectangle 7"/>
          <p:cNvSpPr/>
          <p:nvPr/>
        </p:nvSpPr>
        <p:spPr>
          <a:xfrm>
            <a:off x="3931920" y="3931920"/>
            <a:ext cx="2743200" cy="1097280"/>
          </a:xfrm>
          <a:prstGeom prst="roundRect">
            <a:avLst/>
          </a:prstGeom>
          <a:solidFill>
            <a:srgbClr val="15305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defRPr>
            </a:pPr>
            <a:r>
              <a:t>Air Quality</a:t>
            </a:r>
            <a:br/>
            <a:r>
              <a:t>Environment</a:t>
            </a:r>
          </a:p>
          <a:p>
            <a:pPr algn="ctr">
              <a:defRPr sz="1100">
                <a:solidFill>
                  <a:srgbClr val="3D7DDE"/>
                </a:solidFill>
              </a:defRPr>
            </a:pPr>
            <a:r>
              <a:t>(Existing)</a:t>
            </a:r>
          </a:p>
        </p:txBody>
      </p:sp>
      <p:sp>
        <p:nvSpPr>
          <p:cNvPr id="9" name="Rounded Rectangle 8"/>
          <p:cNvSpPr/>
          <p:nvPr/>
        </p:nvSpPr>
        <p:spPr>
          <a:xfrm>
            <a:off x="7132320" y="3931920"/>
            <a:ext cx="2743200" cy="1097280"/>
          </a:xfrm>
          <a:prstGeom prst="round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defRPr>
            </a:pPr>
            <a:r>
              <a:t>Sound</a:t>
            </a:r>
            <a:br/>
            <a:r>
              <a:t>Environment</a:t>
            </a:r>
          </a:p>
          <a:p>
            <a:pPr algn="ctr">
              <a:defRPr sz="1100">
                <a:solidFill>
                  <a:srgbClr val="3D7DDE"/>
                </a:solidFill>
              </a:defRPr>
            </a:pPr>
            <a:r>
              <a:t>(SENSE Lab)</a:t>
            </a:r>
          </a:p>
        </p:txBody>
      </p:sp>
      <p:sp>
        <p:nvSpPr>
          <p:cNvPr id="10" name="TextBox 9"/>
          <p:cNvSpPr txBox="1"/>
          <p:nvPr/>
        </p:nvSpPr>
        <p:spPr>
          <a:xfrm>
            <a:off x="4114800" y="5074920"/>
            <a:ext cx="3931920" cy="320040"/>
          </a:xfrm>
          <a:prstGeom prst="rect">
            <a:avLst/>
          </a:prstGeom>
          <a:noFill/>
        </p:spPr>
        <p:txBody>
          <a:bodyPr wrap="square">
            <a:spAutoFit/>
          </a:bodyPr>
          <a:lstStyle/>
          <a:p>
            <a:pPr algn="ctr">
              <a:spcAft>
                <a:spcPts val="259"/>
              </a:spcAft>
              <a:defRPr sz="1300" b="0">
                <a:solidFill>
                  <a:srgbClr val="3D7DDE"/>
                </a:solidFill>
                <a:latin typeface="Calibri"/>
              </a:defRPr>
            </a:pPr>
            <a:r>
              <a:t>▼              ▼              ▼</a:t>
            </a:r>
          </a:p>
        </p:txBody>
      </p:sp>
      <p:sp>
        <p:nvSpPr>
          <p:cNvPr id="11" name="Rounded Rectangle 10"/>
          <p:cNvSpPr/>
          <p:nvPr/>
        </p:nvSpPr>
        <p:spPr>
          <a:xfrm>
            <a:off x="2286000" y="5394960"/>
            <a:ext cx="7589520" cy="777240"/>
          </a:xfrm>
          <a:prstGeom prst="round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Intelligent Building Environment System (IBES)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685800"/>
          </a:xfrm>
          <a:prstGeom prst="rect">
            <a:avLst/>
          </a:prstGeom>
          <a:noFill/>
        </p:spPr>
        <p:txBody>
          <a:bodyPr wrap="square">
            <a:spAutoFit/>
          </a:bodyPr>
          <a:lstStyle/>
          <a:p>
            <a:pPr algn="l">
              <a:spcAft>
                <a:spcPts val="519"/>
              </a:spcAft>
              <a:defRPr sz="2600" b="1">
                <a:solidFill>
                  <a:srgbClr val="0A0F1E"/>
                </a:solidFill>
                <a:latin typeface="Calibri"/>
              </a:defRPr>
            </a:pPr>
            <a:r>
              <a:t>Research Plan — Phase 1 &amp; Phase 2</a:t>
            </a:r>
          </a:p>
        </p:txBody>
      </p:sp>
      <p:sp>
        <p:nvSpPr>
          <p:cNvPr id="4" name="Rectangle 3"/>
          <p:cNvSpPr/>
          <p:nvPr/>
        </p:nvSpPr>
        <p:spPr>
          <a:xfrm>
            <a:off x="731520" y="868680"/>
            <a:ext cx="10698480" cy="1905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1097280" cy="320040"/>
          </a:xfrm>
          <a:prstGeom prst="rect">
            <a:avLst/>
          </a:prstGeom>
          <a:noFill/>
        </p:spPr>
        <p:txBody>
          <a:bodyPr wrap="square">
            <a:spAutoFit/>
          </a:bodyPr>
          <a:lstStyle/>
          <a:p>
            <a:pPr algn="r">
              <a:spcAft>
                <a:spcPts val="179"/>
              </a:spcAft>
              <a:defRPr sz="900" b="0">
                <a:solidFill>
                  <a:srgbClr val="888899"/>
                </a:solidFill>
                <a:latin typeface="Calibri"/>
              </a:defRPr>
            </a:pPr>
            <a:r>
              <a:t>14 / 20</a:t>
            </a:r>
          </a:p>
        </p:txBody>
      </p:sp>
      <p:sp>
        <p:nvSpPr>
          <p:cNvPr id="6" name="Rounded Rectangle 5"/>
          <p:cNvSpPr/>
          <p:nvPr/>
        </p:nvSpPr>
        <p:spPr>
          <a:xfrm>
            <a:off x="548640" y="1051560"/>
            <a:ext cx="5486400" cy="53035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143000"/>
            <a:ext cx="2743200" cy="320040"/>
          </a:xfrm>
          <a:prstGeom prst="rect">
            <a:avLst/>
          </a:prstGeom>
          <a:noFill/>
        </p:spPr>
        <p:txBody>
          <a:bodyPr wrap="square">
            <a:spAutoFit/>
          </a:bodyPr>
          <a:lstStyle/>
          <a:p>
            <a:pPr algn="l">
              <a:spcAft>
                <a:spcPts val="279"/>
              </a:spcAft>
              <a:defRPr sz="1400" b="1">
                <a:solidFill>
                  <a:srgbClr val="13289F"/>
                </a:solidFill>
                <a:latin typeface="Calibri"/>
              </a:defRPr>
            </a:pPr>
            <a:r>
              <a:t>PHASE 1  |  Year 1–3</a:t>
            </a:r>
          </a:p>
        </p:txBody>
      </p:sp>
      <p:sp>
        <p:nvSpPr>
          <p:cNvPr id="8" name="TextBox 7"/>
          <p:cNvSpPr txBox="1"/>
          <p:nvPr/>
        </p:nvSpPr>
        <p:spPr>
          <a:xfrm>
            <a:off x="731520" y="1508760"/>
            <a:ext cx="5029200" cy="548640"/>
          </a:xfrm>
          <a:prstGeom prst="rect">
            <a:avLst/>
          </a:prstGeom>
          <a:noFill/>
        </p:spPr>
        <p:txBody>
          <a:bodyPr wrap="square">
            <a:spAutoFit/>
          </a:bodyPr>
          <a:lstStyle/>
          <a:p>
            <a:pPr algn="l">
              <a:spcAft>
                <a:spcPts val="180"/>
              </a:spcAft>
              <a:defRPr sz="1800" b="1">
                <a:solidFill>
                  <a:srgbClr val="0A0F1E"/>
                </a:solidFill>
                <a:latin typeface="Calibri"/>
              </a:defRPr>
            </a:pPr>
            <a:r>
              <a:t>AI-driven Building Acoustic</a:t>
            </a:r>
            <a:br/>
            <a:r>
              <a:t>Environment Diagnosis</a:t>
            </a:r>
          </a:p>
        </p:txBody>
      </p:sp>
      <p:sp>
        <p:nvSpPr>
          <p:cNvPr id="9" name="TextBox 8"/>
          <p:cNvSpPr txBox="1"/>
          <p:nvPr/>
        </p:nvSpPr>
        <p:spPr>
          <a:xfrm>
            <a:off x="731520" y="2286000"/>
            <a:ext cx="5029200" cy="3657600"/>
          </a:xfrm>
          <a:prstGeom prst="rect">
            <a:avLst/>
          </a:prstGeom>
          <a:noFill/>
        </p:spPr>
        <p:txBody>
          <a:bodyPr wrap="square">
            <a:spAutoFit/>
          </a:bodyPr>
          <a:lstStyle/>
          <a:p>
            <a:pPr algn="l">
              <a:spcAft>
                <a:spcPts val="300"/>
              </a:spcAft>
              <a:defRPr sz="1200" b="0">
                <a:solidFill>
                  <a:srgbClr val="1A1A2E"/>
                </a:solidFill>
                <a:latin typeface="Calibri"/>
              </a:defRPr>
            </a:pPr>
            <a:r>
              <a:t>① IoT acoustic sensor network for indoor/outdoor</a:t>
            </a:r>
            <a:br/>
            <a:r>
              <a:t>    sound environment monitoring</a:t>
            </a:r>
          </a:p>
          <a:p>
            <a:pPr algn="l">
              <a:spcBef>
                <a:spcPts val="0"/>
              </a:spcBef>
              <a:spcAft>
                <a:spcPts val="100"/>
              </a:spcAft>
              <a:defRPr sz="1200" b="0">
                <a:solidFill>
                  <a:srgbClr val="1A1A2E"/>
                </a:solidFill>
                <a:latin typeface="Calibri"/>
              </a:defRPr>
            </a:pPr>
            <a:r>
              <a:t>② ML-based sound environment auto-classification</a:t>
            </a:r>
            <a:br/>
            <a:r>
              <a:t>    and anomaly detection</a:t>
            </a:r>
          </a:p>
          <a:p>
            <a:pPr algn="l">
              <a:spcBef>
                <a:spcPts val="0"/>
              </a:spcBef>
              <a:spcAft>
                <a:spcPts val="100"/>
              </a:spcAft>
              <a:defRPr sz="1200" b="0">
                <a:solidFill>
                  <a:srgbClr val="1A1A2E"/>
                </a:solidFill>
                <a:latin typeface="Calibri"/>
              </a:defRPr>
            </a:pPr>
            <a:r>
              <a:t>③ VR simulation platform for design-stage</a:t>
            </a:r>
            <a:br/>
            <a:r>
              <a:t>    acoustic previewing</a:t>
            </a:r>
          </a:p>
          <a:p>
            <a:pPr algn="l">
              <a:spcBef>
                <a:spcPts val="0"/>
              </a:spcBef>
              <a:spcAft>
                <a:spcPts val="100"/>
              </a:spcAft>
              <a:defRPr sz="1200" b="0">
                <a:solidFill>
                  <a:srgbClr val="1A1A2E"/>
                </a:solidFill>
                <a:latin typeface="Calibri"/>
              </a:defRPr>
            </a:pPr>
          </a:p>
          <a:p>
            <a:pPr algn="l">
              <a:spcBef>
                <a:spcPts val="0"/>
              </a:spcBef>
              <a:spcAft>
                <a:spcPts val="100"/>
              </a:spcAft>
              <a:defRPr sz="1200" b="1">
                <a:solidFill>
                  <a:srgbClr val="0A0F1E"/>
                </a:solidFill>
                <a:latin typeface="Calibri"/>
              </a:defRPr>
            </a:pPr>
            <a:r>
              <a:t>Target Funding:</a:t>
            </a:r>
          </a:p>
          <a:p>
            <a:pPr algn="l">
              <a:spcBef>
                <a:spcPts val="0"/>
              </a:spcBef>
              <a:spcAft>
                <a:spcPts val="100"/>
              </a:spcAft>
              <a:defRPr sz="1200" b="0">
                <a:solidFill>
                  <a:srgbClr val="13289F"/>
                </a:solidFill>
                <a:latin typeface="Calibri"/>
              </a:defRPr>
            </a:pPr>
            <a:r>
              <a:t>  •  NRF Young/Mid-career (₩200–300M/yr)</a:t>
            </a:r>
          </a:p>
          <a:p>
            <a:pPr algn="l">
              <a:spcBef>
                <a:spcPts val="0"/>
              </a:spcBef>
              <a:spcAft>
                <a:spcPts val="100"/>
              </a:spcAft>
              <a:defRPr sz="1200" b="0">
                <a:solidFill>
                  <a:srgbClr val="13289F"/>
                </a:solidFill>
                <a:latin typeface="Calibri"/>
              </a:defRPr>
            </a:pPr>
            <a:r>
              <a:t>  •  MSIT Smart City Program</a:t>
            </a:r>
          </a:p>
          <a:p>
            <a:pPr algn="l">
              <a:spcBef>
                <a:spcPts val="0"/>
              </a:spcBef>
              <a:spcAft>
                <a:spcPts val="100"/>
              </a:spcAft>
              <a:defRPr sz="1200" b="0">
                <a:solidFill>
                  <a:srgbClr val="13289F"/>
                </a:solidFill>
                <a:latin typeface="Calibri"/>
              </a:defRPr>
            </a:pPr>
            <a:r>
              <a:t>  •  Hyundai Motor joint research</a:t>
            </a:r>
          </a:p>
          <a:p>
            <a:pPr algn="l">
              <a:spcBef>
                <a:spcPts val="0"/>
              </a:spcBef>
              <a:spcAft>
                <a:spcPts val="100"/>
              </a:spcAft>
              <a:defRPr sz="1200" b="0">
                <a:solidFill>
                  <a:srgbClr val="1A1A2E"/>
                </a:solidFill>
                <a:latin typeface="Calibri"/>
              </a:defRPr>
            </a:pPr>
          </a:p>
          <a:p>
            <a:pPr algn="l">
              <a:spcBef>
                <a:spcPts val="0"/>
              </a:spcBef>
              <a:spcAft>
                <a:spcPts val="100"/>
              </a:spcAft>
              <a:defRPr sz="1200" b="1">
                <a:solidFill>
                  <a:srgbClr val="0A0F1E"/>
                </a:solidFill>
                <a:latin typeface="Calibri"/>
              </a:defRPr>
            </a:pPr>
            <a:r>
              <a:t>Output: 3–4 SCI/yr, 3–4 graduate students</a:t>
            </a:r>
          </a:p>
        </p:txBody>
      </p:sp>
      <p:sp>
        <p:nvSpPr>
          <p:cNvPr id="10" name="Rounded Rectangle 9"/>
          <p:cNvSpPr/>
          <p:nvPr/>
        </p:nvSpPr>
        <p:spPr>
          <a:xfrm>
            <a:off x="6217920" y="1051560"/>
            <a:ext cx="5486400" cy="53035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143000"/>
            <a:ext cx="2743200" cy="320040"/>
          </a:xfrm>
          <a:prstGeom prst="rect">
            <a:avLst/>
          </a:prstGeom>
          <a:noFill/>
        </p:spPr>
        <p:txBody>
          <a:bodyPr wrap="square">
            <a:spAutoFit/>
          </a:bodyPr>
          <a:lstStyle/>
          <a:p>
            <a:pPr algn="l">
              <a:spcAft>
                <a:spcPts val="279"/>
              </a:spcAft>
              <a:defRPr sz="1400" b="1">
                <a:solidFill>
                  <a:srgbClr val="13289F"/>
                </a:solidFill>
                <a:latin typeface="Calibri"/>
              </a:defRPr>
            </a:pPr>
            <a:r>
              <a:t>PHASE 2  |  Year 3–5</a:t>
            </a:r>
          </a:p>
        </p:txBody>
      </p:sp>
      <p:sp>
        <p:nvSpPr>
          <p:cNvPr id="12" name="TextBox 11"/>
          <p:cNvSpPr txBox="1"/>
          <p:nvPr/>
        </p:nvSpPr>
        <p:spPr>
          <a:xfrm>
            <a:off x="6400800" y="1508760"/>
            <a:ext cx="5029200" cy="548640"/>
          </a:xfrm>
          <a:prstGeom prst="rect">
            <a:avLst/>
          </a:prstGeom>
          <a:noFill/>
        </p:spPr>
        <p:txBody>
          <a:bodyPr wrap="square">
            <a:spAutoFit/>
          </a:bodyPr>
          <a:lstStyle/>
          <a:p>
            <a:pPr algn="l">
              <a:spcAft>
                <a:spcPts val="180"/>
              </a:spcAft>
              <a:defRPr sz="1800" b="1">
                <a:solidFill>
                  <a:srgbClr val="0A0F1E"/>
                </a:solidFill>
                <a:latin typeface="Calibri"/>
              </a:defRPr>
            </a:pPr>
            <a:r>
              <a:t>Mobility-Urban Sound</a:t>
            </a:r>
            <a:br/>
            <a:r>
              <a:t>Environment Interaction</a:t>
            </a:r>
          </a:p>
        </p:txBody>
      </p:sp>
      <p:sp>
        <p:nvSpPr>
          <p:cNvPr id="13" name="TextBox 12"/>
          <p:cNvSpPr txBox="1"/>
          <p:nvPr/>
        </p:nvSpPr>
        <p:spPr>
          <a:xfrm>
            <a:off x="6400800" y="2286000"/>
            <a:ext cx="5029200" cy="3657600"/>
          </a:xfrm>
          <a:prstGeom prst="rect">
            <a:avLst/>
          </a:prstGeom>
          <a:noFill/>
        </p:spPr>
        <p:txBody>
          <a:bodyPr wrap="square">
            <a:spAutoFit/>
          </a:bodyPr>
          <a:lstStyle/>
          <a:p>
            <a:pPr algn="l">
              <a:spcAft>
                <a:spcPts val="300"/>
              </a:spcAft>
              <a:defRPr sz="1200" b="0">
                <a:solidFill>
                  <a:srgbClr val="1A1A2E"/>
                </a:solidFill>
                <a:latin typeface="Calibri"/>
              </a:defRPr>
            </a:pPr>
            <a:r>
              <a:t>① Long-term urban sound environment monitoring</a:t>
            </a:r>
            <a:br/>
            <a:r>
              <a:t>    in the EV transition era</a:t>
            </a:r>
          </a:p>
          <a:p>
            <a:pPr algn="l">
              <a:spcBef>
                <a:spcPts val="0"/>
              </a:spcBef>
              <a:spcAft>
                <a:spcPts val="100"/>
              </a:spcAft>
              <a:defRPr sz="1200" b="0">
                <a:solidFill>
                  <a:srgbClr val="1A1A2E"/>
                </a:solidFill>
                <a:latin typeface="Calibri"/>
              </a:defRPr>
            </a:pPr>
            <a:r>
              <a:t>② AVAS + urban soundscape integrated design</a:t>
            </a:r>
            <a:br/>
            <a:r>
              <a:t>    framework and guidelines</a:t>
            </a:r>
          </a:p>
          <a:p>
            <a:pPr algn="l">
              <a:spcBef>
                <a:spcPts val="0"/>
              </a:spcBef>
              <a:spcAft>
                <a:spcPts val="100"/>
              </a:spcAft>
              <a:defRPr sz="1200" b="0">
                <a:solidFill>
                  <a:srgbClr val="1A1A2E"/>
                </a:solidFill>
                <a:latin typeface="Calibri"/>
              </a:defRPr>
            </a:pPr>
            <a:r>
              <a:t>③ Digital twin-based sound environment</a:t>
            </a:r>
            <a:br/>
            <a:r>
              <a:t>    prediction and simulation</a:t>
            </a:r>
          </a:p>
          <a:p>
            <a:pPr algn="l">
              <a:spcBef>
                <a:spcPts val="0"/>
              </a:spcBef>
              <a:spcAft>
                <a:spcPts val="100"/>
              </a:spcAft>
              <a:defRPr sz="1200" b="0">
                <a:solidFill>
                  <a:srgbClr val="1A1A2E"/>
                </a:solidFill>
                <a:latin typeface="Calibri"/>
              </a:defRPr>
            </a:pPr>
          </a:p>
          <a:p>
            <a:pPr algn="l">
              <a:spcBef>
                <a:spcPts val="0"/>
              </a:spcBef>
              <a:spcAft>
                <a:spcPts val="100"/>
              </a:spcAft>
              <a:defRPr sz="1200" b="1">
                <a:solidFill>
                  <a:srgbClr val="0A0F1E"/>
                </a:solidFill>
                <a:latin typeface="Calibri"/>
              </a:defRPr>
            </a:pPr>
            <a:r>
              <a:t>Target Funding:</a:t>
            </a:r>
          </a:p>
          <a:p>
            <a:pPr algn="l">
              <a:spcBef>
                <a:spcPts val="0"/>
              </a:spcBef>
              <a:spcAft>
                <a:spcPts val="100"/>
              </a:spcAft>
              <a:defRPr sz="1200" b="0">
                <a:solidFill>
                  <a:srgbClr val="13289F"/>
                </a:solidFill>
                <a:latin typeface="Calibri"/>
              </a:defRPr>
            </a:pPr>
            <a:r>
              <a:t>  •  NRF Leading Research Center (₩500–1B/yr)</a:t>
            </a:r>
          </a:p>
          <a:p>
            <a:pPr algn="l">
              <a:spcBef>
                <a:spcPts val="0"/>
              </a:spcBef>
              <a:spcAft>
                <a:spcPts val="100"/>
              </a:spcAft>
              <a:defRPr sz="1200" b="0">
                <a:solidFill>
                  <a:srgbClr val="13289F"/>
                </a:solidFill>
                <a:latin typeface="Calibri"/>
              </a:defRPr>
            </a:pPr>
            <a:r>
              <a:t>  •  MOLIT / MOE urban noise policy</a:t>
            </a:r>
          </a:p>
          <a:p>
            <a:pPr algn="l">
              <a:spcBef>
                <a:spcPts val="0"/>
              </a:spcBef>
              <a:spcAft>
                <a:spcPts val="100"/>
              </a:spcAft>
              <a:defRPr sz="1200" b="0">
                <a:solidFill>
                  <a:srgbClr val="13289F"/>
                </a:solidFill>
                <a:latin typeface="Calibri"/>
              </a:defRPr>
            </a:pPr>
            <a:r>
              <a:t>  •  Samsung — Spatial Audio R&amp;D</a:t>
            </a:r>
          </a:p>
          <a:p>
            <a:pPr algn="l">
              <a:spcBef>
                <a:spcPts val="0"/>
              </a:spcBef>
              <a:spcAft>
                <a:spcPts val="100"/>
              </a:spcAft>
              <a:defRPr sz="1200" b="0">
                <a:solidFill>
                  <a:srgbClr val="1A1A2E"/>
                </a:solidFill>
                <a:latin typeface="Calibri"/>
              </a:defRPr>
            </a:pPr>
          </a:p>
          <a:p>
            <a:pPr algn="l">
              <a:spcBef>
                <a:spcPts val="0"/>
              </a:spcBef>
              <a:spcAft>
                <a:spcPts val="100"/>
              </a:spcAft>
              <a:defRPr sz="1200" b="1">
                <a:solidFill>
                  <a:srgbClr val="0A0F1E"/>
                </a:solidFill>
                <a:latin typeface="Calibri"/>
              </a:defRPr>
            </a:pPr>
            <a:r>
              <a:t>Output: ISO standard, 6–8 students, post-doc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685800"/>
          </a:xfrm>
          <a:prstGeom prst="rect">
            <a:avLst/>
          </a:prstGeom>
          <a:noFill/>
        </p:spPr>
        <p:txBody>
          <a:bodyPr wrap="square">
            <a:spAutoFit/>
          </a:bodyPr>
          <a:lstStyle/>
          <a:p>
            <a:pPr algn="l">
              <a:spcAft>
                <a:spcPts val="519"/>
              </a:spcAft>
              <a:defRPr sz="2600" b="1">
                <a:solidFill>
                  <a:srgbClr val="0A0F1E"/>
                </a:solidFill>
                <a:latin typeface="Calibri"/>
              </a:defRPr>
            </a:pPr>
            <a:r>
              <a:t>Research Plan — Phase 3 &amp; Funding Strategy</a:t>
            </a:r>
          </a:p>
        </p:txBody>
      </p:sp>
      <p:sp>
        <p:nvSpPr>
          <p:cNvPr id="4" name="Rectangle 3"/>
          <p:cNvSpPr/>
          <p:nvPr/>
        </p:nvSpPr>
        <p:spPr>
          <a:xfrm>
            <a:off x="731520" y="868680"/>
            <a:ext cx="10698480" cy="1905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1097280" cy="320040"/>
          </a:xfrm>
          <a:prstGeom prst="rect">
            <a:avLst/>
          </a:prstGeom>
          <a:noFill/>
        </p:spPr>
        <p:txBody>
          <a:bodyPr wrap="square">
            <a:spAutoFit/>
          </a:bodyPr>
          <a:lstStyle/>
          <a:p>
            <a:pPr algn="r">
              <a:spcAft>
                <a:spcPts val="179"/>
              </a:spcAft>
              <a:defRPr sz="900" b="0">
                <a:solidFill>
                  <a:srgbClr val="888899"/>
                </a:solidFill>
                <a:latin typeface="Calibri"/>
              </a:defRPr>
            </a:pPr>
            <a:r>
              <a:t>15 / 20</a:t>
            </a:r>
          </a:p>
        </p:txBody>
      </p:sp>
      <p:sp>
        <p:nvSpPr>
          <p:cNvPr id="6" name="TextBox 5"/>
          <p:cNvSpPr txBox="1"/>
          <p:nvPr/>
        </p:nvSpPr>
        <p:spPr>
          <a:xfrm>
            <a:off x="731520" y="1097280"/>
            <a:ext cx="2286000" cy="320040"/>
          </a:xfrm>
          <a:prstGeom prst="rect">
            <a:avLst/>
          </a:prstGeom>
          <a:noFill/>
        </p:spPr>
        <p:txBody>
          <a:bodyPr wrap="square">
            <a:spAutoFit/>
          </a:bodyPr>
          <a:lstStyle/>
          <a:p>
            <a:pPr algn="l">
              <a:spcAft>
                <a:spcPts val="279"/>
              </a:spcAft>
              <a:defRPr sz="1400" b="1">
                <a:solidFill>
                  <a:srgbClr val="13289F"/>
                </a:solidFill>
                <a:latin typeface="Calibri"/>
              </a:defRPr>
            </a:pPr>
            <a:r>
              <a:t>PHASE 3  |  Year 5+</a:t>
            </a:r>
          </a:p>
        </p:txBody>
      </p:sp>
      <p:sp>
        <p:nvSpPr>
          <p:cNvPr id="7" name="TextBox 6"/>
          <p:cNvSpPr txBox="1"/>
          <p:nvPr/>
        </p:nvSpPr>
        <p:spPr>
          <a:xfrm>
            <a:off x="731520" y="1417320"/>
            <a:ext cx="5486400" cy="457200"/>
          </a:xfrm>
          <a:prstGeom prst="rect">
            <a:avLst/>
          </a:prstGeom>
          <a:noFill/>
        </p:spPr>
        <p:txBody>
          <a:bodyPr wrap="square">
            <a:spAutoFit/>
          </a:bodyPr>
          <a:lstStyle/>
          <a:p>
            <a:pPr algn="l">
              <a:spcAft>
                <a:spcPts val="359"/>
              </a:spcAft>
              <a:defRPr sz="1800" b="1">
                <a:solidFill>
                  <a:srgbClr val="0A0F1E"/>
                </a:solidFill>
                <a:latin typeface="Calibri"/>
              </a:defRPr>
            </a:pPr>
            <a:r>
              <a:t>Multi-modal Intelligent Building Env. Platform</a:t>
            </a:r>
          </a:p>
        </p:txBody>
      </p:sp>
      <p:sp>
        <p:nvSpPr>
          <p:cNvPr id="8" name="TextBox 7"/>
          <p:cNvSpPr txBox="1"/>
          <p:nvPr/>
        </p:nvSpPr>
        <p:spPr>
          <a:xfrm>
            <a:off x="731520" y="1920240"/>
            <a:ext cx="5669280" cy="2286000"/>
          </a:xfrm>
          <a:prstGeom prst="rect">
            <a:avLst/>
          </a:prstGeom>
          <a:noFill/>
        </p:spPr>
        <p:txBody>
          <a:bodyPr wrap="square">
            <a:spAutoFit/>
          </a:bodyPr>
          <a:lstStyle/>
          <a:p>
            <a:pPr algn="l">
              <a:spcAft>
                <a:spcPts val="390"/>
              </a:spcAft>
              <a:defRPr sz="1300" b="0">
                <a:solidFill>
                  <a:srgbClr val="1A1A2E"/>
                </a:solidFill>
                <a:latin typeface="Calibri"/>
              </a:defRPr>
            </a:pPr>
            <a:r>
              <a:t>① Integrated sensing &amp; control: Sound + Thermal + Air Quality</a:t>
            </a:r>
          </a:p>
          <a:p>
            <a:pPr algn="l">
              <a:spcBef>
                <a:spcPts val="0"/>
              </a:spcBef>
              <a:spcAft>
                <a:spcPts val="200"/>
              </a:spcAft>
              <a:defRPr sz="1300" b="0">
                <a:solidFill>
                  <a:srgbClr val="13289F"/>
                </a:solidFill>
                <a:latin typeface="Calibri"/>
              </a:defRPr>
            </a:pPr>
            <a:r>
              <a:t>   → Joint research with existing Hanyang AE faculty</a:t>
            </a:r>
          </a:p>
          <a:p>
            <a:pPr algn="l">
              <a:spcBef>
                <a:spcPts val="0"/>
              </a:spcBef>
              <a:spcAft>
                <a:spcPts val="200"/>
              </a:spcAft>
              <a:defRPr sz="1300" b="0">
                <a:solidFill>
                  <a:srgbClr val="1A1A2E"/>
                </a:solidFill>
                <a:latin typeface="Calibri"/>
              </a:defRPr>
            </a:pPr>
            <a:r>
              <a:t>② Human-centered building environment optimization</a:t>
            </a:r>
          </a:p>
          <a:p>
            <a:pPr algn="l">
              <a:spcBef>
                <a:spcPts val="0"/>
              </a:spcBef>
              <a:spcAft>
                <a:spcPts val="200"/>
              </a:spcAft>
              <a:defRPr sz="1300" b="0">
                <a:solidFill>
                  <a:srgbClr val="13289F"/>
                </a:solidFill>
                <a:latin typeface="Calibri"/>
              </a:defRPr>
            </a:pPr>
            <a:r>
              <a:t>   → Wellness, productivity, energy efficiency simultaneously</a:t>
            </a:r>
          </a:p>
          <a:p>
            <a:pPr algn="l">
              <a:spcBef>
                <a:spcPts val="0"/>
              </a:spcBef>
              <a:spcAft>
                <a:spcPts val="200"/>
              </a:spcAft>
              <a:defRPr sz="1300" b="0">
                <a:solidFill>
                  <a:srgbClr val="1A1A2E"/>
                </a:solidFill>
                <a:latin typeface="Calibri"/>
              </a:defRPr>
            </a:pPr>
            <a:r>
              <a:t>③ International research hub (UCL / RWTH / Sorbonne)</a:t>
            </a:r>
          </a:p>
          <a:p>
            <a:pPr algn="l">
              <a:spcBef>
                <a:spcPts val="0"/>
              </a:spcBef>
              <a:spcAft>
                <a:spcPts val="200"/>
              </a:spcAft>
              <a:defRPr sz="1300" b="0">
                <a:solidFill>
                  <a:srgbClr val="13289F"/>
                </a:solidFill>
                <a:latin typeface="Calibri"/>
              </a:defRPr>
            </a:pPr>
            <a:r>
              <a:t>   → ISO 12913 standard expansion and leadership</a:t>
            </a:r>
          </a:p>
        </p:txBody>
      </p:sp>
      <p:sp>
        <p:nvSpPr>
          <p:cNvPr id="9" name="TextBox 8"/>
          <p:cNvSpPr txBox="1"/>
          <p:nvPr/>
        </p:nvSpPr>
        <p:spPr>
          <a:xfrm>
            <a:off x="6583680" y="1097280"/>
            <a:ext cx="4846320" cy="365760"/>
          </a:xfrm>
          <a:prstGeom prst="rect">
            <a:avLst/>
          </a:prstGeom>
          <a:noFill/>
        </p:spPr>
        <p:txBody>
          <a:bodyPr wrap="square">
            <a:spAutoFit/>
          </a:bodyPr>
          <a:lstStyle/>
          <a:p>
            <a:pPr algn="l">
              <a:spcAft>
                <a:spcPts val="339"/>
              </a:spcAft>
              <a:defRPr sz="1700" b="1">
                <a:solidFill>
                  <a:srgbClr val="0A0F1E"/>
                </a:solidFill>
                <a:latin typeface="Calibri"/>
              </a:defRPr>
            </a:pPr>
            <a:r>
              <a:t>Funding Roadmap</a:t>
            </a:r>
          </a:p>
        </p:txBody>
      </p:sp>
      <p:sp>
        <p:nvSpPr>
          <p:cNvPr id="10" name="Rounded Rectangle 9"/>
          <p:cNvSpPr/>
          <p:nvPr/>
        </p:nvSpPr>
        <p:spPr>
          <a:xfrm>
            <a:off x="6583680" y="1645920"/>
            <a:ext cx="4846320" cy="8686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1719072"/>
            <a:ext cx="1371600" cy="320040"/>
          </a:xfrm>
          <a:prstGeom prst="rect">
            <a:avLst/>
          </a:prstGeom>
          <a:noFill/>
        </p:spPr>
        <p:txBody>
          <a:bodyPr wrap="square">
            <a:spAutoFit/>
          </a:bodyPr>
          <a:lstStyle/>
          <a:p>
            <a:pPr algn="l">
              <a:spcAft>
                <a:spcPts val="259"/>
              </a:spcAft>
              <a:defRPr sz="1300" b="1">
                <a:solidFill>
                  <a:srgbClr val="0A0F1E"/>
                </a:solidFill>
                <a:latin typeface="Calibri"/>
              </a:defRPr>
            </a:pPr>
            <a:r>
              <a:t>Year 1–2</a:t>
            </a:r>
          </a:p>
        </p:txBody>
      </p:sp>
      <p:sp>
        <p:nvSpPr>
          <p:cNvPr id="12" name="TextBox 11"/>
          <p:cNvSpPr txBox="1"/>
          <p:nvPr/>
        </p:nvSpPr>
        <p:spPr>
          <a:xfrm>
            <a:off x="8412480" y="1719072"/>
            <a:ext cx="1371600" cy="320040"/>
          </a:xfrm>
          <a:prstGeom prst="rect">
            <a:avLst/>
          </a:prstGeom>
          <a:noFill/>
        </p:spPr>
        <p:txBody>
          <a:bodyPr wrap="square">
            <a:spAutoFit/>
          </a:bodyPr>
          <a:lstStyle/>
          <a:p>
            <a:pPr algn="l">
              <a:spcAft>
                <a:spcPts val="259"/>
              </a:spcAft>
              <a:defRPr sz="1300" b="1">
                <a:solidFill>
                  <a:srgbClr val="13289F"/>
                </a:solidFill>
                <a:latin typeface="Calibri"/>
              </a:defRPr>
            </a:pPr>
            <a:r>
              <a:t>~₩400M/yr</a:t>
            </a:r>
          </a:p>
        </p:txBody>
      </p:sp>
      <p:sp>
        <p:nvSpPr>
          <p:cNvPr id="13" name="TextBox 12"/>
          <p:cNvSpPr txBox="1"/>
          <p:nvPr/>
        </p:nvSpPr>
        <p:spPr>
          <a:xfrm>
            <a:off x="6858000" y="2011680"/>
            <a:ext cx="4389120" cy="411480"/>
          </a:xfrm>
          <a:prstGeom prst="rect">
            <a:avLst/>
          </a:prstGeom>
          <a:noFill/>
        </p:spPr>
        <p:txBody>
          <a:bodyPr wrap="square">
            <a:spAutoFit/>
          </a:bodyPr>
          <a:lstStyle/>
          <a:p>
            <a:pPr algn="l">
              <a:spcAft>
                <a:spcPts val="219"/>
              </a:spcAft>
              <a:defRPr sz="1100" b="0">
                <a:solidFill>
                  <a:srgbClr val="75787B"/>
                </a:solidFill>
                <a:latin typeface="Calibri"/>
              </a:defRPr>
            </a:pPr>
            <a:r>
              <a:t>NRF Young Researcher + Hyundai joint</a:t>
            </a:r>
          </a:p>
        </p:txBody>
      </p:sp>
      <p:sp>
        <p:nvSpPr>
          <p:cNvPr id="14" name="Rounded Rectangle 13"/>
          <p:cNvSpPr/>
          <p:nvPr/>
        </p:nvSpPr>
        <p:spPr>
          <a:xfrm>
            <a:off x="6583680" y="2743200"/>
            <a:ext cx="4846320" cy="8686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0" y="2816352"/>
            <a:ext cx="1371600" cy="320040"/>
          </a:xfrm>
          <a:prstGeom prst="rect">
            <a:avLst/>
          </a:prstGeom>
          <a:noFill/>
        </p:spPr>
        <p:txBody>
          <a:bodyPr wrap="square">
            <a:spAutoFit/>
          </a:bodyPr>
          <a:lstStyle/>
          <a:p>
            <a:pPr algn="l">
              <a:spcAft>
                <a:spcPts val="259"/>
              </a:spcAft>
              <a:defRPr sz="1300" b="1">
                <a:solidFill>
                  <a:srgbClr val="0A0F1E"/>
                </a:solidFill>
                <a:latin typeface="Calibri"/>
              </a:defRPr>
            </a:pPr>
            <a:r>
              <a:t>Year 3–4</a:t>
            </a:r>
          </a:p>
        </p:txBody>
      </p:sp>
      <p:sp>
        <p:nvSpPr>
          <p:cNvPr id="16" name="TextBox 15"/>
          <p:cNvSpPr txBox="1"/>
          <p:nvPr/>
        </p:nvSpPr>
        <p:spPr>
          <a:xfrm>
            <a:off x="8412480" y="2816352"/>
            <a:ext cx="1371600" cy="320040"/>
          </a:xfrm>
          <a:prstGeom prst="rect">
            <a:avLst/>
          </a:prstGeom>
          <a:noFill/>
        </p:spPr>
        <p:txBody>
          <a:bodyPr wrap="square">
            <a:spAutoFit/>
          </a:bodyPr>
          <a:lstStyle/>
          <a:p>
            <a:pPr algn="l">
              <a:spcAft>
                <a:spcPts val="259"/>
              </a:spcAft>
              <a:defRPr sz="1300" b="1">
                <a:solidFill>
                  <a:srgbClr val="13289F"/>
                </a:solidFill>
                <a:latin typeface="Calibri"/>
              </a:defRPr>
            </a:pPr>
            <a:r>
              <a:t>~₩700M/yr</a:t>
            </a:r>
          </a:p>
        </p:txBody>
      </p:sp>
      <p:sp>
        <p:nvSpPr>
          <p:cNvPr id="17" name="TextBox 16"/>
          <p:cNvSpPr txBox="1"/>
          <p:nvPr/>
        </p:nvSpPr>
        <p:spPr>
          <a:xfrm>
            <a:off x="6858000" y="3108960"/>
            <a:ext cx="4389120" cy="411480"/>
          </a:xfrm>
          <a:prstGeom prst="rect">
            <a:avLst/>
          </a:prstGeom>
          <a:noFill/>
        </p:spPr>
        <p:txBody>
          <a:bodyPr wrap="square">
            <a:spAutoFit/>
          </a:bodyPr>
          <a:lstStyle/>
          <a:p>
            <a:pPr algn="l">
              <a:spcAft>
                <a:spcPts val="219"/>
              </a:spcAft>
              <a:defRPr sz="1100" b="0">
                <a:solidFill>
                  <a:srgbClr val="75787B"/>
                </a:solidFill>
                <a:latin typeface="Calibri"/>
              </a:defRPr>
            </a:pPr>
            <a:r>
              <a:t>NRF Mid-career + MOLIT + Industry ×3</a:t>
            </a:r>
          </a:p>
        </p:txBody>
      </p:sp>
      <p:sp>
        <p:nvSpPr>
          <p:cNvPr id="18" name="Rounded Rectangle 17"/>
          <p:cNvSpPr/>
          <p:nvPr/>
        </p:nvSpPr>
        <p:spPr>
          <a:xfrm>
            <a:off x="6583680" y="3840480"/>
            <a:ext cx="4846320" cy="8686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3913632"/>
            <a:ext cx="1371600" cy="320040"/>
          </a:xfrm>
          <a:prstGeom prst="rect">
            <a:avLst/>
          </a:prstGeom>
          <a:noFill/>
        </p:spPr>
        <p:txBody>
          <a:bodyPr wrap="square">
            <a:spAutoFit/>
          </a:bodyPr>
          <a:lstStyle/>
          <a:p>
            <a:pPr algn="l">
              <a:spcAft>
                <a:spcPts val="259"/>
              </a:spcAft>
              <a:defRPr sz="1300" b="1">
                <a:solidFill>
                  <a:srgbClr val="0A0F1E"/>
                </a:solidFill>
                <a:latin typeface="Calibri"/>
              </a:defRPr>
            </a:pPr>
            <a:r>
              <a:t>Year 5+</a:t>
            </a:r>
          </a:p>
        </p:txBody>
      </p:sp>
      <p:sp>
        <p:nvSpPr>
          <p:cNvPr id="20" name="TextBox 19"/>
          <p:cNvSpPr txBox="1"/>
          <p:nvPr/>
        </p:nvSpPr>
        <p:spPr>
          <a:xfrm>
            <a:off x="8412480" y="3913632"/>
            <a:ext cx="1371600" cy="320040"/>
          </a:xfrm>
          <a:prstGeom prst="rect">
            <a:avLst/>
          </a:prstGeom>
          <a:noFill/>
        </p:spPr>
        <p:txBody>
          <a:bodyPr wrap="square">
            <a:spAutoFit/>
          </a:bodyPr>
          <a:lstStyle/>
          <a:p>
            <a:pPr algn="l">
              <a:spcAft>
                <a:spcPts val="259"/>
              </a:spcAft>
              <a:defRPr sz="1300" b="1">
                <a:solidFill>
                  <a:srgbClr val="13289F"/>
                </a:solidFill>
                <a:latin typeface="Calibri"/>
              </a:defRPr>
            </a:pPr>
            <a:r>
              <a:t>~₩1B+/yr</a:t>
            </a:r>
          </a:p>
        </p:txBody>
      </p:sp>
      <p:sp>
        <p:nvSpPr>
          <p:cNvPr id="21" name="TextBox 20"/>
          <p:cNvSpPr txBox="1"/>
          <p:nvPr/>
        </p:nvSpPr>
        <p:spPr>
          <a:xfrm>
            <a:off x="6858000" y="4206240"/>
            <a:ext cx="4389120" cy="411480"/>
          </a:xfrm>
          <a:prstGeom prst="rect">
            <a:avLst/>
          </a:prstGeom>
          <a:noFill/>
        </p:spPr>
        <p:txBody>
          <a:bodyPr wrap="square">
            <a:spAutoFit/>
          </a:bodyPr>
          <a:lstStyle/>
          <a:p>
            <a:pPr algn="l">
              <a:spcAft>
                <a:spcPts val="219"/>
              </a:spcAft>
              <a:defRPr sz="1100" b="0">
                <a:solidFill>
                  <a:srgbClr val="75787B"/>
                </a:solidFill>
                <a:latin typeface="Calibri"/>
              </a:defRPr>
            </a:pPr>
            <a:r>
              <a:t>Leading Research Center + Int'l grants</a:t>
            </a:r>
          </a:p>
        </p:txBody>
      </p:sp>
      <p:sp>
        <p:nvSpPr>
          <p:cNvPr id="22" name="TextBox 21"/>
          <p:cNvSpPr txBox="1"/>
          <p:nvPr/>
        </p:nvSpPr>
        <p:spPr>
          <a:xfrm>
            <a:off x="6583680" y="4937760"/>
            <a:ext cx="4846320" cy="320040"/>
          </a:xfrm>
          <a:prstGeom prst="rect">
            <a:avLst/>
          </a:prstGeom>
          <a:noFill/>
        </p:spPr>
        <p:txBody>
          <a:bodyPr wrap="square">
            <a:spAutoFit/>
          </a:bodyPr>
          <a:lstStyle/>
          <a:p>
            <a:pPr algn="l">
              <a:spcAft>
                <a:spcPts val="259"/>
              </a:spcAft>
              <a:defRPr sz="1300" b="1">
                <a:solidFill>
                  <a:srgbClr val="0A0F1E"/>
                </a:solidFill>
                <a:latin typeface="Calibri"/>
              </a:defRPr>
            </a:pPr>
            <a:r>
              <a:t>Ready to Launch from Day 1:</a:t>
            </a:r>
          </a:p>
        </p:txBody>
      </p:sp>
      <p:sp>
        <p:nvSpPr>
          <p:cNvPr id="23" name="TextBox 22"/>
          <p:cNvSpPr txBox="1"/>
          <p:nvPr/>
        </p:nvSpPr>
        <p:spPr>
          <a:xfrm>
            <a:off x="6583680" y="5212080"/>
            <a:ext cx="4846320" cy="1371600"/>
          </a:xfrm>
          <a:prstGeom prst="rect">
            <a:avLst/>
          </a:prstGeom>
          <a:noFill/>
        </p:spPr>
        <p:txBody>
          <a:bodyPr wrap="square">
            <a:spAutoFit/>
          </a:bodyPr>
          <a:lstStyle/>
          <a:p>
            <a:pPr algn="l">
              <a:spcAft>
                <a:spcPts val="300"/>
              </a:spcAft>
              <a:defRPr sz="1200" b="0">
                <a:solidFill>
                  <a:srgbClr val="75787B"/>
                </a:solidFill>
                <a:latin typeface="Calibri"/>
              </a:defRPr>
            </a:pPr>
            <a:r>
              <a:t>•  Hyundai Motor — existing relationship (AVAS / NVH)</a:t>
            </a:r>
          </a:p>
          <a:p>
            <a:pPr algn="l">
              <a:spcBef>
                <a:spcPts val="0"/>
              </a:spcBef>
              <a:spcAft>
                <a:spcPts val="100"/>
              </a:spcAft>
              <a:defRPr sz="1200" b="0">
                <a:solidFill>
                  <a:srgbClr val="75787B"/>
                </a:solidFill>
                <a:latin typeface="Calibri"/>
              </a:defRPr>
            </a:pPr>
            <a:r>
              <a:t>•  Samsung — spatial audio &amp; immersive media capability</a:t>
            </a:r>
          </a:p>
          <a:p>
            <a:pPr algn="l">
              <a:spcBef>
                <a:spcPts val="0"/>
              </a:spcBef>
              <a:spcAft>
                <a:spcPts val="100"/>
              </a:spcAft>
              <a:defRPr sz="1200" b="0">
                <a:solidFill>
                  <a:srgbClr val="75787B"/>
                </a:solidFill>
                <a:latin typeface="Calibri"/>
              </a:defRPr>
            </a:pPr>
            <a:r>
              <a:t>•  NRF — 11 funded projects on record</a:t>
            </a:r>
          </a:p>
          <a:p>
            <a:pPr algn="l">
              <a:spcBef>
                <a:spcPts val="0"/>
              </a:spcBef>
              <a:spcAft>
                <a:spcPts val="100"/>
              </a:spcAft>
              <a:defRPr sz="1200" b="0">
                <a:solidFill>
                  <a:srgbClr val="75787B"/>
                </a:solidFill>
                <a:latin typeface="Calibri"/>
              </a:defRPr>
            </a:pPr>
            <a:r>
              <a:t>•  UCL / RWTH / Sorbonne — active collaborations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685800"/>
          </a:xfrm>
          <a:prstGeom prst="rect">
            <a:avLst/>
          </a:prstGeom>
          <a:noFill/>
        </p:spPr>
        <p:txBody>
          <a:bodyPr wrap="square">
            <a:spAutoFit/>
          </a:bodyPr>
          <a:lstStyle/>
          <a:p>
            <a:pPr algn="l">
              <a:spcAft>
                <a:spcPts val="519"/>
              </a:spcAft>
              <a:defRPr sz="2600" b="1">
                <a:solidFill>
                  <a:srgbClr val="0A0F1E"/>
                </a:solidFill>
                <a:latin typeface="Calibri"/>
              </a:defRPr>
            </a:pPr>
            <a:r>
              <a:t>Funding Strategy — Detailed Plan</a:t>
            </a:r>
          </a:p>
        </p:txBody>
      </p:sp>
      <p:sp>
        <p:nvSpPr>
          <p:cNvPr id="4" name="Rectangle 3"/>
          <p:cNvSpPr/>
          <p:nvPr/>
        </p:nvSpPr>
        <p:spPr>
          <a:xfrm>
            <a:off x="731520" y="868680"/>
            <a:ext cx="10698480" cy="1905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1097280" cy="320040"/>
          </a:xfrm>
          <a:prstGeom prst="rect">
            <a:avLst/>
          </a:prstGeom>
          <a:noFill/>
        </p:spPr>
        <p:txBody>
          <a:bodyPr wrap="square">
            <a:spAutoFit/>
          </a:bodyPr>
          <a:lstStyle/>
          <a:p>
            <a:pPr algn="r">
              <a:spcAft>
                <a:spcPts val="179"/>
              </a:spcAft>
              <a:defRPr sz="900" b="0">
                <a:solidFill>
                  <a:srgbClr val="888899"/>
                </a:solidFill>
                <a:latin typeface="Calibri"/>
              </a:defRPr>
            </a:pPr>
            <a:r>
              <a:t>16 / 20</a:t>
            </a:r>
          </a:p>
        </p:txBody>
      </p:sp>
      <p:sp>
        <p:nvSpPr>
          <p:cNvPr id="6" name="TextBox 5"/>
          <p:cNvSpPr txBox="1"/>
          <p:nvPr/>
        </p:nvSpPr>
        <p:spPr>
          <a:xfrm>
            <a:off x="731520" y="1097280"/>
            <a:ext cx="5029200" cy="365760"/>
          </a:xfrm>
          <a:prstGeom prst="rect">
            <a:avLst/>
          </a:prstGeom>
          <a:noFill/>
        </p:spPr>
        <p:txBody>
          <a:bodyPr wrap="square">
            <a:spAutoFit/>
          </a:bodyPr>
          <a:lstStyle/>
          <a:p>
            <a:pPr algn="l">
              <a:spcAft>
                <a:spcPts val="339"/>
              </a:spcAft>
              <a:defRPr sz="1700" b="1">
                <a:solidFill>
                  <a:srgbClr val="0A0F1E"/>
                </a:solidFill>
                <a:latin typeface="Calibri"/>
              </a:defRPr>
            </a:pPr>
            <a:r>
              <a:t>Government &amp; Public Funding</a:t>
            </a:r>
          </a:p>
        </p:txBody>
      </p:sp>
      <p:sp>
        <p:nvSpPr>
          <p:cNvPr id="7" name="Rectangle 6"/>
          <p:cNvSpPr/>
          <p:nvPr/>
        </p:nvSpPr>
        <p:spPr>
          <a:xfrm>
            <a:off x="731520" y="1417320"/>
            <a:ext cx="1371600" cy="381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45920"/>
            <a:ext cx="5029200" cy="3657600"/>
          </a:xfrm>
          <a:prstGeom prst="rect">
            <a:avLst/>
          </a:prstGeom>
          <a:noFill/>
        </p:spPr>
        <p:txBody>
          <a:bodyPr wrap="square">
            <a:spAutoFit/>
          </a:bodyPr>
          <a:lstStyle/>
          <a:p>
            <a:pPr algn="l">
              <a:spcAft>
                <a:spcPts val="259"/>
              </a:spcAft>
              <a:defRPr sz="1300" b="1">
                <a:solidFill>
                  <a:srgbClr val="0A0F1E"/>
                </a:solidFill>
                <a:latin typeface="Calibri"/>
              </a:defRPr>
            </a:pPr>
            <a:r>
              <a:t>National Research Foundation (NRF):</a:t>
            </a:r>
          </a:p>
          <a:p>
            <a:pPr algn="l">
              <a:spcBef>
                <a:spcPts val="0"/>
              </a:spcBef>
              <a:spcAft>
                <a:spcPts val="200"/>
              </a:spcAft>
              <a:defRPr sz="1200" b="0">
                <a:solidFill>
                  <a:srgbClr val="1A1A2E"/>
                </a:solidFill>
                <a:latin typeface="Calibri"/>
              </a:defRPr>
            </a:pPr>
            <a:r>
              <a:t>  •  Young/Mid-career: Soundscape AI (₩100–200M/yr)</a:t>
            </a:r>
          </a:p>
          <a:p>
            <a:pPr algn="l">
              <a:spcBef>
                <a:spcPts val="0"/>
              </a:spcBef>
              <a:spcAft>
                <a:spcPts val="200"/>
              </a:spcAft>
              <a:defRPr sz="1200" b="0">
                <a:solidFill>
                  <a:srgbClr val="1A1A2E"/>
                </a:solidFill>
                <a:latin typeface="Calibri"/>
              </a:defRPr>
            </a:pPr>
            <a:r>
              <a:t>  •  International Joint: UCL, Sorbonne (₩120M/yr each)</a:t>
            </a:r>
          </a:p>
          <a:p>
            <a:pPr algn="l">
              <a:spcBef>
                <a:spcPts val="0"/>
              </a:spcBef>
              <a:spcAft>
                <a:spcPts val="200"/>
              </a:spcAft>
              <a:defRPr sz="1200" b="0">
                <a:solidFill>
                  <a:srgbClr val="1A1A2E"/>
                </a:solidFill>
                <a:latin typeface="Calibri"/>
              </a:defRPr>
            </a:pPr>
            <a:r>
              <a:t>  •  Basic Research Lab: Building Env. Integration (₩500M/3yr)</a:t>
            </a:r>
          </a:p>
          <a:p>
            <a:pPr algn="l">
              <a:spcBef>
                <a:spcPts val="0"/>
              </a:spcBef>
              <a:spcAft>
                <a:spcPts val="200"/>
              </a:spcAft>
              <a:defRPr sz="1300" b="0">
                <a:solidFill>
                  <a:srgbClr val="1A1A2E"/>
                </a:solidFill>
                <a:latin typeface="Calibri"/>
              </a:defRPr>
            </a:pPr>
          </a:p>
          <a:p>
            <a:pPr algn="l">
              <a:spcBef>
                <a:spcPts val="0"/>
              </a:spcBef>
              <a:spcAft>
                <a:spcPts val="200"/>
              </a:spcAft>
              <a:defRPr sz="1300" b="1">
                <a:solidFill>
                  <a:srgbClr val="0A0F1E"/>
                </a:solidFill>
                <a:latin typeface="Calibri"/>
              </a:defRPr>
            </a:pPr>
            <a:r>
              <a:t>Government Agencies:</a:t>
            </a:r>
          </a:p>
          <a:p>
            <a:pPr algn="l">
              <a:spcBef>
                <a:spcPts val="0"/>
              </a:spcBef>
              <a:spcAft>
                <a:spcPts val="200"/>
              </a:spcAft>
              <a:defRPr sz="1200" b="0">
                <a:solidFill>
                  <a:srgbClr val="1A1A2E"/>
                </a:solidFill>
                <a:latin typeface="Calibri"/>
              </a:defRPr>
            </a:pPr>
            <a:r>
              <a:t>  •  MSIT: Smart city sound monitoring</a:t>
            </a:r>
          </a:p>
          <a:p>
            <a:pPr algn="l">
              <a:spcBef>
                <a:spcPts val="0"/>
              </a:spcBef>
              <a:spcAft>
                <a:spcPts val="200"/>
              </a:spcAft>
              <a:defRPr sz="1200" b="0">
                <a:solidFill>
                  <a:srgbClr val="1A1A2E"/>
                </a:solidFill>
                <a:latin typeface="Calibri"/>
              </a:defRPr>
            </a:pPr>
            <a:r>
              <a:t>  •  MOLIT / KAIA: Urban noise management policy</a:t>
            </a:r>
          </a:p>
          <a:p>
            <a:pPr algn="l">
              <a:spcBef>
                <a:spcPts val="0"/>
              </a:spcBef>
              <a:spcAft>
                <a:spcPts val="200"/>
              </a:spcAft>
              <a:defRPr sz="1200" b="0">
                <a:solidFill>
                  <a:srgbClr val="1A1A2E"/>
                </a:solidFill>
                <a:latin typeface="Calibri"/>
              </a:defRPr>
            </a:pPr>
            <a:r>
              <a:t>  •  MOE: Environmental noise impact assessment</a:t>
            </a:r>
          </a:p>
          <a:p>
            <a:pPr algn="l">
              <a:spcBef>
                <a:spcPts val="0"/>
              </a:spcBef>
              <a:spcAft>
                <a:spcPts val="200"/>
              </a:spcAft>
              <a:defRPr sz="1200" b="0">
                <a:solidFill>
                  <a:srgbClr val="1A1A2E"/>
                </a:solidFill>
                <a:latin typeface="Calibri"/>
              </a:defRPr>
            </a:pPr>
            <a:r>
              <a:t>  •  LH Corporation: Residential noise standards</a:t>
            </a:r>
          </a:p>
        </p:txBody>
      </p:sp>
      <p:sp>
        <p:nvSpPr>
          <p:cNvPr id="9" name="TextBox 8"/>
          <p:cNvSpPr txBox="1"/>
          <p:nvPr/>
        </p:nvSpPr>
        <p:spPr>
          <a:xfrm>
            <a:off x="6583680" y="1097280"/>
            <a:ext cx="4846320" cy="365760"/>
          </a:xfrm>
          <a:prstGeom prst="rect">
            <a:avLst/>
          </a:prstGeom>
          <a:noFill/>
        </p:spPr>
        <p:txBody>
          <a:bodyPr wrap="square">
            <a:spAutoFit/>
          </a:bodyPr>
          <a:lstStyle/>
          <a:p>
            <a:pPr algn="l">
              <a:spcAft>
                <a:spcPts val="339"/>
              </a:spcAft>
              <a:defRPr sz="1700" b="1">
                <a:solidFill>
                  <a:srgbClr val="0A0F1E"/>
                </a:solidFill>
                <a:latin typeface="Calibri"/>
              </a:defRPr>
            </a:pPr>
            <a:r>
              <a:t>Industry Collaboration</a:t>
            </a:r>
          </a:p>
        </p:txBody>
      </p:sp>
      <p:sp>
        <p:nvSpPr>
          <p:cNvPr id="10" name="Rectangle 9"/>
          <p:cNvSpPr/>
          <p:nvPr/>
        </p:nvSpPr>
        <p:spPr>
          <a:xfrm>
            <a:off x="6583680" y="1417320"/>
            <a:ext cx="1371600" cy="381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0" y="1645920"/>
            <a:ext cx="4846320" cy="11887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1737360"/>
            <a:ext cx="4389120" cy="320040"/>
          </a:xfrm>
          <a:prstGeom prst="rect">
            <a:avLst/>
          </a:prstGeom>
          <a:noFill/>
        </p:spPr>
        <p:txBody>
          <a:bodyPr wrap="square">
            <a:spAutoFit/>
          </a:bodyPr>
          <a:lstStyle/>
          <a:p>
            <a:pPr algn="l">
              <a:spcAft>
                <a:spcPts val="259"/>
              </a:spcAft>
              <a:defRPr sz="1300" b="1">
                <a:solidFill>
                  <a:srgbClr val="0A0F1E"/>
                </a:solidFill>
                <a:latin typeface="Calibri"/>
              </a:defRPr>
            </a:pPr>
            <a:r>
              <a:t>Hyundai Motor Company</a:t>
            </a:r>
          </a:p>
        </p:txBody>
      </p:sp>
      <p:sp>
        <p:nvSpPr>
          <p:cNvPr id="13" name="TextBox 12"/>
          <p:cNvSpPr txBox="1"/>
          <p:nvPr/>
        </p:nvSpPr>
        <p:spPr>
          <a:xfrm>
            <a:off x="6858000" y="2057400"/>
            <a:ext cx="4389120" cy="640080"/>
          </a:xfrm>
          <a:prstGeom prst="rect">
            <a:avLst/>
          </a:prstGeom>
          <a:noFill/>
        </p:spPr>
        <p:txBody>
          <a:bodyPr wrap="square">
            <a:spAutoFit/>
          </a:bodyPr>
          <a:lstStyle/>
          <a:p>
            <a:pPr algn="l">
              <a:spcAft>
                <a:spcPts val="275"/>
              </a:spcAft>
              <a:defRPr sz="1100" b="0">
                <a:solidFill>
                  <a:srgbClr val="75787B"/>
                </a:solidFill>
                <a:latin typeface="Calibri"/>
              </a:defRPr>
            </a:pPr>
            <a:r>
              <a:t>AVAS sound design, vehicle cabin acoustics</a:t>
            </a:r>
            <a:br/>
            <a:r>
              <a:t>(Existing — joint research since 2023)</a:t>
            </a:r>
          </a:p>
        </p:txBody>
      </p:sp>
      <p:sp>
        <p:nvSpPr>
          <p:cNvPr id="14" name="Rounded Rectangle 13"/>
          <p:cNvSpPr/>
          <p:nvPr/>
        </p:nvSpPr>
        <p:spPr>
          <a:xfrm>
            <a:off x="6583680" y="3063240"/>
            <a:ext cx="4846320" cy="11887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0" y="3154680"/>
            <a:ext cx="4389120" cy="320040"/>
          </a:xfrm>
          <a:prstGeom prst="rect">
            <a:avLst/>
          </a:prstGeom>
          <a:noFill/>
        </p:spPr>
        <p:txBody>
          <a:bodyPr wrap="square">
            <a:spAutoFit/>
          </a:bodyPr>
          <a:lstStyle/>
          <a:p>
            <a:pPr algn="l">
              <a:spcAft>
                <a:spcPts val="259"/>
              </a:spcAft>
              <a:defRPr sz="1300" b="1">
                <a:solidFill>
                  <a:srgbClr val="0A0F1E"/>
                </a:solidFill>
                <a:latin typeface="Calibri"/>
              </a:defRPr>
            </a:pPr>
            <a:r>
              <a:t>Samsung Research</a:t>
            </a:r>
          </a:p>
        </p:txBody>
      </p:sp>
      <p:sp>
        <p:nvSpPr>
          <p:cNvPr id="16" name="TextBox 15"/>
          <p:cNvSpPr txBox="1"/>
          <p:nvPr/>
        </p:nvSpPr>
        <p:spPr>
          <a:xfrm>
            <a:off x="6858000" y="3474720"/>
            <a:ext cx="4389120" cy="640080"/>
          </a:xfrm>
          <a:prstGeom prst="rect">
            <a:avLst/>
          </a:prstGeom>
          <a:noFill/>
        </p:spPr>
        <p:txBody>
          <a:bodyPr wrap="square">
            <a:spAutoFit/>
          </a:bodyPr>
          <a:lstStyle/>
          <a:p>
            <a:pPr algn="l">
              <a:spcAft>
                <a:spcPts val="275"/>
              </a:spcAft>
              <a:defRPr sz="1100" b="0">
                <a:solidFill>
                  <a:srgbClr val="75787B"/>
                </a:solidFill>
                <a:latin typeface="Calibri"/>
              </a:defRPr>
            </a:pPr>
            <a:r>
              <a:t>Spatial audio quality, immersive media</a:t>
            </a:r>
            <a:br/>
            <a:r>
              <a:t>(Demonstrated capability in portfolio)</a:t>
            </a:r>
          </a:p>
        </p:txBody>
      </p:sp>
      <p:sp>
        <p:nvSpPr>
          <p:cNvPr id="17" name="Rounded Rectangle 16"/>
          <p:cNvSpPr/>
          <p:nvPr/>
        </p:nvSpPr>
        <p:spPr>
          <a:xfrm>
            <a:off x="6583680" y="4480560"/>
            <a:ext cx="4846320" cy="11887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0" y="4572000"/>
            <a:ext cx="4389120" cy="320040"/>
          </a:xfrm>
          <a:prstGeom prst="rect">
            <a:avLst/>
          </a:prstGeom>
          <a:noFill/>
        </p:spPr>
        <p:txBody>
          <a:bodyPr wrap="square">
            <a:spAutoFit/>
          </a:bodyPr>
          <a:lstStyle/>
          <a:p>
            <a:pPr algn="l">
              <a:spcAft>
                <a:spcPts val="259"/>
              </a:spcAft>
              <a:defRPr sz="1300" b="1">
                <a:solidFill>
                  <a:srgbClr val="0A0F1E"/>
                </a:solidFill>
                <a:latin typeface="Calibri"/>
              </a:defRPr>
            </a:pPr>
            <a:r>
              <a:t>Construction / Architecture</a:t>
            </a:r>
          </a:p>
        </p:txBody>
      </p:sp>
      <p:sp>
        <p:nvSpPr>
          <p:cNvPr id="19" name="TextBox 18"/>
          <p:cNvSpPr txBox="1"/>
          <p:nvPr/>
        </p:nvSpPr>
        <p:spPr>
          <a:xfrm>
            <a:off x="6858000" y="4892040"/>
            <a:ext cx="4389120" cy="640080"/>
          </a:xfrm>
          <a:prstGeom prst="rect">
            <a:avLst/>
          </a:prstGeom>
          <a:noFill/>
        </p:spPr>
        <p:txBody>
          <a:bodyPr wrap="square">
            <a:spAutoFit/>
          </a:bodyPr>
          <a:lstStyle/>
          <a:p>
            <a:pPr algn="l">
              <a:spcAft>
                <a:spcPts val="275"/>
              </a:spcAft>
              <a:defRPr sz="1100" b="0">
                <a:solidFill>
                  <a:srgbClr val="75787B"/>
                </a:solidFill>
                <a:latin typeface="Calibri"/>
              </a:defRPr>
            </a:pPr>
            <a:r>
              <a:t>Building acoustics consulting, noise assessment</a:t>
            </a:r>
            <a:br/>
            <a:r>
              <a:t>(Precedent: FURSYS ₩60M project)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685800"/>
          </a:xfrm>
          <a:prstGeom prst="rect">
            <a:avLst/>
          </a:prstGeom>
          <a:noFill/>
        </p:spPr>
        <p:txBody>
          <a:bodyPr wrap="square">
            <a:spAutoFit/>
          </a:bodyPr>
          <a:lstStyle/>
          <a:p>
            <a:pPr algn="l">
              <a:spcAft>
                <a:spcPts val="519"/>
              </a:spcAft>
              <a:defRPr sz="2600" b="1">
                <a:solidFill>
                  <a:srgbClr val="0A0F1E"/>
                </a:solidFill>
                <a:latin typeface="Calibri"/>
              </a:defRPr>
            </a:pPr>
            <a:r>
              <a:t>Teaching Philosophy</a:t>
            </a:r>
          </a:p>
        </p:txBody>
      </p:sp>
      <p:sp>
        <p:nvSpPr>
          <p:cNvPr id="4" name="Rectangle 3"/>
          <p:cNvSpPr/>
          <p:nvPr/>
        </p:nvSpPr>
        <p:spPr>
          <a:xfrm>
            <a:off x="731520" y="868680"/>
            <a:ext cx="10698480" cy="1905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1097280" cy="320040"/>
          </a:xfrm>
          <a:prstGeom prst="rect">
            <a:avLst/>
          </a:prstGeom>
          <a:noFill/>
        </p:spPr>
        <p:txBody>
          <a:bodyPr wrap="square">
            <a:spAutoFit/>
          </a:bodyPr>
          <a:lstStyle/>
          <a:p>
            <a:pPr algn="r">
              <a:spcAft>
                <a:spcPts val="179"/>
              </a:spcAft>
              <a:defRPr sz="900" b="0">
                <a:solidFill>
                  <a:srgbClr val="888899"/>
                </a:solidFill>
                <a:latin typeface="Calibri"/>
              </a:defRPr>
            </a:pPr>
            <a:r>
              <a:t>17 / 20</a:t>
            </a:r>
          </a:p>
        </p:txBody>
      </p:sp>
      <p:sp>
        <p:nvSpPr>
          <p:cNvPr id="6" name="TextBox 5"/>
          <p:cNvSpPr txBox="1"/>
          <p:nvPr/>
        </p:nvSpPr>
        <p:spPr>
          <a:xfrm>
            <a:off x="731520" y="1051560"/>
            <a:ext cx="10698480" cy="640080"/>
          </a:xfrm>
          <a:prstGeom prst="rect">
            <a:avLst/>
          </a:prstGeom>
          <a:noFill/>
        </p:spPr>
        <p:txBody>
          <a:bodyPr wrap="square">
            <a:spAutoFit/>
          </a:bodyPr>
          <a:lstStyle/>
          <a:p>
            <a:pPr algn="ctr">
              <a:spcAft>
                <a:spcPts val="540"/>
              </a:spcAft>
              <a:defRPr sz="1800" b="1">
                <a:solidFill>
                  <a:srgbClr val="0A0F1E"/>
                </a:solidFill>
                <a:latin typeface="Calibri"/>
              </a:defRPr>
            </a:pPr>
            <a:r>
              <a:t>"Educating future-ready architectural engineers</a:t>
            </a:r>
            <a:br/>
            <a:r>
              <a:t>who understand both technology and human experience"</a:t>
            </a:r>
          </a:p>
        </p:txBody>
      </p:sp>
      <p:sp>
        <p:nvSpPr>
          <p:cNvPr id="7" name="Rounded Rectangle 6"/>
          <p:cNvSpPr/>
          <p:nvPr/>
        </p:nvSpPr>
        <p:spPr>
          <a:xfrm>
            <a:off x="731520" y="2011680"/>
            <a:ext cx="3474720" cy="41148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194560"/>
            <a:ext cx="2926080" cy="411480"/>
          </a:xfrm>
          <a:prstGeom prst="rect">
            <a:avLst/>
          </a:prstGeom>
          <a:noFill/>
        </p:spPr>
        <p:txBody>
          <a:bodyPr wrap="square">
            <a:spAutoFit/>
          </a:bodyPr>
          <a:lstStyle/>
          <a:p>
            <a:pPr algn="l">
              <a:spcAft>
                <a:spcPts val="319"/>
              </a:spcAft>
              <a:defRPr sz="1600" b="1">
                <a:solidFill>
                  <a:srgbClr val="0A0F1E"/>
                </a:solidFill>
                <a:latin typeface="Calibri"/>
              </a:defRPr>
            </a:pPr>
            <a:r>
              <a:t>Theory → Practice</a:t>
            </a:r>
          </a:p>
        </p:txBody>
      </p:sp>
      <p:sp>
        <p:nvSpPr>
          <p:cNvPr id="9" name="Rectangle 8"/>
          <p:cNvSpPr/>
          <p:nvPr/>
        </p:nvSpPr>
        <p:spPr>
          <a:xfrm>
            <a:off x="1005840" y="2560320"/>
            <a:ext cx="1371600" cy="381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743200"/>
            <a:ext cx="2926080" cy="2926080"/>
          </a:xfrm>
          <a:prstGeom prst="rect">
            <a:avLst/>
          </a:prstGeom>
          <a:noFill/>
        </p:spPr>
        <p:txBody>
          <a:bodyPr wrap="square">
            <a:spAutoFit/>
          </a:bodyPr>
          <a:lstStyle/>
          <a:p>
            <a:pPr algn="l">
              <a:spcAft>
                <a:spcPts val="519"/>
              </a:spcAft>
              <a:defRPr sz="1300" b="0">
                <a:solidFill>
                  <a:srgbClr val="75787B"/>
                </a:solidFill>
                <a:latin typeface="Calibri"/>
              </a:defRPr>
            </a:pPr>
            <a:r>
              <a:t>Connect theory to real-world applications</a:t>
            </a:r>
            <a:br/>
            <a:r>
              <a:t>through industry case studies.</a:t>
            </a:r>
            <a:br/>
            <a:br/>
            <a:r>
              <a:t>Use Hyundai Motor and concert hall</a:t>
            </a:r>
            <a:br/>
            <a:r>
              <a:t>projects as teaching materials.</a:t>
            </a:r>
            <a:br/>
            <a:br/>
            <a:r>
              <a:t>VR/AR simulation labs for immersive</a:t>
            </a:r>
            <a:br/>
            <a:r>
              <a:t>learning experiences.</a:t>
            </a:r>
          </a:p>
        </p:txBody>
      </p:sp>
      <p:sp>
        <p:nvSpPr>
          <p:cNvPr id="11" name="Rounded Rectangle 10"/>
          <p:cNvSpPr/>
          <p:nvPr/>
        </p:nvSpPr>
        <p:spPr>
          <a:xfrm>
            <a:off x="4480559" y="2011680"/>
            <a:ext cx="3474720" cy="41148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79" y="2194560"/>
            <a:ext cx="2926080" cy="411480"/>
          </a:xfrm>
          <a:prstGeom prst="rect">
            <a:avLst/>
          </a:prstGeom>
          <a:noFill/>
        </p:spPr>
        <p:txBody>
          <a:bodyPr wrap="square">
            <a:spAutoFit/>
          </a:bodyPr>
          <a:lstStyle/>
          <a:p>
            <a:pPr algn="l">
              <a:spcAft>
                <a:spcPts val="319"/>
              </a:spcAft>
              <a:defRPr sz="1600" b="1">
                <a:solidFill>
                  <a:srgbClr val="0A0F1E"/>
                </a:solidFill>
                <a:latin typeface="Calibri"/>
              </a:defRPr>
            </a:pPr>
            <a:r>
              <a:t>Data Literacy</a:t>
            </a:r>
          </a:p>
        </p:txBody>
      </p:sp>
      <p:sp>
        <p:nvSpPr>
          <p:cNvPr id="13" name="Rectangle 12"/>
          <p:cNvSpPr/>
          <p:nvPr/>
        </p:nvSpPr>
        <p:spPr>
          <a:xfrm>
            <a:off x="4754879" y="2560320"/>
            <a:ext cx="1371600" cy="381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79" y="2743200"/>
            <a:ext cx="2926080" cy="2926080"/>
          </a:xfrm>
          <a:prstGeom prst="rect">
            <a:avLst/>
          </a:prstGeom>
          <a:noFill/>
        </p:spPr>
        <p:txBody>
          <a:bodyPr wrap="square">
            <a:spAutoFit/>
          </a:bodyPr>
          <a:lstStyle/>
          <a:p>
            <a:pPr algn="l">
              <a:spcAft>
                <a:spcPts val="519"/>
              </a:spcAft>
              <a:defRPr sz="1300" b="0">
                <a:solidFill>
                  <a:srgbClr val="75787B"/>
                </a:solidFill>
                <a:latin typeface="Calibri"/>
              </a:defRPr>
            </a:pPr>
            <a:r>
              <a:t>Equip architectural engineers with</a:t>
            </a:r>
            <a:br/>
            <a:r>
              <a:t>AI and data analysis capabilities.</a:t>
            </a:r>
            <a:br/>
            <a:br/>
            <a:r>
              <a:t>Python/MATLAB-based acoustic data</a:t>
            </a:r>
            <a:br/>
            <a:r>
              <a:t>processing and visualization.</a:t>
            </a:r>
            <a:br/>
            <a:br/>
            <a:r>
              <a:t>ML fundamentals for building</a:t>
            </a:r>
            <a:br/>
            <a:r>
              <a:t>performance optimization.</a:t>
            </a:r>
          </a:p>
        </p:txBody>
      </p:sp>
      <p:sp>
        <p:nvSpPr>
          <p:cNvPr id="15" name="Rounded Rectangle 14"/>
          <p:cNvSpPr/>
          <p:nvPr/>
        </p:nvSpPr>
        <p:spPr>
          <a:xfrm>
            <a:off x="8229599" y="2011680"/>
            <a:ext cx="3474720" cy="41148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19" y="2194560"/>
            <a:ext cx="2926080" cy="411480"/>
          </a:xfrm>
          <a:prstGeom prst="rect">
            <a:avLst/>
          </a:prstGeom>
          <a:noFill/>
        </p:spPr>
        <p:txBody>
          <a:bodyPr wrap="square">
            <a:spAutoFit/>
          </a:bodyPr>
          <a:lstStyle/>
          <a:p>
            <a:pPr algn="l">
              <a:spcAft>
                <a:spcPts val="319"/>
              </a:spcAft>
              <a:defRPr sz="1600" b="1">
                <a:solidFill>
                  <a:srgbClr val="0A0F1E"/>
                </a:solidFill>
                <a:latin typeface="Calibri"/>
              </a:defRPr>
            </a:pPr>
            <a:r>
              <a:t>Global Exposure</a:t>
            </a:r>
          </a:p>
        </p:txBody>
      </p:sp>
      <p:sp>
        <p:nvSpPr>
          <p:cNvPr id="17" name="Rectangle 16"/>
          <p:cNvSpPr/>
          <p:nvPr/>
        </p:nvSpPr>
        <p:spPr>
          <a:xfrm>
            <a:off x="8503919" y="2560320"/>
            <a:ext cx="1371600" cy="381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19" y="2743200"/>
            <a:ext cx="2926080" cy="2926080"/>
          </a:xfrm>
          <a:prstGeom prst="rect">
            <a:avLst/>
          </a:prstGeom>
          <a:noFill/>
        </p:spPr>
        <p:txBody>
          <a:bodyPr wrap="square">
            <a:spAutoFit/>
          </a:bodyPr>
          <a:lstStyle/>
          <a:p>
            <a:pPr algn="l">
              <a:spcAft>
                <a:spcPts val="519"/>
              </a:spcAft>
              <a:defRPr sz="1300" b="0">
                <a:solidFill>
                  <a:srgbClr val="75787B"/>
                </a:solidFill>
                <a:latin typeface="Calibri"/>
              </a:defRPr>
            </a:pPr>
            <a:r>
              <a:t>International conference presentation</a:t>
            </a:r>
            <a:br/>
            <a:r>
              <a:t>required for all graduate students.</a:t>
            </a:r>
            <a:br/>
            <a:br/>
            <a:r>
              <a:t>Short-term visits to UCL, RWTH,</a:t>
            </a:r>
            <a:br/>
            <a:r>
              <a:t>Sorbonne partner institutions.</a:t>
            </a:r>
            <a:br/>
            <a:br/>
            <a:r>
              <a:t>Bilingual research training for</a:t>
            </a:r>
            <a:br/>
            <a:r>
              <a:t>global careers.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685800"/>
          </a:xfrm>
          <a:prstGeom prst="rect">
            <a:avLst/>
          </a:prstGeom>
          <a:noFill/>
        </p:spPr>
        <p:txBody>
          <a:bodyPr wrap="square">
            <a:spAutoFit/>
          </a:bodyPr>
          <a:lstStyle/>
          <a:p>
            <a:pPr algn="l">
              <a:spcAft>
                <a:spcPts val="519"/>
              </a:spcAft>
              <a:defRPr sz="2600" b="1">
                <a:solidFill>
                  <a:srgbClr val="0A0F1E"/>
                </a:solidFill>
                <a:latin typeface="Calibri"/>
              </a:defRPr>
            </a:pPr>
            <a:r>
              <a:t>Teaching Plan &amp; Student Mentoring</a:t>
            </a:r>
          </a:p>
        </p:txBody>
      </p:sp>
      <p:sp>
        <p:nvSpPr>
          <p:cNvPr id="4" name="Rectangle 3"/>
          <p:cNvSpPr/>
          <p:nvPr/>
        </p:nvSpPr>
        <p:spPr>
          <a:xfrm>
            <a:off x="731520" y="868680"/>
            <a:ext cx="10698480" cy="1905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1097280" cy="320040"/>
          </a:xfrm>
          <a:prstGeom prst="rect">
            <a:avLst/>
          </a:prstGeom>
          <a:noFill/>
        </p:spPr>
        <p:txBody>
          <a:bodyPr wrap="square">
            <a:spAutoFit/>
          </a:bodyPr>
          <a:lstStyle/>
          <a:p>
            <a:pPr algn="r">
              <a:spcAft>
                <a:spcPts val="179"/>
              </a:spcAft>
              <a:defRPr sz="900" b="0">
                <a:solidFill>
                  <a:srgbClr val="888899"/>
                </a:solidFill>
                <a:latin typeface="Calibri"/>
              </a:defRPr>
            </a:pPr>
            <a:r>
              <a:t>18 / 20</a:t>
            </a:r>
          </a:p>
        </p:txBody>
      </p:sp>
      <p:sp>
        <p:nvSpPr>
          <p:cNvPr id="6" name="TextBox 5"/>
          <p:cNvSpPr txBox="1"/>
          <p:nvPr/>
        </p:nvSpPr>
        <p:spPr>
          <a:xfrm>
            <a:off x="731520" y="1097280"/>
            <a:ext cx="5029200" cy="365760"/>
          </a:xfrm>
          <a:prstGeom prst="rect">
            <a:avLst/>
          </a:prstGeom>
          <a:noFill/>
        </p:spPr>
        <p:txBody>
          <a:bodyPr wrap="square">
            <a:spAutoFit/>
          </a:bodyPr>
          <a:lstStyle/>
          <a:p>
            <a:pPr algn="l">
              <a:spcAft>
                <a:spcPts val="339"/>
              </a:spcAft>
              <a:defRPr sz="1700" b="1">
                <a:solidFill>
                  <a:srgbClr val="0A0F1E"/>
                </a:solidFill>
                <a:latin typeface="Calibri"/>
              </a:defRPr>
            </a:pPr>
            <a:r>
              <a:t>Course Portfolio</a:t>
            </a:r>
          </a:p>
        </p:txBody>
      </p:sp>
      <p:sp>
        <p:nvSpPr>
          <p:cNvPr id="7" name="Rectangle 6"/>
          <p:cNvSpPr/>
          <p:nvPr/>
        </p:nvSpPr>
        <p:spPr>
          <a:xfrm>
            <a:off x="731520" y="1417320"/>
            <a:ext cx="1371600" cy="381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45920"/>
            <a:ext cx="5029200" cy="320040"/>
          </a:xfrm>
          <a:prstGeom prst="rect">
            <a:avLst/>
          </a:prstGeom>
          <a:noFill/>
        </p:spPr>
        <p:txBody>
          <a:bodyPr wrap="square">
            <a:spAutoFit/>
          </a:bodyPr>
          <a:lstStyle/>
          <a:p>
            <a:pPr algn="l">
              <a:spcAft>
                <a:spcPts val="259"/>
              </a:spcAft>
              <a:defRPr sz="1300" b="1">
                <a:solidFill>
                  <a:srgbClr val="13289F"/>
                </a:solidFill>
                <a:latin typeface="Calibri"/>
              </a:defRPr>
            </a:pPr>
            <a:r>
              <a:t>Courses to Inherit:</a:t>
            </a:r>
          </a:p>
        </p:txBody>
      </p:sp>
      <p:sp>
        <p:nvSpPr>
          <p:cNvPr id="9" name="TextBox 8"/>
          <p:cNvSpPr txBox="1"/>
          <p:nvPr/>
        </p:nvSpPr>
        <p:spPr>
          <a:xfrm>
            <a:off x="731520" y="1920240"/>
            <a:ext cx="5029200" cy="1097280"/>
          </a:xfrm>
          <a:prstGeom prst="rect">
            <a:avLst/>
          </a:prstGeom>
          <a:noFill/>
        </p:spPr>
        <p:txBody>
          <a:bodyPr wrap="square">
            <a:spAutoFit/>
          </a:bodyPr>
          <a:lstStyle/>
          <a:p>
            <a:pPr algn="l">
              <a:spcAft>
                <a:spcPts val="360"/>
              </a:spcAft>
              <a:defRPr sz="1200" b="0">
                <a:solidFill>
                  <a:srgbClr val="1A1A2E"/>
                </a:solidFill>
                <a:latin typeface="Calibri"/>
              </a:defRPr>
            </a:pPr>
            <a:r>
              <a:t>•  Building Environmental Engineering — UG</a:t>
            </a:r>
          </a:p>
          <a:p>
            <a:pPr algn="l">
              <a:spcBef>
                <a:spcPts val="0"/>
              </a:spcBef>
              <a:spcAft>
                <a:spcPts val="300"/>
              </a:spcAft>
              <a:defRPr sz="1200" b="0">
                <a:solidFill>
                  <a:srgbClr val="1A1A2E"/>
                </a:solidFill>
                <a:latin typeface="Calibri"/>
              </a:defRPr>
            </a:pPr>
            <a:r>
              <a:t>•  Architectural Acoustics — UG</a:t>
            </a:r>
          </a:p>
          <a:p>
            <a:pPr algn="l">
              <a:spcBef>
                <a:spcPts val="0"/>
              </a:spcBef>
              <a:spcAft>
                <a:spcPts val="300"/>
              </a:spcAft>
              <a:defRPr sz="1200" b="0">
                <a:solidFill>
                  <a:srgbClr val="1A1A2E"/>
                </a:solidFill>
                <a:latin typeface="Calibri"/>
              </a:defRPr>
            </a:pPr>
            <a:r>
              <a:t>•  Probability &amp; Statistics — UG</a:t>
            </a:r>
          </a:p>
        </p:txBody>
      </p:sp>
      <p:sp>
        <p:nvSpPr>
          <p:cNvPr id="10" name="TextBox 9"/>
          <p:cNvSpPr txBox="1"/>
          <p:nvPr/>
        </p:nvSpPr>
        <p:spPr>
          <a:xfrm>
            <a:off x="731520" y="3017520"/>
            <a:ext cx="5029200" cy="320040"/>
          </a:xfrm>
          <a:prstGeom prst="rect">
            <a:avLst/>
          </a:prstGeom>
          <a:noFill/>
        </p:spPr>
        <p:txBody>
          <a:bodyPr wrap="square">
            <a:spAutoFit/>
          </a:bodyPr>
          <a:lstStyle/>
          <a:p>
            <a:pPr algn="l">
              <a:spcAft>
                <a:spcPts val="259"/>
              </a:spcAft>
              <a:defRPr sz="1300" b="1">
                <a:solidFill>
                  <a:srgbClr val="13289F"/>
                </a:solidFill>
                <a:latin typeface="Calibri"/>
              </a:defRPr>
            </a:pPr>
            <a:r>
              <a:t>New Courses:</a:t>
            </a:r>
          </a:p>
        </p:txBody>
      </p:sp>
      <p:sp>
        <p:nvSpPr>
          <p:cNvPr id="11" name="TextBox 10"/>
          <p:cNvSpPr txBox="1"/>
          <p:nvPr/>
        </p:nvSpPr>
        <p:spPr>
          <a:xfrm>
            <a:off x="731520" y="3291840"/>
            <a:ext cx="5029200" cy="2286000"/>
          </a:xfrm>
          <a:prstGeom prst="rect">
            <a:avLst/>
          </a:prstGeom>
          <a:noFill/>
        </p:spPr>
        <p:txBody>
          <a:bodyPr wrap="square">
            <a:spAutoFit/>
          </a:bodyPr>
          <a:lstStyle/>
          <a:p>
            <a:pPr algn="l">
              <a:spcAft>
                <a:spcPts val="239"/>
              </a:spcAft>
              <a:defRPr sz="1200" b="0">
                <a:solidFill>
                  <a:srgbClr val="1A1A2E"/>
                </a:solidFill>
                <a:latin typeface="Calibri"/>
              </a:defRPr>
            </a:pPr>
            <a:r>
              <a:t>•  Smart Building Environment Systems — Grad</a:t>
            </a:r>
          </a:p>
          <a:p>
            <a:pPr algn="l">
              <a:spcBef>
                <a:spcPts val="0"/>
              </a:spcBef>
              <a:spcAft>
                <a:spcPts val="200"/>
              </a:spcAft>
              <a:defRPr sz="1100" b="0">
                <a:solidFill>
                  <a:srgbClr val="75787B"/>
                </a:solidFill>
                <a:latin typeface="Calibri"/>
              </a:defRPr>
            </a:pPr>
            <a:r>
              <a:t>   IoT + ML + VR for building environment design</a:t>
            </a:r>
          </a:p>
          <a:p>
            <a:pPr algn="l">
              <a:spcBef>
                <a:spcPts val="0"/>
              </a:spcBef>
              <a:spcAft>
                <a:spcPts val="200"/>
              </a:spcAft>
              <a:defRPr sz="1200" b="0">
                <a:solidFill>
                  <a:srgbClr val="1A1A2E"/>
                </a:solidFill>
                <a:latin typeface="Calibri"/>
              </a:defRPr>
            </a:pPr>
            <a:r>
              <a:t>•  AI for Built Environment — Grad</a:t>
            </a:r>
          </a:p>
          <a:p>
            <a:pPr algn="l">
              <a:spcBef>
                <a:spcPts val="0"/>
              </a:spcBef>
              <a:spcAft>
                <a:spcPts val="200"/>
              </a:spcAft>
              <a:defRPr sz="1100" b="0">
                <a:solidFill>
                  <a:srgbClr val="75787B"/>
                </a:solidFill>
                <a:latin typeface="Calibri"/>
              </a:defRPr>
            </a:pPr>
            <a:r>
              <a:t>   Python/MATLAB acoustic data analysis lab</a:t>
            </a:r>
          </a:p>
          <a:p>
            <a:pPr algn="l">
              <a:spcBef>
                <a:spcPts val="0"/>
              </a:spcBef>
              <a:spcAft>
                <a:spcPts val="200"/>
              </a:spcAft>
              <a:defRPr sz="1200" b="0">
                <a:solidFill>
                  <a:srgbClr val="1A1A2E"/>
                </a:solidFill>
                <a:latin typeface="Calibri"/>
              </a:defRPr>
            </a:pPr>
            <a:r>
              <a:t>•  Sustainable Building &amp; Ecology — UG</a:t>
            </a:r>
          </a:p>
          <a:p>
            <a:pPr algn="l">
              <a:spcBef>
                <a:spcPts val="0"/>
              </a:spcBef>
              <a:spcAft>
                <a:spcPts val="200"/>
              </a:spcAft>
              <a:defRPr sz="1100" b="0">
                <a:solidFill>
                  <a:srgbClr val="75787B"/>
                </a:solidFill>
                <a:latin typeface="Calibri"/>
              </a:defRPr>
            </a:pPr>
            <a:r>
              <a:t>   LEED/WELL standards, green building practice</a:t>
            </a:r>
          </a:p>
        </p:txBody>
      </p:sp>
      <p:sp>
        <p:nvSpPr>
          <p:cNvPr id="12" name="TextBox 11"/>
          <p:cNvSpPr txBox="1"/>
          <p:nvPr/>
        </p:nvSpPr>
        <p:spPr>
          <a:xfrm>
            <a:off x="6583680" y="1097280"/>
            <a:ext cx="4846320" cy="365760"/>
          </a:xfrm>
          <a:prstGeom prst="rect">
            <a:avLst/>
          </a:prstGeom>
          <a:noFill/>
        </p:spPr>
        <p:txBody>
          <a:bodyPr wrap="square">
            <a:spAutoFit/>
          </a:bodyPr>
          <a:lstStyle/>
          <a:p>
            <a:pPr algn="l">
              <a:spcAft>
                <a:spcPts val="339"/>
              </a:spcAft>
              <a:defRPr sz="1700" b="1">
                <a:solidFill>
                  <a:srgbClr val="0A0F1E"/>
                </a:solidFill>
                <a:latin typeface="Calibri"/>
              </a:defRPr>
            </a:pPr>
            <a:r>
              <a:t>Student Mentoring</a:t>
            </a:r>
          </a:p>
        </p:txBody>
      </p:sp>
      <p:sp>
        <p:nvSpPr>
          <p:cNvPr id="13" name="Rectangle 12"/>
          <p:cNvSpPr/>
          <p:nvPr/>
        </p:nvSpPr>
        <p:spPr>
          <a:xfrm>
            <a:off x="6583680" y="1417320"/>
            <a:ext cx="1371600" cy="381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1645920"/>
            <a:ext cx="4846320" cy="320040"/>
          </a:xfrm>
          <a:prstGeom prst="rect">
            <a:avLst/>
          </a:prstGeom>
          <a:noFill/>
        </p:spPr>
        <p:txBody>
          <a:bodyPr wrap="square">
            <a:spAutoFit/>
          </a:bodyPr>
          <a:lstStyle/>
          <a:p>
            <a:pPr algn="l">
              <a:spcAft>
                <a:spcPts val="259"/>
              </a:spcAft>
              <a:defRPr sz="1300" b="1">
                <a:solidFill>
                  <a:srgbClr val="13289F"/>
                </a:solidFill>
                <a:latin typeface="Calibri"/>
              </a:defRPr>
            </a:pPr>
            <a:r>
              <a:t>Undergraduate:</a:t>
            </a:r>
          </a:p>
        </p:txBody>
      </p:sp>
      <p:sp>
        <p:nvSpPr>
          <p:cNvPr id="15" name="TextBox 14"/>
          <p:cNvSpPr txBox="1"/>
          <p:nvPr/>
        </p:nvSpPr>
        <p:spPr>
          <a:xfrm>
            <a:off x="6583680" y="1920240"/>
            <a:ext cx="4846320" cy="1097280"/>
          </a:xfrm>
          <a:prstGeom prst="rect">
            <a:avLst/>
          </a:prstGeom>
          <a:noFill/>
        </p:spPr>
        <p:txBody>
          <a:bodyPr wrap="square">
            <a:spAutoFit/>
          </a:bodyPr>
          <a:lstStyle/>
          <a:p>
            <a:pPr algn="l">
              <a:spcAft>
                <a:spcPts val="300"/>
              </a:spcAft>
              <a:defRPr sz="1200" b="0">
                <a:solidFill>
                  <a:srgbClr val="1A1A2E"/>
                </a:solidFill>
                <a:latin typeface="Calibri"/>
              </a:defRPr>
            </a:pPr>
            <a:r>
              <a:t>•  Capstone design → industry project linkage</a:t>
            </a:r>
          </a:p>
          <a:p>
            <a:pPr algn="l">
              <a:spcBef>
                <a:spcPts val="0"/>
              </a:spcBef>
              <a:spcAft>
                <a:spcPts val="100"/>
              </a:spcAft>
              <a:defRPr sz="1200" b="0">
                <a:solidFill>
                  <a:srgbClr val="1A1A2E"/>
                </a:solidFill>
                <a:latin typeface="Calibri"/>
              </a:defRPr>
            </a:pPr>
            <a:r>
              <a:t>•  VR/BIM hands-on lab experiences</a:t>
            </a:r>
          </a:p>
          <a:p>
            <a:pPr algn="l">
              <a:spcBef>
                <a:spcPts val="0"/>
              </a:spcBef>
              <a:spcAft>
                <a:spcPts val="100"/>
              </a:spcAft>
              <a:defRPr sz="1200" b="0">
                <a:solidFill>
                  <a:srgbClr val="1A1A2E"/>
                </a:solidFill>
                <a:latin typeface="Calibri"/>
              </a:defRPr>
            </a:pPr>
            <a:r>
              <a:t>•  Early research exposure program</a:t>
            </a:r>
          </a:p>
        </p:txBody>
      </p:sp>
      <p:sp>
        <p:nvSpPr>
          <p:cNvPr id="16" name="TextBox 15"/>
          <p:cNvSpPr txBox="1"/>
          <p:nvPr/>
        </p:nvSpPr>
        <p:spPr>
          <a:xfrm>
            <a:off x="6583680" y="3017520"/>
            <a:ext cx="4846320" cy="320040"/>
          </a:xfrm>
          <a:prstGeom prst="rect">
            <a:avLst/>
          </a:prstGeom>
          <a:noFill/>
        </p:spPr>
        <p:txBody>
          <a:bodyPr wrap="square">
            <a:spAutoFit/>
          </a:bodyPr>
          <a:lstStyle/>
          <a:p>
            <a:pPr algn="l">
              <a:spcAft>
                <a:spcPts val="259"/>
              </a:spcAft>
              <a:defRPr sz="1300" b="1">
                <a:solidFill>
                  <a:srgbClr val="13289F"/>
                </a:solidFill>
                <a:latin typeface="Calibri"/>
              </a:defRPr>
            </a:pPr>
            <a:r>
              <a:t>Graduate:</a:t>
            </a:r>
          </a:p>
        </p:txBody>
      </p:sp>
      <p:sp>
        <p:nvSpPr>
          <p:cNvPr id="17" name="TextBox 16"/>
          <p:cNvSpPr txBox="1"/>
          <p:nvPr/>
        </p:nvSpPr>
        <p:spPr>
          <a:xfrm>
            <a:off x="6583680" y="3291840"/>
            <a:ext cx="4846320" cy="1097280"/>
          </a:xfrm>
          <a:prstGeom prst="rect">
            <a:avLst/>
          </a:prstGeom>
          <a:noFill/>
        </p:spPr>
        <p:txBody>
          <a:bodyPr wrap="square">
            <a:spAutoFit/>
          </a:bodyPr>
          <a:lstStyle/>
          <a:p>
            <a:pPr algn="l">
              <a:spcAft>
                <a:spcPts val="300"/>
              </a:spcAft>
              <a:defRPr sz="1200" b="0">
                <a:solidFill>
                  <a:srgbClr val="1A1A2E"/>
                </a:solidFill>
                <a:latin typeface="Calibri"/>
              </a:defRPr>
            </a:pPr>
            <a:r>
              <a:t>•  Target: 1 SCI paper + 1 patent per student</a:t>
            </a:r>
          </a:p>
          <a:p>
            <a:pPr algn="l">
              <a:spcBef>
                <a:spcPts val="0"/>
              </a:spcBef>
              <a:spcAft>
                <a:spcPts val="100"/>
              </a:spcAft>
              <a:defRPr sz="1200" b="0">
                <a:solidFill>
                  <a:srgbClr val="1A1A2E"/>
                </a:solidFill>
                <a:latin typeface="Calibri"/>
              </a:defRPr>
            </a:pPr>
            <a:r>
              <a:t>•  Int'l conference presentation required</a:t>
            </a:r>
          </a:p>
          <a:p>
            <a:pPr algn="l">
              <a:spcBef>
                <a:spcPts val="0"/>
              </a:spcBef>
              <a:spcAft>
                <a:spcPts val="100"/>
              </a:spcAft>
              <a:defRPr sz="1200" b="0">
                <a:solidFill>
                  <a:srgbClr val="1A1A2E"/>
                </a:solidFill>
                <a:latin typeface="Calibri"/>
              </a:defRPr>
            </a:pPr>
            <a:r>
              <a:t>•  Short-term visit to UCL / RWTH / Sorbonne</a:t>
            </a:r>
          </a:p>
          <a:p>
            <a:pPr algn="l">
              <a:spcBef>
                <a:spcPts val="0"/>
              </a:spcBef>
              <a:spcAft>
                <a:spcPts val="100"/>
              </a:spcAft>
              <a:defRPr sz="1200" b="0">
                <a:solidFill>
                  <a:srgbClr val="1A1A2E"/>
                </a:solidFill>
                <a:latin typeface="Calibri"/>
              </a:defRPr>
            </a:pPr>
            <a:r>
              <a:t>•  Weekly seminar + writing workshop</a:t>
            </a:r>
          </a:p>
        </p:txBody>
      </p:sp>
      <p:sp>
        <p:nvSpPr>
          <p:cNvPr id="18" name="TextBox 17"/>
          <p:cNvSpPr txBox="1"/>
          <p:nvPr/>
        </p:nvSpPr>
        <p:spPr>
          <a:xfrm>
            <a:off x="6583680" y="4663440"/>
            <a:ext cx="4846320" cy="320040"/>
          </a:xfrm>
          <a:prstGeom prst="rect">
            <a:avLst/>
          </a:prstGeom>
          <a:noFill/>
        </p:spPr>
        <p:txBody>
          <a:bodyPr wrap="square">
            <a:spAutoFit/>
          </a:bodyPr>
          <a:lstStyle/>
          <a:p>
            <a:pPr algn="l">
              <a:spcAft>
                <a:spcPts val="259"/>
              </a:spcAft>
              <a:defRPr sz="1300" b="1">
                <a:solidFill>
                  <a:srgbClr val="13289F"/>
                </a:solidFill>
                <a:latin typeface="Calibri"/>
              </a:defRPr>
            </a:pPr>
            <a:r>
              <a:t>Career Paths:</a:t>
            </a:r>
          </a:p>
        </p:txBody>
      </p:sp>
      <p:sp>
        <p:nvSpPr>
          <p:cNvPr id="19" name="TextBox 18"/>
          <p:cNvSpPr txBox="1"/>
          <p:nvPr/>
        </p:nvSpPr>
        <p:spPr>
          <a:xfrm>
            <a:off x="6583680" y="4937760"/>
            <a:ext cx="4846320" cy="1097280"/>
          </a:xfrm>
          <a:prstGeom prst="rect">
            <a:avLst/>
          </a:prstGeom>
          <a:noFill/>
        </p:spPr>
        <p:txBody>
          <a:bodyPr wrap="square">
            <a:spAutoFit/>
          </a:bodyPr>
          <a:lstStyle/>
          <a:p>
            <a:pPr algn="l">
              <a:spcAft>
                <a:spcPts val="300"/>
              </a:spcAft>
              <a:defRPr sz="1200" b="0">
                <a:solidFill>
                  <a:srgbClr val="1A1A2E"/>
                </a:solidFill>
                <a:latin typeface="Calibri"/>
              </a:defRPr>
            </a:pPr>
            <a:r>
              <a:t>•  Hyundai Motor / Kia — NVH</a:t>
            </a:r>
          </a:p>
          <a:p>
            <a:pPr algn="l">
              <a:spcBef>
                <a:spcPts val="0"/>
              </a:spcBef>
              <a:spcAft>
                <a:spcPts val="100"/>
              </a:spcAft>
              <a:defRPr sz="1200" b="0">
                <a:solidFill>
                  <a:srgbClr val="1A1A2E"/>
                </a:solidFill>
                <a:latin typeface="Calibri"/>
              </a:defRPr>
            </a:pPr>
            <a:r>
              <a:t>•  Samsung Research — Audio Lab</a:t>
            </a:r>
          </a:p>
          <a:p>
            <a:pPr algn="l">
              <a:spcBef>
                <a:spcPts val="0"/>
              </a:spcBef>
              <a:spcAft>
                <a:spcPts val="100"/>
              </a:spcAft>
              <a:defRPr sz="1200" b="0">
                <a:solidFill>
                  <a:srgbClr val="1A1A2E"/>
                </a:solidFill>
                <a:latin typeface="Calibri"/>
              </a:defRPr>
            </a:pPr>
            <a:r>
              <a:t>•  Construction &amp; architecture firms</a:t>
            </a:r>
          </a:p>
          <a:p>
            <a:pPr algn="l">
              <a:spcBef>
                <a:spcPts val="0"/>
              </a:spcBef>
              <a:spcAft>
                <a:spcPts val="100"/>
              </a:spcAft>
              <a:defRPr sz="1200" b="0">
                <a:solidFill>
                  <a:srgbClr val="1A1A2E"/>
                </a:solidFill>
                <a:latin typeface="Calibri"/>
              </a:defRPr>
            </a:pPr>
            <a:r>
              <a:t>•  Government institutes (KICT, KRICT)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058400" cy="685800"/>
          </a:xfrm>
          <a:prstGeom prst="rect">
            <a:avLst/>
          </a:prstGeom>
          <a:noFill/>
        </p:spPr>
        <p:txBody>
          <a:bodyPr wrap="square">
            <a:spAutoFit/>
          </a:bodyPr>
          <a:lstStyle/>
          <a:p>
            <a:pPr algn="l">
              <a:spcAft>
                <a:spcPts val="519"/>
              </a:spcAft>
              <a:defRPr sz="2600" b="1">
                <a:solidFill>
                  <a:srgbClr val="0A0F1E"/>
                </a:solidFill>
                <a:latin typeface="Calibri"/>
              </a:defRPr>
            </a:pPr>
            <a:r>
              <a:t>Contribution to the Department</a:t>
            </a:r>
          </a:p>
        </p:txBody>
      </p:sp>
      <p:sp>
        <p:nvSpPr>
          <p:cNvPr id="4" name="Rectangle 3"/>
          <p:cNvSpPr/>
          <p:nvPr/>
        </p:nvSpPr>
        <p:spPr>
          <a:xfrm>
            <a:off x="731520" y="868680"/>
            <a:ext cx="10698480" cy="19050"/>
          </a:xfrm>
          <a:prstGeom prst="rect">
            <a:avLst/>
          </a:prstGeom>
          <a:solidFill>
            <a:srgbClr val="1328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1097280" cy="320040"/>
          </a:xfrm>
          <a:prstGeom prst="rect">
            <a:avLst/>
          </a:prstGeom>
          <a:noFill/>
        </p:spPr>
        <p:txBody>
          <a:bodyPr wrap="square">
            <a:spAutoFit/>
          </a:bodyPr>
          <a:lstStyle/>
          <a:p>
            <a:pPr algn="r">
              <a:spcAft>
                <a:spcPts val="179"/>
              </a:spcAft>
              <a:defRPr sz="900" b="0">
                <a:solidFill>
                  <a:srgbClr val="888899"/>
                </a:solidFill>
                <a:latin typeface="Calibri"/>
              </a:defRPr>
            </a:pPr>
            <a:r>
              <a:t>19 / 20</a:t>
            </a:r>
          </a:p>
        </p:txBody>
      </p:sp>
      <p:sp>
        <p:nvSpPr>
          <p:cNvPr id="6" name="Rounded Rectangle 5"/>
          <p:cNvSpPr/>
          <p:nvPr/>
        </p:nvSpPr>
        <p:spPr>
          <a:xfrm>
            <a:off x="548640" y="1097280"/>
            <a:ext cx="5486400" cy="24231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457200" cy="457200"/>
          </a:xfrm>
          <a:prstGeom prst="round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01</a:t>
            </a:r>
          </a:p>
        </p:txBody>
      </p:sp>
      <p:sp>
        <p:nvSpPr>
          <p:cNvPr id="8" name="TextBox 7"/>
          <p:cNvSpPr txBox="1"/>
          <p:nvPr/>
        </p:nvSpPr>
        <p:spPr>
          <a:xfrm>
            <a:off x="1371600" y="1234440"/>
            <a:ext cx="4389120" cy="548640"/>
          </a:xfrm>
          <a:prstGeom prst="rect">
            <a:avLst/>
          </a:prstGeom>
          <a:noFill/>
        </p:spPr>
        <p:txBody>
          <a:bodyPr wrap="square">
            <a:spAutoFit/>
          </a:bodyPr>
          <a:lstStyle/>
          <a:p>
            <a:pPr algn="l">
              <a:spcAft>
                <a:spcPts val="150"/>
              </a:spcAft>
              <a:defRPr sz="1500" b="1">
                <a:solidFill>
                  <a:srgbClr val="0A0F1E"/>
                </a:solidFill>
                <a:latin typeface="Calibri"/>
              </a:defRPr>
            </a:pPr>
            <a:r>
              <a:t>Completing Building</a:t>
            </a:r>
            <a:br/>
            <a:r>
              <a:t>Environment Research</a:t>
            </a:r>
          </a:p>
        </p:txBody>
      </p:sp>
      <p:sp>
        <p:nvSpPr>
          <p:cNvPr id="9" name="TextBox 8"/>
          <p:cNvSpPr txBox="1"/>
          <p:nvPr/>
        </p:nvSpPr>
        <p:spPr>
          <a:xfrm>
            <a:off x="822960" y="1874520"/>
            <a:ext cx="4937760" cy="1463040"/>
          </a:xfrm>
          <a:prstGeom prst="rect">
            <a:avLst/>
          </a:prstGeom>
          <a:noFill/>
        </p:spPr>
        <p:txBody>
          <a:bodyPr wrap="square">
            <a:spAutoFit/>
          </a:bodyPr>
          <a:lstStyle/>
          <a:p>
            <a:pPr algn="l">
              <a:spcAft>
                <a:spcPts val="360"/>
              </a:spcAft>
              <a:defRPr sz="1200" b="0">
                <a:solidFill>
                  <a:srgbClr val="75787B"/>
                </a:solidFill>
                <a:latin typeface="Calibri"/>
              </a:defRPr>
            </a:pPr>
            <a:r>
              <a:t>Sound joins Thermal + Air Quality</a:t>
            </a:r>
            <a:br/>
            <a:r>
              <a:t>for a comprehensive research group.</a:t>
            </a:r>
            <a:br/>
            <a:r>
              <a:t>→ Joint BK21 / Research Center applications.</a:t>
            </a:r>
          </a:p>
        </p:txBody>
      </p:sp>
      <p:sp>
        <p:nvSpPr>
          <p:cNvPr id="10" name="Rounded Rectangle 9"/>
          <p:cNvSpPr/>
          <p:nvPr/>
        </p:nvSpPr>
        <p:spPr>
          <a:xfrm>
            <a:off x="6309360" y="1097280"/>
            <a:ext cx="5486400" cy="24231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92240" y="1280160"/>
            <a:ext cx="457200" cy="457200"/>
          </a:xfrm>
          <a:prstGeom prst="round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02</a:t>
            </a:r>
          </a:p>
        </p:txBody>
      </p:sp>
      <p:sp>
        <p:nvSpPr>
          <p:cNvPr id="12" name="TextBox 11"/>
          <p:cNvSpPr txBox="1"/>
          <p:nvPr/>
        </p:nvSpPr>
        <p:spPr>
          <a:xfrm>
            <a:off x="7132320" y="1234440"/>
            <a:ext cx="4389120" cy="548640"/>
          </a:xfrm>
          <a:prstGeom prst="rect">
            <a:avLst/>
          </a:prstGeom>
          <a:noFill/>
        </p:spPr>
        <p:txBody>
          <a:bodyPr wrap="square">
            <a:spAutoFit/>
          </a:bodyPr>
          <a:lstStyle/>
          <a:p>
            <a:pPr algn="l">
              <a:spcAft>
                <a:spcPts val="150"/>
              </a:spcAft>
              <a:defRPr sz="1500" b="1">
                <a:solidFill>
                  <a:srgbClr val="0A0F1E"/>
                </a:solidFill>
                <a:latin typeface="Calibri"/>
              </a:defRPr>
            </a:pPr>
            <a:r>
              <a:t>Expanding Industry</a:t>
            </a:r>
            <a:br/>
            <a:r>
              <a:t>Collaboration</a:t>
            </a:r>
          </a:p>
        </p:txBody>
      </p:sp>
      <p:sp>
        <p:nvSpPr>
          <p:cNvPr id="13" name="TextBox 12"/>
          <p:cNvSpPr txBox="1"/>
          <p:nvPr/>
        </p:nvSpPr>
        <p:spPr>
          <a:xfrm>
            <a:off x="6583680" y="1874520"/>
            <a:ext cx="4937760" cy="1463040"/>
          </a:xfrm>
          <a:prstGeom prst="rect">
            <a:avLst/>
          </a:prstGeom>
          <a:noFill/>
        </p:spPr>
        <p:txBody>
          <a:bodyPr wrap="square">
            <a:spAutoFit/>
          </a:bodyPr>
          <a:lstStyle/>
          <a:p>
            <a:pPr algn="l">
              <a:spcAft>
                <a:spcPts val="360"/>
              </a:spcAft>
              <a:defRPr sz="1200" b="0">
                <a:solidFill>
                  <a:srgbClr val="75787B"/>
                </a:solidFill>
                <a:latin typeface="Calibri"/>
              </a:defRPr>
            </a:pPr>
            <a:r>
              <a:t>Hyundai Motor + Samsung networks</a:t>
            </a:r>
            <a:br/>
            <a:r>
              <a:t>open new partnership channels.</a:t>
            </a:r>
            <a:br/>
            <a:r>
              <a:t>→ Acoustics consulting for construction firms.</a:t>
            </a:r>
          </a:p>
        </p:txBody>
      </p:sp>
      <p:sp>
        <p:nvSpPr>
          <p:cNvPr id="14" name="Rounded Rectangle 13"/>
          <p:cNvSpPr/>
          <p:nvPr/>
        </p:nvSpPr>
        <p:spPr>
          <a:xfrm>
            <a:off x="548640" y="3840480"/>
            <a:ext cx="5486400" cy="24231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1520" y="4023360"/>
            <a:ext cx="457200" cy="457200"/>
          </a:xfrm>
          <a:prstGeom prst="round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03</a:t>
            </a:r>
          </a:p>
        </p:txBody>
      </p:sp>
      <p:sp>
        <p:nvSpPr>
          <p:cNvPr id="16" name="TextBox 15"/>
          <p:cNvSpPr txBox="1"/>
          <p:nvPr/>
        </p:nvSpPr>
        <p:spPr>
          <a:xfrm>
            <a:off x="1371600" y="3977640"/>
            <a:ext cx="4389120" cy="548640"/>
          </a:xfrm>
          <a:prstGeom prst="rect">
            <a:avLst/>
          </a:prstGeom>
          <a:noFill/>
        </p:spPr>
        <p:txBody>
          <a:bodyPr wrap="square">
            <a:spAutoFit/>
          </a:bodyPr>
          <a:lstStyle/>
          <a:p>
            <a:pPr algn="l">
              <a:spcAft>
                <a:spcPts val="150"/>
              </a:spcAft>
              <a:defRPr sz="1500" b="1">
                <a:solidFill>
                  <a:srgbClr val="0A0F1E"/>
                </a:solidFill>
                <a:latin typeface="Calibri"/>
              </a:defRPr>
            </a:pPr>
            <a:r>
              <a:t>Elevating Global</a:t>
            </a:r>
            <a:br/>
            <a:r>
              <a:t>Presence</a:t>
            </a:r>
          </a:p>
        </p:txBody>
      </p:sp>
      <p:sp>
        <p:nvSpPr>
          <p:cNvPr id="17" name="TextBox 16"/>
          <p:cNvSpPr txBox="1"/>
          <p:nvPr/>
        </p:nvSpPr>
        <p:spPr>
          <a:xfrm>
            <a:off x="822960" y="4617720"/>
            <a:ext cx="4937760" cy="1463040"/>
          </a:xfrm>
          <a:prstGeom prst="rect">
            <a:avLst/>
          </a:prstGeom>
          <a:noFill/>
        </p:spPr>
        <p:txBody>
          <a:bodyPr wrap="square">
            <a:spAutoFit/>
          </a:bodyPr>
          <a:lstStyle/>
          <a:p>
            <a:pPr algn="l">
              <a:spcAft>
                <a:spcPts val="360"/>
              </a:spcAft>
              <a:defRPr sz="1200" b="0">
                <a:solidFill>
                  <a:srgbClr val="75787B"/>
                </a:solidFill>
                <a:latin typeface="Calibri"/>
              </a:defRPr>
            </a:pPr>
            <a:r>
              <a:t>UCL / RWTH / Sorbonne partnerships.</a:t>
            </a:r>
            <a:br/>
            <a:r>
              <a:t>→ Department-level MOU + exchanges.</a:t>
            </a:r>
            <a:br/>
            <a:r>
              <a:t>→ ISO 12913 standardization leadership.</a:t>
            </a:r>
          </a:p>
        </p:txBody>
      </p:sp>
      <p:sp>
        <p:nvSpPr>
          <p:cNvPr id="18" name="Rounded Rectangle 17"/>
          <p:cNvSpPr/>
          <p:nvPr/>
        </p:nvSpPr>
        <p:spPr>
          <a:xfrm>
            <a:off x="6309360" y="3840480"/>
            <a:ext cx="5486400" cy="24231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92240" y="4023360"/>
            <a:ext cx="457200" cy="457200"/>
          </a:xfrm>
          <a:prstGeom prst="round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04</a:t>
            </a:r>
          </a:p>
        </p:txBody>
      </p:sp>
      <p:sp>
        <p:nvSpPr>
          <p:cNvPr id="20" name="TextBox 19"/>
          <p:cNvSpPr txBox="1"/>
          <p:nvPr/>
        </p:nvSpPr>
        <p:spPr>
          <a:xfrm>
            <a:off x="7132320" y="3977640"/>
            <a:ext cx="4389120" cy="548640"/>
          </a:xfrm>
          <a:prstGeom prst="rect">
            <a:avLst/>
          </a:prstGeom>
          <a:noFill/>
        </p:spPr>
        <p:txBody>
          <a:bodyPr wrap="square">
            <a:spAutoFit/>
          </a:bodyPr>
          <a:lstStyle/>
          <a:p>
            <a:pPr algn="l">
              <a:spcAft>
                <a:spcPts val="150"/>
              </a:spcAft>
              <a:defRPr sz="1500" b="1">
                <a:solidFill>
                  <a:srgbClr val="0A0F1E"/>
                </a:solidFill>
                <a:latin typeface="Calibri"/>
              </a:defRPr>
            </a:pPr>
            <a:r>
              <a:t>Hanyang Alumni</a:t>
            </a:r>
            <a:br/>
            <a:r>
              <a:t>Commitment</a:t>
            </a:r>
          </a:p>
        </p:txBody>
      </p:sp>
      <p:sp>
        <p:nvSpPr>
          <p:cNvPr id="21" name="TextBox 20"/>
          <p:cNvSpPr txBox="1"/>
          <p:nvPr/>
        </p:nvSpPr>
        <p:spPr>
          <a:xfrm>
            <a:off x="6583680" y="4617720"/>
            <a:ext cx="4937760" cy="1463040"/>
          </a:xfrm>
          <a:prstGeom prst="rect">
            <a:avLst/>
          </a:prstGeom>
          <a:noFill/>
        </p:spPr>
        <p:txBody>
          <a:bodyPr wrap="square">
            <a:spAutoFit/>
          </a:bodyPr>
          <a:lstStyle/>
          <a:p>
            <a:pPr algn="l">
              <a:spcAft>
                <a:spcPts val="360"/>
              </a:spcAft>
              <a:defRPr sz="1200" b="0">
                <a:solidFill>
                  <a:srgbClr val="75787B"/>
                </a:solidFill>
                <a:latin typeface="Calibri"/>
              </a:defRPr>
            </a:pPr>
            <a:r>
              <a:t>B.S. + Ph.D. from this department.</a:t>
            </a:r>
            <a:br/>
            <a:r>
              <a:t>Deep understanding of culture &amp; history.</a:t>
            </a:r>
            <a:br/>
            <a:r>
              <a:t>→ Continuing the tradition of building</a:t>
            </a:r>
            <a:br/>
            <a:r>
              <a:t>   acoustics research at Hanyang.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TextBox 1"/>
          <p:cNvSpPr txBox="1"/>
          <p:nvPr/>
        </p:nvSpPr>
        <p:spPr>
          <a:xfrm>
            <a:off x="1371600" y="1097280"/>
            <a:ext cx="9418320" cy="2560320"/>
          </a:xfrm>
          <a:prstGeom prst="rect">
            <a:avLst/>
          </a:prstGeom>
          <a:noFill/>
        </p:spPr>
        <p:txBody>
          <a:bodyPr wrap="square">
            <a:spAutoFit/>
          </a:bodyPr>
          <a:lstStyle/>
          <a:p>
            <a:pPr algn="ctr">
              <a:spcAft>
                <a:spcPts val="1279"/>
              </a:spcAft>
              <a:defRPr sz="3200" b="1">
                <a:solidFill>
                  <a:srgbClr val="FFFFFF"/>
                </a:solidFill>
                <a:latin typeface="Calibri"/>
              </a:defRPr>
            </a:pPr>
            <a:r>
              <a:t>From Hanyang's tradition</a:t>
            </a:r>
            <a:br/>
            <a:r>
              <a:t>in building acoustics,</a:t>
            </a:r>
            <a:br/>
            <a:r>
              <a:t>through industry validation,</a:t>
            </a:r>
            <a:br/>
            <a:r>
              <a:t>to intelligent sound environments</a:t>
            </a:r>
            <a:br/>
            <a:r>
              <a:t>— SENSE Lab is ready.</a:t>
            </a:r>
          </a:p>
        </p:txBody>
      </p:sp>
      <p:sp>
        <p:nvSpPr>
          <p:cNvPr id="3" name="Rectangle 2"/>
          <p:cNvSpPr/>
          <p:nvPr/>
        </p:nvSpPr>
        <p:spPr>
          <a:xfrm>
            <a:off x="5029200" y="3931920"/>
            <a:ext cx="2103120" cy="25400"/>
          </a:xfrm>
          <a:prstGeom prst="rect">
            <a:avLst/>
          </a:prstGeom>
          <a:solidFill>
            <a:srgbClr val="3D7D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4206240"/>
            <a:ext cx="9418320" cy="457200"/>
          </a:xfrm>
          <a:prstGeom prst="rect">
            <a:avLst/>
          </a:prstGeom>
          <a:noFill/>
        </p:spPr>
        <p:txBody>
          <a:bodyPr wrap="square">
            <a:spAutoFit/>
          </a:bodyPr>
          <a:lstStyle/>
          <a:p>
            <a:pPr algn="ctr">
              <a:spcAft>
                <a:spcPts val="519"/>
              </a:spcAft>
              <a:defRPr sz="2600" b="1">
                <a:solidFill>
                  <a:srgbClr val="FFFFFF"/>
                </a:solidFill>
                <a:latin typeface="Calibri"/>
              </a:defRPr>
            </a:pPr>
            <a:r>
              <a:t>Hyun In Jo, Ph.D.</a:t>
            </a:r>
          </a:p>
        </p:txBody>
      </p:sp>
      <p:sp>
        <p:nvSpPr>
          <p:cNvPr id="5" name="TextBox 4"/>
          <p:cNvSpPr txBox="1"/>
          <p:nvPr/>
        </p:nvSpPr>
        <p:spPr>
          <a:xfrm>
            <a:off x="1371600" y="4663440"/>
            <a:ext cx="9418320" cy="320040"/>
          </a:xfrm>
          <a:prstGeom prst="rect">
            <a:avLst/>
          </a:prstGeom>
          <a:noFill/>
        </p:spPr>
        <p:txBody>
          <a:bodyPr wrap="square">
            <a:spAutoFit/>
          </a:bodyPr>
          <a:lstStyle/>
          <a:p>
            <a:pPr algn="ctr">
              <a:spcAft>
                <a:spcPts val="259"/>
              </a:spcAft>
              <a:defRPr sz="1300" b="0">
                <a:solidFill>
                  <a:srgbClr val="3D7DDE"/>
                </a:solidFill>
                <a:latin typeface="Calibri"/>
              </a:defRPr>
            </a:pPr>
            <a:r>
              <a:t>best2012@naver.com  |  linkedin.com/in/hyunin-jo</a:t>
            </a:r>
          </a:p>
        </p:txBody>
      </p:sp>
      <p:sp>
        <p:nvSpPr>
          <p:cNvPr id="6" name="TextBox 5"/>
          <p:cNvSpPr txBox="1"/>
          <p:nvPr/>
        </p:nvSpPr>
        <p:spPr>
          <a:xfrm>
            <a:off x="1371600" y="5120640"/>
            <a:ext cx="9418320" cy="457200"/>
          </a:xfrm>
          <a:prstGeom prst="rect">
            <a:avLst/>
          </a:prstGeom>
          <a:noFill/>
        </p:spPr>
        <p:txBody>
          <a:bodyPr wrap="square">
            <a:spAutoFit/>
          </a:bodyPr>
          <a:lstStyle/>
          <a:p>
            <a:pPr algn="ctr">
              <a:spcAft>
                <a:spcPts val="450"/>
              </a:spcAft>
              <a:defRPr sz="1500" b="0">
                <a:solidFill>
                  <a:srgbClr val="778899"/>
                </a:solidFill>
                <a:latin typeface="Calibri"/>
              </a:defRPr>
            </a:pPr>
            <a:r>
              <a:t>Department of Architectural Engineering</a:t>
            </a:r>
            <a:br/>
            <a:r>
              <a:t>Hanyang University</a:t>
            </a:r>
          </a:p>
        </p:txBody>
      </p:sp>
      <p:sp>
        <p:nvSpPr>
          <p:cNvPr id="7" name="TextBox 6"/>
          <p:cNvSpPr txBox="1"/>
          <p:nvPr/>
        </p:nvSpPr>
        <p:spPr>
          <a:xfrm>
            <a:off x="1371600" y="5852160"/>
            <a:ext cx="9418320" cy="365760"/>
          </a:xfrm>
          <a:prstGeom prst="rect">
            <a:avLst/>
          </a:prstGeom>
          <a:noFill/>
        </p:spPr>
        <p:txBody>
          <a:bodyPr wrap="square">
            <a:spAutoFit/>
          </a:bodyPr>
          <a:lstStyle/>
          <a:p>
            <a:pPr algn="ctr">
              <a:spcAft>
                <a:spcPts val="359"/>
              </a:spcAft>
              <a:defRPr sz="1800" b="1">
                <a:solidFill>
                  <a:srgbClr val="3D7DDE"/>
                </a:solidFill>
                <a:latin typeface="Calibri"/>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